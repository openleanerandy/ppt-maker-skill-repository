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ags/tag1.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p:sldMasterIdLst>
    <p:sldMasterId id="2147483648" r:id="rId1"/>
  </p:sldMasterIdLst>
  <p:notesMasterIdLst>
    <p:notesMasterId r:id="rId20"/>
  </p:notesMasterIdLst>
  <p:handoutMasterIdLst>
    <p:handoutMasterId r:id="rId21"/>
  </p:handout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797675" cy="987425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citc" initials="c" lastIdx="1" clrIdx="0"/>
  <p:cmAuthor id="2069" name="yaoch" initials="y" lastIdx="0" clrIdx="2068"/>
  <p:cmAuthor id="1" name="秦 亚楠" initials="秦" lastIdx="1" clrIdx="0"/>
  <p:cmAuthor id="2070" name="86182" initials="8" lastIdx="0" clrIdx="2069"/>
  <p:cmAuthor id="2" name="王 文博" initials="王" lastIdx="5" clrIdx="2"/>
  <p:cmAuthor id="2071" name="葛然" initials="葛" lastIdx="0" clrIdx="2070"/>
  <p:cmAuthor id="3" name="杨 杨" initials="杨" lastIdx="1" clrIdx="2"/>
  <p:cmAuthor id="2072" name="CaoMi" initials="CM" lastIdx="0" clrIdx="2071"/>
  <p:cmAuthor id="4" name="James" initials="J" lastIdx="1" clrIdx="3"/>
  <p:cmAuthor id="2073" name="徐月 刘" initials="徐月" lastIdx="0" clrIdx="2072"/>
  <p:cmAuthor id="5" name="zte" initials="z" lastIdx="2" clrIdx="0"/>
  <p:cmAuthor id="2074" name="jiaxw9" initials="j" lastIdx="0" clrIdx="2073"/>
  <p:cmAuthor id="6" name="10181563" initials="ll" lastIdx="5" clrIdx="5"/>
  <p:cmAuthor id="2075" name="孙霞" initials="孙" lastIdx="0" clrIdx="2074"/>
  <p:cmAuthor id="7" name="00196605" initials="0" lastIdx="2" clrIdx="0"/>
  <p:cmAuthor id="2076" name="wangweizhi941015@163.com" initials="w" lastIdx="0" clrIdx="2075"/>
  <p:cmAuthor id="213210457" name="SuYan" initials="S" lastIdx="2" clrIdx="812"/>
  <p:cmAuthor id="8" name="00006891" initials="0" lastIdx="15" clrIdx="8"/>
  <p:cmAuthor id="2077" name="chenz" initials="c" lastIdx="0" clrIdx="2076"/>
  <p:cmAuthor id="9" name="熊先奎10009191" initials="熊先奎10009191" lastIdx="1" clrIdx="9"/>
  <p:cmAuthor id="2078" name="zhoum" initials="z" lastIdx="0" clrIdx="2077"/>
  <p:cmAuthor id="10" name="作者" initials="A" lastIdx="0" clrIdx="9"/>
  <p:cmAuthor id="2079" name="陈必荣" initials="陈" lastIdx="0" clrIdx="2078"/>
  <p:cmAuthor id="11" name="Jie Miao(联通集团智能网络中心)" initials="JM" lastIdx="1" clrIdx="10"/>
  <p:cmAuthor id="2080" name="goodbobo" initials="g" lastIdx="0" clrIdx="2079"/>
  <p:cmAuthor id="12" name="zhouwd" initials="1" lastIdx="1" clrIdx="11"/>
  <p:cmAuthor id="2081" name="nyks" initials="n" lastIdx="0" clrIdx="2080"/>
  <p:cmAuthor id="13" name="马云飞10014438" initials="马" lastIdx="4" clrIdx="0"/>
  <p:cmAuthor id="2082" name="陈阳" initials="I" lastIdx="0" clrIdx="2081"/>
  <p:cmAuthor id="14" name="John" initials="J" lastIdx="36" clrIdx="13"/>
  <p:cmAuthor id="2083" name="单 善" initials="单" lastIdx="0" clrIdx="2082"/>
  <p:cmAuthor id="15" name="10025093" initials="1" lastIdx="51" clrIdx="14"/>
  <p:cmAuthor id="2084" name="三无产品手工作坊" initials="三" lastIdx="0" clrIdx="2083"/>
  <p:cmAuthor id="16" name="10078380" initials="1" lastIdx="1" clrIdx="15"/>
  <p:cmAuthor id="2085" name="奇" initials="奇" lastIdx="0" clrIdx="2084"/>
  <p:cmAuthor id="17" name="00035181" initials="0" lastIdx="1" clrIdx="16"/>
  <p:cmAuthor id="2086" name="羽卉w" initials="羽" lastIdx="0" clrIdx="2085"/>
  <p:cmAuthor id="18" name="张燕" initials="MSOffice" lastIdx="1" clrIdx="17"/>
  <p:cmAuthor id="2087" name="00047934" initials="0" lastIdx="0" clrIdx="2086"/>
  <p:cmAuthor id="19" name="Saku Uchikawa" initials="S" lastIdx="11" clrIdx="0"/>
  <p:cmAuthor id="2088" name="huliujun-LN" initials="h" lastIdx="0" clrIdx="2087"/>
  <p:cmAuthor id="20" name="00065088" initials="0" lastIdx="2" clrIdx="19"/>
  <p:cmAuthor id="2089" name="傅文琦" initials="傅" lastIdx="0" clrIdx="2088"/>
  <p:cmAuthor id="21" name="10066351" initials="1" lastIdx="2" clrIdx="0"/>
  <p:cmAuthor id="2090" name="sylvi" initials="s" lastIdx="0" clrIdx="2089"/>
  <p:cmAuthor id="22" name="蔡建楠" initials="caijianna" lastIdx="15" clrIdx="17"/>
  <p:cmAuthor id="2091" name="贾瑞" initials="贾" lastIdx="0" clrIdx="2090"/>
  <p:cmAuthor id="23" name="赵诚荣10027092" initials="赵" lastIdx="2" clrIdx="25"/>
  <p:cmAuthor id="2092" name="刘向晴" initials="刘" lastIdx="0" clrIdx="2091"/>
  <p:cmAuthor id="24" name="李蕾00009994" initials="李" lastIdx="6" clrIdx="17"/>
  <p:cmAuthor id="2093" name="朱 江波" initials="朱" lastIdx="0" clrIdx="2092"/>
  <p:cmAuthor id="25" name="wyz" initials="w" lastIdx="1" clrIdx="24"/>
  <p:cmAuthor id="2094" name="00242950" initials="0" lastIdx="0" clrIdx="2093"/>
  <p:cmAuthor id="26" name="10270945" initials="1" lastIdx="2" clrIdx="25"/>
  <p:cmAuthor id="2095" name="10033218" initials="1" lastIdx="0" clrIdx="2094"/>
  <p:cmAuthor id="27" name="zrf" initials="zrf" lastIdx="3" clrIdx="26"/>
  <p:cmAuthor id="2096" name="peiwei5" initials="p" lastIdx="0" clrIdx="2095"/>
  <p:cmAuthor id="28" name="Hou Yingfeng" initials="H" lastIdx="10" clrIdx="23"/>
  <p:cmAuthor id="2097" name="wangt" initials="w" lastIdx="0" clrIdx="2096"/>
  <p:cmAuthor id="29" name="10090152" initials="1" lastIdx="2" clrIdx="28"/>
  <p:cmAuthor id="2098" name="hyman" initials="h" lastIdx="0" clrIdx="2097"/>
  <p:cmAuthor id="30" name="10056791" initials="ZTE" lastIdx="1" clrIdx="29"/>
  <p:cmAuthor id="2099" name="zhangzhongmin" initials="" lastIdx="0" clrIdx="2098"/>
  <p:cmAuthor id="31" name="Author" initials="A" lastIdx="0" clrIdx="30"/>
  <p:cmAuthor id="655490266" name="FIREWORKS" initials="F" lastIdx="1" clrIdx="283"/>
  <p:cmAuthor id="2100" name="zhanghao" initials="z" lastIdx="0" clrIdx="2099"/>
  <p:cmAuthor id="32" name="李楠10047711" initials="李楠10047711" lastIdx="2" clrIdx="31"/>
  <p:cmAuthor id="2101" name="小新" initials="小" lastIdx="0" clrIdx="2100"/>
  <p:cmAuthor id="33" name="610007" initials="6" lastIdx="0" clrIdx="32"/>
  <p:cmAuthor id="2102" name="Ellen" initials="E" lastIdx="0" clrIdx="2101"/>
  <p:cmAuthor id="34" name="Y Y" initials="YY" lastIdx="2" clrIdx="33"/>
  <p:cmAuthor id="2103" name="WPS_1559632127" initials="W" lastIdx="0" clrIdx="2102"/>
  <p:cmAuthor id="35" name="Administrator" initials="A" lastIdx="1" clrIdx="35"/>
  <p:cmAuthor id="2104" name="gaoy" initials="g" lastIdx="0" clrIdx="2103"/>
  <p:cmAuthor id="36" name="关全全10258021" initials="关全全10258021" lastIdx="1" clrIdx="36"/>
  <p:cmAuthor id="2105" name="史文祥" initials="史" lastIdx="0" clrIdx="2104"/>
  <p:cmAuthor id="37" name="黄珂10009187" initials="黄珂10009187" lastIdx="1" clrIdx="37"/>
  <p:cmAuthor id="2106" name="轩" initials="轩" lastIdx="0" clrIdx="2105"/>
  <p:cmAuthor id="38" name="赵欣" initials="zx" lastIdx="4" clrIdx="37"/>
  <p:cmAuthor id="2107" name="小马哥" initials="小" lastIdx="0" clrIdx="2106"/>
  <p:cmAuthor id="39" name="10206899" initials="1" lastIdx="1" clrIdx="38"/>
  <p:cmAuthor id="2108" name="LZY" initials="L" lastIdx="0" clrIdx="2107"/>
  <p:cmAuthor id="40" name="10133177" initials="1" lastIdx="1" clrIdx="39"/>
  <p:cmAuthor id="2109" name="张先森" initials="张" lastIdx="0" clrIdx="2108"/>
  <p:cmAuthor id="41" name="10072453" initials="1" lastIdx="1" clrIdx="40"/>
  <p:cmAuthor id="2110" name="WPS_1625045120" initials="W" lastIdx="0" clrIdx="2109"/>
  <p:cmAuthor id="42" name="10194379" initials="1" lastIdx="1" clrIdx="41"/>
  <p:cmAuthor id="2111" name="刘鹏辉" initials="刘" lastIdx="0" clrIdx="2110"/>
  <p:cmAuthor id="43" name="10288204" initials="1" lastIdx="4" clrIdx="42"/>
  <p:cmAuthor id="2112" name="Gary Lou" initials="GL" lastIdx="0" clrIdx="2111"/>
  <p:cmAuthor id="44" name="10029265@zte.intra" initials="1" lastIdx="42" clrIdx="43"/>
  <p:cmAuthor id="2113" name="王羽佳" initials="王" lastIdx="0" clrIdx="2112"/>
  <p:cmAuthor id="45" name="10157624" initials="1" lastIdx="1" clrIdx="44"/>
  <p:cmAuthor id="2114" name="tigerZ" initials="t" lastIdx="0" clrIdx="2113"/>
  <p:cmAuthor id="46" name="未知的使用者79" initials="" lastIdx="0" clrIdx="1"/>
  <p:cmAuthor id="2115" name="挚爱一生♥祺" initials="挚" lastIdx="0" clrIdx="2114"/>
  <p:cmAuthor id="47" name="未知用户107" initials="" lastIdx="1" clrIdx="0"/>
  <p:cmAuthor id="2116" name="Ruby" initials="R" lastIdx="0" clrIdx="2115"/>
  <p:cmAuthor id="48" name="未知的使用者80" initials="" lastIdx="0" clrIdx="0"/>
  <p:cmAuthor id="2117" name="海阔、天空" initials="海" lastIdx="0" clrIdx="2116"/>
  <p:cmAuthor id="49" name="wyao8" initials="w" lastIdx="1" clrIdx="48"/>
  <p:cmAuthor id="2118" name="曹清平" initials="曹" lastIdx="0" clrIdx="2117"/>
  <p:cmAuthor id="50" name="未知的使用者82" initials="" lastIdx="1" clrIdx="0"/>
  <p:cmAuthor id="2119" name="那羽" initials="那" lastIdx="0" clrIdx="2118"/>
  <p:cmAuthor id="51" name="yyx" initials="y" lastIdx="1" clrIdx="50"/>
  <p:cmAuthor id="2120" name="隽隽是jun" initials="隽" lastIdx="0" clrIdx="2119"/>
  <p:cmAuthor id="52" name="lantj" initials="l" lastIdx="1" clrIdx="51"/>
  <p:cmAuthor id="2121" name="李广鹏" initials="李" lastIdx="0" clrIdx="2120"/>
  <p:cmAuthor id="454880047" name="范晓波" initials="范" lastIdx="1" clrIdx="832"/>
  <p:cmAuthor id="53" name="未知的使用者118" initials="" lastIdx="1" clrIdx="0"/>
  <p:cmAuthor id="2122" name="zoe" initials="z" lastIdx="0" clrIdx="2121"/>
  <p:cmAuthor id="54" name="未知的使用者84" initials="" lastIdx="1" clrIdx="1"/>
  <p:cmAuthor id="2123" name="XPH" initials="X" lastIdx="0" clrIdx="2122"/>
  <p:cmAuthor id="55" name="未知的使用者70" initials="" lastIdx="1" clrIdx="0"/>
  <p:cmAuthor id="2124" name="文斌 李" initials="文李" lastIdx="0" clrIdx="2123"/>
  <p:cmAuthor id="56" name="未知的使用者85" initials="" lastIdx="1" clrIdx="0"/>
  <p:cmAuthor id="2125" name="王戎煜" initials="王" lastIdx="0" clrIdx="2124"/>
  <p:cmAuthor id="57" name="未知的使用者40" initials="" lastIdx="1" clrIdx="0"/>
  <p:cmAuthor id="2126" name="挽枫" initials="挽" lastIdx="0" clrIdx="2125"/>
  <p:cmAuthor id="58" name="未知的使用者87" initials="" lastIdx="1" clrIdx="0"/>
  <p:cmAuthor id="2127" name="李强" initials="A" lastIdx="0" clrIdx="2126"/>
  <p:cmAuthor id="59" name="曾红" initials="" lastIdx="0" clrIdx="0"/>
  <p:cmAuthor id="2128" name="MARK" initials="M" lastIdx="0" clrIdx="2127"/>
  <p:cmAuthor id="60" name="未知的使用者90" initials="" lastIdx="8" clrIdx="0"/>
  <p:cmAuthor id="2129" name="WPS_1559626023" initials="W" lastIdx="0" clrIdx="2128"/>
  <p:cmAuthor id="61" name="未知的使用者29" initials="" lastIdx="1" clrIdx="0"/>
  <p:cmAuthor id="2130" name="艾文卓" initials="艾" lastIdx="0" clrIdx="2129"/>
  <p:cmAuthor id="62" name="未知的使用者91" initials="" lastIdx="1" clrIdx="0"/>
  <p:cmAuthor id="2131" name="Suainn" initials="S" lastIdx="0" clrIdx="2130"/>
  <p:cmAuthor id="63" name="王番" initials="王" lastIdx="1" clrIdx="62"/>
  <p:cmAuthor id="2132" name="Yeh" initials="Y" lastIdx="0" clrIdx="2131"/>
  <p:cmAuthor id="64" name="CHRISYU" initials="" lastIdx="1" clrIdx="0"/>
  <p:cmAuthor id="2133" name="于萌" initials="于" lastIdx="0" clrIdx="2132"/>
  <p:cmAuthor id="65" name="未知的使用者113" initials="" lastIdx="1" clrIdx="2"/>
  <p:cmAuthor id="2134" name="周莉" initials="周" lastIdx="0" clrIdx="2133"/>
  <p:cmAuthor id="66" name="liucunri" initials="" lastIdx="1" clrIdx="0"/>
  <p:cmAuthor id="2135" name="土豆逗逗逗～" initials="土" lastIdx="0" clrIdx="2134"/>
  <p:cmAuthor id="67" name="未知用户9" initials="" lastIdx="1" clrIdx="0"/>
  <p:cmAuthor id="2136" name="华诞" initials="华" lastIdx="0" clrIdx="2135"/>
  <p:cmAuthor id="68" name="Unknown User48" initials="" lastIdx="8" clrIdx="0"/>
  <p:cmAuthor id="2137" name="A.L_L李峻" initials="A" lastIdx="0" clrIdx="2136"/>
  <p:cmAuthor id="69" name="未知用户103" initials="" lastIdx="1" clrIdx="0"/>
  <p:cmAuthor id="2138" name="Iccc" initials="I" lastIdx="0" clrIdx="2137"/>
  <p:cmAuthor id="70" name="Unknown User52" initials="" lastIdx="1" clrIdx="0"/>
  <p:cmAuthor id="2139" name="maomao" initials="m" lastIdx="0" clrIdx="2138"/>
  <p:cmAuthor id="71" name="未知的使用者42" initials="" lastIdx="1" clrIdx="0"/>
  <p:cmAuthor id="2140" name="朱年明" initials="朱" lastIdx="0" clrIdx="2139"/>
  <p:cmAuthor id="72" name="Unknown User50" initials="" lastIdx="1" clrIdx="0"/>
  <p:cmAuthor id="2141" name="Dora" initials="D" lastIdx="0" clrIdx="2140"/>
  <p:cmAuthor id="73" name="未知的使用者120" initials="" lastIdx="1" clrIdx="0"/>
  <p:cmAuthor id="2142" name="冀隆" initials="冀" lastIdx="0" clrIdx="2141"/>
  <p:cmAuthor id="74" name="px" initials="" lastIdx="3" clrIdx="1"/>
  <p:cmAuthor id="2143" name="朱yll" initials="朱" lastIdx="0" clrIdx="2142"/>
  <p:cmAuthor id="75" name="Sky123.Org" initials="" lastIdx="1" clrIdx="0"/>
  <p:cmAuthor id="2144" name="微信用户" initials="微" lastIdx="0" clrIdx="2143"/>
  <p:cmAuthor id="76" name="黄译萱(联通上海市上海市分公司)" initials="MSOffice" lastIdx="3" clrIdx="25"/>
  <p:cmAuthor id="2145" name="陈曼婷" initials="陈" lastIdx="0" clrIdx="2144"/>
  <p:cmAuthor id="77" name="邵丹(联通上海市上海市分公司)" initials="邵丹(联通上海市上海市分公司)" lastIdx="1" clrIdx="26"/>
  <p:cmAuthor id="2146" name="BOM" initials="B" lastIdx="0" clrIdx="2145"/>
  <p:cmAuthor id="78" name="Lina Hang(联通上海市上海市分公司)" initials="LH" lastIdx="2" clrIdx="27"/>
  <p:cmAuthor id="2147" name="张娟" initials="张" lastIdx="0" clrIdx="2146"/>
  <p:cmAuthor id="79" name="admin" initials="a" lastIdx="1" clrIdx="28"/>
  <p:cmAuthor id="2148" name="@_@" initials="@" lastIdx="0" clrIdx="2147"/>
  <p:cmAuthor id="80" name="未知的使用者73" initials="" lastIdx="1" clrIdx="0"/>
  <p:cmAuthor id="2149" name="CU-ThinkPad L13" initials="C" lastIdx="0" clrIdx="2148"/>
  <p:cmAuthor id="81" name="未知的使用者24" initials="" lastIdx="8" clrIdx="0"/>
  <p:cmAuthor id="2150" name="AA" initials="A" lastIdx="0" clrIdx="2149"/>
  <p:cmAuthor id="82" name="未知用户16" initials="" lastIdx="1" clrIdx="0"/>
  <p:cmAuthor id="2151" name="ivy" initials="i" lastIdx="0" clrIdx="2150"/>
  <p:cmAuthor id="83" name="Mary Feil-Jacobs" initials="" lastIdx="43" clrIdx="1"/>
  <p:cmAuthor id="2152" name="叶俊杰" initials="叶" lastIdx="0" clrIdx="2151"/>
  <p:cmAuthor id="84" name="LiuHui" initials="" lastIdx="1" clrIdx="0"/>
  <p:cmAuthor id="2153" name="aoron" initials="a" lastIdx="0" clrIdx="2152"/>
  <p:cmAuthor id="85" name="未知的使用者45" initials="" lastIdx="1" clrIdx="0"/>
  <p:cmAuthor id="2154" name="zr zhang" initials="zz" lastIdx="0" clrIdx="2153"/>
  <p:cmAuthor id="86" name="王鹏凯" initials="" lastIdx="1" clrIdx="0"/>
  <p:cmAuthor id="2155" name="竖竖横横点点" initials="竖" lastIdx="0" clrIdx="2154"/>
  <p:cmAuthor id="87" name="未知用户104" initials="" lastIdx="1" clrIdx="0"/>
  <p:cmAuthor id="2156" name="wenqiang (I)" initials="w(" lastIdx="0" clrIdx="2155"/>
  <p:cmAuthor id="88" name="未知用户5" initials="" lastIdx="1" clrIdx="0"/>
  <p:cmAuthor id="2157" name="Wei Yang" initials="WY" lastIdx="0" clrIdx="2156"/>
  <p:cmAuthor id="89" name="未知的使用者10" initials="" lastIdx="3" clrIdx="1"/>
  <p:cmAuthor id="2158" name="Mia Vida Villanueva" initials="MVV" lastIdx="0" clrIdx="2157"/>
  <p:cmAuthor id="90" name="未知的使用者93" initials="" lastIdx="1" clrIdx="1"/>
  <p:cmAuthor id="2159" name="1206988966@qq.com" initials="1" lastIdx="0" clrIdx="2158"/>
  <p:cmAuthor id="91" name="范作霖" initials="范" lastIdx="1" clrIdx="22"/>
  <p:cmAuthor id="2160" name="姜伟光" initials="姜" lastIdx="0" clrIdx="2159"/>
  <p:cmAuthor id="92" name="LeeElva" initials="" lastIdx="1" clrIdx="0"/>
  <p:cmAuthor id="2161" name="刘 阳" initials="刘" lastIdx="0" clrIdx="2160"/>
  <p:cmAuthor id="93" name="未知用户99" initials="" lastIdx="1" clrIdx="2"/>
  <p:cmAuthor id="1473508789" name="杨哈哈" initials="杨" lastIdx="2" clrIdx="809"/>
  <p:cmAuthor id="2162" name="未知用户232" initials="未" lastIdx="0" clrIdx="2161"/>
  <p:cmAuthor id="94" name="未知的使用者34" initials="" lastIdx="1" clrIdx="0"/>
  <p:cmAuthor id="1473508790" name="磊 陈" initials="磊陈" lastIdx="1" clrIdx="977340791"/>
  <p:cmAuthor id="2163" name="Bi Daniel" initials="BD" lastIdx="0" clrIdx="2162"/>
  <p:cmAuthor id="95" name="未知的使用者115" initials="" lastIdx="1" clrIdx="1"/>
  <p:cmAuthor id="1473508791" name="Renoir" initials="R" lastIdx="2" clrIdx="1473508790"/>
  <p:cmAuthor id="2164" name="张旭" initials="张" lastIdx="0" clrIdx="2163"/>
  <p:cmAuthor id="96" name="未知用户57" initials="" lastIdx="1" clrIdx="0"/>
  <p:cmAuthor id="1473508792" name="zhuhong" initials="z" lastIdx="1" clrIdx="1473508791"/>
  <p:cmAuthor id="2165" name="Shang Pan" initials="SP" lastIdx="0" clrIdx="2164"/>
  <p:cmAuthor id="97" name="lianghb" initials="" lastIdx="19" clrIdx="0"/>
  <p:cmAuthor id="2166" name="lp" initials="l" lastIdx="0" clrIdx="2165"/>
  <p:cmAuthor id="98" name="未知用户17" initials="" lastIdx="0" clrIdx="1"/>
  <p:cmAuthor id="2167" name="zhangxinran" initials="z" lastIdx="0" clrIdx="2166"/>
  <p:cmAuthor id="99" name="Deanna Schuler (Bookey Consulting)" initials="" lastIdx="2" clrIdx="0"/>
  <p:cmAuthor id="2168" name="qinghuaran" initials="q" lastIdx="0" clrIdx="2167"/>
  <p:cmAuthor id="100" name="未知的使用者57" initials="" lastIdx="1" clrIdx="0"/>
  <p:cmAuthor id="2169" name="未知用户416" initials="未" lastIdx="0" clrIdx="2168"/>
  <p:cmAuthor id="101" name="未知的使用者16" initials="" lastIdx="6" clrIdx="0"/>
  <p:cmAuthor id="2170" name="尚舵" initials="尚" lastIdx="0" clrIdx="2169"/>
  <p:cmAuthor id="102" name="未知的使用者35" initials="" lastIdx="1" clrIdx="0"/>
  <p:cmAuthor id="2171" name="董超" initials="董" lastIdx="0" clrIdx="2170"/>
  <p:cmAuthor id="103" name="未知用户102" initials="" lastIdx="1" clrIdx="1"/>
  <p:cmAuthor id="2172" name="Wangsisheng" initials="W" lastIdx="0" clrIdx="2171"/>
  <p:cmAuthor id="104" name="maxine" initials="" lastIdx="0" clrIdx="0"/>
  <p:cmAuthor id="2173" name="未知用户412" initials="未" lastIdx="0" clrIdx="2172"/>
  <p:cmAuthor id="105" name="未知的使用者121" initials="" lastIdx="1" clrIdx="1"/>
  <p:cmAuthor id="2174" name="李能文" initials="李能文" lastIdx="0" clrIdx="2173"/>
  <p:cmAuthor id="106" name="未知的使用者12" initials="" lastIdx="1" clrIdx="0"/>
  <p:cmAuthor id="2175" name="未知用户414" initials="未" lastIdx="0" clrIdx="2174"/>
  <p:cmAuthor id="107" name="周元元" initials="" lastIdx="5" clrIdx="0"/>
  <p:cmAuthor id="2176" name="SF" initials="S" lastIdx="0" clrIdx="2175"/>
  <p:cmAuthor id="108" name="未知的使用者27" initials="" lastIdx="8" clrIdx="0"/>
  <p:cmAuthor id="2177" name="10092001" initials="1" lastIdx="0" clrIdx="2176"/>
  <p:cmAuthor id="109" name="刘豹" initials="刘" lastIdx="0" clrIdx="0"/>
  <p:cmAuthor id="2178" name="zhangmh@httz.cc" initials="z" lastIdx="0" clrIdx="2177"/>
  <p:cmAuthor id="110" name="未知的使用者30" initials="" lastIdx="8" clrIdx="0"/>
  <p:cmAuthor id="2179" name="wang" initials="wang" lastIdx="0" clrIdx="2178"/>
  <p:cmAuthor id="111" name="未知的使用者53" initials="" lastIdx="1" clrIdx="0"/>
  <p:cmAuthor id="2180" name="未知用户370" initials="未" lastIdx="0" clrIdx="2179"/>
  <p:cmAuthor id="112" name="未知用户58" initials="" lastIdx="5" clrIdx="1"/>
  <p:cmAuthor id="2181" name="muchunbo" initials="m" lastIdx="0" clrIdx="2180"/>
  <p:cmAuthor id="113" name="未知的使用者25" initials="" lastIdx="1" clrIdx="0"/>
  <p:cmAuthor id="2182" name="未知用户286" initials="未" lastIdx="0" clrIdx="2181"/>
  <p:cmAuthor id="114" name="liupeng" initials="" lastIdx="1" clrIdx="1"/>
  <p:cmAuthor id="2183" name="任军" initials="renj" lastIdx="0" clrIdx="2182"/>
  <p:cmAuthor id="115" name="未知用户24" initials="" lastIdx="1" clrIdx="0"/>
  <p:cmAuthor id="2184" name="caict" initials="c" lastIdx="0" clrIdx="2183"/>
  <p:cmAuthor id="116" name="AbuSina" initials="" lastIdx="2" clrIdx="0"/>
  <p:cmAuthor id="2185" name="HE JIE" initials="" lastIdx="0" clrIdx="2184"/>
  <p:cmAuthor id="117" name="hl sun" initials="" lastIdx="1" clrIdx="0"/>
  <p:cmAuthor id="2186" name="10209970" initials="1" lastIdx="0" clrIdx="2185"/>
  <p:cmAuthor id="118" name="未知的使用者94" initials="" lastIdx="1" clrIdx="2"/>
  <p:cmAuthor id="2187" name="未知用户352" initials="未" lastIdx="0" clrIdx="2186"/>
  <p:cmAuthor id="119" name="未知用户66" initials="" lastIdx="1" clrIdx="0"/>
  <p:cmAuthor id="2188" name="未知用户353" initials="未" lastIdx="0" clrIdx="2187"/>
  <p:cmAuthor id="120" name="郑汝鸿" initials="郑" lastIdx="2" clrIdx="0"/>
  <p:cmAuthor id="2189" name="未知用户355" initials="未" lastIdx="0" clrIdx="2188"/>
  <p:cmAuthor id="121" name="未知用户19" initials="" lastIdx="1" clrIdx="0"/>
  <p:cmAuthor id="2190" name="10319231" initials="1" lastIdx="0" clrIdx="2189"/>
  <p:cmAuthor id="122" name="周宏達JerryChou" initials="" lastIdx="6" clrIdx="2"/>
  <p:cmAuthor id="2191" name="未知用户482" initials="未" lastIdx="0" clrIdx="2190"/>
  <p:cmAuthor id="123" name="邢辰凤" initials="邢" lastIdx="45" clrIdx="7"/>
  <p:cmAuthor id="2192" name="未知用户483" initials="未" lastIdx="0" clrIdx="2191"/>
  <p:cmAuthor id="124" name="未知用户7" initials="" lastIdx="1" clrIdx="0"/>
  <p:cmAuthor id="2193" name="焱恺 彭" initials="焱" lastIdx="0" clrIdx="2192"/>
  <p:cmAuthor id="125" name="未知的使用者56" initials="" lastIdx="1" clrIdx="0"/>
  <p:cmAuthor id="2194" name="刘云飞" initials="刘" lastIdx="0" clrIdx="2193"/>
  <p:cmAuthor id="126" name="未知用户46" initials="未" lastIdx="1" clrIdx="1"/>
  <p:cmAuthor id="2195" name="xusha" initials="x" lastIdx="0" clrIdx="2194"/>
  <p:cmAuthor id="127" name="未知的使用者119" initials="" lastIdx="1" clrIdx="2"/>
  <p:cmAuthor id="2196" name="sxp" initials="s" lastIdx="0" clrIdx="2195"/>
  <p:cmAuthor id="128" name="未知用户59" initials="" lastIdx="0" clrIdx="1"/>
  <p:cmAuthor id="2197" name="mawei19" initials="m" lastIdx="0" clrIdx="2196"/>
  <p:cmAuthor id="129" name="未知的使用者22" initials="" lastIdx="8" clrIdx="0"/>
  <p:cmAuthor id="2198" name="Kate Sillitoe (HI)" initials="K" lastIdx="0" clrIdx="2197"/>
  <p:cmAuthor id="130" name="未知的使用者103" initials="" lastIdx="8" clrIdx="0"/>
  <p:cmAuthor id="2199" name="alen" initials="a" lastIdx="0" clrIdx="2198"/>
  <p:cmAuthor id="131" name="Wenwen" initials="" lastIdx="1" clrIdx="1"/>
  <p:cmAuthor id="2200" name="未知用户126" initials="未" lastIdx="0" clrIdx="2199"/>
  <p:cmAuthor id="132" name="未知的使用者117" initials="" lastIdx="1" clrIdx="0"/>
  <p:cmAuthor id="2201" name="东方_b3dea543bad08e97" initials="authorId_278826930" lastIdx="0" clrIdx="2200"/>
  <p:cmAuthor id="133" name="未知的使用者33" initials="" lastIdx="1" clrIdx="0"/>
  <p:cmAuthor id="2202" name="wangchao" initials="w" lastIdx="0" clrIdx="2201"/>
  <p:cmAuthor id="134" name="未知的使用者28" initials="" lastIdx="1" clrIdx="0"/>
  <p:cmAuthor id="2203" name="H JM" initials="HJ" lastIdx="0" clrIdx="2202"/>
  <p:cmAuthor id="135" name="未知用户67" initials="" lastIdx="1" clrIdx="0"/>
  <p:cmAuthor id="2204" name="USER" initials="U" lastIdx="0" clrIdx="2203"/>
  <p:cmAuthor id="136" name="未知用户114" initials="" lastIdx="1" clrIdx="0"/>
  <p:cmAuthor id="2205" name="cyklovevv" initials="c" lastIdx="0" clrIdx="2204"/>
  <p:cmAuthor id="137" name="未知用户18" initials="" lastIdx="10" clrIdx="0"/>
  <p:cmAuthor id="2206" name="小公孙衍" initials="小" lastIdx="0" clrIdx="2205"/>
  <p:cmAuthor id="138" name="未知的使用者67" initials="" lastIdx="1" clrIdx="0"/>
  <p:cmAuthor id="2207" name="Well Li" initials="W" lastIdx="0" clrIdx="2206"/>
  <p:cmAuthor id="139" name="未知的使用者46" initials="" lastIdx="1" clrIdx="1"/>
  <p:cmAuthor id="792137479" name="yan冰" initials="y" lastIdx="1" clrIdx="677"/>
  <p:cmAuthor id="2208" name="未知用户254" initials="未" lastIdx="0" clrIdx="2207"/>
  <p:cmAuthor id="140" name="未知的使用者26" initials="" lastIdx="1" clrIdx="0"/>
  <p:cmAuthor id="2209" name="未知用户307" initials="未" lastIdx="0" clrIdx="2208"/>
  <p:cmAuthor id="141" name="未知的使用者43" initials="" lastIdx="1" clrIdx="0"/>
  <p:cmAuthor id="2210" name="未知用户342" initials="未" lastIdx="0" clrIdx="2209"/>
  <p:cmAuthor id="142" name="未知的使用者9" initials="" lastIdx="1" clrIdx="0"/>
  <p:cmAuthor id="2211" name="未知用户420" initials="未" lastIdx="0" clrIdx="2210"/>
  <p:cmAuthor id="143" name="未知用户62" initials="" lastIdx="1" clrIdx="1"/>
  <p:cmAuthor id="2212" name="wenle369@sina.com" initials="w" lastIdx="0" clrIdx="2211"/>
  <p:cmAuthor id="144" name="yuanzh" initials="" lastIdx="1" clrIdx="1"/>
  <p:cmAuthor id="2213" name="王志琮" initials="themiss" lastIdx="0" clrIdx="2212"/>
  <p:cmAuthor id="145" name="不明使用者57" initials="" lastIdx="1" clrIdx="0"/>
  <p:cmAuthor id="2214" name="郭伟" initials="c" lastIdx="0" clrIdx="2213"/>
  <p:cmAuthor id="146" name="未知用户108" initials="" lastIdx="1" clrIdx="0"/>
  <p:cmAuthor id="2215" name="谭 远祥" initials="谭" lastIdx="0" clrIdx="2214"/>
  <p:cmAuthor id="147" name="未知的使用者110" initials="" lastIdx="1" clrIdx="0"/>
  <p:cmAuthor id="2216" name="Sissi L" initials="SL" lastIdx="0" clrIdx="2215"/>
  <p:cmAuthor id="148" name="linyd" initials="" lastIdx="3" clrIdx="1"/>
  <p:cmAuthor id="2217" name="张 洁丹" initials="张" lastIdx="0" clrIdx="2216"/>
  <p:cmAuthor id="149" name="未知用户8" initials="" lastIdx="1" clrIdx="0"/>
  <p:cmAuthor id="2218" name="许 伟杰" initials="许" lastIdx="0" clrIdx="2217"/>
  <p:cmAuthor id="150" name="未知的使用者31" initials="" lastIdx="1" clrIdx="0"/>
  <p:cmAuthor id="2219" name="李俊毅" initials="A" lastIdx="0" clrIdx="2218"/>
  <p:cmAuthor id="151" name="未知用户81" initials="" lastIdx="1" clrIdx="0"/>
  <p:cmAuthor id="2220" name="zwz" initials="z" lastIdx="0" clrIdx="2219"/>
  <p:cmAuthor id="152" name="未知用户115" initials="" lastIdx="1" clrIdx="0"/>
  <p:cmAuthor id="2221" name="刘鸿飞" initials="刘鸿飞" lastIdx="0" clrIdx="2220"/>
  <p:cmAuthor id="153" name="未知用户21" initials="" lastIdx="1" clrIdx="0"/>
  <p:cmAuthor id="2222" name="James Shihao Zhou" initials="J" lastIdx="0" clrIdx="2221"/>
  <p:cmAuthor id="154" name="未知的使用者68" initials="" lastIdx="1" clrIdx="0"/>
  <p:cmAuthor id="2223" name="Zach Zhongkai Ye" initials="Z" lastIdx="0" clrIdx="2222"/>
  <p:cmAuthor id="155" name="mm" initials="" lastIdx="1" clrIdx="0"/>
  <p:cmAuthor id="2224" name="Emily Lu Chen" initials="E" lastIdx="0" clrIdx="2223"/>
  <p:cmAuthor id="156" name="未知用户15" initials="" lastIdx="1" clrIdx="0"/>
  <p:cmAuthor id="2225" name="Lynette Zitong Li" initials="L" lastIdx="0" clrIdx="2224"/>
  <p:cmAuthor id="157" name="朱晓瑜" initials="" lastIdx="54" clrIdx="0"/>
  <p:cmAuthor id="2226" name="Chris Kun Yu Lin" initials="C" lastIdx="0" clrIdx="2225"/>
  <p:cmAuthor id="158" name="不明使用者20" initials="" lastIdx="1" clrIdx="0"/>
  <p:cmAuthor id="2227" name="欧 阳" initials="欧" lastIdx="0" clrIdx="2226"/>
  <p:cmAuthor id="159" name="未知用户82" initials="" lastIdx="1" clrIdx="0"/>
  <p:cmAuthor id="2228" name="张志海" initials="张" lastIdx="0" clrIdx="2227"/>
  <p:cmAuthor id="160" name="未知的使用者7" initials="" lastIdx="2" clrIdx="0"/>
  <p:cmAuthor id="2229" name="李洁瑾" initials="李" lastIdx="0" clrIdx="2228"/>
  <p:cmAuthor id="161" name="未知用户6" initials="" lastIdx="8" clrIdx="0"/>
  <p:cmAuthor id="2230" name="Peit Hu" initials="T" lastIdx="0" clrIdx="2229"/>
  <p:cmAuthor id="6654065" name="牛草源" initials="牛" lastIdx="1" clrIdx="991"/>
  <p:cmAuthor id="162" name="未知的使用者55" initials="" lastIdx="1" clrIdx="0"/>
  <p:cmAuthor id="2231" name="abstb" initials="a" lastIdx="0" clrIdx="2230"/>
  <p:cmAuthor id="163" name="未知的使用者111" initials="" lastIdx="1" clrIdx="0"/>
  <p:cmAuthor id="2232" name="T sam" initials="Ts" lastIdx="0" clrIdx="2231"/>
  <p:cmAuthor id="164" name="未知的使用者50" initials="" lastIdx="1" clrIdx="0"/>
  <p:cmAuthor id="2233" name="张劲" initials="张" lastIdx="0" clrIdx="2232"/>
  <p:cmAuthor id="165" name="未知的使用者11" initials="" lastIdx="1" clrIdx="0"/>
  <p:cmAuthor id="2234" name="李 满满" initials="李" lastIdx="0" clrIdx="2233"/>
  <p:cmAuthor id="166" name="未知用户47" initials="" lastIdx="6" clrIdx="0"/>
  <p:cmAuthor id="612717964" name="Yangbaogang" initials="Y" lastIdx="2" clrIdx="1"/>
  <p:cmAuthor id="2235" name="Carith" initials="C" lastIdx="0" clrIdx="2234"/>
  <p:cmAuthor id="167" name="未知用户106" initials="未" lastIdx="1" clrIdx="0"/>
  <p:cmAuthor id="2236" name="Ю恒┑之‰" initials="Ю" lastIdx="0" clrIdx="2235"/>
  <p:cmAuthor id="168" name="未知用户116" initials="" lastIdx="1" clrIdx="1"/>
  <p:cmAuthor id="2237" name="云栖松" initials="云" lastIdx="0" clrIdx="2236"/>
  <p:cmAuthor id="169" name="未知的使用者150" initials="未" lastIdx="1" clrIdx="0"/>
  <p:cmAuthor id="2238" name="紫琬" initials="紫" lastIdx="0" clrIdx="2237"/>
  <p:cmAuthor id="170" name="未知的使用者69" initials="" lastIdx="1" clrIdx="1"/>
  <p:cmAuthor id="2239" name="xujh" initials="x" lastIdx="0" clrIdx="2238"/>
  <p:cmAuthor id="171" name="未知的使用者112" initials="" lastIdx="1" clrIdx="1"/>
  <p:cmAuthor id="2240" name="Unicom" initials="U" lastIdx="0" clrIdx="2239"/>
  <p:cmAuthor id="172" name="梁亚栋" initials="梁" lastIdx="776053" clrIdx="0"/>
  <p:cmAuthor id="2241" name="杨国" initials="杨" lastIdx="0" clrIdx="2240"/>
  <p:cmAuthor id="173" name="Kevin Hu" initials="" lastIdx="1" clrIdx="0"/>
  <p:cmAuthor id="2242" name="13686" initials="1" lastIdx="0" clrIdx="2241"/>
  <p:cmAuthor id="174" name="未知的使用者38" initials="" lastIdx="1" clrIdx="0"/>
  <p:cmAuthor id="2243" name="杨素雯" initials="杨" lastIdx="0" clrIdx="2242"/>
  <p:cmAuthor id="175" name="唐可欣" initials="" lastIdx="1" clrIdx="0"/>
  <p:cmAuthor id="2244" name="未知的使用者62" initials="未" lastIdx="0" clrIdx="2243"/>
  <p:cmAuthor id="176" name="未知的使用者8" initials="" lastIdx="1" clrIdx="0"/>
  <p:cmAuthor id="177" name="不明使用者56" initials="" lastIdx="1" clrIdx="0"/>
  <p:cmAuthor id="178" name="P00035_jeremy" initials="" lastIdx="1" clrIdx="0"/>
  <p:cmAuthor id="179" name="Unknown User7" initials="" lastIdx="1" clrIdx="0"/>
  <p:cmAuthor id="180" name="muzi wei" initials="" lastIdx="1" clrIdx="0"/>
  <p:cmAuthor id="181" name="未知的使用者41" initials="" lastIdx="1" clrIdx="0"/>
  <p:cmAuthor id="182" name="未知的使用者13" initials="" lastIdx="1" clrIdx="0"/>
  <p:cmAuthor id="183" name="djj" initials="" lastIdx="2" clrIdx="0"/>
  <p:cmAuthor id="184" name="未知用户117" initials="" lastIdx="1" clrIdx="2"/>
  <p:cmAuthor id="185" name="未知的使用者92" initials="未" lastIdx="1" clrIdx="0"/>
  <p:cmAuthor id="186" name="未知用户13" initials="" lastIdx="1" clrIdx="0"/>
  <p:cmAuthor id="187" name="不明使用者21" initials="" lastIdx="1" clrIdx="0"/>
  <p:cmAuthor id="188" name="YUMINGNJ" initials="" lastIdx="3" clrIdx="0"/>
  <p:cmAuthor id="189" name="未知的使用者52" initials="" lastIdx="1" clrIdx="1"/>
  <p:cmAuthor id="190" name="未知用户109" initials="" lastIdx="1" clrIdx="1"/>
  <p:cmAuthor id="191" name="Unknown User117" initials="U" lastIdx="10" clrIdx="0"/>
  <p:cmAuthor id="192" name="thomas" initials="" lastIdx="1" clrIdx="49"/>
  <p:cmAuthor id="193" name="未知的使用者3" initials="" lastIdx="7" clrIdx="1"/>
  <p:cmAuthor id="194" name="未知用户14" initials="" lastIdx="1" clrIdx="0"/>
  <p:cmAuthor id="195" name="Unknown User65" initials="U" lastIdx="1" clrIdx="0"/>
  <p:cmAuthor id="196" name="未知用户98" initials="" lastIdx="1" clrIdx="2"/>
  <p:cmAuthor id="197" name="Windows 用户" initials="" lastIdx="1" clrIdx="0"/>
  <p:cmAuthor id="198" name="未知用户83" initials="" lastIdx="1" clrIdx="1"/>
  <p:cmAuthor id="199" name="未知用户61" initials="" lastIdx="8" clrIdx="0"/>
  <p:cmAuthor id="200" name="張秀娟" initials="" lastIdx="1" clrIdx="2"/>
  <p:cmAuthor id="201" name="Jason Wang" initials="" lastIdx="1" clrIdx="0"/>
  <p:cmAuthor id="202" name="不明使用者18" initials="" lastIdx="0" clrIdx="1"/>
  <p:cmAuthor id="203" name="未知用户28" initials="未" lastIdx="5" clrIdx="1"/>
  <p:cmAuthor id="204" name="未知的使用者72" initials="" lastIdx="1" clrIdx="0"/>
  <p:cmAuthor id="47245819" name="群智集" initials="群" lastIdx="0" clrIdx="0"/>
  <p:cmAuthor id="205" name="未知的使用者48" initials="" lastIdx="1" clrIdx="0"/>
  <p:cmAuthor id="47245820" name="ding ruiwen" initials="dr" lastIdx="1" clrIdx="36"/>
  <p:cmAuthor id="206" name="未知的使用者104" initials="" lastIdx="1" clrIdx="0"/>
  <p:cmAuthor id="47245821" name="宋玉坤" initials="W用" lastIdx="1" clrIdx="24"/>
  <p:cmAuthor id="207" name="未知用户60" initials="" lastIdx="1" clrIdx="0"/>
  <p:cmAuthor id="47245822" name="ma jialin" initials="mj" lastIdx="1" clrIdx="41"/>
  <p:cmAuthor id="208" name="未知的使用者39" initials="未" lastIdx="10" clrIdx="0"/>
  <p:cmAuthor id="47245823" name="刘海娜|liuhaina" initials="W用" lastIdx="1" clrIdx="36"/>
  <p:cmAuthor id="209" name="Shawna Strickland" initials="" lastIdx="2" clrIdx="0"/>
  <p:cmAuthor id="47245824" name="goforever814" initials="g" lastIdx="1" clrIdx="34"/>
  <p:cmAuthor id="210" name="未知的使用者36" initials="" lastIdx="3" clrIdx="1"/>
  <p:cmAuthor id="47245825" name="ME" initials="M" lastIdx="1" clrIdx="44"/>
  <p:cmAuthor id="211" name="未知的使用者136" initials="未" lastIdx="1" clrIdx="0"/>
  <p:cmAuthor id="212" name="Daniel Wuu" initials="" lastIdx="1" clrIdx="0"/>
  <p:cmAuthor id="213" name="未知用户56" initials="" lastIdx="1" clrIdx="0"/>
  <p:cmAuthor id="214" name="未知的使用者14" initials="" lastIdx="2" clrIdx="0"/>
  <p:cmAuthor id="215" name="云峰 贾" initials="云" lastIdx="2" clrIdx="0"/>
  <p:cmAuthor id="216" name="未知的使用者197" initials="未" lastIdx="8" clrIdx="0"/>
  <p:cmAuthor id="217" name="Ashley Eberenz" initials="" lastIdx="7" clrIdx="1"/>
  <p:cmAuthor id="218" name="不明使用者19" initials="" lastIdx="1" clrIdx="0"/>
  <p:cmAuthor id="219" name="qiantong" initials="" lastIdx="3" clrIdx="1"/>
  <p:cmAuthor id="220" name="未知的使用者74" initials="" lastIdx="1" clrIdx="0"/>
  <p:cmAuthor id="221" name="未知的使用者23" initials="" lastIdx="1" clrIdx="0"/>
  <p:cmAuthor id="222" name="未知的使用者1" initials="" lastIdx="8" clrIdx="0"/>
  <p:cmAuthor id="223" name="116304" initials="" lastIdx="1" clrIdx="1"/>
  <p:cmAuthor id="224" name="未知用户31" initials="未" lastIdx="1" clrIdx="1"/>
  <p:cmAuthor id="225" name="R affer" initials="" lastIdx="1" clrIdx="0"/>
  <p:cmAuthor id="226" name="qihua-DCMS" initials="" lastIdx="0" clrIdx="0"/>
  <p:cmAuthor id="227" name="未知用户55" initials="" lastIdx="1" clrIdx="0"/>
  <p:cmAuthor id="228" name="未知的使用者95" initials="" lastIdx="1" clrIdx="0"/>
  <p:cmAuthor id="336028587" name="jadeite" initials="j" lastIdx="3" clrIdx="660"/>
  <p:cmAuthor id="229" name="Unknown User66" initials="U" lastIdx="1" clrIdx="0"/>
  <p:cmAuthor id="1121787201" name="新泉" initials="新" lastIdx="2" clrIdx="677"/>
  <p:cmAuthor id="230" name="未知的使用者32" initials="" lastIdx="1" clrIdx="0"/>
  <p:cmAuthor id="231" name="未知的使用者49" initials="" lastIdx="1" clrIdx="0"/>
  <p:cmAuthor id="232" name="Unknown User26" initials="U" lastIdx="1" clrIdx="1"/>
  <p:cmAuthor id="233" name="yuexuejun" initials="" lastIdx="3" clrIdx="0"/>
  <p:cmAuthor id="234" name="未知的使用者71" initials="" lastIdx="1" clrIdx="1"/>
  <p:cmAuthor id="663963024" name="二郎要读书" initials="二" lastIdx="1" clrIdx="702"/>
  <p:cmAuthor id="235" name="未知的使用者105" initials="" lastIdx="1" clrIdx="0"/>
  <p:cmAuthor id="236" name="Unknown User70" initials="" lastIdx="1" clrIdx="0"/>
  <p:cmAuthor id="237" name="clinchen" initials="" lastIdx="0" clrIdx="1"/>
  <p:cmAuthor id="238" name="未知用户23" initials="" lastIdx="1" clrIdx="0"/>
  <p:cmAuthor id="239" name="hanjuncompany" initials="" lastIdx="1" clrIdx="0"/>
  <p:cmAuthor id="240" name="kathy chen" initials="" lastIdx="3" clrIdx="0"/>
  <p:cmAuthor id="241" name="未知的使用者63" initials="" lastIdx="1" clrIdx="0"/>
  <p:cmAuthor id="242" name="未知的使用者64" initials="" lastIdx="3" clrIdx="1"/>
  <p:cmAuthor id="243" name="未知的使用者47" initials="" lastIdx="1" clrIdx="0"/>
  <p:cmAuthor id="244" name="未知的使用者60" initials="" lastIdx="8" clrIdx="0"/>
  <p:cmAuthor id="245" name="未知的使用者59" initials="" lastIdx="1" clrIdx="0"/>
  <p:cmAuthor id="246" name="未知的使用者54" initials="" lastIdx="1" clrIdx="0"/>
  <p:cmAuthor id="247" name="未知的使用者66" initials="" lastIdx="8" clrIdx="0"/>
  <p:cmAuthor id="248" name="未知的使用者65" initials="" lastIdx="1" clrIdx="0"/>
  <p:cmAuthor id="249" name="未知的使用者106" initials="" lastIdx="3" clrIdx="1"/>
  <p:cmAuthor id="227559214" name="文斌" initials="文" lastIdx="6" clrIdx="350"/>
  <p:cmAuthor id="250" name="未知的使用者107" initials="" lastIdx="1" clrIdx="1"/>
  <p:cmAuthor id="251" name="未知的使用者108" initials="" lastIdx="1" clrIdx="0"/>
  <p:cmAuthor id="252" name="未知的使用者86" initials="" lastIdx="1" clrIdx="0"/>
  <p:cmAuthor id="253" name="未知的使用者116" initials="" lastIdx="1" clrIdx="1"/>
  <p:cmAuthor id="254" name="未知的使用者44" initials="" lastIdx="1" clrIdx="0"/>
  <p:cmAuthor id="255" name="未知的使用者37" initials="" lastIdx="1" clrIdx="0"/>
  <p:cmAuthor id="256" name="未知的使用者126" initials="" lastIdx="1" clrIdx="0"/>
  <p:cmAuthor id="257" name="未知的使用者127" initials="" lastIdx="3" clrIdx="1"/>
  <p:cmAuthor id="258" name="未知的使用者128" initials="" lastIdx="1" clrIdx="1"/>
  <p:cmAuthor id="259" name="未知的使用者124" initials="" lastIdx="1" clrIdx="0"/>
  <p:cmAuthor id="260" name="未知的使用者125" initials="" lastIdx="1" clrIdx="0"/>
  <p:cmAuthor id="261" name="Sara Chen" initials="" lastIdx="1" clrIdx="0"/>
  <p:cmAuthor id="262" name="huang gerrard" initials="" lastIdx="1" clrIdx="0"/>
  <p:cmAuthor id="263" name="未知用户170" initials="" lastIdx="1" clrIdx="0"/>
  <p:cmAuthor id="264" name="未知用户171" initials="" lastIdx="5" clrIdx="1"/>
  <p:cmAuthor id="265" name="未知用户172" initials="" lastIdx="1" clrIdx="1"/>
  <p:cmAuthor id="266" name="未知用户173" initials="" lastIdx="1" clrIdx="0"/>
  <p:cmAuthor id="267" name="未知用户149" initials="" lastIdx="1" clrIdx="0"/>
  <p:cmAuthor id="268" name="未知用户150" initials="" lastIdx="1" clrIdx="0"/>
  <p:cmAuthor id="269" name="未知用户151" initials="" lastIdx="2" clrIdx="0"/>
  <p:cmAuthor id="270" name="未知用户152" initials="" lastIdx="8" clrIdx="0"/>
  <p:cmAuthor id="271" name="未知用户153" initials="" lastIdx="8" clrIdx="0"/>
  <p:cmAuthor id="272" name="未知用户154" initials="" lastIdx="1" clrIdx="0"/>
  <p:cmAuthor id="273" name="未知用户155" initials="" lastIdx="1" clrIdx="0"/>
  <p:cmAuthor id="274" name="未知用户41" initials="" lastIdx="8" clrIdx="0"/>
  <p:cmAuthor id="275" name="未知用户44" initials="" lastIdx="1" clrIdx="0"/>
  <p:cmAuthor id="276" name="未知用户45" initials="" lastIdx="1" clrIdx="0"/>
  <p:cmAuthor id="277" name="未知用户156" initials="" lastIdx="10" clrIdx="0"/>
  <p:cmAuthor id="278" name="未知用户64" initials="" lastIdx="1" clrIdx="0"/>
  <p:cmAuthor id="279" name="未知用户65" initials="" lastIdx="1" clrIdx="0"/>
  <p:cmAuthor id="280" name="未知用户68" initials="" lastIdx="1" clrIdx="0"/>
  <p:cmAuthor id="281" name="未知用户69" initials="" lastIdx="2" clrIdx="0"/>
  <p:cmAuthor id="282" name="未知用户70" initials="" lastIdx="1" clrIdx="1"/>
  <p:cmAuthor id="283" name="未知用户71" initials="" lastIdx="1" clrIdx="0"/>
  <p:cmAuthor id="284" name="未知用户72" initials="" lastIdx="1" clrIdx="0"/>
  <p:cmAuthor id="285" name="未知用户73" initials="" lastIdx="2" clrIdx="0"/>
  <p:cmAuthor id="286" name="未知用户49" initials="" lastIdx="1" clrIdx="0"/>
  <p:cmAuthor id="287" name="未知用户50" initials="" lastIdx="1" clrIdx="0"/>
  <p:cmAuthor id="288" name="未知用户52" initials="" lastIdx="1" clrIdx="0"/>
  <p:cmAuthor id="289" name="MA15" initials="" lastIdx="1" clrIdx="0"/>
  <p:cmAuthor id="290" name="未知用户53" initials="" lastIdx="10" clrIdx="0"/>
  <p:cmAuthor id="291" name="未知用户96" initials="" lastIdx="1" clrIdx="0"/>
  <p:cmAuthor id="292" name="未知用户48" initials="" lastIdx="1" clrIdx="0"/>
  <p:cmAuthor id="293" name="未知用户97" initials="" lastIdx="2" clrIdx="0"/>
  <p:cmAuthor id="294" name="未知用户40" initials="" lastIdx="5" clrIdx="1"/>
  <p:cmAuthor id="295" name="未知用户43" initials="" lastIdx="1" clrIdx="0"/>
  <p:cmAuthor id="296" name="未知用户100" initials="" lastIdx="1" clrIdx="0"/>
  <p:cmAuthor id="332488596" name="咲" initials="咲" lastIdx="1" clrIdx="865"/>
  <p:cmAuthor id="297" name="未知用户101" initials="" lastIdx="1" clrIdx="0"/>
  <p:cmAuthor id="298" name="未知用户26" initials="" lastIdx="1" clrIdx="0"/>
  <p:cmAuthor id="299" name="未知用户29" initials="" lastIdx="1" clrIdx="0"/>
  <p:cmAuthor id="300" name="未知用户32" initials="" lastIdx="1" clrIdx="0"/>
  <p:cmAuthor id="301" name="未知用户33" initials="" lastIdx="1" clrIdx="0"/>
  <p:cmAuthor id="280589805" name="Bay" initials="B" lastIdx="1" clrIdx="853"/>
  <p:cmAuthor id="302" name="未知用户34" initials="" lastIdx="2" clrIdx="0"/>
  <p:cmAuthor id="303" name="未知用户42" initials="" lastIdx="1" clrIdx="0"/>
  <p:cmAuthor id="304" name="未知的使用者109" initials="" lastIdx="5" clrIdx="1"/>
  <p:cmAuthor id="305" name="未知的使用者122" initials="" lastIdx="1" clrIdx="0"/>
  <p:cmAuthor id="306" name="未知的使用者123" initials="" lastIdx="8" clrIdx="0"/>
  <p:cmAuthor id="307" name="未知用户93" initials="" lastIdx="1" clrIdx="0"/>
  <p:cmAuthor id="308" name="未知用户90" initials="" lastIdx="5" clrIdx="1"/>
  <p:cmAuthor id="309" name="未知用户91" initials="" lastIdx="0" clrIdx="1"/>
  <p:cmAuthor id="310" name="未知用户92" initials="" lastIdx="1" clrIdx="0"/>
  <p:cmAuthor id="311" name="未知用户74" initials="" lastIdx="5" clrIdx="1"/>
  <p:cmAuthor id="312" name="未知用户75" initials="" lastIdx="8" clrIdx="0"/>
  <p:cmAuthor id="313" name="未知用户76" initials="" lastIdx="1" clrIdx="0"/>
  <p:cmAuthor id="314" name="未知用户77" initials="" lastIdx="8" clrIdx="0"/>
  <p:cmAuthor id="315" name="未知用户78" initials="" lastIdx="8" clrIdx="0"/>
  <p:cmAuthor id="316" name="未知用户79" initials="" lastIdx="1" clrIdx="0"/>
  <p:cmAuthor id="317" name="未知用户80" initials="" lastIdx="1" clrIdx="0"/>
  <p:cmAuthor id="318" name="Harry xu" initials="" lastIdx="1" clrIdx="0"/>
  <p:cmAuthor id="1387068263" name="WPS_1655667131" initials="W" lastIdx="1" clrIdx="698"/>
  <p:cmAuthor id="319" name="未知用户27" initials="未" lastIdx="1" clrIdx="0"/>
  <p:cmAuthor id="320" name="未知用户35" initials="未" lastIdx="1" clrIdx="0"/>
  <p:cmAuthor id="321" name="未知用户111" initials="未" lastIdx="1" clrIdx="1"/>
  <p:cmAuthor id="322" name="huangjc" initials="h" lastIdx="1" clrIdx="321"/>
  <p:cmAuthor id="323" name="ethel" initials="e" lastIdx="2" clrIdx="322"/>
  <p:cmAuthor id="324" name="36913" initials="3" lastIdx="1" clrIdx="323"/>
  <p:cmAuthor id="325" name="zhouxm73" initials="z" lastIdx="1" clrIdx="324"/>
  <p:cmAuthor id="326" name="10331183" initials="1" lastIdx="1" clrIdx="325"/>
  <p:cmAuthor id="327" name="liuq" initials="l" lastIdx="1" clrIdx="326"/>
  <p:cmAuthor id="328" name="琚超" initials="琚" lastIdx="1" clrIdx="327"/>
  <p:cmAuthor id="329" name="xul54" initials="x" lastIdx="1" clrIdx="328"/>
  <p:cmAuthor id="330" name="yuexy" initials="y" lastIdx="1" clrIdx="329"/>
  <p:cmAuthor id="331" name="qianyp" initials="q" lastIdx="2" clrIdx="330"/>
  <p:cmAuthor id="332" name="Liu, Hongqing (NSB - CN/Shanghai)" initials="L" lastIdx="1" clrIdx="41"/>
  <p:cmAuthor id="333" name="汪亦超" initials="汪" lastIdx="1" clrIdx="332"/>
  <p:cmAuthor id="334" name="lll" initials="l" lastIdx="1" clrIdx="333"/>
  <p:cmAuthor id="335" name="未知用户189" initials="未" lastIdx="2" clrIdx="0"/>
  <p:cmAuthor id="336" name="王一哲" initials="wyz" lastIdx="1" clrIdx="335"/>
  <p:cmAuthor id="337" name="raymond luan" initials="r" lastIdx="0" clrIdx="0"/>
  <p:cmAuthor id="338" name="thinkin" initials="t" lastIdx="2" clrIdx="337"/>
  <p:cmAuthor id="339" name="王子文" initials="王" lastIdx="27" clrIdx="338"/>
  <p:cmAuthor id="340" name="万翔宇" initials="万" lastIdx="17" clrIdx="339"/>
  <p:cmAuthor id="341" name="houzhixi" initials="h" lastIdx="1" clrIdx="340"/>
  <p:cmAuthor id="342" name="34306" initials="3" lastIdx="1" clrIdx="341"/>
  <p:cmAuthor id="343" name="娜娅" initials="娜" lastIdx="2" clrIdx="342"/>
  <p:cmAuthor id="344" name="houhj26" initials="h" lastIdx="1" clrIdx="343"/>
  <p:cmAuthor id="345" name="mengx79" initials="m" lastIdx="1" clrIdx="344"/>
  <p:cmAuthor id="346" name="李山" initials="李" lastIdx="1" clrIdx="345"/>
  <p:cmAuthor id="347" name="10011274@zte.intra" initials="1" lastIdx="9" clrIdx="346"/>
  <p:cmAuthor id="348" name="未知的使用者169" initials="未" lastIdx="1" clrIdx="0"/>
  <p:cmAuthor id="349" name="郭玉华" initials="郭" lastIdx="7" clrIdx="348"/>
  <p:cmAuthor id="350" name="冯连森" initials="冯" lastIdx="1" clrIdx="349"/>
  <p:cmAuthor id="351" name="未知的使用者173" initials="未" lastIdx="1" clrIdx="0"/>
  <p:cmAuthor id="352" name="CWS" initials="C" lastIdx="3" clrIdx="351"/>
  <p:cmAuthor id="353" name="刘威" initials="liuwei" lastIdx="1" clrIdx="352"/>
  <p:cmAuthor id="354" name="未知的使用者162" initials="未" lastIdx="1" clrIdx="0"/>
  <p:cmAuthor id="355" name="yangjun123" initials="y" lastIdx="1" clrIdx="354"/>
  <p:cmAuthor id="356" name="张力方" initials="张" lastIdx="1" clrIdx="355"/>
  <p:cmAuthor id="357" name="未知的使用者185" initials="未" lastIdx="10" clrIdx="0"/>
  <p:cmAuthor id="358" name="yubing" initials="y" lastIdx="2" clrIdx="357"/>
  <p:cmAuthor id="359" name="未知的使用者175" initials="未" lastIdx="8" clrIdx="0"/>
  <p:cmAuthor id="360" name="未知的使用者176" initials="未" lastIdx="1" clrIdx="0"/>
  <p:cmAuthor id="361" name="未知的使用者187" initials="未" lastIdx="1" clrIdx="0"/>
  <p:cmAuthor id="362" name="未知的使用者178" initials="未" lastIdx="1" clrIdx="0"/>
  <p:cmAuthor id="363" name="未知的使用者179" initials="未" lastIdx="1" clrIdx="0"/>
  <p:cmAuthor id="364" name="未知的使用者180" initials="未" lastIdx="2" clrIdx="0"/>
  <p:cmAuthor id="365" name="未知的使用者181" initials="未" lastIdx="7" clrIdx="1"/>
  <p:cmAuthor id="366" name="崔涛" initials="崔" lastIdx="1" clrIdx="365"/>
  <p:cmAuthor id="367" name="HUAWEI" initials="H" lastIdx="2" clrIdx="366"/>
  <p:cmAuthor id="368" name="Think" initials="T" lastIdx="2" clrIdx="40"/>
  <p:cmAuthor id="369" name="未知的使用者141" initials="未" lastIdx="8" clrIdx="0"/>
  <p:cmAuthor id="370" name="王蓉" initials="王" lastIdx="1" clrIdx="369"/>
  <p:cmAuthor id="371" name="巩金明" initials="巩" lastIdx="1" clrIdx="370"/>
  <p:cmAuthor id="372" name="未知的使用者144" initials="未" lastIdx="1" clrIdx="0"/>
  <p:cmAuthor id="373" name="未知的使用者145" initials="未" lastIdx="1" clrIdx="0"/>
  <p:cmAuthor id="374" name="未知的使用者146" initials="未" lastIdx="1" clrIdx="0"/>
  <p:cmAuthor id="375" name="未知的使用者147" initials="未" lastIdx="1" clrIdx="0"/>
  <p:cmAuthor id="376" name="未知的使用者148" initials="未" lastIdx="8" clrIdx="0"/>
  <p:cmAuthor id="377" name="未知的使用者149" initials="未" lastIdx="8" clrIdx="0"/>
  <p:cmAuthor id="378" name="李雄邦" initials="李" lastIdx="1" clrIdx="377"/>
  <p:cmAuthor id="379" name="刘云轩" initials="刘" lastIdx="1" clrIdx="0"/>
  <p:cmAuthor id="380" name="sharon" initials="s" lastIdx="1" clrIdx="84"/>
  <p:cmAuthor id="381" name="未知用户131" initials="未" lastIdx="1" clrIdx="2"/>
  <p:cmAuthor id="382" name="孔祥云" initials="孔" lastIdx="4" clrIdx="381"/>
  <p:cmAuthor id="383" name="未知的使用者194" initials="未" lastIdx="1" clrIdx="0"/>
  <p:cmAuthor id="384" name="未知用户134" initials="未" lastIdx="10" clrIdx="0"/>
  <p:cmAuthor id="385" name="未知用户135" initials="未" lastIdx="1" clrIdx="0"/>
  <p:cmAuthor id="386" name="10191815" initials="1" lastIdx="1" clrIdx="385"/>
  <p:cmAuthor id="387" name="未知用户136" initials="未" lastIdx="1" clrIdx="1"/>
  <p:cmAuthor id="388" name="10260969" initials="z" lastIdx="1" clrIdx="387"/>
  <p:cmAuthor id="389" name="Yoyo Wu" initials="Y" lastIdx="2" clrIdx="0"/>
  <p:cmAuthor id="390" name="未知的使用者201" initials="未" lastIdx="8" clrIdx="0"/>
  <p:cmAuthor id="391" name="未知的使用者202" initials="未" lastIdx="0" clrIdx="1"/>
  <p:cmAuthor id="392" name="未知的使用者171" initials="未" lastIdx="3" clrIdx="1"/>
  <p:cmAuthor id="393" name="未知的使用者195" initials="未" lastIdx="1" clrIdx="1"/>
  <p:cmAuthor id="394" name="Unknown User27" initials="U" lastIdx="1" clrIdx="0"/>
  <p:cmAuthor id="395" name="未知的使用者196" initials="未" lastIdx="1" clrIdx="0"/>
  <p:cmAuthor id="396" name="未知的使用者222" initials="" lastIdx="5" clrIdx="1"/>
  <p:cmAuthor id="397" name="未知的使用者203" initials="未" lastIdx="1" clrIdx="0"/>
  <p:cmAuthor id="398" name="未知的使用者204" initials="未" lastIdx="1" clrIdx="0"/>
  <p:cmAuthor id="399" name="未知的使用者225" initials="" lastIdx="1" clrIdx="0"/>
  <p:cmAuthor id="400" name="10208146" initials="1" lastIdx="1" clrIdx="399"/>
  <p:cmAuthor id="401" name="Unknown User24" initials="U" lastIdx="1" clrIdx="0"/>
  <p:cmAuthor id="402" name="未知用户133" initials="未" lastIdx="1" clrIdx="0"/>
  <p:cmAuthor id="403" name="孙远" initials="孙" lastIdx="5" clrIdx="402"/>
  <p:cmAuthor id="404" name="10309979" initials="1" lastIdx="1" clrIdx="403"/>
  <p:cmAuthor id="405" name="未知用户137" initials="未" lastIdx="10" clrIdx="0"/>
  <p:cmAuthor id="406" name="cmcc" initials="c" lastIdx="1" clrIdx="405"/>
  <p:cmAuthor id="407" name="Arno.Du(杜明星)" initials="A" lastIdx="0" clrIdx="0"/>
  <p:cmAuthor id="408" name="longyamei-1" initials="l" lastIdx="1" clrIdx="407"/>
  <p:cmAuthor id="197949914" name="草长莺飞" initials="草" lastIdx="4" clrIdx="848"/>
  <p:cmAuthor id="409" name="zhangbin" initials="z" lastIdx="6" clrIdx="0"/>
  <p:cmAuthor id="410" name="未知的使用者232" initials="" lastIdx="8" clrIdx="0"/>
  <p:cmAuthor id="411" name="alpha" initials="a" lastIdx="1" clrIdx="0"/>
  <p:cmAuthor id="412" name="未知用户330" initials="未" lastIdx="5" clrIdx="0"/>
  <p:cmAuthor id="394525608" name="仇怿俊" initials="仇" lastIdx="0" clrIdx="0"/>
  <p:cmAuthor id="413" name="未知的使用者158" initials="未" lastIdx="1" clrIdx="0"/>
  <p:cmAuthor id="394525609" name="mei shuo" initials="mei shuo" lastIdx="1" clrIdx="24"/>
  <p:cmAuthor id="414" name="未知用户177" initials="未" lastIdx="2" clrIdx="0"/>
  <p:cmAuthor id="394525610" name="dengwanting" initials="d" lastIdx="1" clrIdx="50"/>
  <p:cmAuthor id="415" name="未知用户184" initials="未" lastIdx="1" clrIdx="1"/>
  <p:cmAuthor id="394525611" name="ShanQiu LH" initials="SL" lastIdx="1" clrIdx="51"/>
  <p:cmAuthor id="416" name="Unknown User114" initials="U" lastIdx="1" clrIdx="1"/>
  <p:cmAuthor id="394525612" name="goulei" initials="g" lastIdx="2" clrIdx="41"/>
  <p:cmAuthor id="417" name="WANGZF" initials="W" lastIdx="4" clrIdx="2"/>
  <p:cmAuthor id="394525613" name="刘莎_Rnie2Mv6" initials="authorId_1390812686" lastIdx="0" clrIdx="0"/>
  <p:cmAuthor id="418" name="未知用户181" initials="未" lastIdx="2" clrIdx="0"/>
  <p:cmAuthor id="394525614" name="董耘_um22zMFb" initials="authorId_1461203234" lastIdx="0" clrIdx="0"/>
  <p:cmAuthor id="419" name="未知用户182" initials="未" lastIdx="1" clrIdx="49"/>
  <p:cmAuthor id="394525615" name="廖一明" initials="廖一明" lastIdx="1" clrIdx="236"/>
  <p:cmAuthor id="420" name="未知用户204" initials="未" lastIdx="1" clrIdx="0"/>
  <p:cmAuthor id="421" name="未知用户205" initials="未" lastIdx="1" clrIdx="0"/>
  <p:cmAuthor id="422" name="未知用户193" initials="未" lastIdx="3" clrIdx="0"/>
  <p:cmAuthor id="423" name="未知用户194" initials="未" lastIdx="1" clrIdx="0"/>
  <p:cmAuthor id="424" name="未知用户187" initials="未" lastIdx="10" clrIdx="0"/>
  <p:cmAuthor id="425" name="Kent" initials="K" lastIdx="2" clrIdx="0"/>
  <p:cmAuthor id="426" name="留毓吟" initials="留" lastIdx="1" clrIdx="0"/>
  <p:cmAuthor id="427" name="王嘉偉" initials="王" lastIdx="2" clrIdx="0"/>
  <p:cmAuthor id="428" name="dcis" initials="d" lastIdx="4" clrIdx="0"/>
  <p:cmAuthor id="429" name="FanJQ" initials="F" lastIdx="1" clrIdx="1"/>
  <p:cmAuthor id="430" name="未知用户211" initials="未" lastIdx="8" clrIdx="0"/>
  <p:cmAuthor id="431" name="未知用户212" initials="未" lastIdx="8" clrIdx="0"/>
  <p:cmAuthor id="432" name="未知用户210" initials="未" lastIdx="1" clrIdx="0"/>
  <p:cmAuthor id="433" name="未知用户201" initials="未" lastIdx="8" clrIdx="0"/>
  <p:cmAuthor id="434" name="未知用户161" initials="未" lastIdx="1" clrIdx="0"/>
  <p:cmAuthor id="435" name="未知用户183" initials="未" lastIdx="1" clrIdx="0"/>
  <p:cmAuthor id="436" name="未知用户162" initials="未" lastIdx="1" clrIdx="0"/>
  <p:cmAuthor id="437" name="未知用户163" initials="未" lastIdx="8" clrIdx="0"/>
  <p:cmAuthor id="438" name="未知用户164" initials="未" lastIdx="1" clrIdx="0"/>
  <p:cmAuthor id="439" name="未知用户165" initials="未" lastIdx="2" clrIdx="0"/>
  <p:cmAuthor id="440" name="未知用户191" initials="未" lastIdx="1" clrIdx="0"/>
  <p:cmAuthor id="441" name="未知用户167" initials="未" lastIdx="1" clrIdx="0"/>
  <p:cmAuthor id="442" name="未知用户202" initials="未" lastIdx="8" clrIdx="0"/>
  <p:cmAuthor id="443" name="未知用户169" initials="未" lastIdx="1" clrIdx="0"/>
  <p:cmAuthor id="444" name="未知用户192" initials="未" lastIdx="1" clrIdx="0"/>
  <p:cmAuthor id="445" name="未知用户203" initials="未" lastIdx="1" clrIdx="1"/>
  <p:cmAuthor id="353158055" name="韩雨" initials="韩" lastIdx="0" clrIdx="0"/>
  <p:cmAuthor id="446" name="未知用户174" initials="未" lastIdx="1" clrIdx="0"/>
  <p:cmAuthor id="447" name="未知用户175" initials="未" lastIdx="1" clrIdx="0"/>
  <p:cmAuthor id="448" name="未知用户176" initials="未" lastIdx="1" clrIdx="0"/>
  <p:cmAuthor id="449" name="未知的使用者166" initials="未" lastIdx="8" clrIdx="0"/>
  <p:cmAuthor id="450" name="未知的使用者167" initials="未" lastIdx="0" clrIdx="1"/>
  <p:cmAuthor id="451" name="未知的使用者159" initials="未" lastIdx="1" clrIdx="1"/>
  <p:cmAuthor id="452" name="未知的使用者160" initials="未" lastIdx="1" clrIdx="0"/>
  <p:cmAuthor id="453" name="未知的使用者168" initials="未" lastIdx="1" clrIdx="0"/>
  <p:cmAuthor id="454" name="不明使用者7" initials="不" lastIdx="7" clrIdx="1"/>
  <p:cmAuthor id="455" name="未知用户120" initials="未" lastIdx="1" clrIdx="0"/>
  <p:cmAuthor id="456" name="未知用户122" initials="未" lastIdx="1" clrIdx="0"/>
  <p:cmAuthor id="457" name="未知用户132" initials="未" lastIdx="1" clrIdx="0"/>
  <p:cmAuthor id="458" name="未知用户141" initials="未" lastIdx="1" clrIdx="1"/>
  <p:cmAuthor id="459" name="未知用户143" initials="未" lastIdx="1" clrIdx="0"/>
  <p:cmAuthor id="460" name="未知用户144" initials="未" lastIdx="1" clrIdx="0"/>
  <p:cmAuthor id="461" name="未知用户145" initials="未" lastIdx="2" clrIdx="0"/>
  <p:cmAuthor id="462" name="未知用户119" initials="未" lastIdx="1" clrIdx="1"/>
  <p:cmAuthor id="463" name="未知用户140" initials="未" lastIdx="0" clrIdx="1"/>
  <p:cmAuthor id="464" name="未知用户142" initials="未" lastIdx="1" clrIdx="0"/>
  <p:cmAuthor id="465" name="未知用户157" initials="未" lastIdx="8" clrIdx="0"/>
  <p:cmAuthor id="466" name="未知用户158" initials="未" lastIdx="2" clrIdx="0"/>
  <p:cmAuthor id="467" name="未知用户159" initials="未" lastIdx="1" clrIdx="0"/>
  <p:cmAuthor id="468" name="未知用户160" initials="未" lastIdx="2" clrIdx="0"/>
  <p:cmAuthor id="469" name="未知用户168" initials="未" lastIdx="1" clrIdx="0"/>
  <p:cmAuthor id="470" name="順天" initials="順" lastIdx="1" clrIdx="0"/>
  <p:cmAuthor id="471" name="未知用户287" initials="未" lastIdx="0" clrIdx="1"/>
  <p:cmAuthor id="472" name="未知用户288" initials="未" lastIdx="1" clrIdx="0"/>
  <p:cmAuthor id="473" name="未知用户289" initials="未" lastIdx="1" clrIdx="0"/>
  <p:cmAuthor id="474" name="未知用户206" initials="未" lastIdx="6" clrIdx="0"/>
  <p:cmAuthor id="272456739" name="time killer" initials="t" lastIdx="1" clrIdx="688"/>
  <p:cmAuthor id="1036066707" name="陈双华" initials="陈" lastIdx="1" clrIdx="852"/>
  <p:cmAuthor id="475" name="Evonlin" initials="E" lastIdx="2" clrIdx="2"/>
  <p:cmAuthor id="477" name="Unknown User11" initials="U" lastIdx="0" clrIdx="1"/>
  <p:cmAuthor id="478" name="nancy" initials="n" lastIdx="1" clrIdx="0"/>
  <p:cmAuthor id="479" name="未知用户166" initials="未" lastIdx="1" clrIdx="0"/>
  <p:cmAuthor id="480" name="未知用户195" initials="未" lastIdx="1" clrIdx="0"/>
  <p:cmAuthor id="481" name="未知用户207" initials="未" lastIdx="3" clrIdx="1"/>
  <p:cmAuthor id="482" name="未知的使用者207" initials="未" lastIdx="1" clrIdx="0"/>
  <p:cmAuthor id="483" name="未知的使用者208" initials="未" lastIdx="1" clrIdx="0"/>
  <p:cmAuthor id="484" name="未知的使用者188" initials="未" lastIdx="1" clrIdx="0"/>
  <p:cmAuthor id="485" name="未知的使用者189" initials="未" lastIdx="2" clrIdx="0"/>
  <p:cmAuthor id="486" name="未知的使用者190" initials="未" lastIdx="1" clrIdx="1"/>
  <p:cmAuthor id="487" name="未知的使用者191" initials="未" lastIdx="1" clrIdx="0"/>
  <p:cmAuthor id="488" name="未知的使用者192" initials="未" lastIdx="1" clrIdx="0"/>
  <p:cmAuthor id="489" name="未知的使用者193" initials="未" lastIdx="2" clrIdx="0"/>
  <p:cmAuthor id="490" name="未知的使用者209" initials="未" lastIdx="8" clrIdx="0"/>
  <p:cmAuthor id="491" name="未知的使用者210" initials="未" lastIdx="1" clrIdx="0"/>
  <p:cmAuthor id="492" name="未知的使用者211" initials="未" lastIdx="1" clrIdx="0"/>
  <p:cmAuthor id="493" name="未知的使用者212" initials="未" lastIdx="11" clrIdx="0"/>
  <p:cmAuthor id="494" name="未知的使用者213" initials="未" lastIdx="7" clrIdx="1"/>
  <p:cmAuthor id="495" name="未知的使用者214" initials="未" lastIdx="1" clrIdx="2"/>
  <p:cmAuthor id="496" name="未知的使用者215" initials="未" lastIdx="1" clrIdx="0"/>
  <p:cmAuthor id="497" name="未知的使用者216" initials="未" lastIdx="1" clrIdx="0"/>
  <p:cmAuthor id="498" name="未知的使用者217" initials="未" lastIdx="1" clrIdx="1"/>
  <p:cmAuthor id="396226412" name="海风~~" initials="海" lastIdx="1" clrIdx="958"/>
  <p:cmAuthor id="499" name="未知的使用者218" initials="未" lastIdx="1" clrIdx="0"/>
  <p:cmAuthor id="500" name="未知的使用者219" initials="未" lastIdx="2" clrIdx="0"/>
  <p:cmAuthor id="501" name="未知的使用者220" initials="未" lastIdx="7" clrIdx="1"/>
  <p:cmAuthor id="502" name="未知的使用者153" initials="未" lastIdx="1" clrIdx="0"/>
  <p:cmAuthor id="503" name="未知的使用者154" initials="未" lastIdx="1" clrIdx="0"/>
  <p:cmAuthor id="504" name="未知用户25" initials="未" lastIdx="1" clrIdx="0"/>
  <p:cmAuthor id="506" name="未知的使用者129" initials="未" lastIdx="1" clrIdx="0"/>
  <p:cmAuthor id="507" name="未知的使用者130" initials="未" lastIdx="8" clrIdx="0"/>
  <p:cmAuthor id="508" name="未知的使用者131" initials="未" lastIdx="2" clrIdx="0"/>
  <p:cmAuthor id="509" name="未知的使用者132" initials="未" lastIdx="8" clrIdx="0"/>
  <p:cmAuthor id="510" name="未知的使用者164" initials="未" lastIdx="8" clrIdx="0"/>
  <p:cmAuthor id="511" name="未知的使用者172" initials="未" lastIdx="1" clrIdx="0"/>
  <p:cmAuthor id="512" name="未知的使用者174" initials="未" lastIdx="1" clrIdx="0"/>
  <p:cmAuthor id="513" name="未知的使用者247" initials="未" lastIdx="6" clrIdx="0"/>
  <p:cmAuthor id="514" name="未知的使用者249" initials="未" lastIdx="43" clrIdx="1"/>
  <p:cmAuthor id="515" name="未知的使用者250" initials="未" lastIdx="1" clrIdx="0"/>
  <p:cmAuthor id="516" name="未知的使用者251" initials="未" lastIdx="1" clrIdx="0"/>
  <p:cmAuthor id="517" name="未知的使用者246" initials="未" lastIdx="1" clrIdx="1"/>
  <p:cmAuthor id="518" name="未知的使用者224" initials="未" lastIdx="1" clrIdx="0"/>
  <p:cmAuthor id="519" name="未知的使用者252" initials="未" lastIdx="1" clrIdx="0"/>
  <p:cmAuthor id="520" name="未知的使用者253" initials="未" lastIdx="1" clrIdx="0"/>
  <p:cmAuthor id="521" name="未知的使用者254" initials="未" lastIdx="1" clrIdx="0"/>
  <p:cmAuthor id="522" name="未知的使用者255" initials="未" lastIdx="1" clrIdx="0"/>
  <p:cmAuthor id="523" name="未知的使用者226" initials="未" lastIdx="8" clrIdx="0"/>
  <p:cmAuthor id="524" name="未知的使用者227" initials="未" lastIdx="2" clrIdx="0"/>
  <p:cmAuthor id="525" name="未知的使用者270" initials="未" lastIdx="1" clrIdx="0"/>
  <p:cmAuthor id="526" name="未知的使用者228" initials="未" lastIdx="8" clrIdx="0"/>
  <p:cmAuthor id="527" name="未知的使用者229" initials="未" lastIdx="8" clrIdx="0"/>
  <p:cmAuthor id="528" name="未知的使用者230" initials="未" lastIdx="1" clrIdx="0"/>
  <p:cmAuthor id="529" name="未知的使用者231" initials="未" lastIdx="1" clrIdx="0"/>
  <p:cmAuthor id="530" name="未知的使用者256" initials="未" lastIdx="1" clrIdx="0"/>
  <p:cmAuthor id="531" name="未知的使用者233" initials="未" lastIdx="1" clrIdx="0"/>
  <p:cmAuthor id="532" name="未知的使用者234" initials="未" lastIdx="10" clrIdx="0"/>
  <p:cmAuthor id="533" name="未知的使用者235" initials="未" lastIdx="1" clrIdx="0"/>
  <p:cmAuthor id="534" name="未知的使用者236" initials="未" lastIdx="1" clrIdx="0"/>
  <p:cmAuthor id="535" name="未知的使用者257" initials="未" lastIdx="1" clrIdx="0"/>
  <p:cmAuthor id="536" name="未知的使用者237" initials="未" lastIdx="1" clrIdx="0"/>
  <p:cmAuthor id="537" name="未知的使用者238" initials="未" lastIdx="2" clrIdx="0"/>
  <p:cmAuthor id="538" name="未知的使用者239" initials="未" lastIdx="1" clrIdx="1"/>
  <p:cmAuthor id="539" name="未知的使用者240" initials="未" lastIdx="1" clrIdx="0"/>
  <p:cmAuthor id="540" name="未知的使用者241" initials="未" lastIdx="1" clrIdx="0"/>
  <p:cmAuthor id="541" name="未知的使用者242" initials="未" lastIdx="2" clrIdx="0"/>
  <p:cmAuthor id="542" name="未知的使用者243" initials="未" lastIdx="1" clrIdx="0"/>
  <p:cmAuthor id="543" name="未知的使用者258" initials="未" lastIdx="8" clrIdx="0"/>
  <p:cmAuthor id="544" name="未知的使用者259" initials="未" lastIdx="1" clrIdx="0"/>
  <p:cmAuthor id="545" name="未知的使用者260" initials="未" lastIdx="1" clrIdx="0"/>
  <p:cmAuthor id="546" name="未知的使用者261" initials="未" lastIdx="11" clrIdx="0"/>
  <p:cmAuthor id="547" name="未知的使用者262" initials="未" lastIdx="7" clrIdx="1"/>
  <p:cmAuthor id="548" name="未知的使用者263" initials="未" lastIdx="1" clrIdx="2"/>
  <p:cmAuthor id="549" name="未知的使用者264" initials="未" lastIdx="1" clrIdx="0"/>
  <p:cmAuthor id="550" name="未知的使用者265" initials="未" lastIdx="1" clrIdx="0"/>
  <p:cmAuthor id="551" name="未知的使用者266" initials="未" lastIdx="1" clrIdx="1"/>
  <p:cmAuthor id="552" name="未知的使用者267" initials="未" lastIdx="1" clrIdx="0"/>
  <p:cmAuthor id="252273722" name="梅婷" initials="梅" lastIdx="1" clrIdx="343"/>
  <p:cmAuthor id="553" name="未知的使用者268" initials="未" lastIdx="2" clrIdx="0"/>
  <p:cmAuthor id="554" name="未知的使用者269" initials="未" lastIdx="7" clrIdx="1"/>
  <p:cmAuthor id="555" name="lillian" initials="l" lastIdx="1" clrIdx="0"/>
  <p:cmAuthor id="556" name="未知用户197" initials="未" lastIdx="1" clrIdx="0"/>
  <p:cmAuthor id="557" name="Xia Ting" initials="X" lastIdx="1" clrIdx="0"/>
  <p:cmAuthor id="559" name="不明使用者54" initials="不" lastIdx="1" clrIdx="1"/>
  <p:cmAuthor id="561" name="未知用户94" initials="未" lastIdx="0" clrIdx="0"/>
  <p:cmAuthor id="562" name="未知用户321" initials="未" lastIdx="1" clrIdx="0"/>
  <p:cmAuthor id="563" name=" " initials="" lastIdx="6" clrIdx="85"/>
  <p:cmAuthor id="564" name="未知用户319" initials="未" lastIdx="1" clrIdx="0"/>
  <p:cmAuthor id="372780570" name="fluxay" initials="f" lastIdx="1" clrIdx="890"/>
  <p:cmAuthor id="565" name="未知用户222" initials="未" lastIdx="1" clrIdx="0"/>
  <p:cmAuthor id="566" name="未知用户87" initials="未" lastIdx="1" clrIdx="0"/>
  <p:cmAuthor id="567" name="未知用户88" initials="未" lastIdx="1" clrIdx="0"/>
  <p:cmAuthor id="568" name="未知用户89" initials="未" lastIdx="1" clrIdx="0"/>
  <p:cmAuthor id="569" name="Unknown User111" initials="U" lastIdx="1" clrIdx="0"/>
  <p:cmAuthor id="570" name="未知用户110" initials="未" lastIdx="1" clrIdx="0"/>
  <p:cmAuthor id="571" name="未知用户121" initials="未" lastIdx="1" clrIdx="1"/>
  <p:cmAuthor id="572" name="未知用户234" initials="未" lastIdx="7" clrIdx="1"/>
  <p:cmAuthor id="573" name="未知用户54" initials="未" lastIdx="8" clrIdx="0"/>
  <p:cmAuthor id="574" name="未知用户278" initials="未" lastIdx="1" clrIdx="0"/>
  <p:cmAuthor id="575" name="未知用户279" initials="未" lastIdx="1" clrIdx="0"/>
  <p:cmAuthor id="576" name="未知用户280" initials="未" lastIdx="4" clrIdx="2"/>
  <p:cmAuthor id="577" name="未知用户281" initials="未" lastIdx="1" clrIdx="0"/>
  <p:cmAuthor id="578" name="未知用户282" initials="未" lastIdx="3" clrIdx="1"/>
  <p:cmAuthor id="579" name="未知用户283" initials="未" lastIdx="1" clrIdx="1"/>
  <p:cmAuthor id="580" name="未知用户284" initials="未" lastIdx="1" clrIdx="0"/>
  <p:cmAuthor id="581" name="未知用户285" initials="未" lastIdx="8" clrIdx="0"/>
  <p:cmAuthor id="582" name="未知用户180" initials="未" lastIdx="1" clrIdx="1"/>
  <p:cmAuthor id="583" name="78234500@qq.com" initials="7" lastIdx="1" clrIdx="0"/>
  <p:cmAuthor id="584" name="未知用户188" initials="未" lastIdx="1" clrIdx="0"/>
  <p:cmAuthor id="585" name="未知用户290" initials="未" lastIdx="2" clrIdx="0"/>
  <p:cmAuthor id="586" name="未知用户291" initials="未" lastIdx="8" clrIdx="0"/>
  <p:cmAuthor id="587" name="未知用户292" initials="未" lastIdx="1" clrIdx="0"/>
  <p:cmAuthor id="588" name="未知用户293" initials="未" lastIdx="1" clrIdx="0"/>
  <p:cmAuthor id="589" name="未知用户295" initials="未" lastIdx="1" clrIdx="0"/>
  <p:cmAuthor id="590" name="未知用户297" initials="未" lastIdx="1" clrIdx="0"/>
  <p:cmAuthor id="591" name="panjm" initials="p" lastIdx="1" clrIdx="0"/>
  <p:cmAuthor id="592" name="ye gusong" initials="y" lastIdx="1" clrIdx="0"/>
  <p:cmAuthor id="593" name="wei muzi" initials="w" lastIdx="1" clrIdx="4"/>
  <p:cmAuthor id="594" name="孙" initials="孙" lastIdx="1" clrIdx="50"/>
  <p:cmAuthor id="595" name="liuchunhua199110" initials="l" lastIdx="3" clrIdx="3"/>
  <p:cmAuthor id="596" name="Microsoft Office User" initials="M" lastIdx="2" clrIdx="86"/>
  <p:cmAuthor id="597" name="未知用户256" initials="未" lastIdx="1" clrIdx="0"/>
  <p:cmAuthor id="598" name="未知的使用者139" initials="未" lastIdx="1" clrIdx="0"/>
  <p:cmAuthor id="599" name="未知用户258" initials="未" lastIdx="8" clrIdx="0"/>
  <p:cmAuthor id="601" name="未知用户233" initials="未" lastIdx="1" clrIdx="0"/>
  <p:cmAuthor id="602" name="未知用户148" initials="" lastIdx="1" clrIdx="0"/>
  <p:cmAuthor id="603" name="boyen" initials="b" lastIdx="1" clrIdx="602"/>
  <p:cmAuthor id="604" name="未知的使用者140" initials="未" lastIdx="1" clrIdx="1"/>
  <p:cmAuthor id="605" name="yudi lin" initials="y" lastIdx="0" clrIdx="0"/>
  <p:cmAuthor id="606" name="未知的使用者200" initials="未" lastIdx="1" clrIdx="0"/>
  <p:cmAuthor id="607" name="95407" initials="9" lastIdx="2" clrIdx="606"/>
  <p:cmAuthor id="608" name="49554261@qq.com" initials="4" lastIdx="2" clrIdx="2"/>
  <p:cmAuthor id="609" name="未知用户230" initials="未" lastIdx="1" clrIdx="0"/>
  <p:cmAuthor id="610" name="未知用户215" initials="未" lastIdx="1" clrIdx="0"/>
  <p:cmAuthor id="611" name="未知用户313" initials="未" lastIdx="2" clrIdx="0"/>
  <p:cmAuthor id="612" name="胡岱雯" initials="胡" lastIdx="1" clrIdx="0"/>
  <p:cmAuthor id="613" name="张 成亚" initials="张" lastIdx="1" clrIdx="52"/>
  <p:cmAuthor id="614" name="未知用户268" initials="未" lastIdx="1" clrIdx="0"/>
  <p:cmAuthor id="615" name="liuzga" initials="l" lastIdx="1" clrIdx="3"/>
  <p:cmAuthor id="616" name="未知用户213" initials="未" lastIdx="1" clrIdx="0"/>
  <p:cmAuthor id="617" name="未知用户218" initials="未" lastIdx="1" clrIdx="0"/>
  <p:cmAuthor id="618" name="未知用户219" initials="未" lastIdx="10" clrIdx="0"/>
  <p:cmAuthor id="619" name="未知用户344" initials="未" lastIdx="1" clrIdx="0"/>
  <p:cmAuthor id="620" name="未知用户345" initials="未" lastIdx="1" clrIdx="0"/>
  <p:cmAuthor id="621" name="未知用户347" initials="未" lastIdx="6" clrIdx="0"/>
  <p:cmAuthor id="622" name="未知用户348" initials="未" lastIdx="10" clrIdx="0"/>
  <p:cmAuthor id="623" name="jian Ray" initials="j" lastIdx="1" clrIdx="50"/>
  <p:cmAuthor id="624" name="赵 璐" initials="赵" lastIdx="4" clrIdx="0"/>
  <p:cmAuthor id="625" name="Microsoft Office 用户" initials="M" lastIdx="25" clrIdx="3"/>
  <p:cmAuthor id="626" name="王丽君" initials="王" lastIdx="4" clrIdx="0"/>
  <p:cmAuthor id="627" name="未知用户237" initials="未" lastIdx="1" clrIdx="0"/>
  <p:cmAuthor id="628" name="�Ÿ�" initials="�" lastIdx="1" clrIdx="0"/>
  <p:cmAuthor id="629" name="未知用户221" initials="未" lastIdx="43" clrIdx="1"/>
  <p:cmAuthor id="630" name="jesschin" initials="j" lastIdx="1" clrIdx="510"/>
  <p:cmAuthor id="631" name="lenovo" initials="l" lastIdx="1" clrIdx="630"/>
  <p:cmAuthor id="632" name="林志强" initials="林" lastIdx="1" clrIdx="631"/>
  <p:cmAuthor id="633" name="Carol Kelly" initials="C" lastIdx="1" clrIdx="0"/>
  <p:cmAuthor id="1483810881" name="WPS_1679281038" initials="W" lastIdx="1" clrIdx="2"/>
  <p:cmAuthor id="634" name="陶选如" initials="陶" lastIdx="1" clrIdx="633"/>
  <p:cmAuthor id="1483810882" name="Michael&amp;Echo" initials="M" lastIdx="1" clrIdx="1483810881"/>
  <p:cmAuthor id="635" name="10090288" initials="1" lastIdx="3" clrIdx="634"/>
  <p:cmAuthor id="636" name="Unknown User58" initials="U" lastIdx="1" clrIdx="0"/>
  <p:cmAuthor id="637" name="Unknown User55" initials="U" lastIdx="1" clrIdx="1"/>
  <p:cmAuthor id="638" name="未知用户343" initials="未" lastIdx="1" clrIdx="0"/>
  <p:cmAuthor id="639" name="Huipeng Cao" initials="H" lastIdx="1" clrIdx="0"/>
  <p:cmAuthor id="241183969" name="八步" initials="八" lastIdx="1" clrIdx="21"/>
  <p:cmAuthor id="640" name="李 雷雨" initials="李" lastIdx="1" clrIdx="0"/>
  <p:cmAuthor id="641" name="91257" initials="9" lastIdx="0" clrIdx="1"/>
  <p:cmAuthor id="642" name="vicky" initials="v" lastIdx="2" clrIdx="1"/>
  <p:cmAuthor id="643" name="庆芳 许" initials="庆" lastIdx="1" clrIdx="0"/>
  <p:cmAuthor id="644" name="jerrychou" initials="j" lastIdx="1" clrIdx="4"/>
  <p:cmAuthor id="645" name="不明使用者12" initials="不" lastIdx="3" clrIdx="1"/>
  <p:cmAuthor id="646" name="不明使用者1" initials="不" lastIdx="0" clrIdx="0"/>
  <p:cmAuthor id="647" name="不明使用者2" initials="不" lastIdx="2" clrIdx="0"/>
  <p:cmAuthor id="648" name="姚翔" initials="姚" lastIdx="1" clrIdx="647"/>
  <p:cmAuthor id="649" name="不明使用者4" initials="不" lastIdx="1" clrIdx="0"/>
  <p:cmAuthor id="650" name="不明使用者6" initials="不" lastIdx="1" clrIdx="0"/>
  <p:cmAuthor id="651" name="不明使用者5" initials="不" lastIdx="11" clrIdx="0"/>
  <p:cmAuthor id="652" name="未知用户296" initials="未" lastIdx="1" clrIdx="0"/>
  <p:cmAuthor id="653" name="不明使用者8" initials="不" lastIdx="43" clrIdx="1"/>
  <p:cmAuthor id="654" name="不明使用者9" initials="不" lastIdx="1" clrIdx="0"/>
  <p:cmAuthor id="1013961691" name="施俊" initials="施" lastIdx="3" clrIdx="41"/>
  <p:cmAuthor id="655" name="不明使用者10" initials="不" lastIdx="0" clrIdx="0"/>
  <p:cmAuthor id="656" name="不明使用者11" initials="不" lastIdx="1" clrIdx="0"/>
  <p:cmAuthor id="657" name="Carol Wu" initials="C" lastIdx="1" clrIdx="0"/>
  <p:cmAuthor id="658" name="10335529" initials="1" lastIdx="1" clrIdx="657"/>
  <p:cmAuthor id="659" name="李翠微" initials="李" lastIdx="1" clrIdx="658"/>
  <p:cmAuthor id="660" name="未知用户304" initials="未" lastIdx="1" clrIdx="0"/>
  <p:cmAuthor id="661" name="未知用户305" initials="未" lastIdx="1" clrIdx="0"/>
  <p:cmAuthor id="662" name="敢 王" initials="敢" lastIdx="1" clrIdx="0"/>
  <p:cmAuthor id="663" name="邓 勇" initials="邓" lastIdx="1" clrIdx="0"/>
  <p:cmAuthor id="664" name="陈城" initials="陈" lastIdx="0" clrIdx="2"/>
  <p:cmAuthor id="665" name="未知用户309" initials="未" lastIdx="8" clrIdx="0"/>
  <p:cmAuthor id="666" name="蓝礼健" initials="蓝" lastIdx="1" clrIdx="0"/>
  <p:cmAuthor id="667" name="未知用户311" initials="未" lastIdx="2" clrIdx="0"/>
  <p:cmAuthor id="668" name="未知用户312" initials="未" lastIdx="1" clrIdx="0"/>
  <p:cmAuthor id="669" name="shenbina" initials="s" lastIdx="1" clrIdx="0"/>
  <p:cmAuthor id="670" name="未知用户314" initials="未" lastIdx="1" clrIdx="1"/>
  <p:cmAuthor id="671" name="晓  曲" initials="晓" lastIdx="1" clrIdx="0"/>
  <p:cmAuthor id="672" name="10292923" initials="1" lastIdx="1" clrIdx="671"/>
  <p:cmAuthor id="673" name="未知用户216" initials="未" lastIdx="1" clrIdx="0"/>
  <p:cmAuthor id="674" name="孟连磊" initials="孟" lastIdx="1" clrIdx="0"/>
  <p:cmAuthor id="675" name="未知用户387" initials="未" lastIdx="1" clrIdx="0"/>
  <p:cmAuthor id="676" name="未知的使用者177" initials="未" lastIdx="8" clrIdx="0"/>
  <p:cmAuthor id="677" name="梅芬 吳" initials="梅" lastIdx="1" clrIdx="85"/>
  <p:cmAuthor id="678" name="未知的使用者221" initials="未" lastIdx="1" clrIdx="0"/>
  <p:cmAuthor id="679" name="wzy" initials="w" lastIdx="1" clrIdx="678"/>
  <p:cmAuthor id="680" name="黄鹏" initials="黄" lastIdx="1" clrIdx="679"/>
  <p:cmAuthor id="681" name="winner1 chan" initials="wc" lastIdx="1" clrIdx="334"/>
  <p:cmAuthor id="682" name="未知用户332" initials="未" lastIdx="1" clrIdx="0"/>
  <p:cmAuthor id="683" name="未知用户217" initials="未" lastIdx="1" clrIdx="0"/>
  <p:cmAuthor id="684" name="cai yan" initials="cy" lastIdx="1" clrIdx="511"/>
  <p:cmAuthor id="685" name="俊晔 邱" initials="俊" lastIdx="1" clrIdx="87"/>
  <p:cmAuthor id="686" name="annie.gts@outlook.com" initials="a" lastIdx="2" clrIdx="0"/>
  <p:cmAuthor id="687" name="杨 升格" initials="杨" lastIdx="2" clrIdx="0"/>
  <p:cmAuthor id="688" name="Unknown User80" initials="U" lastIdx="1" clrIdx="0"/>
  <p:cmAuthor id="689" name="cy" initials="c" lastIdx="1" clrIdx="76"/>
  <p:cmAuthor id="690" name="wuyh501" initials="w" lastIdx="36" clrIdx="689"/>
  <p:cmAuthor id="691" name="未知用户200" initials="未" lastIdx="8" clrIdx="0"/>
  <p:cmAuthor id="692" name="未知用户272" initials="未" lastIdx="10" clrIdx="0"/>
  <p:cmAuthor id="693" name="lxm" initials="l" lastIdx="1" clrIdx="413"/>
  <p:cmAuthor id="694" name="未知用户231" initials="未" lastIdx="1" clrIdx="0"/>
  <p:cmAuthor id="695" name="lit53" initials="l" lastIdx="1" clrIdx="694"/>
  <p:cmAuthor id="696" name="yesg" initials="y" lastIdx="1" clrIdx="0"/>
  <p:cmAuthor id="697" name="未知用户240" initials="未" lastIdx="2" clrIdx="0"/>
  <p:cmAuthor id="698" name="陳珮琪" initials="陳珮琪" lastIdx="1" clrIdx="188"/>
  <p:cmAuthor id="699" name="未知用户277" initials="未" lastIdx="1" clrIdx="1"/>
  <p:cmAuthor id="700" name="soling" initials="s" lastIdx="1" clrIdx="2"/>
  <p:cmAuthor id="701" name="李 骁" initials="李" lastIdx="1" clrIdx="0"/>
  <p:cmAuthor id="702" name="Tome" initials="T" lastIdx="1" clrIdx="85"/>
  <p:cmAuthor id="703" name="未知的使用者96" initials="未" lastIdx="2" clrIdx="0"/>
  <p:cmAuthor id="704" name="未知的使用者97" initials="未" lastIdx="8" clrIdx="0"/>
  <p:cmAuthor id="705" name="未知用户301" initials="未" lastIdx="1" clrIdx="0"/>
  <p:cmAuthor id="706" name="未知的使用者101" initials="未" lastIdx="1" clrIdx="0"/>
  <p:cmAuthor id="707" name="未知用户308" initials="未" lastIdx="1" clrIdx="0"/>
  <p:cmAuthor id="708" name="未知用户248" initials="未" lastIdx="1" clrIdx="0"/>
  <p:cmAuthor id="709" name="未知用户249" initials="未" lastIdx="1" clrIdx="0"/>
  <p:cmAuthor id="710" name="Stacy Chiang" initials="S" lastIdx="2" clrIdx="0"/>
  <p:cmAuthor id="711" name="未知用户315" initials="未" lastIdx="0" clrIdx="0"/>
  <p:cmAuthor id="712" name="未知用户316" initials="未" lastIdx="1" clrIdx="0"/>
  <p:cmAuthor id="713" name="未知用户317" initials="未" lastIdx="10" clrIdx="0"/>
  <p:cmAuthor id="714" name="未知用户318" initials="未" lastIdx="0" clrIdx="1"/>
  <p:cmAuthor id="715" name="cf" initials="c" lastIdx="2" clrIdx="690"/>
  <p:cmAuthor id="716" name="chen hui" initials="c" lastIdx="1" clrIdx="87"/>
  <p:cmAuthor id="717" name="未知用户244" initials="未" lastIdx="1" clrIdx="0"/>
  <p:cmAuthor id="718" name="未知用户322" initials="未" lastIdx="10" clrIdx="0"/>
  <p:cmAuthor id="719" name="未知用户323" initials="未" lastIdx="1" clrIdx="0"/>
  <p:cmAuthor id="720" name="未知用户324" initials="未" lastIdx="3" clrIdx="1"/>
  <p:cmAuthor id="721" name="wangxinhui" initials="w" lastIdx="1" clrIdx="0"/>
  <p:cmAuthor id="722" name="未知用户276" initials="未" lastIdx="8" clrIdx="0"/>
  <p:cmAuthor id="723" name="未知用户363" initials="未" lastIdx="6" clrIdx="0"/>
  <p:cmAuthor id="724" name="未知用户459" initials="未" lastIdx="1" clrIdx="84"/>
  <p:cmAuthor id="725" name="未知用户470" initials="未" lastIdx="1" clrIdx="0"/>
  <p:cmAuthor id="726" name="未知用户325" initials="未" lastIdx="1" clrIdx="1"/>
  <p:cmAuthor id="727" name="未知用户326" initials="未" lastIdx="1" clrIdx="0"/>
  <p:cmAuthor id="728" name="未知用户365" initials="未" lastIdx="1" clrIdx="0"/>
  <p:cmAuthor id="729" name="未知用户460" initials="未" lastIdx="1" clrIdx="0"/>
  <p:cmAuthor id="730" name="未知用户366" initials="未" lastIdx="3" clrIdx="1"/>
  <p:cmAuthor id="731" name="未知用户461" initials="未" lastIdx="10" clrIdx="0"/>
  <p:cmAuthor id="732" name="未知用户367" initials="未" lastIdx="10" clrIdx="0"/>
  <p:cmAuthor id="733" name="未知用户462" initials="未" lastIdx="1" clrIdx="1"/>
  <p:cmAuthor id="734" name="未知用户463" initials="未" lastIdx="1" clrIdx="0"/>
  <p:cmAuthor id="735" name="未知用户368" initials="未" lastIdx="1" clrIdx="0"/>
  <p:cmAuthor id="736" name="未知用户464" initials="未" lastIdx="1" clrIdx="0"/>
  <p:cmAuthor id="737" name="未知用户369" initials="未" lastIdx="1" clrIdx="0"/>
  <p:cmAuthor id="738" name="未知用户465" initials="未" lastIdx="1" clrIdx="78"/>
  <p:cmAuthor id="739" name="未知用户466" initials="未" lastIdx="1" clrIdx="0"/>
  <p:cmAuthor id="740" name="未知用户467" initials="未" lastIdx="3" clrIdx="1"/>
  <p:cmAuthor id="741" name="未知用户468" initials="未" lastIdx="1" clrIdx="0"/>
  <p:cmAuthor id="742" name="未知用户426" initials="未" lastIdx="1" clrIdx="0"/>
  <p:cmAuthor id="743" name="未知用户371" initials="未" lastIdx="1" clrIdx="1"/>
  <p:cmAuthor id="744" name="未知用户372" initials="未" lastIdx="1" clrIdx="0"/>
  <p:cmAuthor id="745" name="未知用户373" initials="未" lastIdx="8" clrIdx="0"/>
  <p:cmAuthor id="373173861" name="小川/ka" initials="小" lastIdx="1" clrIdx="953"/>
  <p:cmAuthor id="746" name="未知用户374" initials="未" lastIdx="2" clrIdx="0"/>
  <p:cmAuthor id="747" name="未知用户469" initials="未" lastIdx="1" clrIdx="0"/>
  <p:cmAuthor id="748" name="未知用户427" initials="未" lastIdx="8" clrIdx="0"/>
  <p:cmAuthor id="749" name="未知用户375" initials="未" lastIdx="8" clrIdx="0"/>
  <p:cmAuthor id="750" name="未知用户376" initials="未" lastIdx="1" clrIdx="0"/>
  <p:cmAuthor id="751" name="未知用户377" initials="未" lastIdx="1" clrIdx="0"/>
  <p:cmAuthor id="752" name="未知用户428" initials="未" lastIdx="8" clrIdx="0"/>
  <p:cmAuthor id="753" name="未知用户378" initials="未" lastIdx="1" clrIdx="0"/>
  <p:cmAuthor id="754" name="未知用户379" initials="未" lastIdx="1" clrIdx="0"/>
  <p:cmAuthor id="755" name="未知用户339" initials="未" lastIdx="1" clrIdx="0"/>
  <p:cmAuthor id="756" name="未知用户380" initials="未" lastIdx="10" clrIdx="0"/>
  <p:cmAuthor id="757" name="未知用户381" initials="未" lastIdx="1" clrIdx="0"/>
  <p:cmAuthor id="758" name="未知用户382" initials="未" lastIdx="1" clrIdx="0"/>
  <p:cmAuthor id="759" name="未知用户383" initials="未" lastIdx="1" clrIdx="0"/>
  <p:cmAuthor id="760" name="未知用户384" initials="未" lastIdx="1" clrIdx="0"/>
  <p:cmAuthor id="244755184" name="安" initials="安" lastIdx="1" clrIdx="681"/>
  <p:cmAuthor id="761" name="未知用户294" initials="未" lastIdx="8" clrIdx="0"/>
  <p:cmAuthor id="762" name="未知用户385" initials="未" lastIdx="2" clrIdx="0"/>
  <p:cmAuthor id="763" name="未知用户386" initials="未" lastIdx="1" clrIdx="1"/>
  <p:cmAuthor id="764" name="未知用户429" initials="未" lastIdx="1" clrIdx="0"/>
  <p:cmAuthor id="6871913" name="红旗的理想" initials="红" lastIdx="273105" clrIdx="0"/>
  <p:cmAuthor id="765" name="王 曦" initials="王" lastIdx="1" clrIdx="13"/>
  <p:cmAuthor id="6871914" name="shq316" initials="s" lastIdx="2" clrIdx="2"/>
  <p:cmAuthor id="766" name="未知用户430" initials="未" lastIdx="2" clrIdx="0"/>
  <p:cmAuthor id="6871915" name="shq316@vod365.com" initials="s" lastIdx="3" clrIdx="3"/>
  <p:cmAuthor id="767" name="未知用户389" initials="未" lastIdx="1" clrIdx="0"/>
  <p:cmAuthor id="6871916" name="yang fengyu" initials="yf" lastIdx="1" clrIdx="4"/>
  <p:cmAuthor id="768" name="未知用户350" initials="未" lastIdx="1" clrIdx="0"/>
  <p:cmAuthor id="769" name="未知用户431" initials="未" lastIdx="1" clrIdx="0"/>
  <p:cmAuthor id="1411827" name="黄晓平" initials="黄" lastIdx="0" clrIdx="0"/>
  <p:cmAuthor id="770" name="未知用户351" initials="未" lastIdx="8" clrIdx="0"/>
  <p:cmAuthor id="1411828" name="徐琳00159163" initials="徐琳00159163" lastIdx="1" clrIdx="37"/>
  <p:cmAuthor id="771" name="未知用户432" initials="未" lastIdx="1" clrIdx="0"/>
  <p:cmAuthor id="1411829" name="任涛10036216" initials="任涛10036216" lastIdx="1" clrIdx="41"/>
  <p:cmAuthor id="772" name="未知用户392" initials="未" lastIdx="1" clrIdx="0"/>
  <p:cmAuthor id="1411830" name="唐 赛" initials="唐" lastIdx="1" clrIdx="45"/>
  <p:cmAuthor id="773" name="未知用户433" initials="未" lastIdx="1" clrIdx="0"/>
  <p:cmAuthor id="774" name="未知用户434" initials="未" lastIdx="1" clrIdx="0"/>
  <p:cmAuthor id="775" name="未知用户393" initials="未" lastIdx="11" clrIdx="0"/>
  <p:cmAuthor id="776" name="未知用户435" initials="未" lastIdx="7" clrIdx="1"/>
  <p:cmAuthor id="777" name="未知用户356" initials="未" lastIdx="1" clrIdx="2"/>
  <p:cmAuthor id="778" name="未知用户436" initials="未" lastIdx="1" clrIdx="0"/>
  <p:cmAuthor id="779" name="未知用户396" initials="未" lastIdx="1" clrIdx="0"/>
  <p:cmAuthor id="780" name="未知用户437" initials="未" lastIdx="1" clrIdx="1"/>
  <p:cmAuthor id="781" name="未知用户397" initials="未" lastIdx="1" clrIdx="0"/>
  <p:cmAuthor id="782" name="未知用户419" initials="未" lastIdx="1" clrIdx="0"/>
  <p:cmAuthor id="29922660" name="杨强" initials="杨" lastIdx="0" clrIdx="0"/>
  <p:cmAuthor id="783" name="未知用户399" initials="未" lastIdx="2" clrIdx="0"/>
  <p:cmAuthor id="29922661" name="檀晟 陈" initials="檀晟" lastIdx="1" clrIdx="10"/>
  <p:cmAuthor id="784" name="未知用户438" initials="未" lastIdx="7" clrIdx="1"/>
  <p:cmAuthor id="785" name="未知用户401" initials="未" lastIdx="43" clrIdx="1"/>
  <p:cmAuthor id="786" name="未知用户402" initials="未" lastIdx="1" clrIdx="0"/>
  <p:cmAuthor id="787" name="未知用户403" initials="未" lastIdx="1" clrIdx="0"/>
  <p:cmAuthor id="788" name="未知用户327" initials="未" lastIdx="1" clrIdx="0"/>
  <p:cmAuthor id="789" name="未知用户404" initials="未" lastIdx="1" clrIdx="0"/>
  <p:cmAuthor id="790" name="未知用户405" initials="未" lastIdx="1" clrIdx="0"/>
  <p:cmAuthor id="791" name="未知用户439" initials="未" lastIdx="2" clrIdx="0"/>
  <p:cmAuthor id="792" name="未知用户406" initials="未" lastIdx="0" clrIdx="0"/>
  <p:cmAuthor id="457678075" name="胡雅静" initials="胡" lastIdx="1" clrIdx="944"/>
  <p:cmAuthor id="793" name="未知用户440" initials="未" lastIdx="1" clrIdx="0"/>
  <p:cmAuthor id="794" name="未知用户441" initials="未" lastIdx="1" clrIdx="0"/>
  <p:cmAuthor id="795" name="未知用户442" initials="未" lastIdx="1" clrIdx="0"/>
  <p:cmAuthor id="796" name="未知用户409" initials="未" lastIdx="2" clrIdx="2"/>
  <p:cmAuthor id="797" name="未知用户443" initials="未" lastIdx="1" clrIdx="0"/>
  <p:cmAuthor id="798" name="未知用户411" initials="未" lastIdx="3" clrIdx="1"/>
  <p:cmAuthor id="799" name="未知用户444" initials="未" lastIdx="6" clrIdx="0"/>
  <p:cmAuthor id="800" name="未知用户413" initials="未" lastIdx="1" clrIdx="1"/>
  <p:cmAuthor id="801" name="未知用户445" initials="未" lastIdx="1" clrIdx="0"/>
  <p:cmAuthor id="802" name="未知用户446" initials="未" lastIdx="1" clrIdx="0"/>
  <p:cmAuthor id="803" name="未知用户447" initials="未" lastIdx="1" clrIdx="0"/>
  <p:cmAuthor id="804" name="未知用户448" initials="未" lastIdx="1" clrIdx="0"/>
  <p:cmAuthor id="805" name="未知用户333" initials="未" lastIdx="1" clrIdx="0"/>
  <p:cmAuthor id="428110010" name="烦" initials="烦" lastIdx="1" clrIdx="926"/>
  <p:cmAuthor id="806" name="未知用户417" initials="未" lastIdx="1" clrIdx="0"/>
  <p:cmAuthor id="807" name="未知用户449" initials="未" lastIdx="1" clrIdx="0"/>
  <p:cmAuthor id="808" name="未知用户418" initials="未" lastIdx="1" clrIdx="0"/>
  <p:cmAuthor id="459956061" name="阿勇" initials="阿" lastIdx="2" clrIdx="873"/>
  <p:cmAuthor id="809" name="未知用户450" initials="未" lastIdx="6" clrIdx="0"/>
  <p:cmAuthor id="810" name="未知用户423" initials="未" lastIdx="0" clrIdx="0"/>
  <p:cmAuthor id="811" name="未知用户424" initials="未" lastIdx="5" clrIdx="0"/>
  <p:cmAuthor id="812" name="未知用户425" initials="未" lastIdx="3" clrIdx="1"/>
  <p:cmAuthor id="813" name="未知用户451" initials="未" lastIdx="1" clrIdx="0"/>
  <p:cmAuthor id="814" name="未知用户452" initials="未" lastIdx="1" clrIdx="0"/>
  <p:cmAuthor id="815" name="未知用户453" initials="未" lastIdx="1" clrIdx="0"/>
  <p:cmAuthor id="816" name="未知用户454" initials="未" lastIdx="1" clrIdx="2"/>
  <p:cmAuthor id="817" name="未知用户455" initials="未" lastIdx="1" clrIdx="0"/>
  <p:cmAuthor id="818" name="未知用户456" initials="未" lastIdx="1" clrIdx="0"/>
  <p:cmAuthor id="819" name="未知用户457" initials="未" lastIdx="10" clrIdx="0"/>
  <p:cmAuthor id="820" name="未知用户458" initials="未" lastIdx="1" clrIdx="0"/>
  <p:cmAuthor id="821" name="風輕 雲淡" initials="風輕" lastIdx="1" clrIdx="511"/>
  <p:cmAuthor id="822" name="张 青山" initials="张" lastIdx="6" clrIdx="545"/>
  <p:cmAuthor id="823" name="张青山" initials="张青山" lastIdx="1" clrIdx="546"/>
  <p:cmAuthor id="824" name="王芃" initials="王" lastIdx="2" clrIdx="823"/>
  <p:cmAuthor id="825" name="mxk" initials="u" lastIdx="2" clrIdx="824"/>
  <p:cmAuthor id="826" name="86156" initials="8" lastIdx="1" clrIdx="825"/>
  <p:cmAuthor id="827" name="maosh" initials="m" lastIdx="1" clrIdx="826"/>
  <p:cmAuthor id="828" name="m1860" initials="m" lastIdx="7" clrIdx="827"/>
  <p:cmAuthor id="829" name="青春" initials="青" lastIdx="1" clrIdx="828"/>
  <p:cmAuthor id="830" name="郭胜飞" initials="郭" lastIdx="4" clrIdx="829"/>
  <p:cmAuthor id="831" name="xieyy25" initials="x" lastIdx="1" clrIdx="830"/>
  <p:cmAuthor id="832" name="黄鸿达" initials="黄" lastIdx="1" clrIdx="831"/>
  <p:cmAuthor id="833" name="吴斌" initials="吴" lastIdx="1" clrIdx="832"/>
  <p:cmAuthor id="834" name="进 揭" initials="进" lastIdx="1" clrIdx="87"/>
  <p:cmAuthor id="146566726" name="高飞" initials="高" lastIdx="0" clrIdx="0"/>
  <p:cmAuthor id="835" name="未知用户475" initials="未" lastIdx="0" clrIdx="0"/>
  <p:cmAuthor id="146566727" name="xzb1" initials="x" lastIdx="1" clrIdx="1"/>
  <p:cmAuthor id="836" name="user" initials="u" lastIdx="1" clrIdx="835"/>
  <p:cmAuthor id="837" name="apple" initials="a" lastIdx="1" clrIdx="836"/>
  <p:cmAuthor id="838" name="Miao" initials="M" lastIdx="1" clrIdx="837"/>
  <p:cmAuthor id="839" name="未知用户488" initials="未" lastIdx="10" clrIdx="0"/>
  <p:cmAuthor id="840" name="张博雅" initials="张" lastIdx="1" clrIdx="839"/>
  <p:cmAuthor id="841" name="未知用户477" initials="未" lastIdx="2" clrIdx="0"/>
  <p:cmAuthor id="842" name="刘文静" initials="刘" lastIdx="1" clrIdx="841"/>
  <p:cmAuthor id="843" name="10015046" initials="1" lastIdx="1" clrIdx="842"/>
  <p:cmAuthor id="844" name="38897" initials="3" lastIdx="1" clrIdx="843"/>
  <p:cmAuthor id="845" name="未知用户481" initials="未" lastIdx="10" clrIdx="0"/>
  <p:cmAuthor id="846" name="未知用户271" initials="未" lastIdx="1" clrIdx="0"/>
  <p:cmAuthor id="847" name="未知用户388" initials="未" lastIdx="1" clrIdx="0"/>
  <p:cmAuthor id="848" name="15042" initials="1" lastIdx="1" clrIdx="847"/>
  <p:cmAuthor id="849" name="未知用户224" initials="未" lastIdx="5" clrIdx="0"/>
  <p:cmAuthor id="850" name="未知用户486" initials="未" lastIdx="0" clrIdx="0"/>
  <p:cmAuthor id="851" name="魏天伟" initials="魏" lastIdx="1" clrIdx="850"/>
  <p:cmAuthor id="852" name="张宇" initials="张" lastIdx="2" clrIdx="851"/>
  <p:cmAuthor id="853" name="胡乐信" initials="胡" lastIdx="8" clrIdx="852"/>
  <p:cmAuthor id="854" name="guojingwen1" initials="g" lastIdx="1" clrIdx="853"/>
  <p:cmAuthor id="855" name="马莹" initials="马" lastIdx="2" clrIdx="854"/>
  <p:cmAuthor id="856" name="未知用户259" initials="未" lastIdx="1" clrIdx="0"/>
  <p:cmAuthor id="857" name="XIAN" initials="X" lastIdx="1" clrIdx="856"/>
  <p:cmAuthor id="858" name="shenyw18" initials="s" lastIdx="1" clrIdx="857"/>
  <p:cmAuthor id="859" name="huangyx39" initials="h" lastIdx="1" clrIdx="858"/>
  <p:cmAuthor id="860" name="牛紫薇" initials="牛" lastIdx="1" clrIdx="859"/>
  <p:cmAuthor id="861" name="lijx73" initials="l" lastIdx="1" clrIdx="860"/>
  <p:cmAuthor id="862" name="llm" initials="1" lastIdx="1" clrIdx="861"/>
  <p:cmAuthor id="863" name="陈礼波" initials="陈" lastIdx="2" clrIdx="862"/>
  <p:cmAuthor id="864" name="未知用户270" initials="未" lastIdx="1" clrIdx="0"/>
  <p:cmAuthor id="865" name="3930" initials="3" lastIdx="1" clrIdx="24"/>
  <p:cmAuthor id="866" name="刘泽思" initials="刘" lastIdx="1" clrIdx="865"/>
  <p:cmAuthor id="867" name="M7100z-win7" initials="M" lastIdx="1" clrIdx="6"/>
  <p:cmAuthor id="868" name="俊呈 賴" initials="俊" lastIdx="1" clrIdx="87"/>
  <p:cmAuthor id="869" name="baily" initials="b" lastIdx="1" clrIdx="868"/>
  <p:cmAuthor id="870" name="理者" initials="理" lastIdx="2" clrIdx="0"/>
  <p:cmAuthor id="1124605820" name="李红" initials="李" lastIdx="1" clrIdx="692"/>
  <p:cmAuthor id="871" name="Nero" initials="N" lastIdx="2" clrIdx="0"/>
  <p:cmAuthor id="1124605821" name="碳酸 碳酸" initials="碳碳" lastIdx="1" clrIdx="824"/>
  <p:cmAuthor id="872" name="yifan song" initials="y" lastIdx="1" clrIdx="85"/>
  <p:cmAuthor id="1124605822" name="rabbi" initials="r" lastIdx="1" clrIdx="1124605821"/>
  <p:cmAuthor id="873" name="吴萌" initials="吴" lastIdx="4" clrIdx="872"/>
  <p:cmAuthor id="874" name="zhaoyue46" initials="z" lastIdx="6" clrIdx="0"/>
  <p:cmAuthor id="875" name="v15194" initials="v" lastIdx="13" clrIdx="51"/>
  <p:cmAuthor id="876" name="莊安君" initials="莊" lastIdx="1" clrIdx="65"/>
  <p:cmAuthor id="877" name="王燕" initials="王" lastIdx="1" clrIdx="876"/>
  <p:cmAuthor id="878" name="杨岚 00340308" initials="0" lastIdx="2" clrIdx="877"/>
  <p:cmAuthor id="879" name="陳建璋" initials="陳" lastIdx="2" clrIdx="85"/>
  <p:cmAuthor id="880" name="建璋" initials="建" lastIdx="1" clrIdx="86"/>
  <p:cmAuthor id="881" name="王皓天" initials="A" lastIdx="1" clrIdx="880"/>
  <p:cmAuthor id="882" name="77482" initials="7" lastIdx="2" clrIdx="548"/>
  <p:cmAuthor id="883" name="未知用户265" initials="未" lastIdx="2" clrIdx="0"/>
  <p:cmAuthor id="884" name="未知用户267" initials="未" lastIdx="1" clrIdx="0"/>
  <p:cmAuthor id="885" name="liuxie" initials="l" lastIdx="1" clrIdx="588"/>
  <p:cmAuthor id="886" name="张因然10112423" initials="1" lastIdx="1" clrIdx="885"/>
  <p:cmAuthor id="887" name="未知用户241" initials="未" lastIdx="0" clrIdx="1"/>
  <p:cmAuthor id="888" name="未知用户242" initials="未" lastIdx="3" clrIdx="0"/>
  <p:cmAuthor id="889" name="tsc" initials="l" lastIdx="1" clrIdx="888"/>
  <p:cmAuthor id="829241606" name="小帅" initials="小" lastIdx="2" clrIdx="868"/>
  <p:cmAuthor id="890" name="未知用户227" initials="未" lastIdx="1" clrIdx="0"/>
  <p:cmAuthor id="891" name="未知用户298" initials="未" lastIdx="1" clrIdx="0"/>
  <p:cmAuthor id="892" name="未知用户299" initials="未" lastIdx="1" clrIdx="0"/>
  <p:cmAuthor id="893" name="xq" initials="x" lastIdx="2" clrIdx="11"/>
  <p:cmAuthor id="894" name="未知用户302" initials="未" lastIdx="1" clrIdx="0"/>
  <p:cmAuthor id="895" name="10009993" initials="1" lastIdx="1" clrIdx="894"/>
  <p:cmAuthor id="896" name="hasee" initials="h" lastIdx="1" clrIdx="0"/>
  <p:cmAuthor id="897" name="10023731" initials="1" lastIdx="1" clrIdx="896"/>
  <p:cmAuthor id="898" name="許詩婕" initials="許" lastIdx="1" clrIdx="1"/>
  <p:cmAuthor id="899" name="00083425" initials="0" lastIdx="1" clrIdx="898"/>
  <p:cmAuthor id="900" name="minil" initials="m" lastIdx="4" clrIdx="589"/>
  <p:cmAuthor id="901" name="15106" initials="1" lastIdx="4" clrIdx="0"/>
  <p:cmAuthor id="902" name="10225611" initials="1" lastIdx="1" clrIdx="901"/>
  <p:cmAuthor id="904" name="Zhu, Hawk" initials="Z" lastIdx="1" clrIdx="0"/>
  <p:cmAuthor id="905" name="tanjp" initials="t" lastIdx="0" clrIdx="491"/>
  <p:cmAuthor id="879704533" name="张百峰" initials="张" lastIdx="1" clrIdx="884"/>
  <p:cmAuthor id="906" name="YS" initials="Y" lastIdx="1" clrIdx="86"/>
  <p:cmAuthor id="879704534" name="沈 营超" initials="沈" lastIdx="3" clrIdx="762110855"/>
  <p:cmAuthor id="907" name="old king" initials="o" lastIdx="1" clrIdx="44"/>
  <p:cmAuthor id="908" name="10285279" initials="1" lastIdx="1" clrIdx="907"/>
  <p:cmAuthor id="909" name="陈晓伟" initials="陈" lastIdx="1" clrIdx="908"/>
  <p:cmAuthor id="910" name="Jdi" initials="J" lastIdx="0" clrIdx="0"/>
  <p:cmAuthor id="762110854" name="Steve" initials="S" lastIdx="1" clrIdx="372"/>
  <p:cmAuthor id="911" name="未知用户337" initials="未" lastIdx="1" clrIdx="0"/>
  <p:cmAuthor id="762110855" name="SJ" initials="S" lastIdx="1" clrIdx="762110854"/>
  <p:cmAuthor id="912" name="未知用户239" initials="未" lastIdx="3" clrIdx="0"/>
  <p:cmAuthor id="762110856" name="袁毓蔓" initials="袁" lastIdx="4" clrIdx="762110855"/>
  <p:cmAuthor id="913" name="chenmh" initials="c" lastIdx="1" clrIdx="85"/>
  <p:cmAuthor id="914" name="CVTEr" initials="C" lastIdx="1" clrIdx="0"/>
  <p:cmAuthor id="915" name="June C" initials="J" lastIdx="1" clrIdx="4"/>
  <p:cmAuthor id="916" name="00270" initials="0" lastIdx="1" clrIdx="0"/>
  <p:cmAuthor id="917" name="IBM_USER" initials="I" lastIdx="4" clrIdx="1"/>
  <p:cmAuthor id="918" name="aa" initials="a" lastIdx="10" clrIdx="9"/>
  <p:cmAuthor id="919" name="shinevin liu" initials="s" lastIdx="1" clrIdx="3"/>
  <p:cmAuthor id="920" name="Davidpeng" initials="D" lastIdx="1" clrIdx="10"/>
  <p:cmAuthor id="921" name="dbc" initials="d" lastIdx="2" clrIdx="0"/>
  <p:cmAuthor id="922" name="吴军影" initials="吴" lastIdx="10" clrIdx="0"/>
  <p:cmAuthor id="923" name="冯学沛" initials="冯" lastIdx="1" clrIdx="1"/>
  <p:cmAuthor id="924" name="杨 超" initials="杨" lastIdx="1" clrIdx="3"/>
  <p:cmAuthor id="925" name="linjs26" initials="l" lastIdx="2" clrIdx="924"/>
  <p:cmAuthor id="926" name="Rex" initials="R" lastIdx="0" clrIdx="0"/>
  <p:cmAuthor id="927" name="张晓燕(内蒙古巴彦淖尔)" initials="张" lastIdx="1" clrIdx="0"/>
  <p:cmAuthor id="928" name="王凯" initials="王" lastIdx="1" clrIdx="0"/>
  <p:cmAuthor id="929" name="沈琪-pbj" initials="沈" lastIdx="1" clrIdx="0"/>
  <p:cmAuthor id="930" name="10023579" initials="1" lastIdx="1" clrIdx="929"/>
  <p:cmAuthor id="931" name="00025099" initials="0" lastIdx="1" clrIdx="930"/>
  <p:cmAuthor id="932" name="LUO CHENG" initials="L" lastIdx="1" clrIdx="0"/>
  <p:cmAuthor id="933" name="scx" initials="s" lastIdx="1" clrIdx="0"/>
  <p:cmAuthor id="934" name="shenyanning-001" initials="s" lastIdx="8" clrIdx="0"/>
  <p:cmAuthor id="935" name="lipengfei01111@outlook.com" initials="l" lastIdx="1" clrIdx="0"/>
  <p:cmAuthor id="936" name="ZTEczq" initials="1" lastIdx="1" clrIdx="935"/>
  <p:cmAuthor id="937" name="Evander Wan" initials="E" lastIdx="7" clrIdx="1"/>
  <p:cmAuthor id="938" name="10158184" initials="1" lastIdx="1" clrIdx="401"/>
  <p:cmAuthor id="939" name="gaojl61" initials="g" lastIdx="1" clrIdx="938"/>
  <p:cmAuthor id="940" name="10329322" initials="1" lastIdx="1" clrIdx="939"/>
  <p:cmAuthor id="941" name="王书珍" initials="王" lastIdx="1" clrIdx="1"/>
  <p:cmAuthor id="942" name="何兴胜" initials="何" lastIdx="3" clrIdx="0"/>
  <p:cmAuthor id="943" name="薛明" initials="一" lastIdx="2" clrIdx="942"/>
  <p:cmAuthor id="944" name="hh" initials="h" lastIdx="1" clrIdx="0"/>
  <p:cmAuthor id="292135468" name="JIANG QUN" initials="J" lastIdx="1" clrIdx="637"/>
  <p:cmAuthor id="945" name="273839920@qq.com" initials="2" lastIdx="1" clrIdx="0"/>
  <p:cmAuthor id="946" name="emil" initials="e" lastIdx="1" clrIdx="945"/>
  <p:cmAuthor id="948" name="邱倩琳" initials="邱" lastIdx="1" clrIdx="947"/>
  <p:cmAuthor id="949" name="靖千 罗" initials="靖" lastIdx="1" clrIdx="82"/>
  <p:cmAuthor id="950" name="舒迪" initials="舒" lastIdx="2" clrIdx="0"/>
  <p:cmAuthor id="951" name="qianyang03" initials="1" lastIdx="1" clrIdx="950"/>
  <p:cmAuthor id="952" name="liuc211" initials="l" lastIdx="1" clrIdx="951"/>
  <p:cmAuthor id="953" name="武志明" initials="武" lastIdx="1" clrIdx="952"/>
  <p:cmAuthor id="954" name="10100374" initials="1" lastIdx="1" clrIdx="953"/>
  <p:cmAuthor id="955" name="陈豪" initials="陈" lastIdx="1" clrIdx="954"/>
  <p:cmAuthor id="287643681" name="殷格非" initials="殷" lastIdx="2" clrIdx="0"/>
  <p:cmAuthor id="956" name="hanwen luo" initials="h" lastIdx="1" clrIdx="33"/>
  <p:cmAuthor id="287643682" name="z r" initials="zr" lastIdx="5" clrIdx="12"/>
  <p:cmAuthor id="957" name="Cpic" initials="C" lastIdx="0" clrIdx="0"/>
  <p:cmAuthor id="287643683" name="8310" initials="8" lastIdx="1" clrIdx="35"/>
  <p:cmAuthor id="958" name="刘明喜10037561" initials="刘明喜10037561" lastIdx="0" clrIdx="957"/>
  <p:cmAuthor id="287643684" name="Aqf" initials="A" lastIdx="1" clrIdx="36"/>
  <p:cmAuthor id="959" name="小田" initials="小" lastIdx="1" clrIdx="0"/>
  <p:cmAuthor id="234495212" name="DDDDD" initials="D" lastIdx="1" clrIdx="806"/>
  <p:cmAuthor id="287643685" name="13709759491@139.com" initials="1" lastIdx="1" clrIdx="49"/>
  <p:cmAuthor id="960" name="刘 念" initials="刘" lastIdx="2" clrIdx="35"/>
  <p:cmAuthor id="287643686" name="zhao jia" initials="zj" lastIdx="1" clrIdx="47"/>
  <p:cmAuthor id="961" name="Wangzhi gang" initials="W" lastIdx="1" clrIdx="0"/>
  <p:cmAuthor id="287643687" name="cheng" initials="c" lastIdx="13" clrIdx="0"/>
  <p:cmAuthor id="962" name="庄伟铭zwm136200" initials="庄" lastIdx="1" clrIdx="1"/>
  <p:cmAuthor id="287643688" name="方少_UbQfrimU" initials="authorId_442114952" lastIdx="0" clrIdx="0"/>
  <p:cmAuthor id="963" name="张 凯" initials="张" lastIdx="1" clrIdx="34"/>
  <p:cmAuthor id="287643689" name="叶盛_Q3A3IfEf" initials="authorId_506280334" lastIdx="0" clrIdx="0"/>
  <p:cmAuthor id="964" name="喰?" initials="喰" lastIdx="20" clrIdx="0"/>
  <p:cmAuthor id="287643690" name="Harley._bEJrUJ7r" initials="authorId_432156705" lastIdx="0" clrIdx="0"/>
  <p:cmAuthor id="965" name="CNTP" initials="C" lastIdx="2" clrIdx="118"/>
  <p:cmAuthor id="287643691" name="罗平_VB7vJb2E" initials="authorId_305049361" lastIdx="0" clrIdx="0"/>
  <p:cmAuthor id="966" name="李柯然" initials="李" lastIdx="1" clrIdx="0"/>
  <p:cmAuthor id="287643692" name="xixi_nUjqe22E" initials="authorId_359229261" lastIdx="0" clrIdx="0"/>
  <p:cmAuthor id="287643693" name="安安_zm6nYnYZ" initials="authorId_347340296" lastIdx="0" clrIdx="0"/>
  <p:cmAuthor id="968" name="Goodbobo" initials="G" lastIdx="1" clrIdx="967"/>
  <p:cmAuthor id="287643694" name="nature_emInFJF7" initials="authorId_313163542" lastIdx="0" clrIdx="0"/>
  <p:cmAuthor id="969" name="王玉" initials="王" lastIdx="1" clrIdx="0"/>
  <p:cmAuthor id="287643695" name="杨思思_VNjyvY7j" initials="authorId_430925712" lastIdx="0" clrIdx="0"/>
  <p:cmAuthor id="970" name="Ming Zuo" initials="M" lastIdx="1" clrIdx="0"/>
  <p:cmAuthor id="287643696" name="周君_MfIffYra" initials="authorId_375419134" lastIdx="0" clrIdx="0"/>
  <p:cmAuthor id="971" name="FR" initials="F" lastIdx="1" clrIdx="93"/>
  <p:cmAuthor id="972" name="Office User" initials="O" lastIdx="1" clrIdx="94"/>
  <p:cmAuthor id="973" name="张星-lgd" initials="张" lastIdx="5" clrIdx="0"/>
  <p:cmAuthor id="974" name="dreamsummit" initials="d" lastIdx="1" clrIdx="0"/>
  <p:cmAuthor id="975" name="张 博" initials="张" lastIdx="1" clrIdx="0"/>
  <p:cmAuthor id="976" name="LS" initials="L" lastIdx="1" clrIdx="0"/>
  <p:cmAuthor id="977" name="2819264246@qq.com" initials="2" lastIdx="1" clrIdx="22"/>
  <p:cmAuthor id="978" name="Morgan, Aaron" initials="M" lastIdx="3" clrIdx="1"/>
  <p:cmAuthor id="979" name="weige" initials="w" lastIdx="2" clrIdx="0"/>
  <p:cmAuthor id="981" name="李 俊琦" initials="李" lastIdx="1" clrIdx="0"/>
  <p:cmAuthor id="210492765" name="施普希（菜菜）" initials="施" lastIdx="0" clrIdx="0"/>
  <p:cmAuthor id="982" name="沈 鹤" initials="沈" lastIdx="1" clrIdx="5"/>
  <p:cmAuthor id="210492766" name="yu 1" initials="y1" lastIdx="1" clrIdx="19"/>
  <p:cmAuthor id="983" name="jilin" initials="j" lastIdx="20" clrIdx="0"/>
  <p:cmAuthor id="210492767" name="李 嘉" initials="李" lastIdx="1" clrIdx="26"/>
  <p:cmAuthor id="984" name="王保青-pah" initials="王" lastIdx="0" clrIdx="0"/>
  <p:cmAuthor id="210492768" name="gus9@chinaunicom.cn" initials="g" lastIdx="4" clrIdx="27"/>
  <p:cmAuthor id="985" name="Luo Mingjie" initials="L" lastIdx="0" clrIdx="0"/>
  <p:cmAuthor id="381437688" name="谢学斌" initials="谢" lastIdx="0" clrIdx="0"/>
  <p:cmAuthor id="986" name="Jason Li" initials="J" lastIdx="1" clrIdx="2"/>
  <p:cmAuthor id="987" name="duxingge" initials="d" lastIdx="2" clrIdx="4"/>
  <p:cmAuthor id="989" name="yingchao xi" initials="y" lastIdx="7" clrIdx="0"/>
  <p:cmAuthor id="990" name="depeng diao" initials="d" lastIdx="0" clrIdx="0"/>
  <p:cmAuthor id="991" name="amyzhang" initials="a" lastIdx="1" clrIdx="0"/>
  <p:cmAuthor id="992" name="JerryW" initials="J" lastIdx="1" clrIdx="0"/>
  <p:cmAuthor id="993" name="shenyy" initials="s" lastIdx="1" clrIdx="7"/>
  <p:cmAuthor id="994" name="Jason Cheung" initials="J" lastIdx="0" clrIdx="0"/>
  <p:cmAuthor id="995" name="刘笑" initials="刘" lastIdx="1" clrIdx="0"/>
  <p:cmAuthor id="996" name="admini" initials="a" lastIdx="2" clrIdx="0"/>
  <p:cmAuthor id="997" name="Maggie" initials="M" lastIdx="1" clrIdx="0"/>
  <p:cmAuthor id="286894748" name="李渝" initials="李" lastIdx="1" clrIdx="358"/>
  <p:cmAuthor id="523898702" name="谢海明" initials="谢" lastIdx="1" clrIdx="672"/>
  <p:cmAuthor id="1006" name="UOS" initials="U" lastIdx="1" clrIdx="1005"/>
  <p:cmAuthor id="1012" name="苗文香" initials="苗" lastIdx="0" clrIdx="1011"/>
  <p:cmAuthor id="1023" name="张艳" initials="张" lastIdx="0" clrIdx="1022"/>
  <p:cmAuthor id="417471446" name="GBL" initials="G" lastIdx="2" clrIdx="898"/>
  <p:cmAuthor id="426796441" name="段甜甜" initials="段" lastIdx="1" clrIdx="874"/>
  <p:cmAuthor id="977340790" name="Mmm" initials="M" lastIdx="22" clrIdx="853"/>
  <p:cmAuthor id="977340791" name="成思远" initials="成" lastIdx="1" clrIdx="977340790"/>
  <p:cmAuthor id="776829870" name="WPS_1580452479" initials="W" lastIdx="2" clrIdx="122"/>
  <p:cmAuthor id="1063" name="zdl" initials="z" lastIdx="0" clrIdx="1062"/>
  <p:cmAuthor id="49837067" name="刘浩" initials="刘" lastIdx="180431" clrIdx="0"/>
  <p:cmAuthor id="49837068" name="Vivian Liu" initials="VL" lastIdx="1" clrIdx="1"/>
  <p:cmAuthor id="49837069" name="liu tingting" initials="lt" lastIdx="1" clrIdx="137"/>
  <p:cmAuthor id="49837070" name="伟哥" initials="伟哥" lastIdx="1" clrIdx="138"/>
  <p:cmAuthor id="49837071" name="YY" initials="Y" lastIdx="1" clrIdx="176"/>
  <p:cmAuthor id="1459057800" name="丰先生" initials="丰" lastIdx="1" clrIdx="674"/>
  <p:cmAuthor id="49837072" name="Tian Liangyu" initials="TL" lastIdx="1" clrIdx="210"/>
  <p:cmAuthor id="49837073" name="sk" initials="s" lastIdx="1" clrIdx="735"/>
  <p:cmAuthor id="49837074" name="佳" initials="佳" lastIdx="1" clrIdx="210"/>
  <p:cmAuthor id="49837075" name="孙 鹏" initials="孙" lastIdx="1" clrIdx="746"/>
  <p:cmAuthor id="49837076" name="肖琼" initials="肖琼" lastIdx="1" clrIdx="453"/>
  <p:cmAuthor id="8535702" name="曾蓓/贝贝" initials="曾" lastIdx="0" clrIdx="0"/>
  <p:cmAuthor id="991434852" name="姗SHAN" initials="姗" lastIdx="1" clrIdx="678"/>
  <p:cmAuthor id="991434853" name="38113" initials="3" lastIdx="3" clrIdx="991434852"/>
  <p:cmAuthor id="991434854" name="任龙飞" initials="任" lastIdx="6" clrIdx="991434853"/>
  <p:cmAuthor id="478670469" name="irina_s" initials="i" lastIdx="1" clrIdx="76"/>
  <p:cmAuthor id="1113" name="徐秀" initials="徐" lastIdx="1" clrIdx="1112"/>
  <p:cmAuthor id="257877136" name="烬飞默途" initials="烬" lastIdx="1" clrIdx="809"/>
  <p:cmAuthor id="1155" name="LEE1411733277" initials="L" lastIdx="0" clrIdx="1154"/>
  <p:cmAuthor id="986467252" name="zhouzaihuan" initials="z" lastIdx="1" clrIdx="0"/>
  <p:cmAuthor id="288705279" name="国家一级注册小仙女®" initials="国" lastIdx="1" clrIdx="361"/>
  <p:cmAuthor id="1169" name="未定义" initials="未" lastIdx="0" clrIdx="1168"/>
  <p:cmAuthor id="426372413" name="王红智" initials="王" lastIdx="2" clrIdx="657"/>
  <p:cmAuthor id="1170" name="未知用户2" initials="未" lastIdx="0" clrIdx="1169"/>
  <p:cmAuthor id="1171" name="Roger" initials="R" lastIdx="0" clrIdx="1170"/>
  <p:cmAuthor id="1173" name="Hans Neff" initials="HN" lastIdx="0" clrIdx="1172"/>
  <p:cmAuthor id="1176" name="陈 征" initials="陈" lastIdx="0" clrIdx="1175"/>
  <p:cmAuthor id="1178" name="宋娟00023810" initials="宋娟00023810" lastIdx="0" clrIdx="1177"/>
  <p:cmAuthor id="1179" name="10000509" initials="1" lastIdx="0" clrIdx="1178"/>
  <p:cmAuthor id="1180" name="fengs31" initials="f" lastIdx="0" clrIdx="1179"/>
  <p:cmAuthor id="1183" name="何富军" initials="何" lastIdx="0" clrIdx="1182"/>
  <p:cmAuthor id="1184" name="闫秀丽" initials="闫" lastIdx="0" clrIdx="1183"/>
  <p:cmAuthor id="1186" name="周明" initials="l" lastIdx="0" clrIdx="1185"/>
  <p:cmAuthor id="1187" name="张静" initials="z" lastIdx="0" clrIdx="1186"/>
  <p:cmAuthor id="1188" name="胡云龙" initials="胡" lastIdx="0" clrIdx="1187"/>
  <p:cmAuthor id="1189" name="周志浩" initials="Edmond" lastIdx="0" clrIdx="1188"/>
  <p:cmAuthor id="1190" name="Xing Zhang" initials="XZ" lastIdx="0" clrIdx="1189"/>
  <p:cmAuthor id="1191" name="Jet 张" initials="J张" lastIdx="0" clrIdx="1190"/>
  <p:cmAuthor id="1192" name="gd-zengxy10@outlook.com" initials="g" lastIdx="0" clrIdx="1191"/>
  <p:cmAuthor id="1193" name="AW" initials="A" lastIdx="0" clrIdx="1192"/>
  <p:cmAuthor id="1194" name="lixr110" initials="l" lastIdx="0" clrIdx="1193"/>
  <p:cmAuthor id="1195" name="A4512" initials="A" lastIdx="0" clrIdx="1194"/>
  <p:cmAuthor id="1196" name="郭俊明" initials="WU" lastIdx="0" clrIdx="1195"/>
  <p:cmAuthor id="1197" name="chen trista" initials="ct" lastIdx="0" clrIdx="1196"/>
  <p:cmAuthor id="1198" name="李岩（IT）" initials="李" lastIdx="0" clrIdx="1197"/>
  <p:cmAuthor id="1199" name="changwei" initials="c" lastIdx="0" clrIdx="1198"/>
  <p:cmAuthor id="1200" name="周辉" initials="周" lastIdx="0" clrIdx="1199"/>
  <p:cmAuthor id="1201" name="ccb" initials="c" lastIdx="0" clrIdx="1200"/>
  <p:cmAuthor id="1202" name="多丽娅" initials="多" lastIdx="0" clrIdx="1201"/>
  <p:cmAuthor id="1203" name="sx_xuzx" initials="s" lastIdx="0" clrIdx="1202"/>
  <p:cmAuthor id="1204" name="25720" initials="2" lastIdx="0" clrIdx="1203"/>
  <p:cmAuthor id="1205" name="tplife" initials="t" lastIdx="0" clrIdx="1204"/>
  <p:cmAuthor id="1206" name="MI" initials="M" lastIdx="0" clrIdx="1205"/>
  <p:cmAuthor id="1207" name="孟 昕" initials="孟" lastIdx="0" clrIdx="1206"/>
  <p:cmAuthor id="1208" name="黄忠孝" initials="黄" lastIdx="0" clrIdx="1207"/>
  <p:cmAuthor id="1209" name="Redeker, Yolanda" initials="R" lastIdx="0" clrIdx="1208"/>
  <p:cmAuthor id="1210" name="LENOVO" initials="L" lastIdx="0" clrIdx="1209"/>
  <p:cmAuthor id="1211" name="zhangxy833" initials="z" lastIdx="0" clrIdx="1210"/>
  <p:cmAuthor id="1212" name="suochuqiao" initials="s" lastIdx="0" clrIdx="1211"/>
  <p:cmAuthor id="1213" name="Tao, Sherry Sitong" initials="T" lastIdx="0" clrIdx="1212"/>
  <p:cmAuthor id="1214" name="赵永杰" initials="赵" lastIdx="0" clrIdx="1213"/>
  <p:cmAuthor id="1243155727" name="XiaoMing" initials="X" lastIdx="1" clrIdx="660"/>
  <p:cmAuthor id="1215" name="Xin Wang (IB)" initials="X" lastIdx="0" clrIdx="1214"/>
  <p:cmAuthor id="1216" name="hj" initials="h" lastIdx="0" clrIdx="1215"/>
  <p:cmAuthor id="1217" name="IKKI" initials="I" lastIdx="0" clrIdx="1216"/>
  <p:cmAuthor id="1218" name="於宝泉" initials="於" lastIdx="0" clrIdx="1217"/>
  <p:cmAuthor id="1219" name="CAOH16" initials="C" lastIdx="0" clrIdx="1218"/>
  <p:cmAuthor id="1220" name="limy709" initials="l" lastIdx="0" clrIdx="1219"/>
  <p:cmAuthor id="1221" name="10033224" initials="1" lastIdx="0" clrIdx="1220"/>
  <p:cmAuthor id="724625022" name="晶" initials="晶" lastIdx="1" clrIdx="664"/>
  <p:cmAuthor id="1222" name="屈克" initials="屈" lastIdx="0" clrIdx="1221"/>
  <p:cmAuthor id="1223" name="马媛" initials="马" lastIdx="0" clrIdx="1222"/>
  <p:cmAuthor id="1224" name="刘红星" initials="刘" lastIdx="0" clrIdx="1223"/>
  <p:cmAuthor id="1225" name="Lenovo" initials="L" lastIdx="0" clrIdx="1224"/>
  <p:cmAuthor id="1226" name="86186" initials="8" lastIdx="0" clrIdx="1225"/>
  <p:cmAuthor id="1227" name="zhangy1023" initials="z" lastIdx="0" clrIdx="1226"/>
  <p:cmAuthor id="1228" name="未知的使用者77" initials="" lastIdx="0" clrIdx="1227"/>
  <p:cmAuthor id="1229" name="未知的使用者78" initials="" lastIdx="0" clrIdx="1228"/>
  <p:cmAuthor id="1230" name="10285602" initials="1" lastIdx="0" clrIdx="1229"/>
  <p:cmAuthor id="1231" name="未知用户51" initials="" lastIdx="0" clrIdx="1230"/>
  <p:cmAuthor id="1232" name="李雪清" initials="李" lastIdx="0" clrIdx="1231"/>
  <p:cmAuthor id="1233" name="未知的使用者83" initials="" lastIdx="0" clrIdx="1232"/>
  <p:cmAuthor id="1234" name="韩国鹏" initials="A" lastIdx="0" clrIdx="1233"/>
  <p:cmAuthor id="1235" name="y x" initials="yx" lastIdx="0" clrIdx="1234"/>
  <p:cmAuthor id="1236" name="未知的使用者98" initials="" lastIdx="0" clrIdx="1235"/>
  <p:cmAuthor id="1237" name="康孟海" initials="kangmh6" lastIdx="0" clrIdx="1236"/>
  <p:cmAuthor id="1238" name="zheng zheng" initials="zz" lastIdx="0" clrIdx="1237"/>
  <p:cmAuthor id="1239" name="微软用户" initials="" lastIdx="0" clrIdx="1238"/>
  <p:cmAuthor id="1240" name="mu zi" initials="mz" lastIdx="0" clrIdx="1239"/>
  <p:cmAuthor id="413571581" name="城" initials="城" lastIdx="1" clrIdx="824"/>
  <p:cmAuthor id="1241" name="Master 3L" initials="M3" lastIdx="0" clrIdx="1240"/>
  <p:cmAuthor id="1242" name="Gaofugui(Jiangsu,NPS)" initials="G" lastIdx="0" clrIdx="1241"/>
  <p:cmAuthor id="1243" name="黄婉莹" initials="黄" lastIdx="0" clrIdx="1242"/>
  <p:cmAuthor id="1244" name="张磊" initials="张磊" lastIdx="0" clrIdx="1243"/>
  <p:cmAuthor id="1245" name="崔彤欣" initials="崔" lastIdx="0" clrIdx="1244"/>
  <p:cmAuthor id="1246" name="甄真" initials="甄" lastIdx="0" clrIdx="1245"/>
  <p:cmAuthor id="1247" name="沈阳" initials="沈" lastIdx="0" clrIdx="1246"/>
  <p:cmAuthor id="1248" name="Unknown User69" initials="U" lastIdx="0" clrIdx="1247"/>
  <p:cmAuthor id="1249" name="赵刚" initials="赵" lastIdx="0" clrIdx="1248"/>
  <p:cmAuthor id="1250" name="hqm-liuwp19" initials="h" lastIdx="0" clrIdx="1249"/>
  <p:cmAuthor id="1251" name="武晓红" initials="武" lastIdx="0" clrIdx="1250"/>
  <p:cmAuthor id="1252" name="仝德志" initials="仝" lastIdx="0" clrIdx="1251"/>
  <p:cmAuthor id="1253" name="PC" initials="P" lastIdx="0" clrIdx="1252"/>
  <p:cmAuthor id="1254" name="未知的使用者183" initials="未" lastIdx="0" clrIdx="1253"/>
  <p:cmAuthor id="1255" name="ChZ" initials="C" lastIdx="0" clrIdx="1254"/>
  <p:cmAuthor id="1256" name="王奎" initials="王" lastIdx="0" clrIdx="1255"/>
  <p:cmAuthor id="1257" name="未知的使用者161" initials="未" lastIdx="0" clrIdx="1256"/>
  <p:cmAuthor id="1258" name="未知的使用者152" initials="未" lastIdx="0" clrIdx="1257"/>
  <p:cmAuthor id="1259" name="未知的使用者184" initials="未" lastIdx="0" clrIdx="1258"/>
  <p:cmAuthor id="1260" name="未知的使用者186" initials="未" lastIdx="0" clrIdx="1259"/>
  <p:cmAuthor id="1261" name="未知的使用者170" initials="未" lastIdx="0" clrIdx="1260"/>
  <p:cmAuthor id="1262" name="未知的使用者142" initials="未" lastIdx="0" clrIdx="1261"/>
  <p:cmAuthor id="1263" name="未知的使用者143" initials="未" lastIdx="0" clrIdx="1262"/>
  <p:cmAuthor id="826773664" name="marmot" initials="m" lastIdx="1" clrIdx="667"/>
  <p:cmAuthor id="1264" name="Mjf" initials="M" lastIdx="0" clrIdx="1263"/>
  <p:cmAuthor id="826773665" name="Zhangjiayi(Eason,GD NATD)" initials="ZN" lastIdx="1" clrIdx="708433801"/>
  <p:cmAuthor id="1265" name="张薇薇" initials="WZ" lastIdx="0" clrIdx="1264"/>
  <p:cmAuthor id="1266" name="未知用户3" initials="未" lastIdx="0" clrIdx="1265"/>
  <p:cmAuthor id="1267" name="yuxue" initials="y" lastIdx="0" clrIdx="1266"/>
  <p:cmAuthor id="1268" name="李锦" initials="李" lastIdx="0" clrIdx="1267"/>
  <p:cmAuthor id="1269" name="Tseng, Melanie" initials="T" lastIdx="0" clrIdx="1268"/>
  <p:cmAuthor id="1270" name="weijj52" initials="w" lastIdx="0" clrIdx="1269"/>
  <p:cmAuthor id="1271" name="王凯10177225" initials="王凯10177225" lastIdx="0" clrIdx="1270"/>
  <p:cmAuthor id="1272" name="t2025" initials="t" lastIdx="0" clrIdx="1271"/>
  <p:cmAuthor id="1273" name="徐芳" initials="徐" lastIdx="0" clrIdx="1272"/>
  <p:cmAuthor id="1274" name="许嘉珍" initials="u" lastIdx="0" clrIdx="1273"/>
  <p:cmAuthor id="1275" name="Charley" initials="C" lastIdx="0" clrIdx="1274"/>
  <p:cmAuthor id="1276" name="bay" initials="b" lastIdx="0" clrIdx="1275"/>
  <p:cmAuthor id="1277" name="未知的使用者4" initials="未" lastIdx="0" clrIdx="1276"/>
  <p:cmAuthor id="1278" name="yuanjy" initials="y" lastIdx="0" clrIdx="1277"/>
  <p:cmAuthor id="1279" name="刘凯铃" initials="刘" lastIdx="0" clrIdx="1278"/>
  <p:cmAuthor id="1280" name="guocc" initials="g" lastIdx="0" clrIdx="1279"/>
  <p:cmAuthor id="1281" name="未知的使用者2" initials="未" lastIdx="0" clrIdx="1280"/>
  <p:cmAuthor id="1282" name="zhangxc210" initials="z" lastIdx="0" clrIdx="1281"/>
  <p:cmAuthor id="1283" name="未知的使用者21" initials="未" lastIdx="0" clrIdx="1282"/>
  <p:cmAuthor id="1284" name="zhangjj" initials="z" lastIdx="0" clrIdx="1283"/>
  <p:cmAuthor id="1285" name="Shirley" initials="S" lastIdx="0" clrIdx="1284"/>
  <p:cmAuthor id="1286" name="changlu" initials="c" lastIdx="0" clrIdx="1285"/>
  <p:cmAuthor id="1287" name="wumeng" initials="w" lastIdx="0" clrIdx="1286"/>
  <p:cmAuthor id="1288" name="未知用户84" initials="未知用户84" lastIdx="0" clrIdx="1287"/>
  <p:cmAuthor id="1289" name="未知用户138" initials="未知用户138" lastIdx="0" clrIdx="1288"/>
  <p:cmAuthor id="1290" name="廖麗華" initials="廖" lastIdx="0" clrIdx="1289"/>
  <p:cmAuthor id="1291" name="未知用户129" initials="未知用户129" lastIdx="0" clrIdx="1290"/>
  <p:cmAuthor id="1292" name="Admin" initials="A" lastIdx="0" clrIdx="1291"/>
  <p:cmAuthor id="1293" name="云成龙_JVVjiM7N" initials="authorId_318141806" lastIdx="0" clrIdx="1292"/>
  <p:cmAuthor id="1294" name="zhang erchao" initials="ze" lastIdx="0" clrIdx="1293"/>
  <p:cmAuthor id="1295" name="whpaul" initials="w" lastIdx="0" clrIdx="1294"/>
  <p:cmAuthor id="1296" name="kf" initials="k" lastIdx="0" clrIdx="1295"/>
  <p:cmAuthor id="1297" name="王智明" initials="王" lastIdx="0" clrIdx="1296"/>
  <p:cmAuthor id="1298" name="BAIXX11" initials="W用" lastIdx="0" clrIdx="1297"/>
  <p:cmAuthor id="1299" name="赵晨斌" initials="赵" lastIdx="0" clrIdx="1298"/>
  <p:cmAuthor id="1300" name="shi jinuyu" initials="sj" lastIdx="0" clrIdx="1299"/>
  <p:cmAuthor id="1301" name="unilabs" initials="u" lastIdx="0" clrIdx="1300"/>
  <p:cmAuthor id="1302" name="sunyi1" initials="s" lastIdx="0" clrIdx="1301"/>
  <p:cmAuthor id="1303" name="Roet-Reinking, Nathalie" initials="R" lastIdx="0" clrIdx="1302"/>
  <p:cmAuthor id="1304" name="beibei" initials="b" lastIdx="0" clrIdx="1303"/>
  <p:cmAuthor id="1305" name="孔琦璟" initials="kqj" lastIdx="0" clrIdx="1304"/>
  <p:cmAuthor id="1306" name="sh-fanjunjie" initials="s" lastIdx="0" clrIdx="1305"/>
  <p:cmAuthor id="1307" name="wangjiarui" initials="w" lastIdx="0" clrIdx="1306"/>
  <p:cmAuthor id="1308" name="周晓霞" initials="周" lastIdx="0" clrIdx="1307"/>
  <p:cmAuthor id="1309" name="chenyuan" initials="c" lastIdx="0" clrIdx="1308"/>
  <p:cmAuthor id="1310" name="10054047" initials="1" lastIdx="0" clrIdx="1309"/>
  <p:cmAuthor id="1434958330" name="WPS_1668222346" initials="W" lastIdx="1" clrIdx="837"/>
  <p:cmAuthor id="1311" name="10092163" initials="1" lastIdx="0" clrIdx="1310"/>
  <p:cmAuthor id="1312" name="MLOONG" initials="M" lastIdx="0" clrIdx="1311"/>
  <p:cmAuthor id="1313" name="Windows User" initials="WU" lastIdx="0" clrIdx="1312"/>
  <p:cmAuthor id="1314" name="徐孟江_MbuiiUbI" initials="authorId_273709786" lastIdx="0" clrIdx="1313"/>
  <p:cmAuthor id="1315" name="王元" initials="R" lastIdx="0" clrIdx="1314"/>
  <p:cmAuthor id="1316" name="huoys" initials="h" lastIdx="0" clrIdx="1315"/>
  <p:cmAuthor id="1317" name="易培 杜" initials="易杜" lastIdx="0" clrIdx="1316"/>
  <p:cmAuthor id="1318" name="Jimmy-Power" initials="J" lastIdx="0" clrIdx="1317"/>
  <p:cmAuthor id="1319" name="罗 罗" initials="罗" lastIdx="0" clrIdx="1318"/>
  <p:cmAuthor id="1320" name="liutAO" initials="l" lastIdx="0" clrIdx="1319"/>
  <p:cmAuthor id="1321" name="Yang" initials="Y" lastIdx="0" clrIdx="1320"/>
  <p:cmAuthor id="1322" name="UnicomGD" initials="U" lastIdx="0" clrIdx="1321"/>
  <p:cmAuthor id="1323" name="郭卫军" initials="郭" lastIdx="0" clrIdx="1322"/>
  <p:cmAuthor id="1324" name="曾素灵" initials="曾" lastIdx="0" clrIdx="1323"/>
  <p:cmAuthor id="1325" name="未知的使用者155" initials="未" lastIdx="0" clrIdx="1324"/>
  <p:cmAuthor id="1326" name="Baidada" initials="B" lastIdx="0" clrIdx="1325"/>
  <p:cmAuthor id="1327" name="calvinchen" initials="c" lastIdx="0" clrIdx="1326"/>
  <p:cmAuthor id="362941169" name="玉米馒头" initials="玉" lastIdx="1" clrIdx="820"/>
  <p:cmAuthor id="1328" name="yuan'wen'guo" initials="y" lastIdx="0" clrIdx="1327"/>
  <p:cmAuthor id="407726744" name="小邪" initials="小" lastIdx="1" clrIdx="860"/>
  <p:cmAuthor id="1329" name="马宇轩" initials="马" lastIdx="0" clrIdx="1328"/>
  <p:cmAuthor id="1330" name="shijinjin" initials="s" lastIdx="0" clrIdx="1329"/>
  <p:cmAuthor id="1331" name="XYY" initials="X" lastIdx="0" clrIdx="1330"/>
  <p:cmAuthor id="1332" name="黄筱雅" initials="黄" lastIdx="0" clrIdx="1331"/>
  <p:cmAuthor id="1333" name="王恒婧" initials="王" lastIdx="0" clrIdx="1332"/>
  <p:cmAuthor id="1334" name="woods" initials="w" lastIdx="0" clrIdx="1333"/>
  <p:cmAuthor id="1335" name="Wenjing zhou" initials="Wz" lastIdx="0" clrIdx="1334"/>
  <p:cmAuthor id="1336" name="夏俊杰" initials="夏" lastIdx="0" clrIdx="1335"/>
  <p:cmAuthor id="1337" name="林诗婷" initials="林" lastIdx="0" clrIdx="1336"/>
  <p:cmAuthor id="1338" name="未知用户310" initials="未" lastIdx="0" clrIdx="1337"/>
  <p:cmAuthor id="281886036" name="杨君" initials="杨" lastIdx="1" clrIdx="661"/>
  <p:cmAuthor id="587750445" name="Julia Jia" initials="J" lastIdx="1" clrIdx="823"/>
  <p:cmAuthor id="1339" name="梁倩业" initials="梁" lastIdx="0" clrIdx="1338"/>
  <p:cmAuthor id="1340" name="liu yuhang" initials="ly" lastIdx="0" clrIdx="1339"/>
  <p:cmAuthor id="1341" name="王长青" initials="王长青" lastIdx="0" clrIdx="1340"/>
  <p:cmAuthor id="1342" name="未知用户303" initials="未" lastIdx="0" clrIdx="1341"/>
  <p:cmAuthor id="1343" name="未知用户354" initials="未" lastIdx="0" clrIdx="1342"/>
  <p:cmAuthor id="1344" name="璇 安" initials="璇" lastIdx="0" clrIdx="1343"/>
  <p:cmAuthor id="1345" name="未知用户214" initials="未" lastIdx="0" clrIdx="1344"/>
  <p:cmAuthor id="1346" name="未知用户260" initials="未" lastIdx="0" clrIdx="1345"/>
  <p:cmAuthor id="1347" name="未知用户261" initials="未" lastIdx="0" clrIdx="1346"/>
  <p:cmAuthor id="1348" name="未知用户263" initials="未" lastIdx="0" clrIdx="1347"/>
  <p:cmAuthor id="1349" name="张静_Anua7Nne" initials="authorId_935319063" lastIdx="0" clrIdx="1348"/>
  <p:cmAuthor id="1350" name="mc" initials="m" lastIdx="0" clrIdx="1349"/>
  <p:cmAuthor id="1351" name="zz" initials="z" lastIdx="0" clrIdx="1350"/>
  <p:cmAuthor id="1352" name="黄 萍" initials="黄" lastIdx="0" clrIdx="1351"/>
  <p:cmAuthor id="1353" name="chenh" initials="" lastIdx="0" clrIdx="1352"/>
  <p:cmAuthor id="1354" name="吴伟平" initials="吴" lastIdx="0" clrIdx="1353"/>
  <p:cmAuthor id="1355" name="10161768" initials="1" lastIdx="0" clrIdx="1354"/>
  <p:cmAuthor id="1356" name="10181267" initials="1" lastIdx="0" clrIdx="1355"/>
  <p:cmAuthor id="1357" name="00332340" initials="0" lastIdx="0" clrIdx="1356"/>
  <p:cmAuthor id="1358" name="00260515" initials="HRP" lastIdx="0" clrIdx="1357"/>
  <p:cmAuthor id="1359" name="10024885" initials="1" lastIdx="0" clrIdx="1358"/>
  <p:cmAuthor id="1360" name="00158845" initials="0" lastIdx="0" clrIdx="1359"/>
  <p:cmAuthor id="1361" name="李会宾" initials="李" lastIdx="0" clrIdx="1360"/>
  <p:cmAuthor id="1362" name="曾楚轩" initials="曾" lastIdx="0" clrIdx="1361"/>
  <p:cmAuthor id="1363" name="zhuwy90" initials="z" lastIdx="0" clrIdx="1362"/>
  <p:cmAuthor id="530178476" name="sxx" initials="s" lastIdx="1" clrIdx="1058"/>
  <p:cmAuthor id="1364" name="zhang" initials="z" lastIdx="0" clrIdx="1363"/>
  <p:cmAuthor id="1365" name="张竞" initials="张" lastIdx="0" clrIdx="1364"/>
  <p:cmAuthor id="1366" name="未知用户235" initials="未" lastIdx="0" clrIdx="1365"/>
  <p:cmAuthor id="1367" name="黄一申" initials="黄" lastIdx="0" clrIdx="1366"/>
  <p:cmAuthor id="1368" name="朱宁" initials="朱" lastIdx="0" clrIdx="1367"/>
  <p:cmAuthor id="1369" name="Jane" initials="u" lastIdx="0" clrIdx="1368"/>
  <p:cmAuthor id="1370" name="张小梅" initials="张" lastIdx="0" clrIdx="1369"/>
  <p:cmAuthor id="1371" name="郭胜楠" initials="郭" lastIdx="0" clrIdx="1370"/>
  <p:cmAuthor id="1372" name="李佳伦" initials="李" lastIdx="0" clrIdx="1371"/>
  <p:cmAuthor id="1373" name="赵 万良" initials="赵" lastIdx="0" clrIdx="1372"/>
  <p:cmAuthor id="1374" name="吴帅" initials="wus" lastIdx="0" clrIdx="1373"/>
  <p:cmAuthor id="1375" name="unicom412" initials="u" lastIdx="0" clrIdx="1374"/>
  <p:cmAuthor id="1376" name="吴仲阳" initials="吴" lastIdx="0" clrIdx="1375"/>
  <p:cmAuthor id="1377" name="杨 贺春" initials="杨" lastIdx="0" clrIdx="1376"/>
  <p:cmAuthor id="1378" name="朗 月" initials="朗" lastIdx="0" clrIdx="1377"/>
  <p:cmAuthor id="1379" name="yq_yaoxin@bj.cmcc" initials="yq_yaoxin@bj.cmcc" lastIdx="0" clrIdx="1378"/>
  <p:cmAuthor id="1380" name="郭旭" initials="郭" lastIdx="0" clrIdx="1379"/>
  <p:cmAuthor id="140952006" name="邢绍文" initials="邢" lastIdx="0" clrIdx="0"/>
  <p:cmAuthor id="1316121247" name="林桦桦" initials="林" lastIdx="18242" clrIdx="0"/>
  <p:cmAuthor id="1381" name="USER631805" initials="U" lastIdx="0" clrIdx="1380"/>
  <p:cmAuthor id="1382" name="10010178" initials="1" lastIdx="0" clrIdx="1381"/>
  <p:cmAuthor id="1383" name="10081076" initials="1" lastIdx="0" clrIdx="1382"/>
  <p:cmAuthor id="1384" name="10036782" initials="1" lastIdx="0" clrIdx="1383"/>
  <p:cmAuthor id="1385" name="10270505" initials="1" lastIdx="0" clrIdx="1384"/>
  <p:cmAuthor id="1386" name="10145512" initials="1" lastIdx="0" clrIdx="1385"/>
  <p:cmAuthor id="1387" name="10225041" initials="1" lastIdx="0" clrIdx="1386"/>
  <p:cmAuthor id="1388" name="00159163" initials="0" lastIdx="0" clrIdx="1387"/>
  <p:cmAuthor id="1389" name="孙 笑庆" initials="孙" lastIdx="0" clrIdx="1388"/>
  <p:cmAuthor id="1390" name="李启旺" initials="李" lastIdx="0" clrIdx="1389"/>
  <p:cmAuthor id="1391" name="侯天宇" initials="侯" lastIdx="0" clrIdx="1390"/>
  <p:cmAuthor id="1392" name="Haojing (Sarah, GTS)" initials="HJ" lastIdx="0" clrIdx="1391"/>
  <p:cmAuthor id="1393" name="张心怡" initials="张" lastIdx="0" clrIdx="1392"/>
  <p:cmAuthor id="1394" name="wanghongmei" initials="w" lastIdx="0" clrIdx="1393"/>
  <p:cmAuthor id="1395" name="黄百成_m6Jjq6bQ" initials="authorId_901868002" lastIdx="0" clrIdx="1394"/>
  <p:cmAuthor id="1396" name="0279000012" initials="0" lastIdx="0" clrIdx="1395"/>
  <p:cmAuthor id="1397" name="10008523" initials="1" lastIdx="0" clrIdx="1396"/>
  <p:cmAuthor id="1398" name="10054361" initials="1" lastIdx="0" clrIdx="1397"/>
  <p:cmAuthor id="1399" name="10140710" initials="1" lastIdx="0" clrIdx="1398"/>
  <p:cmAuthor id="1400" name="10207204" initials="1" lastIdx="0" clrIdx="1399"/>
  <p:cmAuthor id="1019505289" name="greAt" initials="g" lastIdx="1" clrIdx="665"/>
  <p:cmAuthor id="1401" name="10116818" initials="1" lastIdx="0" clrIdx="1400"/>
  <p:cmAuthor id="1019505290" name="ghy" initials="g" lastIdx="1" clrIdx="344"/>
  <p:cmAuthor id="1402" name="10035857" initials="1" lastIdx="0" clrIdx="1401"/>
  <p:cmAuthor id="1403" name="10255256" initials="1" lastIdx="0" clrIdx="1402"/>
  <p:cmAuthor id="1404" name="金倩玉" initials="金" lastIdx="0" clrIdx="1403"/>
  <p:cmAuthor id="1405" name="张泽鹏" initials="张" lastIdx="0" clrIdx="1404"/>
  <p:cmAuthor id="1406" name="wx" initials="w" lastIdx="0" clrIdx="1405"/>
  <p:cmAuthor id="1407" name="qiuxue" initials="q" lastIdx="0" clrIdx="1406"/>
  <p:cmAuthor id="1408" name="刘小卤" initials="刘" lastIdx="0" clrIdx="1407"/>
  <p:cmAuthor id="1409" name="联通杨艳" initials="联" lastIdx="0" clrIdx="1408"/>
  <p:cmAuthor id="441412215" name="tonghailan" initials="t" lastIdx="1126972" clrIdx="0"/>
  <p:cmAuthor id="1410" name="杨欢" initials="杨" lastIdx="0" clrIdx="1409"/>
  <p:cmAuthor id="1411" name="WPS_1644930035" initials="W" lastIdx="0" clrIdx="1410"/>
  <p:cmAuthor id="1412" name="方超" initials="方" lastIdx="0" clrIdx="1411"/>
  <p:cmAuthor id="1413" name="Lin阿福" initials="L" lastIdx="0" clrIdx="1412"/>
  <p:cmAuthor id="1414" name="%E5%9B%9B%E8%AF%9D%E6%9D%9C%E5%B9%BF%E5%" initials="%" lastIdx="0" clrIdx="1413"/>
  <p:cmAuthor id="1415" name="46344" initials="4" lastIdx="0" clrIdx="1414"/>
  <p:cmAuthor id="1416" name="张其濛" initials="张" lastIdx="0" clrIdx="1415"/>
  <p:cmAuthor id="1417" name="董时菊" initials="DSJ" lastIdx="0" clrIdx="1416"/>
  <p:cmAuthor id="549705751" name="Lee" initials="L" lastIdx="1" clrIdx="824"/>
  <p:cmAuthor id="1418" name="10288631" initials="1" lastIdx="0" clrIdx="1417"/>
  <p:cmAuthor id="1419" name="10118178" initials="1" lastIdx="0" clrIdx="1418"/>
  <p:cmAuthor id="1420" name="苗丁仁10181802" initials="苗" lastIdx="0" clrIdx="1419"/>
  <p:cmAuthor id="1421" name="zhangyu" initials="z" lastIdx="0" clrIdx="1420"/>
  <p:cmAuthor id="1422" name="10045953" initials="1" lastIdx="0" clrIdx="1421"/>
  <p:cmAuthor id="1423" name="盛新鹏" initials="盛" lastIdx="0" clrIdx="1422"/>
  <p:cmAuthor id="1424" name="张建勇" initials="u" lastIdx="0" clrIdx="1423"/>
  <p:cmAuthor id="1425" name="elfinhsu" initials="" lastIdx="0" clrIdx="1424"/>
  <p:cmAuthor id="1426" name="龚丽媛" initials="龚" lastIdx="0" clrIdx="1425"/>
  <p:cmAuthor id="1427" name="yangfh20" initials="y" lastIdx="0" clrIdx="1426"/>
  <p:cmAuthor id="1428" name="zzzqi" initials="z" lastIdx="0" clrIdx="1427"/>
  <p:cmAuthor id="1559143966" name="WPS_1700532929" initials="W" lastIdx="1" clrIdx="373"/>
  <p:cmAuthor id="1429" name="渠沛" initials="渠" lastIdx="0" clrIdx="1428"/>
  <p:cmAuthor id="1430" name="jig" initials="j" lastIdx="0" clrIdx="1429"/>
  <p:cmAuthor id="1431" name="嘉琦" initials="嘉琦" lastIdx="0" clrIdx="1430"/>
  <p:cmAuthor id="1432" name="zxq_1" initials="z" lastIdx="0" clrIdx="1431"/>
  <p:cmAuthor id="1433" name="徐光宇" initials="徐" lastIdx="0" clrIdx="1432"/>
  <p:cmAuthor id="1434" name="赵丽丽" initials="赵" lastIdx="0" clrIdx="1433"/>
  <p:cmAuthor id="1435" name="郏鹏" initials="M" lastIdx="0" clrIdx="1434"/>
  <p:cmAuthor id="1309467398" name="寒枫" initials="寒" lastIdx="1" clrIdx="342"/>
  <p:cmAuthor id="1436" name="黄媛媛" initials="黄" lastIdx="0" clrIdx="1435"/>
  <p:cmAuthor id="1437" name="10072673" initials="1" lastIdx="0" clrIdx="1436"/>
  <p:cmAuthor id="1438" name="Wangjian (Frank)" initials="W" lastIdx="0" clrIdx="1437"/>
  <p:cmAuthor id="475196944" name="姚琳" initials="姚" lastIdx="1133934" clrIdx="0"/>
  <p:cmAuthor id="1439" name="林冲霄" initials="林" lastIdx="0" clrIdx="1438"/>
  <p:cmAuthor id="475196945" name="chen" initials="c" lastIdx="1" clrIdx="2"/>
  <p:cmAuthor id="1440" name="qsl" initials="q" lastIdx="0" clrIdx="1439"/>
  <p:cmAuthor id="475196946" name="王 成岩" initials="王" lastIdx="1" clrIdx="23"/>
  <p:cmAuthor id="1441" name="shengwenjia" initials="s" lastIdx="0" clrIdx="1440"/>
  <p:cmAuthor id="475196947" name="陶夏溦" initials="陶夏溦" lastIdx="1" clrIdx="46"/>
  <p:cmAuthor id="1442" name="30312" initials="3" lastIdx="0" clrIdx="1441"/>
  <p:cmAuthor id="1443" name="毕诗章_JBfeVvea" initials="authorId_413426" lastIdx="0" clrIdx="1442"/>
  <p:cmAuthor id="1444" name="DELL" initials="D" lastIdx="0" clrIdx="1443"/>
  <p:cmAuthor id="1445" name="毛香勤" initials="毛" lastIdx="0" clrIdx="1444"/>
  <p:cmAuthor id="1446" name="杨彦伟" initials="杨" lastIdx="0" clrIdx="1445"/>
  <p:cmAuthor id="1447" name="周旭东" initials="周" lastIdx="0" clrIdx="1446"/>
  <p:cmAuthor id="1448" name="周剑明" initials="周" lastIdx="0" clrIdx="1447"/>
  <p:cmAuthor id="1449" name="健君" initials="" lastIdx="0" clrIdx="1448"/>
  <p:cmAuthor id="1450" name="张燕00036635" initials="张" lastIdx="0" clrIdx="1449"/>
  <p:cmAuthor id="1451" name="cbm" initials="" lastIdx="0" clrIdx="1450"/>
  <p:cmAuthor id="191251535" name="沈霄雷" initials="沈" lastIdx="833089" clrIdx="0"/>
  <p:cmAuthor id="1452" name="杨静" initials="杨" lastIdx="0" clrIdx="1451"/>
  <p:cmAuthor id="191251536" name="张钰" initials="张" lastIdx="1" clrIdx="25"/>
  <p:cmAuthor id="1453" name="WPS_1618468757" initials="W" lastIdx="0" clrIdx="1452"/>
  <p:cmAuthor id="191251537" name="郭 浩" initials="郭" lastIdx="2" clrIdx="25"/>
  <p:cmAuthor id="1454" name="16619" initials="1" lastIdx="0" clrIdx="1453"/>
  <p:cmAuthor id="191251538" name="unicom" initials="" lastIdx="0" clrIdx="57"/>
  <p:cmAuthor id="1455" name="YU" initials="Y" lastIdx="0" clrIdx="1454"/>
  <p:cmAuthor id="191251539" name="席琛" initials="" lastIdx="0" clrIdx="58"/>
  <p:cmAuthor id="1456" name="孟和" initials="孟" lastIdx="0" clrIdx="1455"/>
  <p:cmAuthor id="191251540" name="韩剑侠" initials="P" lastIdx="1" clrIdx="41"/>
  <p:cmAuthor id="1457" name="王叉叉 u" initials="王" lastIdx="0" clrIdx="1456"/>
  <p:cmAuthor id="191251541" name="sjzx" initials="s" lastIdx="1" clrIdx="25"/>
  <p:cmAuthor id="1458" name="未知的使用者76" initials="未" lastIdx="0" clrIdx="1457"/>
  <p:cmAuthor id="191251542" name="yang.yuan" initials="y" lastIdx="0" clrIdx="17"/>
  <p:cmAuthor id="1459" name="lina_" initials="l" lastIdx="0" clrIdx="1458"/>
  <p:cmAuthor id="191251543" name="王娟" initials="1" lastIdx="1" clrIdx="31"/>
  <p:cmAuthor id="1460" name="车维崧" initials="车" lastIdx="0" clrIdx="1459"/>
  <p:cmAuthor id="191251544" name="zh" initials="z" lastIdx="5" clrIdx="33"/>
  <p:cmAuthor id="1461" name="樊革霞" initials="樊" lastIdx="0" clrIdx="1460"/>
  <p:cmAuthor id="1462" name="hw" initials="hw" lastIdx="0" clrIdx="1461"/>
  <p:cmAuthor id="1463" name="郑羽欣" initials="郑" lastIdx="0" clrIdx="1462"/>
  <p:cmAuthor id="1464" name="wuxiaoqi1" initials="w" lastIdx="0" clrIdx="1463"/>
  <p:cmAuthor id="1465" name="wangms42" initials="w" lastIdx="0" clrIdx="1464"/>
  <p:cmAuthor id="1466" name="yangf82" initials="y" lastIdx="0" clrIdx="1465"/>
  <p:cmAuthor id="1467" name="10095622" initials="1" lastIdx="0" clrIdx="1466"/>
  <p:cmAuthor id="1468" name="郏 鹏" initials="郏" lastIdx="0" clrIdx="1467"/>
  <p:cmAuthor id="1469" name="李 捷" initials="李" lastIdx="0" clrIdx="1468"/>
  <p:cmAuthor id="1470" name="" initials="" lastIdx="0" clrIdx="1469"/>
  <p:cmAuthor id="1471" name="mmm猛" initials="m" lastIdx="0" clrIdx="1470"/>
  <p:cmAuthor id="1472" name="PENG" initials="P" lastIdx="0" clrIdx="1471"/>
  <p:cmAuthor id="1473" name="sunzj50" initials="s" lastIdx="0" clrIdx="1472"/>
  <p:cmAuthor id="1474" name="Ayue " initials="A" lastIdx="0" clrIdx="1473"/>
  <p:cmAuthor id="1475" name="Unknown User59" initials="U" lastIdx="0" clrIdx="1474"/>
  <p:cmAuthor id="1476" name="王鹏飞" initials="王" lastIdx="0" clrIdx="1475"/>
  <p:cmAuthor id="1477" name="关璐" initials="关" lastIdx="0" clrIdx="1476"/>
  <p:cmAuthor id="1478" name="子非鱼1314" initials="子" lastIdx="0" clrIdx="1477"/>
  <p:cmAuthor id="1479" name="李林林" initials="李" lastIdx="0" clrIdx="1478"/>
  <p:cmAuthor id="1480" name="lin li" initials="ll" lastIdx="0" clrIdx="1479"/>
  <p:cmAuthor id="1481" name="595434287@qq.com" initials="5" lastIdx="0" clrIdx="1480"/>
  <p:cmAuthor id="1482" name="345175348@qq.com" initials="3" lastIdx="0" clrIdx="1481"/>
  <p:cmAuthor id="1483" name="李 奕霖" initials="李" lastIdx="0" clrIdx="1482"/>
  <p:cmAuthor id="1484" name="敬泉 李" initials="敬泉" lastIdx="0" clrIdx="1483"/>
  <p:cmAuthor id="1485" name="WPS_1715430540" initials="W" lastIdx="0" clrIdx="1484"/>
  <p:cmAuthor id="1486" name="龚超" initials="龚" lastIdx="0" clrIdx="1485"/>
  <p:cmAuthor id="1487" name="时光" initials="时" lastIdx="0" clrIdx="1486"/>
  <p:cmAuthor id="1488" name="lzy" initials="8" lastIdx="0" clrIdx="1487"/>
  <p:cmAuthor id="1489" name="白文质" initials="白" lastIdx="0" clrIdx="1488"/>
  <p:cmAuthor id="1490" name="qjx2007" initials="q" lastIdx="0" clrIdx="1489"/>
  <p:cmAuthor id="1491" name="大白" initials="大" lastIdx="0" clrIdx="1490"/>
  <p:cmAuthor id="1492" name="小白" initials="小" lastIdx="0" clrIdx="1491"/>
  <p:cmAuthor id="1493" name="许阿丽" initials="许" lastIdx="0" clrIdx="1492"/>
  <p:cmAuthor id="1494" name="10169602" initials="1" lastIdx="0" clrIdx="1493"/>
  <p:cmAuthor id="1495" name="刘亚柯" initials="刘" lastIdx="0" clrIdx="1494"/>
  <p:cmAuthor id="1496" name="00279355" initials="0" lastIdx="0" clrIdx="1495"/>
  <p:cmAuthor id="1497" name="10041808" initials="1" lastIdx="0" clrIdx="1496"/>
  <p:cmAuthor id="1498" name="00024812" initials="0" lastIdx="0" clrIdx="1497"/>
  <p:cmAuthor id="1669746569" name="WPS_1735520906" initials="W" lastIdx="1" clrIdx="935"/>
  <p:cmAuthor id="1499" name="10226012" initials="1" lastIdx="0" clrIdx="1498"/>
  <p:cmAuthor id="1669746570" name="张果" initials="张" lastIdx="1" clrIdx="1669746569"/>
  <p:cmAuthor id="1500" name="10045395" initials="1" lastIdx="0" clrIdx="1499"/>
  <p:cmAuthor id="1501" name="未知用户10" initials="未" lastIdx="0" clrIdx="1500"/>
  <p:cmAuthor id="1502" name="打打打打劫" initials="打" lastIdx="0" clrIdx="1501"/>
  <p:cmAuthor id="1503" name="LQ" initials="L" lastIdx="0" clrIdx="1502"/>
  <p:cmAuthor id="1504" name="杜娇龙" initials="" lastIdx="0" clrIdx="1503"/>
  <p:cmAuthor id="1505" name="王霞" initials="" lastIdx="0" clrIdx="1504"/>
  <p:cmAuthor id="1506" name="张雅欣" initials="张" lastIdx="0" clrIdx="1505"/>
  <p:cmAuthor id="1507" name="刘牧洲" initials="刘" lastIdx="0" clrIdx="1506"/>
  <p:cmAuthor id="1508" name="夏小芸°Bella" initials="夏" lastIdx="0" clrIdx="1507"/>
  <p:cmAuthor id="1509" name="廖成武  " initials="廖" lastIdx="0" clrIdx="1508"/>
  <p:cmAuthor id="1510" name="黄宇" initials="黄" lastIdx="0" clrIdx="1509"/>
  <p:cmAuthor id="1511" name="如也" initials="如" lastIdx="0" clrIdx="1510"/>
  <p:cmAuthor id="1512" name="Ghuck" initials="G" lastIdx="0" clrIdx="1511"/>
  <p:cmAuthor id="1513" name="wmcmdi" initials="w" lastIdx="0" clrIdx="1512"/>
  <p:cmAuthor id="1514" name="夏先生" initials="夏" lastIdx="0" clrIdx="1513"/>
  <p:cmAuthor id="1515" name="妍" initials="妍" lastIdx="0" clrIdx="1514"/>
  <p:cmAuthor id="1516" name="niuniu" initials="n" lastIdx="0" clrIdx="1515"/>
  <p:cmAuthor id="1517" name="天山老幺" initials="天" lastIdx="0" clrIdx="1516"/>
  <p:cmAuthor id="1518" name="Tomorrow" initials="T" lastIdx="0" clrIdx="1517"/>
  <p:cmAuthor id="1519" name="洋仔" initials="洋" lastIdx="0" clrIdx="1518"/>
  <p:cmAuthor id="1520" name="zw zhou" initials="zz" lastIdx="0" clrIdx="1519"/>
  <p:cmAuthor id="1521" name="桃豆豆" initials="桃" lastIdx="0" clrIdx="1520"/>
  <p:cmAuthor id="1522" name="刁航宇" initials="刁" lastIdx="0" clrIdx="1521"/>
  <p:cmAuthor id="1523" name="✨ Nicole " initials="✨" lastIdx="0" clrIdx="1522"/>
  <p:cmAuthor id="1524" name="李凤仪" initials="李" lastIdx="0" clrIdx="1523"/>
  <p:cmAuthor id="326030407" name="孔德旺" initials="孔" lastIdx="1" clrIdx="973"/>
  <p:cmAuthor id="1525" name="于洁" initials="于" lastIdx="0" clrIdx="1524"/>
  <p:cmAuthor id="1526" name="小州Gg" initials="小" lastIdx="0" clrIdx="1525"/>
  <p:cmAuthor id="1527" name="13488749431手机用户" initials="1" lastIdx="0" clrIdx="1526"/>
  <p:cmAuthor id="1528" name="大攀" initials="大" lastIdx="0" clrIdx="1527"/>
  <p:cmAuthor id="1529" name="李宁" initials="李" lastIdx="0" clrIdx="1528"/>
  <p:cmAuthor id="1530" name="马宇媛" initials="马" lastIdx="0" clrIdx="1529"/>
  <p:cmAuthor id="1531" name="X13-Y" initials="X" lastIdx="0" clrIdx="1530"/>
  <p:cmAuthor id="1532" name="哎呀呀何牙牙" initials="哎" lastIdx="0" clrIdx="1531"/>
  <p:cmAuthor id="1533" name="光明" initials="光" lastIdx="0" clrIdx="1532"/>
  <p:cmAuthor id="1534" name="罗志军" initials="罗" lastIdx="0" clrIdx="1533"/>
  <p:cmAuthor id="1535" name="gmcc" initials="g" lastIdx="0" clrIdx="1534"/>
  <p:cmAuthor id="1536" name="zzzz" initials="z" lastIdx="0" clrIdx="1535"/>
  <p:cmAuthor id="1537" name="王旭" initials="王" lastIdx="0" clrIdx="1536"/>
  <p:cmAuthor id="1538" name=" 胖哒慧" initials="" lastIdx="0" clrIdx="1537"/>
  <p:cmAuthor id="1539" name="天天" initials="天" lastIdx="0" clrIdx="1538"/>
  <p:cmAuthor id="1540" name="colin" initials="c" lastIdx="0" clrIdx="1539"/>
  <p:cmAuthor id="422340304" name="史良" initials="史" lastIdx="1" clrIdx="970"/>
  <p:cmAuthor id="1541" name="小阳光" initials="小" lastIdx="0" clrIdx="1540"/>
  <p:cmAuthor id="1542" name="初七之月亮" initials="初" lastIdx="0" clrIdx="1541"/>
  <p:cmAuthor id="1543" name="谭淼" initials="谭" lastIdx="0" clrIdx="1542"/>
  <p:cmAuthor id="1544" name="JeanMayLee" initials="J" lastIdx="0" clrIdx="1543"/>
  <p:cmAuthor id="1545" name="fish" initials="f" lastIdx="0" clrIdx="1544"/>
  <p:cmAuthor id="1546" name="Jason" initials="J" lastIdx="0" clrIdx="1545"/>
  <p:cmAuthor id="1547" name="xy" initials="x" lastIdx="0" clrIdx="1546"/>
  <p:cmAuthor id="317137867" name="大耳朵" initials="大" lastIdx="1" clrIdx="813"/>
  <p:cmAuthor id="1548" name="WPS" initials="W" lastIdx="0" clrIdx="1547"/>
  <p:cmAuthor id="1549" name=" LION" initials=" " lastIdx="0" clrIdx="1548"/>
  <p:cmAuthor id="1550" name="康斯坦尼斯拉夫斯基" initials="康" lastIdx="0" clrIdx="1549"/>
  <p:cmAuthor id="1551" name="SFY" initials="S" lastIdx="0" clrIdx="1550"/>
  <p:cmAuthor id="1552" name="Sabrina" initials="S" lastIdx="0" clrIdx="1551"/>
  <p:cmAuthor id="1553" name="J0" initials="J" lastIdx="0" clrIdx="1552"/>
  <p:cmAuthor id="1554" name="咘嘚咘嘚" initials="咘" lastIdx="0" clrIdx="1553"/>
  <p:cmAuthor id="1555" name="WIN10" initials="W" lastIdx="0" clrIdx="1554"/>
  <p:cmAuthor id="1556" name="Q" initials="Q" lastIdx="0" clrIdx="1555"/>
  <p:cmAuthor id="1557" name="Frank" initials="F" lastIdx="0" clrIdx="1556"/>
  <p:cmAuthor id="1558" name="张松蕾" initials="C" lastIdx="0" clrIdx="1557"/>
  <p:cmAuthor id="1559" name="M" initials="IT" lastIdx="0" clrIdx="1558"/>
  <p:cmAuthor id="1560" name="Wanglexun(Leo,CMCC Marketing)" initials="WM" lastIdx="0" clrIdx="1559"/>
  <p:cmAuthor id="1561" name="chris" initials="c" lastIdx="0" clrIdx="1560"/>
  <p:cmAuthor id="1562" name="乐燕" initials="乐" lastIdx="0" clrIdx="1561"/>
  <p:cmAuthor id="1563" name="梦" initials="梦" lastIdx="0" clrIdx="1562"/>
  <p:cmAuthor id="1564" name="Fanny" initials="F" lastIdx="0" clrIdx="1563"/>
  <p:cmAuthor id="1565" name="begin" initials="b" lastIdx="0" clrIdx="1564"/>
  <p:cmAuthor id="1566" name="LBB" initials="L" lastIdx="0" clrIdx="1565"/>
  <p:cmAuthor id="1567" name="cyq" initials="c" lastIdx="0" clrIdx="1566"/>
  <p:cmAuthor id="1568" name="WPS_1669175722" initials="W" lastIdx="0" clrIdx="1567"/>
  <p:cmAuthor id="383159678" name="FAN" initials="F" lastIdx="555744" clrIdx="0"/>
  <p:cmAuthor id="1569" name="半暖时光" initials="半" lastIdx="0" clrIdx="1568"/>
  <p:cmAuthor id="383159679" name="sunaoran" initials="s" lastIdx="2" clrIdx="3"/>
  <p:cmAuthor id="1570" name="杜立旺" initials="杜" lastIdx="0" clrIdx="1569"/>
  <p:cmAuthor id="1571" name="yangsong" initials="y" lastIdx="0" clrIdx="1570"/>
  <p:cmAuthor id="411215322" name="吴玉宇" initials="吴" lastIdx="7" clrIdx="860"/>
  <p:cmAuthor id="1572" name="Oscar" initials="O" lastIdx="0" clrIdx="1571"/>
  <p:cmAuthor id="1573" name="黄常宇" initials="黄" lastIdx="0" clrIdx="1572"/>
  <p:cmAuthor id="1574" name="依依" initials="依" lastIdx="0" clrIdx="1573"/>
  <p:cmAuthor id="1575" name="曹劲然" initials="曹" lastIdx="0" clrIdx="1574"/>
  <p:cmAuthor id="1576" name="mark" initials="m" lastIdx="0" clrIdx="1575"/>
  <p:cmAuthor id="1577" name="桑榆" initials="桑" lastIdx="0" clrIdx="1576"/>
  <p:cmAuthor id="1578" name="谢梦娇" initials="谢" lastIdx="0" clrIdx="1577"/>
  <p:cmAuthor id="1579" name="CabayJenne" initials="C" lastIdx="0" clrIdx="1578"/>
  <p:cmAuthor id="1580" name="liuyali" initials="l" lastIdx="0" clrIdx="1579"/>
  <p:cmAuthor id="1581" name="邢开" initials="邢" lastIdx="0" clrIdx="1580"/>
  <p:cmAuthor id="1582" name="sunqi" initials="s" lastIdx="0" clrIdx="1581"/>
  <p:cmAuthor id="1583" name="永月墨夜" initials="永" lastIdx="0" clrIdx="1582"/>
  <p:cmAuthor id="1584" name="糕酥...●—●" initials="糕" lastIdx="0" clrIdx="1583"/>
  <p:cmAuthor id="1585" name="纯粹" initials="纯" lastIdx="0" clrIdx="1584"/>
  <p:cmAuthor id="1586" name="华" initials="华" lastIdx="0" clrIdx="1585"/>
  <p:cmAuthor id="1587" name="赵永成" initials="赵" lastIdx="0" clrIdx="1586"/>
  <p:cmAuthor id="1588" name="16640" initials="1" lastIdx="0" clrIdx="1587"/>
  <p:cmAuthor id="1589" name="袖盈嘉茉" initials="袖" lastIdx="0" clrIdx="1588"/>
  <p:cmAuthor id="1590" name="大白 " initials="大" lastIdx="0" clrIdx="1589"/>
  <p:cmAuthor id="1591" name="HJ_李伟真" initials="H" lastIdx="0" clrIdx="1590"/>
  <p:cmAuthor id="1592" name="西赆南琛" initials="西" lastIdx="0" clrIdx="1591"/>
  <p:cmAuthor id="1593" name="武戎" initials="武" lastIdx="0" clrIdx="1592"/>
  <p:cmAuthor id="1594" name="奇点" initials="奇" lastIdx="0" clrIdx="1593"/>
  <p:cmAuthor id="1595" name="刘付平" initials="刘" lastIdx="0" clrIdx="1594"/>
  <p:cmAuthor id="1596" name="晚·峰" initials="晚" lastIdx="0" clrIdx="1595"/>
  <p:cmAuthor id="1597" name="ccc" initials="c" lastIdx="0" clrIdx="1596"/>
  <p:cmAuthor id="1598" name="张鑫" initials="张" lastIdx="0" clrIdx="1597"/>
  <p:cmAuthor id="1599" name="车旭" initials="车" lastIdx="0" clrIdx="1598"/>
  <p:cmAuthor id="1600" name="Pearson.Zhao" initials="P" lastIdx="0" clrIdx="1599"/>
  <p:cmAuthor id="1601" name="DldUlcks" initials="D" lastIdx="0" clrIdx="1600"/>
  <p:cmAuthor id="1602" name="WPS_1716908770" initials="W" lastIdx="0" clrIdx="1601"/>
  <p:cmAuthor id="1603" name="never pink" initials="n" lastIdx="0" clrIdx="1602"/>
  <p:cmAuthor id="870434041" name="讀 書" initials="讀" lastIdx="1" clrIdx="663"/>
  <p:cmAuthor id="1604" name="吴开云" initials="吴" lastIdx="0" clrIdx="1603"/>
  <p:cmAuthor id="1605" name="于浣" initials="于" lastIdx="0" clrIdx="1604"/>
  <p:cmAuthor id="1606" name="李进进" initials="李" lastIdx="0" clrIdx="1605"/>
  <p:cmAuthor id="1607" name="小粟勺" initials="小" lastIdx="0" clrIdx="1606"/>
  <p:cmAuthor id="1608" name="黄炜" initials="黄" lastIdx="0" clrIdx="1607"/>
  <p:cmAuthor id="1609" name="WPS_1686010660" initials="W" lastIdx="0" clrIdx="1608"/>
  <p:cmAuthor id="1610" name="lihui" initials="l" lastIdx="0" clrIdx="1609"/>
  <p:cmAuthor id="1611" name="木漏れ日" initials="木" lastIdx="0" clrIdx="1610"/>
  <p:cmAuthor id="1612" name="如斯" initials="如" lastIdx="0" clrIdx="1611"/>
  <p:cmAuthor id="1613" name="Wang lei" initials="W" lastIdx="0" clrIdx="1612"/>
  <p:cmAuthor id="1614" name="Daigy" initials="D" lastIdx="0" clrIdx="1613"/>
  <p:cmAuthor id="1615" name="wink" initials="w" lastIdx="0" clrIdx="1614"/>
  <p:cmAuthor id="1616" name="WPS_1592556096" initials="W" lastIdx="0" clrIdx="1615"/>
  <p:cmAuthor id="1617" name="Zing" initials="Z" lastIdx="0" clrIdx="1616"/>
  <p:cmAuthor id="1618" name="吴体华" initials="吴" lastIdx="0" clrIdx="1617"/>
  <p:cmAuthor id="1619" name="lin" initials="l" lastIdx="0" clrIdx="1618"/>
  <p:cmAuthor id="1620" name="番茄^_^" initials="番" lastIdx="0" clrIdx="1619"/>
  <p:cmAuthor id="1621" name="许愿池的~" initials="许" lastIdx="0" clrIdx="1620"/>
  <p:cmAuthor id="1622" name="-facile" initials="-" lastIdx="0" clrIdx="1621"/>
  <p:cmAuthor id="1623" name="Tea" initials="T" lastIdx="0" clrIdx="1622"/>
  <p:cmAuthor id="1624" name="储贤民" initials="储" lastIdx="0" clrIdx="1623"/>
  <p:cmAuthor id="1625" name="guron" initials="g" lastIdx="0" clrIdx="1624"/>
  <p:cmAuthor id="1626" name="微笑" initials="微" lastIdx="0" clrIdx="1625"/>
  <p:cmAuthor id="1627" name="鱼爱吃猫8" initials="鱼" lastIdx="0" clrIdx="1626"/>
  <p:cmAuthor id="1628" name="小迷糊" initials="小" lastIdx="0" clrIdx="1627"/>
  <p:cmAuthor id="1629" name="WPS_1724045767" initials="W" lastIdx="0" clrIdx="1628"/>
  <p:cmAuthor id="1630" name="黄慧" initials="黄" lastIdx="0" clrIdx="1629"/>
  <p:cmAuthor id="1631" name="月亮是我啃弯的" initials="月" lastIdx="0" clrIdx="1630"/>
  <p:cmAuthor id="1632" name="jinbq" initials="j" lastIdx="0" clrIdx="1631"/>
  <p:cmAuthor id="1633" name="周磊" initials="周" lastIdx="0" clrIdx="1632"/>
  <p:cmAuthor id="1634" name="123" initials="1" lastIdx="0" clrIdx="1633"/>
  <p:cmAuthor id="1635" name="bai song" initials="bs" lastIdx="0" clrIdx="1634"/>
  <p:cmAuthor id="1636" name="李 剑峰" initials="李" lastIdx="0" clrIdx="1635"/>
  <p:cmAuthor id="1637" name="fafa" initials="f" lastIdx="0" clrIdx="1636"/>
  <p:cmAuthor id="1638" name="王习习" initials="王" lastIdx="0" clrIdx="1637"/>
  <p:cmAuthor id="1639" name="zhan" initials="z" lastIdx="0" clrIdx="1638"/>
  <p:cmAuthor id="1640" name="陶元" initials="陶" lastIdx="0" clrIdx="1639"/>
  <p:cmAuthor id="1641" name="易 胡" initials="易" lastIdx="0" clrIdx="1640"/>
  <p:cmAuthor id="1642" name="gxy" initials="g" lastIdx="0" clrIdx="1641"/>
  <p:cmAuthor id="1643" name="李金夏" initials="李" lastIdx="0" clrIdx="1642"/>
  <p:cmAuthor id="1644" name="李少帅" initials="李" lastIdx="0" clrIdx="1643"/>
  <p:cmAuthor id="1645" name="gaozq35" initials="9" lastIdx="0" clrIdx="1644"/>
  <p:cmAuthor id="1646" name="未知用户262" initials="未" lastIdx="0" clrIdx="1645"/>
  <p:cmAuthor id="1647" name="Cindy-NB" initials="C" lastIdx="0" clrIdx="1646"/>
  <p:cmAuthor id="1648" name="panyl25" initials="p" lastIdx="0" clrIdx="1647"/>
  <p:cmAuthor id="1649" name="love_" initials="l" lastIdx="0" clrIdx="1648"/>
  <p:cmAuthor id="1650" name="田逢阳" initials="A" lastIdx="0" clrIdx="1649"/>
  <p:cmAuthor id="1651" name="Unknown User22" initials="U" lastIdx="0" clrIdx="1650"/>
  <p:cmAuthor id="1652" name="李金金" initials="李金金" lastIdx="0" clrIdx="1651"/>
  <p:cmAuthor id="1653" name="王志榕" initials="王" lastIdx="0" clrIdx="1652"/>
  <p:cmAuthor id="1654" name="邓萍" initials="邓" lastIdx="0" clrIdx="1653"/>
  <p:cmAuthor id="1655" name="Unknown User115" initials="U" lastIdx="0" clrIdx="1654"/>
  <p:cmAuthor id="1656" name="金洁" initials="金" lastIdx="0" clrIdx="1655"/>
  <p:cmAuthor id="1657" name="shinedo" initials="s" lastIdx="0" clrIdx="1656"/>
  <p:cmAuthor id="1658" name="Zhao Jing" initials="Z" lastIdx="0" clrIdx="1657"/>
  <p:cmAuthor id="1659" name="未知的使用者182" initials="未" lastIdx="0" clrIdx="1658"/>
  <p:cmAuthor id="1660" name="c Cecilia" initials="cC" lastIdx="0" clrIdx="1659"/>
  <p:cmAuthor id="1661" name="王 明振" initials="王" lastIdx="0" clrIdx="1660"/>
  <p:cmAuthor id="1662" name="百军 李" initials="百李" lastIdx="0" clrIdx="1661"/>
  <p:cmAuthor id="1663" name="Zhuqw" initials="Z" lastIdx="0" clrIdx="1662"/>
  <p:cmAuthor id="1664" name="未知用户118" initials="未" lastIdx="0" clrIdx="1663"/>
  <p:cmAuthor id="1665" name="李奇" initials="奇奇" lastIdx="0" clrIdx="1664"/>
  <p:cmAuthor id="1666" name="李 修竹" initials="李" lastIdx="0" clrIdx="1665"/>
  <p:cmAuthor id="1667" name="马月" initials="马" lastIdx="0" clrIdx="1666"/>
  <p:cmAuthor id="1668" name="黄婷楠" initials="黄" lastIdx="0" clrIdx="1667"/>
  <p:cmAuthor id="1669" name="卞珊珊" initials="卞" lastIdx="0" clrIdx="1668"/>
  <p:cmAuthor id="1670" name="叶海纳" initials="叶" lastIdx="0" clrIdx="1669"/>
  <p:cmAuthor id="1671" name="spring_ren" initials="s" lastIdx="0" clrIdx="1670"/>
  <p:cmAuthor id="1672" name="伟 刘" initials="伟刘" lastIdx="0" clrIdx="1671"/>
  <p:cmAuthor id="1673" name="裴小燕" initials="u" lastIdx="0" clrIdx="1672"/>
  <p:cmAuthor id="1674" name="HP" initials="H" lastIdx="0" clrIdx="1673"/>
  <p:cmAuthor id="1675" name="wang liyuan" initials="wl" lastIdx="0" clrIdx="1674"/>
  <p:cmAuthor id="1676" name="Ren Li(联通集团联通系统集成有限公司)" initials="RL" lastIdx="0" clrIdx="1675"/>
  <p:cmAuthor id="352329618" name="billow.jen" initials="b" lastIdx="1" clrIdx="837"/>
  <p:cmAuthor id="1677" name="系统修改" initials="yuh111" lastIdx="0" clrIdx="1676"/>
  <p:cmAuthor id="1678" name="Smith" initials="S" lastIdx="0" clrIdx="1677"/>
  <p:cmAuthor id="1679" name="一花一世界" initials="一" lastIdx="0" clrIdx="1678"/>
  <p:cmAuthor id="1680" name="张妍" initials="张" lastIdx="0" clrIdx="1679"/>
  <p:cmAuthor id="1681" name="徐 正国" initials="徐" lastIdx="0" clrIdx="1680"/>
  <p:cmAuthor id="1682" name="94895" initials="9" lastIdx="0" clrIdx="1681"/>
  <p:cmAuthor id="1683" name="dings5" initials="d" lastIdx="0" clrIdx="1682"/>
  <p:cmAuthor id="1684" name="马安娜" initials="马" lastIdx="0" clrIdx="1683"/>
  <p:cmAuthor id="1685" name="anima" initials="a" lastIdx="0" clrIdx="1684"/>
  <p:cmAuthor id="1686" name="chenting" initials="CT" lastIdx="0" clrIdx="1685"/>
  <p:cmAuthor id="1687" name="sammiyacho" initials="s" lastIdx="0" clrIdx="1686"/>
  <p:cmAuthor id="1688" name="李庆" initials="李" lastIdx="0" clrIdx="1687"/>
  <p:cmAuthor id="1689" name="冼沛" initials="冼" lastIdx="0" clrIdx="1688"/>
  <p:cmAuthor id="1690" name="封殊龙" initials="封" lastIdx="0" clrIdx="1689"/>
  <p:cmAuthor id="1691" name="夜尽迟渊_UrQfrmQZ" initials="authorId_501680251" lastIdx="0" clrIdx="1690"/>
  <p:cmAuthor id="1692" name="王丰_aE3uARfm" initials="authorId_383357774" lastIdx="0" clrIdx="1691"/>
  <p:cmAuthor id="1693" name="陈宇丰" initials="陈" lastIdx="0" clrIdx="1692"/>
  <p:cmAuthor id="486452560" name="js-王美婧" initials="j" lastIdx="1" clrIdx="683"/>
  <p:cmAuthor id="1694" name="宁文文" initials="宁" lastIdx="0" clrIdx="1693"/>
  <p:cmAuthor id="1695" name="未知用户86" initials="未" lastIdx="0" clrIdx="1694"/>
  <p:cmAuthor id="1696" name="罗玉碧" initials="罗" lastIdx="0" clrIdx="1695"/>
  <p:cmAuthor id="1697" name="Xiaosu Wang" initials="XW" lastIdx="0" clrIdx="1696"/>
  <p:cmAuthor id="1698" name="yin gang" initials="yg" lastIdx="0" clrIdx="1697"/>
  <p:cmAuthor id="1699" name="zheng kedan" initials="zk" lastIdx="0" clrIdx="1698"/>
  <p:cmAuthor id="1700" name="00103907" initials="0" lastIdx="0" clrIdx="1699"/>
  <p:cmAuthor id="1701" name="10156743" initials="1" lastIdx="0" clrIdx="1700"/>
  <p:cmAuthor id="1702" name="张文栓" initials="1" lastIdx="0" clrIdx="1701"/>
  <p:cmAuthor id="1703" name="未知用户95" initials="未" lastIdx="0" clrIdx="1702"/>
  <p:cmAuthor id="1704" name="Unknown User23" initials="U" lastIdx="0" clrIdx="1703"/>
  <p:cmAuthor id="1705" name="张平" initials="张" lastIdx="0" clrIdx="1704"/>
  <p:cmAuthor id="1706" name="刘雨润" initials="刘" lastIdx="0" clrIdx="1705"/>
  <p:cmAuthor id="1707" name="子小T光军" initials="子" lastIdx="0" clrIdx="1706"/>
  <p:cmAuthor id="1708" name="未知用户229" initials="未" lastIdx="0" clrIdx="1707"/>
  <p:cmAuthor id="1709" name="JeremyBai" initials="J" lastIdx="0" clrIdx="1708"/>
  <p:cmAuthor id="1710" name="未知用户238" initials="未" lastIdx="0" clrIdx="1709"/>
  <p:cmAuthor id="1711" name="李苏薇" initials="李" lastIdx="0" clrIdx="1710"/>
  <p:cmAuthor id="1712" name="小皮蛋" initials="小" lastIdx="0" clrIdx="1711"/>
  <p:cmAuthor id="1713" name="63173" initials="6" lastIdx="0" clrIdx="1712"/>
  <p:cmAuthor id="1714" name="Wanghy" initials="W" lastIdx="0" clrIdx="1713"/>
  <p:cmAuthor id="1715" name="覃龙峡" initials="覃" lastIdx="0" clrIdx="1714"/>
  <p:cmAuthor id="1716" name="yangxl222" initials="y" lastIdx="0" clrIdx="1715"/>
  <p:cmAuthor id="1717" name="zhoushiying1" initials="z" lastIdx="0" clrIdx="1716"/>
  <p:cmAuthor id="1718" name="单佳" initials="单" lastIdx="0" clrIdx="1717"/>
  <p:cmAuthor id="1719" name="caoyy51" initials="c" lastIdx="0" clrIdx="1718"/>
  <p:cmAuthor id="1720" name="白广慧" initials="白" lastIdx="0" clrIdx="1719"/>
  <p:cmAuthor id="1721" name="杨庆友" initials="杨" lastIdx="0" clrIdx="1720"/>
  <p:cmAuthor id="1722" name="未知用户421" initials="未" lastIdx="0" clrIdx="1721"/>
  <p:cmAuthor id="1723" name="于洋" initials="于" lastIdx="0" clrIdx="1722"/>
  <p:cmAuthor id="1724" name="刘亮" initials="刘" lastIdx="0" clrIdx="1723"/>
  <p:cmAuthor id="1725" name="面包" initials="面" lastIdx="0" clrIdx="1724"/>
  <p:cmAuthor id="1726" name="77599" initials="7" lastIdx="0" clrIdx="1725"/>
  <p:cmAuthor id="1727" name="古颜松" initials="古" lastIdx="0" clrIdx="1726"/>
  <p:cmAuthor id="1728" name="ZhengShilei" initials="Z" lastIdx="0" clrIdx="1727"/>
  <p:cmAuthor id="1729" name="8618608404186" initials="" lastIdx="0" clrIdx="1728"/>
  <p:cmAuthor id="1730" name="未知用户471" initials="未" lastIdx="0" clrIdx="1729"/>
  <p:cmAuthor id="1731" name="未知用户472" initials="未" lastIdx="0" clrIdx="1730"/>
  <p:cmAuthor id="1732" name="恩智 刘" initials="恩刘" lastIdx="0" clrIdx="1731"/>
  <p:cmAuthor id="1733" name="裴建英" initials="裴" lastIdx="0" clrIdx="1732"/>
  <p:cmAuthor id="1734" name="杨晓明" initials="杨" lastIdx="0" clrIdx="1733"/>
  <p:cmAuthor id="1735" name="林泉" initials="林" lastIdx="0" clrIdx="1734"/>
  <p:cmAuthor id="1736" name="闵容" initials="刘妍" lastIdx="0" clrIdx="1735"/>
  <p:cmAuthor id="1737" name="guant" initials="g" lastIdx="0" clrIdx="1736"/>
  <p:cmAuthor id="1738" name="未知用户480" initials="未" lastIdx="0" clrIdx="1737"/>
  <p:cmAuthor id="1739" name="孙雨琛" initials="孙" lastIdx="0" clrIdx="1738"/>
  <p:cmAuthor id="1740" name="未知用户484" initials="未" lastIdx="0" clrIdx="1739"/>
  <p:cmAuthor id="432904818" name="Endless" initials="E" lastIdx="1" clrIdx="837"/>
  <p:cmAuthor id="1741" name="未知用户487" initials="未" lastIdx="0" clrIdx="1740"/>
  <p:cmAuthor id="1742" name="wy" initials="w" lastIdx="0" clrIdx="1741"/>
  <p:cmAuthor id="1743" name="seki" initials="s" lastIdx="0" clrIdx="1742"/>
  <p:cmAuthor id="1744" name="韩纪元" initials="韩" lastIdx="0" clrIdx="1743"/>
  <p:cmAuthor id="567896727" name="暴躁火柴人" initials="暴" lastIdx="3" clrIdx="640"/>
  <p:cmAuthor id="1745" name="ADMIN" initials="A" lastIdx="0" clrIdx="1744"/>
  <p:cmAuthor id="1746" name="10322559" initials="1" lastIdx="0" clrIdx="1745"/>
  <p:cmAuthor id="1747" name="晓琳 李" initials="晓琳" lastIdx="0" clrIdx="1746"/>
  <p:cmAuthor id="1748" name="10011306" initials="1" lastIdx="0" clrIdx="1747"/>
  <p:cmAuthor id="1749" name="艾启明" initials="A" lastIdx="0" clrIdx="1748"/>
  <p:cmAuthor id="1750" name="李楠10204198" initials="李" lastIdx="0" clrIdx="1749"/>
  <p:cmAuthor id="1751" name="董艺萱00344473" initials="董" lastIdx="0" clrIdx="1750"/>
  <p:cmAuthor id="1752" name="刘清照" initials="刘" lastIdx="0" clrIdx="1751"/>
  <p:cmAuthor id="1753" name="10074613" initials="1" lastIdx="0" clrIdx="1752"/>
  <p:cmAuthor id="1754" name="XuFeng" initials="XF" lastIdx="0" clrIdx="1753"/>
  <p:cmAuthor id="1755" name="赵静" initials="赵" lastIdx="0" clrIdx="1754"/>
  <p:cmAuthor id="1756" name="10187976@zte.intra" initials="1" lastIdx="0" clrIdx="1755"/>
  <p:cmAuthor id="1757" name="10078316" initials="1" lastIdx="0" clrIdx="1756"/>
  <p:cmAuthor id="1758" name="10245120" initials="1" lastIdx="0" clrIdx="1757"/>
  <p:cmAuthor id="1759" name="HY" initials="H" lastIdx="0" clrIdx="1758"/>
  <p:cmAuthor id="1760" name="难得清闲" initials="难" lastIdx="0" clrIdx="1759"/>
  <p:cmAuthor id="1761" name="LeonLin" initials="L" lastIdx="0" clrIdx="1760"/>
  <p:cmAuthor id="1762" name="楠已置信✔️" initials="楠" lastIdx="0" clrIdx="1761"/>
  <p:cmAuthor id="1763" name="无声风铃" initials="无" lastIdx="0" clrIdx="1762"/>
  <p:cmAuthor id="1764" name="马乔" initials="马" lastIdx="0" clrIdx="1763"/>
  <p:cmAuthor id="1765" name="黄金超" initials="黄" lastIdx="0" clrIdx="1764"/>
  <p:cmAuthor id="1766" name="yuhx34" initials="y" lastIdx="0" clrIdx="1765"/>
  <p:cmAuthor id="1767" name="mystic" initials="m" lastIdx="0" clrIdx="1766"/>
  <p:cmAuthor id="1768" name="郝锦涛" initials="郝" lastIdx="0" clrIdx="1767"/>
  <p:cmAuthor id="1769" name="ηλιοφάνεια" initials="η" lastIdx="0" clrIdx="1768"/>
  <p:cmAuthor id="1770" name="WPS_1655687181" initials="W" lastIdx="0" clrIdx="1769"/>
  <p:cmAuthor id="1771" name="小荣" initials="小" lastIdx="0" clrIdx="1770"/>
  <p:cmAuthor id="1772" name="F。" initials="F" lastIdx="0" clrIdx="1771"/>
  <p:cmAuthor id="1773" name="8237476979" initials="8" lastIdx="0" clrIdx="1772"/>
  <p:cmAuthor id="1774" name="云晗雨" initials="云" lastIdx="0" clrIdx="1773"/>
  <p:cmAuthor id="1775" name="可婷儿" initials="可" lastIdx="0" clrIdx="1774"/>
  <p:cmAuthor id="1776" name="E" initials="E" lastIdx="0" clrIdx="1775"/>
  <p:cmAuthor id="1777" name="Go To" initials="G" lastIdx="0" clrIdx="1776"/>
  <p:cmAuthor id="1778" name="歡" initials="歡" lastIdx="0" clrIdx="1777"/>
  <p:cmAuthor id="1779" name="Vincent" initials="V" lastIdx="0" clrIdx="1778"/>
  <p:cmAuthor id="1780" name="90594" initials="9" lastIdx="0" clrIdx="1779"/>
  <p:cmAuthor id="1781" name="Биндэреэ" initials="Б" lastIdx="0" clrIdx="1780"/>
  <p:cmAuthor id="448587879" name="QMY" initials="Q" lastIdx="5" clrIdx="39"/>
  <p:cmAuthor id="1782" name="张斐轶" initials="张" lastIdx="0" clrIdx="1781"/>
  <p:cmAuthor id="1783" name="Jinyue" initials="J" lastIdx="0" clrIdx="1782"/>
  <p:cmAuthor id="1784" name="fang" initials="f" lastIdx="0" clrIdx="1783"/>
  <p:cmAuthor id="1785" name=" 橘子的美好生活" initials="" lastIdx="0" clrIdx="1784"/>
  <p:cmAuthor id="1786" name="髙髙髙" initials="髙" lastIdx="0" clrIdx="1785"/>
  <p:cmAuthor id="244425171" name="Mars.T" initials="M" lastIdx="1" clrIdx="334"/>
  <p:cmAuthor id="1787" name="haixin" initials="h" lastIdx="0" clrIdx="1786"/>
  <p:cmAuthor id="1788" name="WPS_1681376038" initials="W" lastIdx="0" clrIdx="1787"/>
  <p:cmAuthor id="1789" name="潘阿槑" initials="潘" lastIdx="0" clrIdx="1788"/>
  <p:cmAuthor id="1790" name="Doria." initials="D" lastIdx="0" clrIdx="1789"/>
  <p:cmAuthor id="1791" name="sushanshan1" initials="s" lastIdx="0" clrIdx="1790"/>
  <p:cmAuthor id="1792" name="梁文婷" initials="梁" lastIdx="0" clrIdx="1791"/>
  <p:cmAuthor id="1793" name="Ronnie" initials="R" lastIdx="0" clrIdx="1792"/>
  <p:cmAuthor id="617885885" name="类" initials="类" lastIdx="1" clrIdx="671"/>
  <p:cmAuthor id="1794" name="却闻周郎故" initials="却" lastIdx="0" clrIdx="1793"/>
  <p:cmAuthor id="1795" name="Lily" initials="L" lastIdx="0" clrIdx="1794"/>
  <p:cmAuthor id="1796" name="赵雨晨" initials="赵" lastIdx="0" clrIdx="1795"/>
  <p:cmAuthor id="1797" name="王然" initials="王" lastIdx="0" clrIdx="1796"/>
  <p:cmAuthor id="1798" name="刘艾旸" initials="刘" lastIdx="0" clrIdx="1797"/>
  <p:cmAuthor id="1799" name="冷呆冷呆的" initials="冷" lastIdx="0" clrIdx="1798"/>
  <p:cmAuthor id="1800" name="SOME" initials="S" lastIdx="0" clrIdx="1799"/>
  <p:cmAuthor id="1801" name="q60052952" initials="q" lastIdx="0" clrIdx="1800"/>
  <p:cmAuthor id="1802" name="jiangmm10" initials="j" lastIdx="0" clrIdx="1801"/>
  <p:cmAuthor id="1803" name="momo" initials="m" lastIdx="0" clrIdx="1802"/>
  <p:cmAuthor id="1804" name="liwn56" initials="l" lastIdx="0" clrIdx="1803"/>
  <p:cmAuthor id="1805" name="wangxj1013" initials="w" lastIdx="0" clrIdx="1804"/>
  <p:cmAuthor id="1806" name="chawm1" initials="c" lastIdx="0" clrIdx="1805"/>
  <p:cmAuthor id="1807" name="刘佳佳" initials="刘" lastIdx="0" clrIdx="1806"/>
  <p:cmAuthor id="1808" name="刘洪伟" initials="刘" lastIdx="0" clrIdx="1807"/>
  <p:cmAuthor id="1809" name="xiaojy21" initials="x" lastIdx="0" clrIdx="1808"/>
  <p:cmAuthor id="1810" name="文向阳" initials="文" lastIdx="0" clrIdx="1809"/>
  <p:cmAuthor id="1811" name="陈 淑旸" initials="陈" lastIdx="0" clrIdx="1810"/>
  <p:cmAuthor id="1812" name="帅帅 俊俊子" initials="帅" lastIdx="0" clrIdx="1811"/>
  <p:cmAuthor id="1813" name="Cui Yun" initials="C" lastIdx="0" clrIdx="1812"/>
  <p:cmAuthor id="1814" name="Cedric Lin" initials="C" lastIdx="0" clrIdx="1813"/>
  <p:cmAuthor id="1815" name="Bonnie XH" initials="B" lastIdx="0" clrIdx="1814"/>
  <p:cmAuthor id="1816" name="Niya Wang" initials="N" lastIdx="0" clrIdx="1815"/>
  <p:cmAuthor id="1817" name="Vera BX Liu" initials="V" lastIdx="0" clrIdx="1816"/>
  <p:cmAuthor id="1818" name="Candy Hao" initials="C" lastIdx="0" clrIdx="1817"/>
  <p:cmAuthor id="1819" name="hkyzhy555@sina.com" initials="h" lastIdx="0" clrIdx="1818"/>
  <p:cmAuthor id="1820" name="钢华" initials="钢" lastIdx="0" clrIdx="1819"/>
  <p:cmAuthor id="1821" name="汤 海宝" initials="汤" lastIdx="0" clrIdx="1820"/>
  <p:cmAuthor id="1822" name="何子文" initials="何" lastIdx="0" clrIdx="1821"/>
  <p:cmAuthor id="1823" name="T480" initials="T" lastIdx="0" clrIdx="1822"/>
  <p:cmAuthor id="1824" name="刘阳" initials="刘" lastIdx="0" clrIdx="1823"/>
  <p:cmAuthor id="1825" name="小情绪ぅ" initials="小" lastIdx="0" clrIdx="1824"/>
  <p:cmAuthor id="1826" name="朱永杰" initials="朱" lastIdx="0" clrIdx="1825"/>
  <p:cmAuthor id="1827" name="田鑫" initials="田" lastIdx="0" clrIdx="1826"/>
  <p:cmAuthor id="1828" name="冯芳" initials="冯" lastIdx="0" clrIdx="1827"/>
  <p:cmAuthor id="1829" name="林岚" initials="林" lastIdx="0" clrIdx="1828"/>
  <p:cmAuthor id="1830" name="duzl0" initials="d" lastIdx="0" clrIdx="1829"/>
  <p:cmAuthor id="1831" name="陈" initials="陈" lastIdx="0" clrIdx="1830"/>
  <p:cmAuthor id="1832" name="杨登杰" initials="杨" lastIdx="0" clrIdx="1831"/>
  <p:cmAuthor id="1833" name="达不溜叁" initials="达" lastIdx="0" clrIdx="1832"/>
  <p:cmAuthor id="1834" name="ZQBG-WS" initials="Z" lastIdx="0" clrIdx="1833"/>
  <p:cmAuthor id="1835" name="刘琛" initials="刘" lastIdx="0" clrIdx="1834"/>
  <p:cmAuthor id="1836" name="许可" initials="许" lastIdx="0" clrIdx="1835"/>
  <p:cmAuthor id="1837" name="小青蛙" initials="小" lastIdx="0" clrIdx="1836"/>
  <p:cmAuthor id="1838" name="刘" initials="刘" lastIdx="0" clrIdx="1837"/>
  <p:cmAuthor id="1839" name="ريم." initials="ر" lastIdx="0" clrIdx="1838"/>
  <p:cmAuthor id="1840" name="Cushion" initials="C" lastIdx="0" clrIdx="1839"/>
  <p:cmAuthor id="1841" name="文文" initials="文" lastIdx="0" clrIdx="1840"/>
  <p:cmAuthor id="1842" name="mouse zz" initials="mz" lastIdx="0" clrIdx="1841"/>
  <p:cmAuthor id="1843" name="luhx26" initials="l" lastIdx="0" clrIdx="1842"/>
  <p:cmAuthor id="1844" name="zhaozhao" initials="z" lastIdx="0" clrIdx="1843"/>
  <p:cmAuthor id="1845" name="李璐璐" initials="李" lastIdx="0" clrIdx="1844"/>
  <p:cmAuthor id="1846" name="lwrda" initials="l" lastIdx="0" clrIdx="1845"/>
  <p:cmAuthor id="1847" name="超哥" initials="超" lastIdx="0" clrIdx="1846"/>
  <p:cmAuthor id="1848" name="秃然的自我" initials="秃" lastIdx="0" clrIdx="1847"/>
  <p:cmAuthor id="1849" name="西安集优尤栋伟18631220618" initials="西" lastIdx="0" clrIdx="1848"/>
  <p:cmAuthor id="1850" name="♡汤圆♪" initials="♡" lastIdx="0" clrIdx="1849"/>
  <p:cmAuthor id="1851" name="节潇" initials="节" lastIdx="0" clrIdx="1850"/>
  <p:cmAuthor id="1852" name="咸鱼  谢" initials="咸" lastIdx="0" clrIdx="1851"/>
  <p:cmAuthor id="1853" name="姜楠" initials="姜" lastIdx="0" clrIdx="1852"/>
  <p:cmAuthor id="1854" name="夏唯天" initials="夏" lastIdx="0" clrIdx="1853"/>
  <p:cmAuthor id="1855" name="Sandy" initials="S" lastIdx="0" clrIdx="1854"/>
  <p:cmAuthor id="198704477" name="雷迎颖" initials="雷" lastIdx="1" clrIdx="839"/>
  <p:cmAuthor id="1856" name="Yijin_cc" initials="Y" lastIdx="0" clrIdx="1855"/>
  <p:cmAuthor id="1857" name="10120993" initials="1" lastIdx="0" clrIdx="1856"/>
  <p:cmAuthor id="1858" name="未知用户125" initials="未" lastIdx="0" clrIdx="1857"/>
  <p:cmAuthor id="1859" name="玉洁不是玉杰" initials="玉" lastIdx="0" clrIdx="1858"/>
  <p:cmAuthor id="1860" name="李晓波" initials="李" lastIdx="0" clrIdx="1859"/>
  <p:cmAuthor id="1861" name="梁月仙" initials="梁" lastIdx="0" clrIdx="1860"/>
  <p:cmAuthor id="1862" name="17126" initials="1" lastIdx="0" clrIdx="1861"/>
  <p:cmAuthor id="1863" name="A9858" initials="" lastIdx="0" clrIdx="1862"/>
  <p:cmAuthor id="1864" name="佟" initials="佟" lastIdx="0" clrIdx="1863"/>
  <p:cmAuthor id="1865" name="hxt" initials="h" lastIdx="0" clrIdx="1864"/>
  <p:cmAuthor id="1866" name="刘俊杰" initials="刘" lastIdx="0" clrIdx="1865"/>
  <p:cmAuthor id="1867" name="Zach" initials="Z" lastIdx="0" clrIdx="1866"/>
  <p:cmAuthor id="1868" name="王娴" initials="王" lastIdx="0" clrIdx="1867"/>
  <p:cmAuthor id="1869" name="韩永光" initials="韩" lastIdx="0" clrIdx="1868"/>
  <p:cmAuthor id="1870" name="杨程名" initials="ming" lastIdx="0" clrIdx="1869"/>
  <p:cmAuthor id="1871" name="jean luo" initials="jl" lastIdx="0" clrIdx="1870"/>
  <p:cmAuthor id="1872" name="饶树成" initials="饶" lastIdx="0" clrIdx="1871"/>
  <p:cmAuthor id="1873" name="Johnny Hsieh" initials="J" lastIdx="0" clrIdx="1872"/>
  <p:cmAuthor id="1874" name="dell" initials="d" lastIdx="0" clrIdx="1873"/>
  <p:cmAuthor id="1875" name="徐静" initials="徐" lastIdx="0" clrIdx="1874"/>
  <p:cmAuthor id="1876" name="lk" initials="l" lastIdx="0" clrIdx="1875"/>
  <p:cmAuthor id="1877" name="赵婉蓉" initials="赵" lastIdx="0" clrIdx="1876"/>
  <p:cmAuthor id="1878" name="张梓庆" initials="张" lastIdx="0" clrIdx="1877"/>
  <p:cmAuthor id="1879" name="张师" initials="张" lastIdx="0" clrIdx="1878"/>
  <p:cmAuthor id="1880" name="张田田" initials="张" lastIdx="0" clrIdx="1879"/>
  <p:cmAuthor id="1881" name="孔凡娟" initials="孔" lastIdx="0" clrIdx="1880"/>
  <p:cmAuthor id="1882" name="计君" initials="计" lastIdx="0" clrIdx="1881"/>
  <p:cmAuthor id="1883" name="孙晓兰" initials="孙" lastIdx="0" clrIdx="1882"/>
  <p:cmAuthor id="1574032945" name="企业用户_1424318118" initials="企" lastIdx="1" clrIdx="642"/>
  <p:cmAuthor id="1884" name="李勇路" initials="李" lastIdx="0" clrIdx="1883"/>
  <p:cmAuthor id="1885" name="田延刚" initials="田" lastIdx="0" clrIdx="1884"/>
  <p:cmAuthor id="1886" name="程佳琳" initials="程" lastIdx="0" clrIdx="1885"/>
  <p:cmAuthor id="1887" name="dongxin" initials="d" lastIdx="0" clrIdx="1886"/>
  <p:cmAuthor id="1888" name="yangqd3" initials="y" lastIdx="0" clrIdx="1887"/>
  <p:cmAuthor id="1889" name="杨启明" initials="杨" lastIdx="0" clrIdx="1888"/>
  <p:cmAuthor id="1890" name="Owner" initials="O" lastIdx="0" clrIdx="1889"/>
  <p:cmAuthor id="1891" name="尚磊" initials="尚" lastIdx="0" clrIdx="1890"/>
  <p:cmAuthor id="1892" name="未知用户474" initials="未" lastIdx="0" clrIdx="1891"/>
  <p:cmAuthor id="1893" name="丛婉" initials="丛" lastIdx="0" clrIdx="1892"/>
  <p:cmAuthor id="1894" name="Redarmy270" initials="R" lastIdx="0" clrIdx="1893"/>
  <p:cmAuthor id="1895" name="郑 传峰" initials="郑" lastIdx="0" clrIdx="1894"/>
  <p:cmAuthor id="1896" name="成湘龙" initials="成" lastIdx="0" clrIdx="1895"/>
  <p:cmAuthor id="1897" name="10350" initials="1" lastIdx="0" clrIdx="1896"/>
  <p:cmAuthor id="1898" name="10080235" initials="1" lastIdx="0" clrIdx="1897"/>
  <p:cmAuthor id="1899" name="cutc_xubo" initials="c" lastIdx="0" clrIdx="1898"/>
  <p:cmAuthor id="1900" name="未知用户306" initials="未" lastIdx="0" clrIdx="1899"/>
  <p:cmAuthor id="1901" name="1" initials="1" lastIdx="0" clrIdx="1900"/>
  <p:cmAuthor id="1902" name="86176" initials="8" lastIdx="0" clrIdx="1901"/>
  <p:cmAuthor id="1903" name="zhouMa" initials="z" lastIdx="0" clrIdx="1902"/>
  <p:cmAuthor id="1904" name="ren zhongyuan" initials="rz" lastIdx="0" clrIdx="1903"/>
  <p:cmAuthor id="1905" name="zhangmt" initials="mz" lastIdx="0" clrIdx="1904"/>
  <p:cmAuthor id="1906" name="zhaochunxi" initials="z" lastIdx="0" clrIdx="1905"/>
  <p:cmAuthor id="1907" name="陶继业" initials="cuc" lastIdx="0" clrIdx="1906"/>
  <p:cmAuthor id="1908" name="others" initials="w" lastIdx="0" clrIdx="1907"/>
  <p:cmAuthor id="1909" name="XU WEI" initials="" lastIdx="0" clrIdx="1908"/>
  <p:cmAuthor id="1910" name="zhuang" initials="z" lastIdx="0" clrIdx="1909"/>
  <p:cmAuthor id="1911" name="吴胜天10004945" initials="吴胜天10004945" lastIdx="0" clrIdx="1910"/>
  <p:cmAuthor id="1912" name="海燕 焦" initials="海燕" lastIdx="0" clrIdx="1911"/>
  <p:cmAuthor id="1913" name="10008729" initials="whb" lastIdx="0" clrIdx="1912"/>
  <p:cmAuthor id="1914" name="Steve Thorne" initials="S" lastIdx="0" clrIdx="1913"/>
  <p:cmAuthor id="1915" name="smkhan" initials="s" lastIdx="0" clrIdx="1914"/>
  <p:cmAuthor id="1916" name="李超（IT）" initials="L" lastIdx="0" clrIdx="1915"/>
  <p:cmAuthor id="1917" name="cmit_chen" initials="c" lastIdx="0" clrIdx="1916"/>
  <p:cmAuthor id="1918" name="liuweiwan@hq.cmcc" initials="l" lastIdx="0" clrIdx="1917"/>
  <p:cmAuthor id="1919" name="liuwe" initials="l" lastIdx="0" clrIdx="1918"/>
  <p:cmAuthor id="1920" name="M lk" initials="Ml" lastIdx="0" clrIdx="1919"/>
  <p:cmAuthor id="1921" name="震" initials="震" lastIdx="0" clrIdx="1920"/>
  <p:cmAuthor id="1922" name="haomingLiu" initials="h" lastIdx="0" clrIdx="1921"/>
  <p:cmAuthor id="1923" name="Kevin" initials="K" lastIdx="0" clrIdx="1922"/>
  <p:cmAuthor id="1924" name="caipeiyuan@sd.cmcc" initials="caipeiyuan" lastIdx="0" clrIdx="1923"/>
  <p:cmAuthor id="1925" name="shiyong" initials="s" lastIdx="0" clrIdx="1924"/>
  <p:cmAuthor id="1926" name="wangyueran" initials="w" lastIdx="0" clrIdx="1925"/>
  <p:cmAuthor id="1927" name="wuhy@bj.cmcc" initials="w" lastIdx="0" clrIdx="1926"/>
  <p:cmAuthor id="1928" name="Qlstc" initials="Q" lastIdx="0" clrIdx="1927"/>
  <p:cmAuthor id="1929" name="周 宸宇" initials="周" lastIdx="0" clrIdx="1928"/>
  <p:cmAuthor id="1930" name="maaaaaggie" initials="m" lastIdx="0" clrIdx="1929"/>
  <p:cmAuthor id="1931" name="曹 学威" initials="曹" lastIdx="0" clrIdx="1930"/>
  <p:cmAuthor id="1932" name="ssx" initials="ssx" lastIdx="0" clrIdx="1931"/>
  <p:cmAuthor id="1933" name="lily" initials="l" lastIdx="0" clrIdx="1932"/>
  <p:cmAuthor id="1934" name="刘 金环" initials="刘" lastIdx="0" clrIdx="1933"/>
  <p:cmAuthor id="1935" name="翔 姚" initials="翔" lastIdx="0" clrIdx="1934"/>
  <p:cmAuthor id="1936" name="66030012@UE" initials="w" lastIdx="0" clrIdx="1935"/>
  <p:cmAuthor id="1937" name="L L" initials="LL" lastIdx="0" clrIdx="1936"/>
  <p:cmAuthor id="1938" name="xiedk" initials="x" lastIdx="0" clrIdx="1937"/>
  <p:cmAuthor id="1939" name="李 工" initials="李" lastIdx="0" clrIdx="1938"/>
  <p:cmAuthor id="1940" name="1031978425@qq.com" initials="1" lastIdx="0" clrIdx="1939"/>
  <p:cmAuthor id="1941" name="中御壹号" initials="中" lastIdx="0" clrIdx="1940"/>
  <p:cmAuthor id="1942" name="pan hanqi" initials="ph" lastIdx="0" clrIdx="1941"/>
  <p:cmAuthor id="1943" name="詹天仪" initials="詹" lastIdx="0" clrIdx="1942"/>
  <p:cmAuthor id="1944" name="chenhua32" initials="c" lastIdx="0" clrIdx="1943"/>
  <p:cmAuthor id="301370415" name="朵朵" initials="朵" lastIdx="1" clrIdx="828"/>
  <p:cmAuthor id="1945" name="zhongnn" initials="z" lastIdx="0" clrIdx="1944"/>
  <p:cmAuthor id="1946" name="59144" initials="5" lastIdx="0" clrIdx="1945"/>
  <p:cmAuthor id="1947" name="liying" initials="l" lastIdx="0" clrIdx="1946"/>
  <p:cmAuthor id="1948" name="大安安" initials="大" lastIdx="0" clrIdx="1947"/>
  <p:cmAuthor id="1949" name="磊" initials="磊" lastIdx="0" clrIdx="1948"/>
  <p:cmAuthor id="1950" name="张博文" initials="CP" lastIdx="0" clrIdx="1949"/>
  <p:cmAuthor id="1951" name="张琳" initials="U" lastIdx="0" clrIdx="1950"/>
  <p:cmAuthor id="1952" name="龚百中" initials="u" lastIdx="0" clrIdx="1951"/>
  <p:cmAuthor id="1953" name="林穆" initials="b" lastIdx="0" clrIdx="1952"/>
  <p:cmAuthor id="1954" name="reny9" initials="r" lastIdx="0" clrIdx="1953"/>
  <p:cmAuthor id="1955" name="黄荣青" initials="荣青" lastIdx="0" clrIdx="1954"/>
  <p:cmAuthor id="1956" name="李静文" initials="李" lastIdx="0" clrIdx="1955"/>
  <p:cmAuthor id="1957" name="ChinaTea" initials="C" lastIdx="0" clrIdx="1956"/>
  <p:cmAuthor id="1958" name="刘 波" initials="刘" lastIdx="0" clrIdx="1957"/>
  <p:cmAuthor id="1959" name="悠 然" initials="悠" lastIdx="0" clrIdx="1958"/>
  <p:cmAuthor id="1960" name="焦晓风" initials="焦" lastIdx="0" clrIdx="1959"/>
  <p:cmAuthor id="1961" name="yuxi" initials="y" lastIdx="0" clrIdx="1960"/>
  <p:cmAuthor id="691587970" name="小延魔法师" initials="小" lastIdx="1126286" clrIdx="0"/>
  <p:cmAuthor id="1962" name="40130" initials="4" lastIdx="0" clrIdx="1961"/>
  <p:cmAuthor id="691587971" name="刘春杰10244342" initials="刘春杰10244342" lastIdx="1" clrIdx="41"/>
  <p:cmAuthor id="1963" name="魏雅倩" initials="魏" lastIdx="0" clrIdx="1962"/>
  <p:cmAuthor id="691587972" name="li hui" initials="lh" lastIdx="1" clrIdx="50"/>
  <p:cmAuthor id="1964" name="郭中梅" initials="郭" lastIdx="0" clrIdx="1963"/>
  <p:cmAuthor id="691587973" name="未知用户1" initials="未知用户1" lastIdx="1" clrIdx="51"/>
  <p:cmAuthor id="1965" name="ASUS" initials="A" lastIdx="0" clrIdx="1964"/>
  <p:cmAuthor id="691587974" name="wrx" initials="wrx" lastIdx="3" clrIdx="323"/>
  <p:cmAuthor id="1966" name="姜龙玉" initials="姜" lastIdx="0" clrIdx="1965"/>
  <p:cmAuthor id="691587975" name="junqing li" initials="jl" lastIdx="1" clrIdx="331"/>
  <p:cmAuthor id="1967" name="l" initials="l" lastIdx="0" clrIdx="1966"/>
  <p:cmAuthor id="691587976" name="liubin (AD)" initials="l(" lastIdx="1" clrIdx="511"/>
  <p:cmAuthor id="1968" name="东" initials="东" lastIdx="0" clrIdx="1967"/>
  <p:cmAuthor id="691587977" name="莉珊 谢" initials="莉谢" lastIdx="1" clrIdx="634"/>
  <p:cmAuthor id="1969" name="maoc" initials="m" lastIdx="0" clrIdx="1968"/>
  <p:cmAuthor id="691587978" name="liuzh" initials="l" lastIdx="3" clrIdx="691587977"/>
  <p:cmAuthor id="1970" name="Roy" initials="R" lastIdx="0" clrIdx="1969"/>
  <p:cmAuthor id="691587979" name="韩莹莹" initials="韩" lastIdx="1" clrIdx="691587978"/>
  <p:cmAuthor id="1971" name="HCP" initials="H" lastIdx="0" clrIdx="1970"/>
  <p:cmAuthor id="691587980" name="Li Chao" initials="CL" lastIdx="1" clrIdx="691587979"/>
  <p:cmAuthor id="1972" name="dongjg12" initials="d" lastIdx="0" clrIdx="1971"/>
  <p:cmAuthor id="691587981" name="刘津" initials="刘" lastIdx="1" clrIdx="691587980"/>
  <p:cmAuthor id="1973" name="蒋赛" initials="蒋" lastIdx="0" clrIdx="1972"/>
  <p:cmAuthor id="1974" name="My" initials="M" lastIdx="0" clrIdx="1973"/>
  <p:cmAuthor id="1975" name="gaokp" initials="g" lastIdx="0" clrIdx="1974"/>
  <p:cmAuthor id="1976" name="郝欣" initials="郝" lastIdx="0" clrIdx="1975"/>
  <p:cmAuthor id="1977" name="林颖" initials="林" lastIdx="0" clrIdx="1976"/>
  <p:cmAuthor id="1978" name="xingwei hou" initials="xh" lastIdx="0" clrIdx="1977"/>
  <p:cmAuthor id="1979" name="贾航" initials="贾" lastIdx="0" clrIdx="1978"/>
  <p:cmAuthor id="1980" name="jcwang" initials="j" lastIdx="0" clrIdx="1979"/>
  <p:cmAuthor id="1981" name="王林10186938" initials="王林10186938" lastIdx="0" clrIdx="1980"/>
  <p:cmAuthor id="1982" name="wangyishi (A)" initials="w(" lastIdx="0" clrIdx="1981"/>
  <p:cmAuthor id="1983" name="佳慧 戴" initials="佳戴" lastIdx="0" clrIdx="1982"/>
  <p:cmAuthor id="1984" name="于晓燕" initials="于" lastIdx="0" clrIdx="1983"/>
  <p:cmAuthor id="1985" name="张炳涛" initials="张" lastIdx="0" clrIdx="1984"/>
  <p:cmAuthor id="1986" name="未知用户113" initials="未知用户113" lastIdx="0" clrIdx="1985"/>
  <p:cmAuthor id="1987" name="任毅" initials="任" lastIdx="0" clrIdx="1986"/>
  <p:cmAuthor id="1988" name="178405028@qq.com" initials="1" lastIdx="0" clrIdx="1987"/>
  <p:cmAuthor id="1989" name="Agui" initials="A" lastIdx="0" clrIdx="1988"/>
  <p:cmAuthor id="1990" name="岳凯婷" initials="岳" lastIdx="0" clrIdx="1989"/>
  <p:cmAuthor id="1991" name="00030386" initials="0" lastIdx="0" clrIdx="1990"/>
  <p:cmAuthor id="708433798" name="jialuo" initials="j" lastIdx="0" clrIdx="0"/>
  <p:cmAuthor id="1992" name="zhaopj18" initials="z" lastIdx="0" clrIdx="1991"/>
  <p:cmAuthor id="708433799" name="程奥林" initials="程" lastIdx="1" clrIdx="708433798"/>
  <p:cmAuthor id="1993" name="00334816" initials="0" lastIdx="0" clrIdx="1992"/>
  <p:cmAuthor id="708433800" name="yuanyi he" initials="yh" lastIdx="1" clrIdx="708433799"/>
  <p:cmAuthor id="1994" name="尹泽明" initials="尹" lastIdx="0" clrIdx="1993"/>
  <p:cmAuthor id="708433801" name="Liangdp" initials="L" lastIdx="1" clrIdx="708433800"/>
  <p:cmAuthor id="1995" name="常光辉" initials="常" lastIdx="0" clrIdx="1994"/>
  <p:cmAuthor id="708433802" name="liwei" initials="l" lastIdx="1" clrIdx="708433801"/>
  <p:cmAuthor id="1996" name="刘畅" initials="l" lastIdx="0" clrIdx="1995"/>
  <p:cmAuthor id="708433803" name="金旺" initials="金旺" lastIdx="1" clrIdx="708433802"/>
  <p:cmAuthor id="1997" name="标注" initials="B" lastIdx="0" clrIdx="1996"/>
  <p:cmAuthor id="1998" name="冯兰晓" initials="冯" lastIdx="0" clrIdx="1997"/>
  <p:cmAuthor id="1999" name="韩晓宇00207529" initials="韩" lastIdx="0" clrIdx="1998"/>
  <p:cmAuthor id="2000" name="闫永婷" initials="authorId_145877154" lastIdx="0" clrIdx="0"/>
  <p:cmAuthor id="2001" name="潘 晨" initials="潘" lastIdx="2" clrIdx="18"/>
  <p:cmAuthor id="2002" name="song manyi" initials="sm" lastIdx="4" clrIdx="19"/>
  <p:cmAuthor id="2003" name="梁鹏" initials="u" lastIdx="1" clrIdx="35"/>
  <p:cmAuthor id="2004" name="范 斌" initials="范" lastIdx="1" clrIdx="36"/>
  <p:cmAuthor id="2005" name="毕邺" initials="党委办公室" lastIdx="2" clrIdx="37"/>
  <p:cmAuthor id="2006" name="jiaru tiger" initials="jt" lastIdx="2" clrIdx="38"/>
  <p:cmAuthor id="2007" name="ling long" initials="ll" lastIdx="0" clrIdx="2006"/>
  <p:cmAuthor id="2008" name="周 辉" initials="周" lastIdx="0" clrIdx="2007"/>
  <p:cmAuthor id="2009" name="wp" initials="w" lastIdx="0" clrIdx="2008"/>
  <p:cmAuthor id="2010" name="Lucerne" initials="L" lastIdx="0" clrIdx="2009"/>
  <p:cmAuthor id="2011" name="silver1998 silver1998" initials="ss" lastIdx="0" clrIdx="2010"/>
  <p:cmAuthor id="2012" name="CDunicom" initials="C" lastIdx="0" clrIdx="2011"/>
  <p:cmAuthor id="2013" name="10221166" initials="1" lastIdx="0" clrIdx="2012"/>
  <p:cmAuthor id="2014" name="谭政" initials="谭" lastIdx="0" clrIdx="2013"/>
  <p:cmAuthor id="2015" name="李志强" initials="李" lastIdx="0" clrIdx="2014"/>
  <p:cmAuthor id="2016" name="27217" initials="2" lastIdx="0" clrIdx="2015"/>
  <p:cmAuthor id="2017" name="张帅" initials="张" lastIdx="0" clrIdx="2016"/>
  <p:cmAuthor id="2018" name="刘 学君" initials="刘" lastIdx="0" clrIdx="2017"/>
  <p:cmAuthor id="2019" name="Bin Shi" initials="BS" lastIdx="0" clrIdx="2018"/>
  <p:cmAuthor id="2020" name="徐睿" initials="j" lastIdx="0" clrIdx="2019"/>
  <p:cmAuthor id="2021" name="MSI" initials="M" lastIdx="0" clrIdx="2020"/>
  <p:cmAuthor id="2022" name="zhanghui" initials="z" lastIdx="0" clrIdx="2021"/>
  <p:cmAuthor id="2023" name="Q Q" initials="Q" lastIdx="0" clrIdx="2022"/>
  <p:cmAuthor id="2024" name="史璐瑶" initials="史" lastIdx="0" clrIdx="2023"/>
  <p:cmAuthor id="2025" name="幺以谦" initials="幺" lastIdx="0" clrIdx="2024"/>
  <p:cmAuthor id="2026" name="10356" initials="1" lastIdx="0" clrIdx="2025"/>
  <p:cmAuthor id="271115510" name="KwongChi" initials="K" lastIdx="1" clrIdx="650"/>
  <p:cmAuthor id="2027" name="邹清洁" initials="邹" lastIdx="0" clrIdx="2026"/>
  <p:cmAuthor id="199497076" name="zqsgs" initials="z" lastIdx="1" clrIdx="645"/>
  <p:cmAuthor id="2028" name="Unknown User63" initials="U" lastIdx="0" clrIdx="2027"/>
  <p:cmAuthor id="2029" name="喻柳" initials="喻" lastIdx="0" clrIdx="2028"/>
  <p:cmAuthor id="2030" name="乐晓伟" initials="乐" lastIdx="0" clrIdx="2029"/>
  <p:cmAuthor id="2031" name="邱进云" initials="邱" lastIdx="0" clrIdx="2030"/>
  <p:cmAuthor id="2032" name="leibing@cmhi.cmcc" initials="l" lastIdx="0" clrIdx="2031"/>
  <p:cmAuthor id="2033" name="邢燕" initials="u" lastIdx="0" clrIdx="2032"/>
  <p:cmAuthor id="2034" name="泰维 陈" initials="泰陈" lastIdx="0" clrIdx="2033"/>
  <p:cmAuthor id="2035" name="NAN" initials="N" lastIdx="0" clrIdx="2034"/>
  <p:cmAuthor id="2036" name="苏志博_zUFrqQ3Q" initials="authorId_456263772" lastIdx="0" clrIdx="2035"/>
  <p:cmAuthor id="2037" name="LCZ666" initials="L" lastIdx="0" clrIdx="2036"/>
  <p:cmAuthor id="2038" name="曾泽学" initials="曾" lastIdx="0" clrIdx="2037"/>
  <p:cmAuthor id="2039" name="19599" initials="1" lastIdx="0" clrIdx="2038"/>
  <p:cmAuthor id="2040" name="曹旭" initials="曹" lastIdx="0" clrIdx="2039"/>
  <p:cmAuthor id="2041" name="zhangzy31" initials="z" lastIdx="0" clrIdx="2040"/>
  <p:cmAuthor id="393192732" name="晴朗天空" initials="晴" lastIdx="6" clrIdx="822"/>
  <p:cmAuthor id="2042" name="郑晓鹏" initials="郑" lastIdx="0" clrIdx="2041"/>
  <p:cmAuthor id="2043" name="卢茹" initials="卢" lastIdx="0" clrIdx="2042"/>
  <p:cmAuthor id="2044" name="LiuYan" initials="L" lastIdx="0" clrIdx="2043"/>
  <p:cmAuthor id="2045" name="fangang2" initials="f" lastIdx="0" clrIdx="2044"/>
  <p:cmAuthor id="2046" name="罗嫔" initials="罗" lastIdx="0" clrIdx="2045"/>
  <p:cmAuthor id="2047" name="陈伟超" initials="陈" lastIdx="0" clrIdx="2046"/>
  <p:cmAuthor id="2048" name="liuyn35" initials="l" lastIdx="0" clrIdx="2047"/>
  <p:cmAuthor id="2049" name="唐忠前" initials="唐" lastIdx="0" clrIdx="2048"/>
  <p:cmAuthor id="2050" name="86166" initials="8" lastIdx="0" clrIdx="2049"/>
  <p:cmAuthor id="2051" name="Cynthia L" initials="CL" lastIdx="0" clrIdx="2050"/>
  <p:cmAuthor id="2052" name="邓 星" initials="邓" lastIdx="0" clrIdx="2051"/>
  <p:cmAuthor id="2053" name="BruceWick" initials="authorId_450645647" lastIdx="0" clrIdx="2052"/>
  <p:cmAuthor id="2054" name="86132" initials="8" lastIdx="0" clrIdx="2053"/>
  <p:cmAuthor id="2055" name="sdgml" initials="s" lastIdx="0" clrIdx="2054"/>
  <p:cmAuthor id="2056" name="ZHANG" initials="Z" lastIdx="0" clrIdx="2055"/>
  <p:cmAuthor id="2057" name="Vicky" initials="V" lastIdx="0" clrIdx="2056"/>
  <p:cmAuthor id="2058" name="h lm" initials="hl" lastIdx="0" clrIdx="2057"/>
  <p:cmAuthor id="2059" name="Jackie Barlow" initials="" lastIdx="0" clrIdx="2058"/>
  <p:cmAuthor id="2060" name="Lexi LIU" initials="LL" lastIdx="0" clrIdx="2059"/>
  <p:cmAuthor id="2061" name="Erin WANG" initials="EW [2]" lastIdx="0" clrIdx="2060"/>
  <p:cmAuthor id="2062" name="Sean W" initials="SW" lastIdx="0" clrIdx="2061"/>
  <p:cmAuthor id="2063" name="QIZHENG" initials="Q" lastIdx="0" clrIdx="2062"/>
  <p:cmAuthor id="2064" name="陈强" initials="陈" lastIdx="0" clrIdx="2063"/>
  <p:cmAuthor id="2065" name="YJ" initials="Y" lastIdx="0" clrIdx="2064"/>
  <p:cmAuthor id="2066" name="袁灿" initials="袁" lastIdx="0" clrIdx="2065"/>
  <p:cmAuthor id="2067" name="hxh" initials="hxh" lastIdx="0" clrIdx="2066"/>
  <p:cmAuthor id="2068" name="Chang Liu" initials="CL" lastIdx="0" clrIdx="2067"/>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DD7EE"/>
    <a:srgbClr val="5B9BD5"/>
    <a:srgbClr val="2369A7"/>
    <a:srgbClr val="000000"/>
    <a:srgbClr val="DEEBF7"/>
    <a:srgbClr val="EAE0DE"/>
    <a:srgbClr val="FFFFFF"/>
    <a:srgbClr val="4472C4"/>
    <a:srgbClr val="CBE5FF"/>
    <a:srgbClr val="9DC3E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3400" autoAdjust="0"/>
  </p:normalViewPr>
  <p:slideViewPr>
    <p:cSldViewPr snapToGrid="0">
      <p:cViewPr varScale="1">
        <p:scale>
          <a:sx n="109" d="100"/>
          <a:sy n="109" d="100"/>
        </p:scale>
        <p:origin x="270" y="114"/>
      </p:cViewPr>
      <p:guideLst/>
    </p:cSldViewPr>
  </p:slideViewPr>
  <p:notesTextViewPr>
    <p:cViewPr>
      <p:scale>
        <a:sx n="1" d="1"/>
        <a:sy n="1" d="1"/>
      </p:scale>
      <p:origin x="0" y="0"/>
    </p:cViewPr>
  </p:notesTextViewPr>
  <p:notesViewPr>
    <p:cSldViewPr snapToGrid="0">
      <p:cViewPr varScale="1">
        <p:scale>
          <a:sx n="67" d="100"/>
          <a:sy n="67" d="100"/>
        </p:scale>
        <p:origin x="3120" y="7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commentAuthors" Target="commen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5659" cy="495427"/>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50443" y="0"/>
            <a:ext cx="2945659" cy="495427"/>
          </a:xfrm>
          <a:prstGeom prst="rect">
            <a:avLst/>
          </a:prstGeom>
        </p:spPr>
        <p:txBody>
          <a:bodyPr vert="horz" lIns="91440" tIns="45720" rIns="91440" bIns="45720" rtlCol="0"/>
          <a:lstStyle>
            <a:lvl1pPr algn="r">
              <a:defRPr sz="1200"/>
            </a:lvl1pPr>
          </a:lstStyle>
          <a:p>
            <a:fld id="{12951832-44C8-46C5-BE10-F4617F61C979}" type="datetimeFigureOut">
              <a:rPr lang="zh-CN" altLang="en-US" smtClean="0"/>
              <a:t>2026/8/12</a:t>
            </a:fld>
            <a:endParaRPr lang="zh-CN" altLang="en-US"/>
          </a:p>
        </p:txBody>
      </p:sp>
      <p:sp>
        <p:nvSpPr>
          <p:cNvPr id="4" name="页脚占位符 3"/>
          <p:cNvSpPr>
            <a:spLocks noGrp="1"/>
          </p:cNvSpPr>
          <p:nvPr>
            <p:ph type="ftr" sz="quarter" idx="2"/>
          </p:nvPr>
        </p:nvSpPr>
        <p:spPr>
          <a:xfrm>
            <a:off x="0" y="9378824"/>
            <a:ext cx="2945659" cy="495426"/>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50443" y="9378824"/>
            <a:ext cx="2945659" cy="495426"/>
          </a:xfrm>
          <a:prstGeom prst="rect">
            <a:avLst/>
          </a:prstGeom>
        </p:spPr>
        <p:txBody>
          <a:bodyPr vert="horz" lIns="91440" tIns="45720" rIns="91440" bIns="45720" rtlCol="0" anchor="b"/>
          <a:lstStyle>
            <a:lvl1pPr algn="r">
              <a:defRPr sz="1200"/>
            </a:lvl1pPr>
          </a:lstStyle>
          <a:p>
            <a:fld id="{7F2CA982-21C6-4BA6-A859-C889A8743EAB}"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5659" cy="495427"/>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50443" y="0"/>
            <a:ext cx="2945659" cy="495427"/>
          </a:xfrm>
          <a:prstGeom prst="rect">
            <a:avLst/>
          </a:prstGeom>
        </p:spPr>
        <p:txBody>
          <a:bodyPr vert="horz" lIns="91440" tIns="45720" rIns="91440" bIns="45720" rtlCol="0"/>
          <a:lstStyle>
            <a:lvl1pPr algn="r">
              <a:defRPr sz="1200"/>
            </a:lvl1pPr>
          </a:lstStyle>
          <a:p>
            <a:fld id="{9562C90D-1D56-44F4-A74B-7E82B4C4E013}" type="datetimeFigureOut">
              <a:rPr lang="zh-CN" altLang="en-US" smtClean="0"/>
              <a:t>2026/8/12</a:t>
            </a:fld>
            <a:endParaRPr lang="zh-CN" altLang="en-US"/>
          </a:p>
        </p:txBody>
      </p:sp>
      <p:sp>
        <p:nvSpPr>
          <p:cNvPr id="4" name="幻灯片图像占位符 3"/>
          <p:cNvSpPr>
            <a:spLocks noGrp="1" noRot="1" noChangeAspect="1"/>
          </p:cNvSpPr>
          <p:nvPr>
            <p:ph type="sldImg" idx="2"/>
          </p:nvPr>
        </p:nvSpPr>
        <p:spPr>
          <a:xfrm>
            <a:off x="436563" y="1233488"/>
            <a:ext cx="5924550" cy="333375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79768" y="4751983"/>
            <a:ext cx="5438140" cy="3887986"/>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9378824"/>
            <a:ext cx="2945659" cy="495426"/>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50443" y="9378824"/>
            <a:ext cx="2945659" cy="495426"/>
          </a:xfrm>
          <a:prstGeom prst="rect">
            <a:avLst/>
          </a:prstGeom>
        </p:spPr>
        <p:txBody>
          <a:bodyPr vert="horz" lIns="91440" tIns="45720" rIns="91440" bIns="45720" rtlCol="0" anchor="b"/>
          <a:lstStyle>
            <a:lvl1pPr algn="r">
              <a:defRPr sz="1200"/>
            </a:lvl1pPr>
          </a:lstStyle>
          <a:p>
            <a:fld id="{F84A261A-7A81-4CB7-A8E5-49EE6E22804C}"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Master" Target="../slideMasters/slideMaster1.xml"/><Relationship Id="rId1" Type="http://schemas.openxmlformats.org/officeDocument/2006/relationships/tags" Target="../tags/tag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BB0BAF1-760C-4CDB-8C0F-23F30F0C01AE}" type="slidenum">
              <a:rPr lang="zh-CN" altLang="en-US" smtClean="0"/>
              <a:t>‹#›</a:t>
            </a:fld>
            <a:endParaRPr lang="zh-CN" altLang="en-US"/>
          </a:p>
        </p:txBody>
      </p:sp>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BB0BAF1-760C-4CDB-8C0F-23F30F0C01AE}" type="slidenum">
              <a:rPr lang="zh-CN" altLang="en-US" smtClean="0"/>
              <a:t>‹#›</a:t>
            </a:fld>
            <a:endParaRPr lang="zh-CN" altLang="en-US"/>
          </a:p>
        </p:txBody>
      </p: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BB0BAF1-760C-4CDB-8C0F-23F30F0C01AE}" type="slidenum">
              <a:rPr lang="zh-CN" altLang="en-US" smtClean="0"/>
              <a:t>‹#›</a:t>
            </a:fld>
            <a:endParaRPr lang="zh-CN" altLang="en-US"/>
          </a:p>
        </p:txBody>
      </p:sp>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BB0BAF1-760C-4CDB-8C0F-23F30F0C01AE}" type="slidenum">
              <a:rPr lang="zh-CN" altLang="en-US" smtClean="0"/>
              <a:t>‹#›</a:t>
            </a:fld>
            <a:endParaRPr lang="zh-CN" altLang="en-US"/>
          </a:p>
        </p:txBody>
      </p: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BB0BAF1-760C-4CDB-8C0F-23F30F0C01AE}" type="slidenum">
              <a:rPr lang="zh-CN" altLang="en-US" smtClean="0"/>
              <a:t>‹#›</a:t>
            </a:fld>
            <a:endParaRPr lang="zh-CN" altLang="en-US"/>
          </a:p>
        </p:txBody>
      </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BB0BAF1-760C-4CDB-8C0F-23F30F0C01AE}" type="slidenum">
              <a:rPr lang="zh-CN" altLang="en-US" smtClean="0"/>
              <a:t>‹#›</a:t>
            </a:fld>
            <a:endParaRPr lang="zh-CN" altLang="en-US"/>
          </a:p>
        </p:txBody>
      </p:sp>
    </p:spTree>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4BB0BAF1-760C-4CDB-8C0F-23F30F0C01AE}" type="slidenum">
              <a:rPr lang="zh-CN" altLang="en-US" smtClean="0"/>
              <a:t>‹#›</a:t>
            </a:fld>
            <a:endParaRPr lang="zh-CN" altLang="en-US"/>
          </a:p>
        </p:txBody>
      </p:sp>
    </p:spTree>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BB0BAF1-760C-4CDB-8C0F-23F30F0C01AE}" type="slidenum">
              <a:rPr lang="zh-CN" altLang="en-US" smtClean="0"/>
              <a:t>‹#›</a:t>
            </a:fld>
            <a:endParaRPr lang="zh-CN" altLang="en-US"/>
          </a:p>
        </p:txBody>
      </p:sp>
    </p:spTree>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BB0BAF1-760C-4CDB-8C0F-23F30F0C01AE}" type="slidenum">
              <a:rPr lang="zh-CN" altLang="en-US" smtClean="0"/>
              <a:t>‹#›</a:t>
            </a:fld>
            <a:endParaRPr lang="zh-CN" altLang="en-US"/>
          </a:p>
        </p:txBody>
      </p:sp>
    </p:spTree>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BB0BAF1-760C-4CDB-8C0F-23F30F0C01AE}" type="slidenum">
              <a:rPr lang="zh-CN" altLang="en-US" smtClean="0"/>
              <a:t>‹#›</a:t>
            </a:fld>
            <a:endParaRPr lang="zh-CN" altLang="en-US"/>
          </a:p>
        </p:txBody>
      </p:sp>
    </p:spTree>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BB0BAF1-760C-4CDB-8C0F-23F30F0C01AE}" type="slidenum">
              <a:rPr lang="zh-CN" altLang="en-US" smtClean="0"/>
              <a:t>‹#›</a:t>
            </a:fld>
            <a:endParaRPr lang="zh-CN" altLang="en-US"/>
          </a:p>
        </p:txBody>
      </p:sp>
    </p:spTree>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3_空白">
    <p:spTree>
      <p:nvGrpSpPr>
        <p:cNvPr id="1" name=""/>
        <p:cNvGrpSpPr/>
        <p:nvPr/>
      </p:nvGrpSpPr>
      <p:grpSpPr>
        <a:xfrm>
          <a:off x="0" y="0"/>
          <a:ext cx="0" cy="0"/>
          <a:chOff x="0" y="0"/>
          <a:chExt cx="0" cy="0"/>
        </a:xfrm>
      </p:grpSpPr>
      <p:sp>
        <p:nvSpPr>
          <p:cNvPr id="3" name="标题 1"/>
          <p:cNvSpPr>
            <a:spLocks noGrp="1"/>
          </p:cNvSpPr>
          <p:nvPr>
            <p:ph type="title"/>
          </p:nvPr>
        </p:nvSpPr>
        <p:spPr>
          <a:xfrm>
            <a:off x="252179" y="52726"/>
            <a:ext cx="8587023" cy="649287"/>
          </a:xfrm>
          <a:prstGeom prst="rect">
            <a:avLst/>
          </a:prstGeom>
        </p:spPr>
        <p:txBody>
          <a:bodyPr/>
          <a:lstStyle>
            <a:lvl1pPr>
              <a:defRPr>
                <a:solidFill>
                  <a:schemeClr val="tx1"/>
                </a:solidFill>
                <a:effectLst/>
              </a:defRPr>
            </a:lvl1pPr>
          </a:lstStyle>
          <a:p>
            <a:r>
              <a:rPr lang="zh-CN" altLang="en-US" dirty="0"/>
              <a:t>单击此处编辑母版标题样式</a:t>
            </a:r>
          </a:p>
        </p:txBody>
      </p:sp>
      <p:sp>
        <p:nvSpPr>
          <p:cNvPr id="4"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BB0BAF1-760C-4CDB-8C0F-23F30F0C01AE}" type="slidenum">
              <a:rPr lang="zh-CN" altLang="en-US" smtClean="0"/>
              <a:t>‹#›</a:t>
            </a:fld>
            <a:endParaRPr lang="zh-CN" altLang="en-US"/>
          </a:p>
        </p:txBody>
      </p:sp>
    </p:spTree>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9"/>
            <a:ext cx="10515600" cy="1325563"/>
          </a:xfrm>
          <a:prstGeom prst="rect">
            <a:avLst/>
          </a:prstGeom>
        </p:spPr>
        <p:txBody>
          <a:bodyPr/>
          <a:lstStyle/>
          <a:p>
            <a:r>
              <a:rPr lang="zh-CN" altLang="en-US"/>
              <a:t>单击此处编辑母版标题样式</a:t>
            </a:r>
          </a:p>
        </p:txBody>
      </p:sp>
      <p:sp>
        <p:nvSpPr>
          <p:cNvPr id="3" name="日期占位符 2"/>
          <p:cNvSpPr>
            <a:spLocks noGrp="1"/>
          </p:cNvSpPr>
          <p:nvPr>
            <p:ph type="dt" sz="half" idx="10"/>
          </p:nvPr>
        </p:nvSpPr>
        <p:spPr>
          <a:xfrm>
            <a:off x="838200" y="6356358"/>
            <a:ext cx="2743200" cy="365125"/>
          </a:xfrm>
          <a:prstGeom prst="rect">
            <a:avLst/>
          </a:prstGeom>
        </p:spPr>
        <p:txBody>
          <a:bodyPr/>
          <a:lstStyle>
            <a:lvl1pPr>
              <a:defRPr>
                <a:ea typeface="微软雅黑" panose="020B0503020204020204" pitchFamily="34" charset="-122"/>
              </a:defRPr>
            </a:lvl1pPr>
          </a:lstStyle>
          <a:p>
            <a:endParaRPr lang="zh-CN" altLang="en-US" sz="1350" dirty="0">
              <a:solidFill>
                <a:schemeClr val="tx1"/>
              </a:solidFill>
            </a:endParaRPr>
          </a:p>
        </p:txBody>
      </p:sp>
      <p:sp>
        <p:nvSpPr>
          <p:cNvPr id="4" name="页脚占位符 3"/>
          <p:cNvSpPr>
            <a:spLocks noGrp="1"/>
          </p:cNvSpPr>
          <p:nvPr>
            <p:ph type="ftr" sz="quarter" idx="11"/>
          </p:nvPr>
        </p:nvSpPr>
        <p:spPr>
          <a:xfrm>
            <a:off x="4038600" y="6356358"/>
            <a:ext cx="4114800" cy="365125"/>
          </a:xfrm>
          <a:prstGeom prst="rect">
            <a:avLst/>
          </a:prstGeom>
        </p:spPr>
        <p:txBody>
          <a:bodyPr/>
          <a:lstStyle>
            <a:lvl1pPr>
              <a:defRPr>
                <a:ea typeface="微软雅黑" panose="020B0503020204020204" pitchFamily="34" charset="-122"/>
              </a:defRPr>
            </a:lvl1pPr>
          </a:lstStyle>
          <a:p>
            <a:endParaRPr lang="zh-CN" altLang="zh-CN" dirty="0"/>
          </a:p>
        </p:txBody>
      </p:sp>
      <p:sp>
        <p:nvSpPr>
          <p:cNvPr id="5" name="灯片编号占位符 4"/>
          <p:cNvSpPr>
            <a:spLocks noGrp="1"/>
          </p:cNvSpPr>
          <p:nvPr>
            <p:ph type="sldNum" sz="quarter" idx="12"/>
          </p:nvPr>
        </p:nvSpPr>
        <p:spPr>
          <a:xfrm>
            <a:off x="8610600" y="6356358"/>
            <a:ext cx="2743200" cy="365125"/>
          </a:xfrm>
          <a:prstGeom prst="rect">
            <a:avLst/>
          </a:prstGeom>
        </p:spPr>
        <p:txBody>
          <a:bodyPr/>
          <a:lstStyle>
            <a:lvl1pPr>
              <a:defRPr/>
            </a:lvl1pPr>
          </a:lstStyle>
          <a:p>
            <a:fld id="{96F03016-043E-4A31-94BD-A49978AA2651}" type="slidenum">
              <a:rPr lang="zh-CN" altLang="en-US"/>
              <a:t>‹#›</a:t>
            </a:fld>
            <a:endParaRPr lang="zh-CN" altLang="en-US" sz="1350">
              <a:solidFill>
                <a:schemeClr val="tx1"/>
              </a:solidFill>
            </a:endParaRPr>
          </a:p>
        </p:txBody>
      </p:sp>
    </p:spTree>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正文">
    <p:spTree>
      <p:nvGrpSpPr>
        <p:cNvPr id="1" name=""/>
        <p:cNvGrpSpPr/>
        <p:nvPr/>
      </p:nvGrpSpPr>
      <p:grpSpPr>
        <a:xfrm>
          <a:off x="0" y="0"/>
          <a:ext cx="0" cy="0"/>
          <a:chOff x="0" y="0"/>
          <a:chExt cx="0" cy="0"/>
        </a:xfrm>
      </p:grpSpPr>
      <p:sp>
        <p:nvSpPr>
          <p:cNvPr id="4"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BB0BAF1-760C-4CDB-8C0F-23F30F0C01AE}" type="slidenum">
              <a:rPr lang="zh-CN" altLang="en-US" smtClean="0"/>
              <a:t>‹#›</a:t>
            </a:fld>
            <a:endParaRPr lang="zh-CN" altLang="en-US"/>
          </a:p>
        </p:txBody>
      </p:sp>
      <p:pic>
        <p:nvPicPr>
          <p:cNvPr id="5" name="图片 4" descr="图片包含 形状&#10;&#10;描述已自动生成"/>
          <p:cNvPicPr>
            <a:picLocks noChangeAspect="1"/>
          </p:cNvPicPr>
          <p:nvPr userDrawn="1"/>
        </p:nvPicPr>
        <p:blipFill>
          <a:blip r:embed="rId2"/>
          <a:stretch>
            <a:fillRect/>
          </a:stretch>
        </p:blipFill>
        <p:spPr>
          <a:xfrm>
            <a:off x="0" y="0"/>
            <a:ext cx="12192000" cy="6858000"/>
          </a:xfrm>
          <a:prstGeom prst="rect">
            <a:avLst/>
          </a:prstGeom>
        </p:spPr>
      </p:pic>
    </p:spTree>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冬奥联通版范例一-空白">
    <p:spTree>
      <p:nvGrpSpPr>
        <p:cNvPr id="1" name=""/>
        <p:cNvGrpSpPr/>
        <p:nvPr/>
      </p:nvGrpSpPr>
      <p:grpSpPr>
        <a:xfrm>
          <a:off x="0" y="0"/>
          <a:ext cx="0" cy="0"/>
          <a:chOff x="0" y="0"/>
          <a:chExt cx="0" cy="0"/>
        </a:xfrm>
      </p:grpSpPr>
      <p:pic>
        <p:nvPicPr>
          <p:cNvPr id="3" name="图片 2" descr="图片包含 形状&#10;&#10;描述已自动生成"/>
          <p:cNvPicPr>
            <a:picLocks noChangeAspect="1"/>
          </p:cNvPicPr>
          <p:nvPr userDrawn="1"/>
        </p:nvPicPr>
        <p:blipFill>
          <a:blip r:embed="rId2"/>
          <a:stretch>
            <a:fillRect/>
          </a:stretch>
        </p:blipFill>
        <p:spPr>
          <a:xfrm>
            <a:off x="0" y="0"/>
            <a:ext cx="12192000" cy="6858000"/>
          </a:xfrm>
          <a:prstGeom prst="rect">
            <a:avLst/>
          </a:prstGeom>
        </p:spPr>
      </p:pic>
    </p:spTree>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封面">
    <p:spTree>
      <p:nvGrpSpPr>
        <p:cNvPr id="1" name=""/>
        <p:cNvGrpSpPr/>
        <p:nvPr/>
      </p:nvGrpSpPr>
      <p:grpSpPr>
        <a:xfrm>
          <a:off x="0" y="0"/>
          <a:ext cx="0" cy="0"/>
          <a:chOff x="0" y="0"/>
          <a:chExt cx="0" cy="0"/>
        </a:xfrm>
      </p:grpSpPr>
      <p:pic>
        <p:nvPicPr>
          <p:cNvPr id="3" name="图片 2" descr="图标&#10;&#10;描述已自动生成"/>
          <p:cNvPicPr>
            <a:picLocks noChangeAspect="1"/>
          </p:cNvPicPr>
          <p:nvPr userDrawn="1"/>
        </p:nvPicPr>
        <p:blipFill>
          <a:blip r:embed="rId2"/>
          <a:srcRect l="3068" t="2972" r="80203" b="83167"/>
          <a:stretch>
            <a:fillRect/>
          </a:stretch>
        </p:blipFill>
        <p:spPr>
          <a:xfrm>
            <a:off x="9076055" y="175895"/>
            <a:ext cx="3115945" cy="1452245"/>
          </a:xfrm>
          <a:prstGeom prst="rect">
            <a:avLst/>
          </a:prstGeom>
        </p:spPr>
      </p:pic>
      <p:sp>
        <p:nvSpPr>
          <p:cNvPr id="5" name="Line 6"/>
          <p:cNvSpPr>
            <a:spLocks noChangeShapeType="1"/>
          </p:cNvSpPr>
          <p:nvPr userDrawn="1"/>
        </p:nvSpPr>
        <p:spPr bwMode="auto">
          <a:xfrm>
            <a:off x="1510609" y="2820980"/>
            <a:ext cx="0" cy="2995235"/>
          </a:xfrm>
          <a:prstGeom prst="line">
            <a:avLst/>
          </a:prstGeom>
          <a:noFill/>
          <a:ln w="57150" cmpd="thinThick">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1219200" rtl="0" eaLnBrk="0" fontAlgn="auto" latinLnBrk="0" hangingPunct="0">
              <a:lnSpc>
                <a:spcPct val="100000"/>
              </a:lnSpc>
              <a:spcBef>
                <a:spcPts val="0"/>
              </a:spcBef>
              <a:spcAft>
                <a:spcPts val="0"/>
              </a:spcAft>
              <a:buClrTx/>
              <a:buSzTx/>
              <a:buFontTx/>
              <a:buNone/>
              <a:defRPr/>
            </a:pPr>
            <a:endParaRPr kumimoji="0" lang="zh-CN" altLang="en-US" sz="1865"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2" name="标题 1"/>
          <p:cNvSpPr txBox="1"/>
          <p:nvPr userDrawn="1"/>
        </p:nvSpPr>
        <p:spPr>
          <a:xfrm>
            <a:off x="0" y="2879639"/>
            <a:ext cx="12192000" cy="94962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buClrTx/>
              <a:buSzTx/>
              <a:buFontTx/>
            </a:pPr>
            <a:r>
              <a:rPr kumimoji="1" lang="zh-CN" altLang="en-US" sz="4500" dirty="0">
                <a:latin typeface="思源黑体 CN Bold" panose="020B0800000000000000" pitchFamily="34" charset="-128"/>
                <a:ea typeface="思源黑体 CN Bold" panose="020B0800000000000000" pitchFamily="34" charset="-128"/>
                <a:sym typeface="+mn-ea"/>
              </a:rPr>
              <a:t>2026年总师上半年工作总结</a:t>
            </a:r>
          </a:p>
          <a:p>
            <a:pPr algn="ctr">
              <a:buClrTx/>
              <a:buSzTx/>
              <a:buFontTx/>
            </a:pPr>
            <a:r>
              <a:rPr kumimoji="1" lang="zh-CN" altLang="en-US" sz="4500" dirty="0">
                <a:latin typeface="思源黑体 CN Bold" panose="020B0800000000000000" pitchFamily="34" charset="-128"/>
                <a:ea typeface="思源黑体 CN Bold" panose="020B0800000000000000" pitchFamily="34" charset="-128"/>
                <a:sym typeface="+mn-ea"/>
              </a:rPr>
              <a:t>及下半年工作计划</a:t>
            </a:r>
            <a:endParaRPr kumimoji="1" lang="en-US" altLang="zh-CN" sz="4500" dirty="0">
              <a:solidFill>
                <a:schemeClr val="tx1"/>
              </a:solidFill>
              <a:latin typeface="思源黑体 CN Bold" panose="020B0800000000000000" pitchFamily="34" charset="-128"/>
              <a:ea typeface="思源黑体 CN Bold" panose="020B0800000000000000" pitchFamily="34" charset="-128"/>
            </a:endParaRPr>
          </a:p>
        </p:txBody>
      </p:sp>
      <p:sp>
        <p:nvSpPr>
          <p:cNvPr id="6" name="文本框 5"/>
          <p:cNvSpPr txBox="1"/>
          <p:nvPr userDrawn="1"/>
        </p:nvSpPr>
        <p:spPr>
          <a:xfrm>
            <a:off x="-1" y="4715043"/>
            <a:ext cx="12185301" cy="368300"/>
          </a:xfrm>
          <a:prstGeom prst="rect">
            <a:avLst/>
          </a:prstGeom>
          <a:noFill/>
        </p:spPr>
        <p:txBody>
          <a:bodyPr wrap="square" rtlCol="0">
            <a:spAutoFit/>
          </a:bodyPr>
          <a:lstStyle/>
          <a:p>
            <a:pPr algn="ctr"/>
            <a:r>
              <a:rPr kumimoji="1" lang="zh-CN" altLang="en-US" dirty="0">
                <a:solidFill>
                  <a:schemeClr val="tx1"/>
                </a:solidFill>
                <a:latin typeface="思源黑体 CN Regular" panose="020B0500000000000000" pitchFamily="34" charset="-128"/>
                <a:ea typeface="思源黑体 CN Regular" panose="020B0500000000000000" pitchFamily="34" charset="-128"/>
              </a:rPr>
              <a:t>总师与技术支撑管理办公室</a:t>
            </a:r>
            <a:endParaRPr kumimoji="1" lang="en-US" altLang="zh-CN" dirty="0">
              <a:solidFill>
                <a:schemeClr val="tx1"/>
              </a:solidFill>
              <a:latin typeface="思源黑体 CN Regular" panose="020B0500000000000000" pitchFamily="34" charset="-128"/>
              <a:ea typeface="思源黑体 CN Regular" panose="020B0500000000000000" pitchFamily="34" charset="-128"/>
            </a:endParaRPr>
          </a:p>
        </p:txBody>
      </p:sp>
      <p:sp>
        <p:nvSpPr>
          <p:cNvPr id="7" name="文本框 6"/>
          <p:cNvSpPr txBox="1"/>
          <p:nvPr userDrawn="1"/>
        </p:nvSpPr>
        <p:spPr>
          <a:xfrm>
            <a:off x="4444" y="5200818"/>
            <a:ext cx="12185301" cy="368300"/>
          </a:xfrm>
          <a:prstGeom prst="rect">
            <a:avLst/>
          </a:prstGeom>
          <a:noFill/>
        </p:spPr>
        <p:txBody>
          <a:bodyPr wrap="square" rtlCol="0">
            <a:spAutoFit/>
          </a:bodyPr>
          <a:lstStyle/>
          <a:p>
            <a:pPr algn="ctr"/>
            <a:r>
              <a:rPr kumimoji="1" lang="en-US" dirty="0">
                <a:solidFill>
                  <a:schemeClr val="tx1"/>
                </a:solidFill>
                <a:latin typeface="思源黑体 CN Regular" panose="020B0500000000000000" pitchFamily="34" charset="-128"/>
                <a:ea typeface="思源黑体 CN Regular" panose="020B0500000000000000" pitchFamily="34" charset="-128"/>
              </a:rPr>
              <a:t>2026</a:t>
            </a:r>
            <a:r>
              <a:rPr kumimoji="1" lang="zh-CN" altLang="en-US" dirty="0">
                <a:solidFill>
                  <a:schemeClr val="tx1"/>
                </a:solidFill>
                <a:latin typeface="思源黑体 CN Regular" panose="020B0500000000000000" pitchFamily="34" charset="-128"/>
                <a:ea typeface="思源黑体 CN Regular" panose="020B0500000000000000" pitchFamily="34" charset="-128"/>
              </a:rPr>
              <a:t>年</a:t>
            </a:r>
            <a:r>
              <a:rPr kumimoji="1" lang="en-US" altLang="zh-CN" dirty="0">
                <a:solidFill>
                  <a:schemeClr val="tx1"/>
                </a:solidFill>
                <a:latin typeface="思源黑体 CN Regular" panose="020B0500000000000000" pitchFamily="34" charset="-128"/>
                <a:ea typeface="思源黑体 CN Regular" panose="020B0500000000000000" pitchFamily="34" charset="-128"/>
              </a:rPr>
              <a:t>8</a:t>
            </a:r>
            <a:r>
              <a:rPr kumimoji="1" lang="zh-CN" altLang="en-US" dirty="0">
                <a:solidFill>
                  <a:schemeClr val="tx1"/>
                </a:solidFill>
                <a:latin typeface="思源黑体 CN Regular" panose="020B0500000000000000" pitchFamily="34" charset="-128"/>
                <a:ea typeface="思源黑体 CN Regular" panose="020B0500000000000000" pitchFamily="34" charset="-128"/>
              </a:rPr>
              <a:t>月</a:t>
            </a:r>
          </a:p>
        </p:txBody>
      </p:sp>
    </p:spTree>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_封面">
    <p:spTree>
      <p:nvGrpSpPr>
        <p:cNvPr id="1" name=""/>
        <p:cNvGrpSpPr/>
        <p:nvPr/>
      </p:nvGrpSpPr>
      <p:grpSpPr>
        <a:xfrm>
          <a:off x="0" y="0"/>
          <a:ext cx="0" cy="0"/>
          <a:chOff x="0" y="0"/>
          <a:chExt cx="0" cy="0"/>
        </a:xfrm>
      </p:grpSpPr>
      <p:pic>
        <p:nvPicPr>
          <p:cNvPr id="3" name="图片 2" descr="图标&#10;&#10;描述已自动生成"/>
          <p:cNvPicPr>
            <a:picLocks noChangeAspect="1"/>
          </p:cNvPicPr>
          <p:nvPr userDrawn="1"/>
        </p:nvPicPr>
        <p:blipFill>
          <a:blip r:embed="rId2"/>
          <a:srcRect l="3068" t="2972" r="80203" b="83167"/>
          <a:stretch>
            <a:fillRect/>
          </a:stretch>
        </p:blipFill>
        <p:spPr>
          <a:xfrm>
            <a:off x="9076055" y="175895"/>
            <a:ext cx="3115945" cy="1452245"/>
          </a:xfrm>
          <a:prstGeom prst="rect">
            <a:avLst/>
          </a:prstGeom>
        </p:spPr>
      </p:pic>
      <p:sp>
        <p:nvSpPr>
          <p:cNvPr id="5" name="Line 6"/>
          <p:cNvSpPr>
            <a:spLocks noChangeShapeType="1"/>
          </p:cNvSpPr>
          <p:nvPr userDrawn="1"/>
        </p:nvSpPr>
        <p:spPr bwMode="auto">
          <a:xfrm>
            <a:off x="1510609" y="2820980"/>
            <a:ext cx="0" cy="2995235"/>
          </a:xfrm>
          <a:prstGeom prst="line">
            <a:avLst/>
          </a:prstGeom>
          <a:noFill/>
          <a:ln w="57150" cmpd="thinThick">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1219200" rtl="0" eaLnBrk="0" fontAlgn="auto" latinLnBrk="0" hangingPunct="0">
              <a:lnSpc>
                <a:spcPct val="100000"/>
              </a:lnSpc>
              <a:spcBef>
                <a:spcPts val="0"/>
              </a:spcBef>
              <a:spcAft>
                <a:spcPts val="0"/>
              </a:spcAft>
              <a:buClrTx/>
              <a:buSzTx/>
              <a:buFontTx/>
              <a:buNone/>
              <a:defRPr/>
            </a:pPr>
            <a:endParaRPr kumimoji="0" lang="zh-CN" altLang="en-US" sz="1865"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hf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封底">
    <p:spTree>
      <p:nvGrpSpPr>
        <p:cNvPr id="1" name=""/>
        <p:cNvGrpSpPr/>
        <p:nvPr/>
      </p:nvGrpSpPr>
      <p:grpSpPr>
        <a:xfrm>
          <a:off x="0" y="0"/>
          <a:ext cx="0" cy="0"/>
          <a:chOff x="0" y="0"/>
          <a:chExt cx="0" cy="0"/>
        </a:xfrm>
      </p:grpSpPr>
      <p:pic>
        <p:nvPicPr>
          <p:cNvPr id="4" name="图片 3"/>
          <p:cNvPicPr>
            <a:picLocks noChangeAspect="1"/>
          </p:cNvPicPr>
          <p:nvPr userDrawn="1"/>
        </p:nvPicPr>
        <p:blipFill>
          <a:blip r:embed="rId2"/>
          <a:srcRect/>
          <a:stretch>
            <a:fillRect/>
          </a:stretch>
        </p:blipFill>
        <p:spPr>
          <a:xfrm>
            <a:off x="0" y="0"/>
            <a:ext cx="12192000" cy="6858000"/>
          </a:xfrm>
          <a:prstGeom prst="rect">
            <a:avLst/>
          </a:prstGeom>
        </p:spPr>
      </p:pic>
    </p:spTree>
  </p:cSld>
  <p:clrMapOvr>
    <a:masterClrMapping/>
  </p:clrMapOvr>
  <p:hf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目录页">
    <p:spTree>
      <p:nvGrpSpPr>
        <p:cNvPr id="1" name=""/>
        <p:cNvGrpSpPr/>
        <p:nvPr/>
      </p:nvGrpSpPr>
      <p:grpSpPr>
        <a:xfrm>
          <a:off x="0" y="0"/>
          <a:ext cx="0" cy="0"/>
          <a:chOff x="0" y="0"/>
          <a:chExt cx="0" cy="0"/>
        </a:xfrm>
      </p:grpSpPr>
      <p:pic>
        <p:nvPicPr>
          <p:cNvPr id="2" name="图片 1" descr="图片包含 形状&#10;&#10;描述已自动生成"/>
          <p:cNvPicPr>
            <a:picLocks noChangeAspect="1"/>
          </p:cNvPicPr>
          <p:nvPr userDrawn="1"/>
        </p:nvPicPr>
        <p:blipFill>
          <a:blip r:embed="rId2"/>
          <a:stretch>
            <a:fillRect/>
          </a:stretch>
        </p:blipFill>
        <p:spPr>
          <a:xfrm>
            <a:off x="0" y="0"/>
            <a:ext cx="12192000" cy="6858000"/>
          </a:xfrm>
          <a:prstGeom prst="rect">
            <a:avLst/>
          </a:prstGeom>
        </p:spPr>
      </p:pic>
    </p:spTree>
  </p:cSld>
  <p:clrMapOvr>
    <a:masterClrMapping/>
  </p:clrMapOvr>
  <p:hf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联通版范例一-目录">
    <p:spTree>
      <p:nvGrpSpPr>
        <p:cNvPr id="1" name=""/>
        <p:cNvGrpSpPr/>
        <p:nvPr/>
      </p:nvGrpSpPr>
      <p:grpSpPr>
        <a:xfrm>
          <a:off x="0" y="0"/>
          <a:ext cx="0" cy="0"/>
          <a:chOff x="0" y="0"/>
          <a:chExt cx="0" cy="0"/>
        </a:xfrm>
      </p:grpSpPr>
      <p:sp>
        <p:nvSpPr>
          <p:cNvPr id="3" name="灯片编号占位符 4"/>
          <p:cNvSpPr>
            <a:spLocks noGrp="1"/>
          </p:cNvSpPr>
          <p:nvPr>
            <p:ph type="sldNum" sz="quarter" idx="12"/>
          </p:nvPr>
        </p:nvSpPr>
        <p:spPr>
          <a:xfrm>
            <a:off x="11520805" y="6593840"/>
            <a:ext cx="671195" cy="264160"/>
          </a:xfrm>
        </p:spPr>
        <p:txBody>
          <a:bodyPr/>
          <a:lstStyle>
            <a:lvl1pPr>
              <a:defRPr sz="1200" b="1">
                <a:latin typeface="微软雅黑" panose="020B0503020204020204" pitchFamily="34" charset="-122"/>
                <a:ea typeface="微软雅黑" panose="020B0503020204020204" pitchFamily="34" charset="-122"/>
              </a:defRPr>
            </a:lvl1pPr>
          </a:lstStyle>
          <a:p>
            <a:pPr algn="r"/>
            <a:r>
              <a:rPr kumimoji="1" lang="en-US" altLang="zh-CN" dirty="0"/>
              <a:t>-</a:t>
            </a:r>
            <a:fld id="{63AEF44E-CFED-CA4F-962C-F6FD4586CB13}" type="slidenum">
              <a:rPr kumimoji="1" lang="en-US" altLang="zh-CN" dirty="0" smtClean="0"/>
              <a:t>‹#›</a:t>
            </a:fld>
            <a:r>
              <a:rPr kumimoji="1" lang="en-US" altLang="zh-CN" dirty="0"/>
              <a:t>-</a:t>
            </a:r>
          </a:p>
        </p:txBody>
      </p:sp>
      <p:pic>
        <p:nvPicPr>
          <p:cNvPr id="2" name="图片 1" descr="图片包含 形状&#10;&#10;描述已自动生成"/>
          <p:cNvPicPr>
            <a:picLocks noChangeAspect="1"/>
          </p:cNvPicPr>
          <p:nvPr userDrawn="1"/>
        </p:nvPicPr>
        <p:blipFill>
          <a:blip r:embed="rId2"/>
          <a:stretch>
            <a:fillRect/>
          </a:stretch>
        </p:blipFill>
        <p:spPr>
          <a:xfrm>
            <a:off x="0" y="0"/>
            <a:ext cx="12192000" cy="6858000"/>
          </a:xfrm>
          <a:prstGeom prst="rect">
            <a:avLst/>
          </a:prstGeom>
        </p:spPr>
      </p:pic>
    </p:spTree>
  </p:cSld>
  <p:clrMapOvr>
    <a:masterClrMapping/>
  </p:clrMapOvr>
  <p:hf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2_正文">
    <p:spTree>
      <p:nvGrpSpPr>
        <p:cNvPr id="1" name=""/>
        <p:cNvGrpSpPr/>
        <p:nvPr/>
      </p:nvGrpSpPr>
      <p:grpSpPr>
        <a:xfrm>
          <a:off x="0" y="0"/>
          <a:ext cx="0" cy="0"/>
          <a:chOff x="0" y="0"/>
          <a:chExt cx="0" cy="0"/>
        </a:xfrm>
      </p:grpSpPr>
      <p:sp>
        <p:nvSpPr>
          <p:cNvPr id="19" name="日期占位符 18"/>
          <p:cNvSpPr>
            <a:spLocks noGrp="1"/>
          </p:cNvSpPr>
          <p:nvPr>
            <p:ph type="dt" sz="half" idx="10"/>
          </p:nvPr>
        </p:nvSpPr>
        <p:spPr>
          <a:xfrm>
            <a:off x="838200" y="6356350"/>
            <a:ext cx="2743200" cy="365125"/>
          </a:xfrm>
        </p:spPr>
        <p:txBody>
          <a:bodyPr/>
          <a:lstStyle/>
          <a:p>
            <a:endParaRPr lang="zh-CN" altLang="en-US"/>
          </a:p>
        </p:txBody>
      </p:sp>
      <p:sp>
        <p:nvSpPr>
          <p:cNvPr id="20" name="页脚占位符 19"/>
          <p:cNvSpPr>
            <a:spLocks noGrp="1"/>
          </p:cNvSpPr>
          <p:nvPr>
            <p:ph type="ftr" sz="quarter" idx="11"/>
          </p:nvPr>
        </p:nvSpPr>
        <p:spPr>
          <a:xfrm>
            <a:off x="4038600" y="6356350"/>
            <a:ext cx="4114800" cy="365125"/>
          </a:xfrm>
        </p:spPr>
        <p:txBody>
          <a:bodyPr/>
          <a:lstStyle/>
          <a:p>
            <a:endParaRPr lang="zh-CN" altLang="en-US"/>
          </a:p>
        </p:txBody>
      </p:sp>
      <p:sp>
        <p:nvSpPr>
          <p:cNvPr id="21" name="灯片编号占位符 20"/>
          <p:cNvSpPr>
            <a:spLocks noGrp="1"/>
          </p:cNvSpPr>
          <p:nvPr>
            <p:ph type="sldNum" sz="quarter" idx="12"/>
          </p:nvPr>
        </p:nvSpPr>
        <p:spPr>
          <a:xfrm>
            <a:off x="11530330" y="6356350"/>
            <a:ext cx="548640" cy="365125"/>
          </a:xfrm>
        </p:spPr>
        <p:txBody>
          <a:bodyPr/>
          <a:lstStyle/>
          <a:p>
            <a:fld id="{49AE70B2-8BF9-45C0-BB95-33D1B9D3A854}" type="slidenum">
              <a:rPr lang="zh-CN" altLang="en-US" smtClean="0"/>
              <a:t>‹#›</a:t>
            </a:fld>
            <a:endParaRPr lang="zh-CN" altLang="en-US"/>
          </a:p>
        </p:txBody>
      </p:sp>
      <p:sp>
        <p:nvSpPr>
          <p:cNvPr id="15" name="文本框 14"/>
          <p:cNvSpPr txBox="1"/>
          <p:nvPr userDrawn="1">
            <p:custDataLst>
              <p:tags r:id="rId1"/>
            </p:custDataLst>
          </p:nvPr>
        </p:nvSpPr>
        <p:spPr>
          <a:xfrm>
            <a:off x="0" y="2691130"/>
            <a:ext cx="12192000" cy="4166870"/>
          </a:xfrm>
          <a:prstGeom prst="rect">
            <a:avLst/>
          </a:prstGeom>
          <a:gradFill>
            <a:gsLst>
              <a:gs pos="0">
                <a:srgbClr val="C8DEF1">
                  <a:alpha val="100000"/>
                </a:srgbClr>
              </a:gs>
              <a:gs pos="100000">
                <a:schemeClr val="bg1"/>
              </a:gs>
            </a:gsLst>
            <a:lin ang="16200000" scaled="0"/>
          </a:gradFill>
        </p:spPr>
        <p:txBody>
          <a:bodyPr wrap="square" rtlCol="0" anchor="t">
            <a:noAutofit/>
          </a:bodyPr>
          <a:lstStyle/>
          <a:p>
            <a:pPr lvl="0" algn="ctr">
              <a:lnSpc>
                <a:spcPct val="150000"/>
              </a:lnSpc>
              <a:spcAft>
                <a:spcPts val="600"/>
              </a:spcAft>
              <a:buClrTx/>
              <a:buSzTx/>
              <a:buFontTx/>
            </a:pPr>
            <a:endParaRPr lang="zh-CN" altLang="en-US" sz="1465" b="1">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3" name="图片 2" descr="图片包含 形状&#10;&#10;描述已自动生成"/>
          <p:cNvPicPr>
            <a:picLocks noChangeAspect="1"/>
          </p:cNvPicPr>
          <p:nvPr userDrawn="1"/>
        </p:nvPicPr>
        <p:blipFill>
          <a:blip r:embed="rId3"/>
          <a:stretch>
            <a:fillRect/>
          </a:stretch>
        </p:blipFill>
        <p:spPr>
          <a:xfrm>
            <a:off x="0" y="0"/>
            <a:ext cx="12192000" cy="685800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BB0BAF1-760C-4CDB-8C0F-23F30F0C01AE}"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1.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1.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1.xml"/><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920240" y="2852928"/>
            <a:ext cx="8412480" cy="713232"/>
          </a:xfrm>
          <a:prstGeom prst="rect">
            <a:avLst/>
          </a:prstGeom>
          <a:noFill/>
        </p:spPr>
        <p:txBody>
          <a:bodyPr wrap="square" lIns="0" tIns="0" rIns="0" bIns="0" anchor="ctr">
            <a:normAutofit/>
          </a:bodyPr>
          <a:lstStyle/>
          <a:p>
            <a:pPr algn="l">
              <a:lnSpc>
                <a:spcPct val="100000"/>
              </a:lnSpc>
              <a:spcBef>
                <a:spcPts val="0"/>
              </a:spcBef>
              <a:spcAft>
                <a:spcPts val="0"/>
              </a:spcAft>
              <a:defRPr sz="3400" b="1">
                <a:solidFill>
                  <a:srgbClr val="003E9E"/>
                </a:solidFill>
                <a:latin typeface="微软雅黑"/>
              </a:defRPr>
            </a:pPr>
            <a:r>
              <a:rPr sz="3400" b="1">
                <a:solidFill>
                  <a:srgbClr val="003E9E"/>
                </a:solidFill>
                <a:latin typeface="微软雅黑"/>
                <a:ea typeface="微软雅黑"/>
              </a:rPr>
              <a:t>技术线条2026年1-5月情况通报</a:t>
            </a:r>
          </a:p>
        </p:txBody>
      </p:sp>
      <p:sp>
        <p:nvSpPr>
          <p:cNvPr id="4" name="TextBox 3"/>
          <p:cNvSpPr txBox="1"/>
          <p:nvPr/>
        </p:nvSpPr>
        <p:spPr>
          <a:xfrm>
            <a:off x="3566160" y="4800600"/>
            <a:ext cx="5029200" cy="320040"/>
          </a:xfrm>
          <a:prstGeom prst="rect">
            <a:avLst/>
          </a:prstGeom>
          <a:noFill/>
        </p:spPr>
        <p:txBody>
          <a:bodyPr wrap="square" lIns="0" tIns="0" rIns="0" bIns="0" anchor="ctr">
            <a:normAutofit/>
          </a:bodyPr>
          <a:lstStyle/>
          <a:p>
            <a:pPr algn="ctr">
              <a:lnSpc>
                <a:spcPct val="130000"/>
              </a:lnSpc>
              <a:spcBef>
                <a:spcPts val="0"/>
              </a:spcBef>
              <a:spcAft>
                <a:spcPts val="0"/>
              </a:spcAft>
              <a:defRPr sz="1300" b="0">
                <a:solidFill>
                  <a:srgbClr val="111111"/>
                </a:solidFill>
                <a:latin typeface="微软雅黑"/>
              </a:defRPr>
            </a:pPr>
            <a:r>
              <a:rPr sz="1200" b="0" i="0">
                <a:solidFill>
                  <a:srgbClr val="111111"/>
                </a:solidFill>
                <a:latin typeface="微软雅黑"/>
                <a:ea typeface="微软雅黑"/>
              </a:rPr>
              <a:t>总工（总师）办</a:t>
            </a:r>
          </a:p>
        </p:txBody>
      </p:sp>
      <p:sp>
        <p:nvSpPr>
          <p:cNvPr id="5" name="TextBox 4"/>
          <p:cNvSpPr txBox="1"/>
          <p:nvPr/>
        </p:nvSpPr>
        <p:spPr>
          <a:xfrm>
            <a:off x="3566160" y="5230368"/>
            <a:ext cx="5029200" cy="320040"/>
          </a:xfrm>
          <a:prstGeom prst="rect">
            <a:avLst/>
          </a:prstGeom>
          <a:noFill/>
        </p:spPr>
        <p:txBody>
          <a:bodyPr wrap="square" lIns="0" tIns="0" rIns="0" bIns="0" anchor="ctr">
            <a:normAutofit/>
          </a:bodyPr>
          <a:lstStyle/>
          <a:p>
            <a:pPr algn="ctr">
              <a:lnSpc>
                <a:spcPct val="130000"/>
              </a:lnSpc>
              <a:spcBef>
                <a:spcPts val="0"/>
              </a:spcBef>
              <a:spcAft>
                <a:spcPts val="0"/>
              </a:spcAft>
              <a:defRPr sz="1300" b="0">
                <a:solidFill>
                  <a:srgbClr val="111111"/>
                </a:solidFill>
                <a:latin typeface="微软雅黑"/>
              </a:defRPr>
            </a:pPr>
            <a:r>
              <a:rPr sz="1200" b="0" i="0">
                <a:solidFill>
                  <a:srgbClr val="111111"/>
                </a:solidFill>
                <a:latin typeface="微软雅黑"/>
                <a:ea typeface="微软雅黑"/>
              </a:rPr>
              <a:t>2026年6月17日</a:t>
            </a:r>
          </a:p>
        </p:txBody>
      </p:sp>
      <p:sp>
        <p:nvSpPr>
          <p:cNvPr id="6" name="Rectangle 5"/>
          <p:cNvSpPr/>
          <p:nvPr/>
        </p:nvSpPr>
        <p:spPr>
          <a:xfrm>
            <a:off x="1444752" y="3639312"/>
            <a:ext cx="137160" cy="233172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spcBef>
                <a:spcPts val="0"/>
              </a:spcBef>
              <a:spcAft>
                <a:spcPts val="0"/>
              </a:spcAft>
            </a:pPr>
            <a:endParaRPr/>
          </a:p>
        </p:txBody>
      </p:sp>
      <p:sp>
        <p:nvSpPr>
          <p:cNvPr id="7" name="Rectangle 6"/>
          <p:cNvSpPr/>
          <p:nvPr/>
        </p:nvSpPr>
        <p:spPr>
          <a:xfrm>
            <a:off x="1499616" y="2761488"/>
            <a:ext cx="22860" cy="877824"/>
          </a:xfrm>
          <a:prstGeom prst="rect">
            <a:avLst/>
          </a:prstGeom>
          <a:solidFill>
            <a:srgbClr val="00A6D8"/>
          </a:solidFill>
          <a:ln>
            <a:solidFill>
              <a:srgbClr val="00A6D8"/>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spcBef>
                <a:spcPts val="0"/>
              </a:spcBef>
              <a:spcAft>
                <a:spcPts val="0"/>
              </a:spcAft>
            </a:pP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1480" y="274320"/>
            <a:ext cx="1280160" cy="658368"/>
          </a:xfrm>
          <a:prstGeom prst="rect">
            <a:avLst/>
          </a:prstGeom>
          <a:noFill/>
        </p:spPr>
        <p:txBody>
          <a:bodyPr wrap="square" lIns="36576" tIns="36576" rIns="36576" bIns="36576" anchor="t">
            <a:spAutoFit/>
          </a:bodyPr>
          <a:lstStyle/>
          <a:p>
            <a:pPr algn="l">
              <a:lnSpc>
                <a:spcPct val="100000"/>
              </a:lnSpc>
              <a:spcBef>
                <a:spcPts val="0"/>
              </a:spcBef>
              <a:spcAft>
                <a:spcPts val="0"/>
              </a:spcAft>
              <a:defRPr sz="3400" b="1">
                <a:solidFill>
                  <a:srgbClr val="003E9E"/>
                </a:solidFill>
                <a:latin typeface="微软雅黑"/>
              </a:defRPr>
            </a:pPr>
            <a:r>
              <a:rPr sz="3400" b="1" i="0">
                <a:solidFill>
                  <a:srgbClr val="003E9E"/>
                </a:solidFill>
                <a:latin typeface="微软雅黑"/>
                <a:ea typeface="微软雅黑"/>
              </a:rPr>
              <a:t>目录</a:t>
            </a:r>
          </a:p>
        </p:txBody>
      </p:sp>
      <p:sp>
        <p:nvSpPr>
          <p:cNvPr id="3" name="TextBox 2"/>
          <p:cNvSpPr txBox="1"/>
          <p:nvPr/>
        </p:nvSpPr>
        <p:spPr>
          <a:xfrm>
            <a:off x="2971800" y="1965960"/>
            <a:ext cx="502920" cy="384048"/>
          </a:xfrm>
          <a:prstGeom prst="rect">
            <a:avLst/>
          </a:prstGeom>
          <a:noFill/>
        </p:spPr>
        <p:txBody>
          <a:bodyPr wrap="square" lIns="36576" tIns="36576" rIns="36576" bIns="36576" anchor="ctr">
            <a:normAutofit/>
          </a:bodyPr>
          <a:lstStyle/>
          <a:p>
            <a:pPr algn="ctr">
              <a:lnSpc>
                <a:spcPct val="100000"/>
              </a:lnSpc>
              <a:spcBef>
                <a:spcPts val="0"/>
              </a:spcBef>
              <a:spcAft>
                <a:spcPts val="0"/>
              </a:spcAft>
              <a:defRPr sz="2000" b="1">
                <a:solidFill>
                  <a:srgbClr val="111111"/>
                </a:solidFill>
                <a:latin typeface="微软雅黑"/>
              </a:defRPr>
            </a:pPr>
            <a:r>
              <a:rPr sz="2000" b="1" i="0">
                <a:solidFill>
                  <a:srgbClr val="111111"/>
                </a:solidFill>
                <a:latin typeface="微软雅黑"/>
                <a:ea typeface="微软雅黑"/>
              </a:rPr>
              <a:t>1</a:t>
            </a:r>
          </a:p>
        </p:txBody>
      </p:sp>
      <p:sp>
        <p:nvSpPr>
          <p:cNvPr id="4" name="TextBox 3"/>
          <p:cNvSpPr txBox="1"/>
          <p:nvPr/>
        </p:nvSpPr>
        <p:spPr>
          <a:xfrm>
            <a:off x="3703320" y="1965960"/>
            <a:ext cx="6126480" cy="384048"/>
          </a:xfrm>
          <a:prstGeom prst="rect">
            <a:avLst/>
          </a:prstGeom>
          <a:noFill/>
        </p:spPr>
        <p:txBody>
          <a:bodyPr wrap="square" lIns="36576" tIns="36576" rIns="36576" bIns="36576" anchor="ctr">
            <a:normAutofit/>
          </a:bodyPr>
          <a:lstStyle/>
          <a:p>
            <a:pPr algn="l">
              <a:lnSpc>
                <a:spcPct val="100000"/>
              </a:lnSpc>
              <a:spcBef>
                <a:spcPts val="0"/>
              </a:spcBef>
              <a:spcAft>
                <a:spcPts val="0"/>
              </a:spcAft>
              <a:defRPr sz="2000" b="1">
                <a:solidFill>
                  <a:srgbClr val="111111"/>
                </a:solidFill>
                <a:latin typeface="微软雅黑"/>
              </a:defRPr>
            </a:pPr>
            <a:r>
              <a:rPr sz="2000" b="1" i="0">
                <a:solidFill>
                  <a:srgbClr val="111111"/>
                </a:solidFill>
                <a:latin typeface="微软雅黑"/>
                <a:ea typeface="微软雅黑"/>
              </a:rPr>
              <a:t>技术指标情况</a:t>
            </a:r>
          </a:p>
        </p:txBody>
      </p:sp>
      <p:sp>
        <p:nvSpPr>
          <p:cNvPr id="5" name="TextBox 4"/>
          <p:cNvSpPr txBox="1"/>
          <p:nvPr/>
        </p:nvSpPr>
        <p:spPr>
          <a:xfrm>
            <a:off x="2971800" y="2624328"/>
            <a:ext cx="502920" cy="384048"/>
          </a:xfrm>
          <a:prstGeom prst="rect">
            <a:avLst/>
          </a:prstGeom>
          <a:noFill/>
        </p:spPr>
        <p:txBody>
          <a:bodyPr wrap="square" lIns="36576" tIns="36576" rIns="36576" bIns="36576" anchor="ctr">
            <a:normAutofit/>
          </a:bodyPr>
          <a:lstStyle/>
          <a:p>
            <a:pPr algn="ctr">
              <a:lnSpc>
                <a:spcPct val="100000"/>
              </a:lnSpc>
              <a:spcBef>
                <a:spcPts val="0"/>
              </a:spcBef>
              <a:spcAft>
                <a:spcPts val="0"/>
              </a:spcAft>
              <a:defRPr sz="2000" b="0">
                <a:solidFill>
                  <a:srgbClr val="666666"/>
                </a:solidFill>
                <a:latin typeface="微软雅黑"/>
              </a:defRPr>
            </a:pPr>
            <a:r>
              <a:rPr sz="2000" b="0" i="0">
                <a:solidFill>
                  <a:srgbClr val="666666"/>
                </a:solidFill>
                <a:latin typeface="微软雅黑"/>
                <a:ea typeface="微软雅黑"/>
              </a:rPr>
              <a:t>2</a:t>
            </a:r>
          </a:p>
        </p:txBody>
      </p:sp>
      <p:sp>
        <p:nvSpPr>
          <p:cNvPr id="6" name="TextBox 5"/>
          <p:cNvSpPr txBox="1"/>
          <p:nvPr/>
        </p:nvSpPr>
        <p:spPr>
          <a:xfrm>
            <a:off x="3703320" y="2624328"/>
            <a:ext cx="6126480" cy="384048"/>
          </a:xfrm>
          <a:prstGeom prst="rect">
            <a:avLst/>
          </a:prstGeom>
          <a:noFill/>
        </p:spPr>
        <p:txBody>
          <a:bodyPr wrap="square" lIns="36576" tIns="36576" rIns="36576" bIns="36576" anchor="ctr">
            <a:normAutofit/>
          </a:bodyPr>
          <a:lstStyle/>
          <a:p>
            <a:pPr algn="l">
              <a:lnSpc>
                <a:spcPct val="100000"/>
              </a:lnSpc>
              <a:spcBef>
                <a:spcPts val="0"/>
              </a:spcBef>
              <a:spcAft>
                <a:spcPts val="0"/>
              </a:spcAft>
              <a:defRPr sz="2000" b="0">
                <a:solidFill>
                  <a:srgbClr val="666666"/>
                </a:solidFill>
                <a:latin typeface="微软雅黑"/>
              </a:defRPr>
            </a:pPr>
            <a:r>
              <a:rPr sz="2000" b="0" i="0">
                <a:solidFill>
                  <a:srgbClr val="666666"/>
                </a:solidFill>
                <a:latin typeface="微软雅黑"/>
                <a:ea typeface="微软雅黑"/>
              </a:rPr>
              <a:t>总师支撑效果</a:t>
            </a:r>
          </a:p>
        </p:txBody>
      </p:sp>
      <p:sp>
        <p:nvSpPr>
          <p:cNvPr id="7" name="TextBox 6"/>
          <p:cNvSpPr txBox="1"/>
          <p:nvPr/>
        </p:nvSpPr>
        <p:spPr>
          <a:xfrm>
            <a:off x="2971800" y="3282696"/>
            <a:ext cx="502920" cy="384048"/>
          </a:xfrm>
          <a:prstGeom prst="rect">
            <a:avLst/>
          </a:prstGeom>
          <a:noFill/>
        </p:spPr>
        <p:txBody>
          <a:bodyPr wrap="square" lIns="36576" tIns="36576" rIns="36576" bIns="36576" anchor="ctr">
            <a:normAutofit/>
          </a:bodyPr>
          <a:lstStyle/>
          <a:p>
            <a:pPr algn="ctr">
              <a:lnSpc>
                <a:spcPct val="100000"/>
              </a:lnSpc>
              <a:spcBef>
                <a:spcPts val="0"/>
              </a:spcBef>
              <a:spcAft>
                <a:spcPts val="0"/>
              </a:spcAft>
              <a:defRPr sz="2000" b="0">
                <a:solidFill>
                  <a:srgbClr val="666666"/>
                </a:solidFill>
                <a:latin typeface="微软雅黑"/>
              </a:defRPr>
            </a:pPr>
            <a:r>
              <a:rPr sz="2000" b="0" i="0">
                <a:solidFill>
                  <a:srgbClr val="666666"/>
                </a:solidFill>
                <a:latin typeface="微软雅黑"/>
                <a:ea typeface="微软雅黑"/>
              </a:rPr>
              <a:t>3</a:t>
            </a:r>
          </a:p>
        </p:txBody>
      </p:sp>
      <p:sp>
        <p:nvSpPr>
          <p:cNvPr id="8" name="TextBox 7"/>
          <p:cNvSpPr txBox="1"/>
          <p:nvPr/>
        </p:nvSpPr>
        <p:spPr>
          <a:xfrm>
            <a:off x="3703320" y="3282696"/>
            <a:ext cx="6126480" cy="384048"/>
          </a:xfrm>
          <a:prstGeom prst="rect">
            <a:avLst/>
          </a:prstGeom>
          <a:noFill/>
        </p:spPr>
        <p:txBody>
          <a:bodyPr wrap="square" lIns="36576" tIns="36576" rIns="36576" bIns="36576" anchor="ctr">
            <a:normAutofit/>
          </a:bodyPr>
          <a:lstStyle/>
          <a:p>
            <a:pPr algn="l">
              <a:lnSpc>
                <a:spcPct val="100000"/>
              </a:lnSpc>
              <a:spcBef>
                <a:spcPts val="0"/>
              </a:spcBef>
              <a:spcAft>
                <a:spcPts val="0"/>
              </a:spcAft>
              <a:defRPr sz="2000" b="0">
                <a:solidFill>
                  <a:srgbClr val="666666"/>
                </a:solidFill>
                <a:latin typeface="微软雅黑"/>
              </a:defRPr>
            </a:pPr>
            <a:r>
              <a:rPr sz="2000" b="0" i="0">
                <a:solidFill>
                  <a:srgbClr val="666666"/>
                </a:solidFill>
                <a:latin typeface="微软雅黑"/>
                <a:ea typeface="微软雅黑"/>
              </a:rPr>
              <a:t>科创能力打造</a:t>
            </a:r>
          </a:p>
        </p:txBody>
      </p:sp>
      <p:sp>
        <p:nvSpPr>
          <p:cNvPr id="9" name="TextBox 8"/>
          <p:cNvSpPr txBox="1"/>
          <p:nvPr/>
        </p:nvSpPr>
        <p:spPr>
          <a:xfrm>
            <a:off x="2971800" y="3941064"/>
            <a:ext cx="502920" cy="384048"/>
          </a:xfrm>
          <a:prstGeom prst="rect">
            <a:avLst/>
          </a:prstGeom>
          <a:noFill/>
        </p:spPr>
        <p:txBody>
          <a:bodyPr wrap="square" lIns="36576" tIns="36576" rIns="36576" bIns="36576" anchor="ctr">
            <a:normAutofit/>
          </a:bodyPr>
          <a:lstStyle/>
          <a:p>
            <a:pPr algn="ctr">
              <a:lnSpc>
                <a:spcPct val="100000"/>
              </a:lnSpc>
              <a:spcBef>
                <a:spcPts val="0"/>
              </a:spcBef>
              <a:spcAft>
                <a:spcPts val="0"/>
              </a:spcAft>
              <a:defRPr sz="2000" b="0">
                <a:solidFill>
                  <a:srgbClr val="666666"/>
                </a:solidFill>
                <a:latin typeface="微软雅黑"/>
              </a:defRPr>
            </a:pPr>
            <a:r>
              <a:rPr sz="2000" b="0" i="0">
                <a:solidFill>
                  <a:srgbClr val="666666"/>
                </a:solidFill>
                <a:latin typeface="微软雅黑"/>
                <a:ea typeface="微软雅黑"/>
              </a:rPr>
              <a:t>4</a:t>
            </a:r>
          </a:p>
        </p:txBody>
      </p:sp>
      <p:sp>
        <p:nvSpPr>
          <p:cNvPr id="10" name="TextBox 9"/>
          <p:cNvSpPr txBox="1"/>
          <p:nvPr/>
        </p:nvSpPr>
        <p:spPr>
          <a:xfrm>
            <a:off x="3703320" y="3941064"/>
            <a:ext cx="6126480" cy="384048"/>
          </a:xfrm>
          <a:prstGeom prst="rect">
            <a:avLst/>
          </a:prstGeom>
          <a:noFill/>
        </p:spPr>
        <p:txBody>
          <a:bodyPr wrap="square" lIns="36576" tIns="36576" rIns="36576" bIns="36576" anchor="ctr">
            <a:normAutofit/>
          </a:bodyPr>
          <a:lstStyle/>
          <a:p>
            <a:pPr algn="l">
              <a:lnSpc>
                <a:spcPct val="100000"/>
              </a:lnSpc>
              <a:spcBef>
                <a:spcPts val="0"/>
              </a:spcBef>
              <a:spcAft>
                <a:spcPts val="0"/>
              </a:spcAft>
              <a:defRPr sz="2000" b="0">
                <a:solidFill>
                  <a:srgbClr val="666666"/>
                </a:solidFill>
                <a:latin typeface="微软雅黑"/>
              </a:defRPr>
            </a:pPr>
            <a:r>
              <a:rPr sz="2000" b="0" i="0">
                <a:solidFill>
                  <a:srgbClr val="666666"/>
                </a:solidFill>
                <a:latin typeface="微软雅黑"/>
                <a:ea typeface="微软雅黑"/>
              </a:rPr>
              <a:t>设计质量与人才梯队</a:t>
            </a:r>
          </a:p>
        </p:txBody>
      </p:sp>
      <p:sp>
        <p:nvSpPr>
          <p:cNvPr id="11" name="TextBox 10"/>
          <p:cNvSpPr txBox="1"/>
          <p:nvPr/>
        </p:nvSpPr>
        <p:spPr>
          <a:xfrm>
            <a:off x="2971800" y="4599431"/>
            <a:ext cx="502920" cy="384048"/>
          </a:xfrm>
          <a:prstGeom prst="rect">
            <a:avLst/>
          </a:prstGeom>
          <a:noFill/>
        </p:spPr>
        <p:txBody>
          <a:bodyPr wrap="square" lIns="36576" tIns="36576" rIns="36576" bIns="36576" anchor="ctr">
            <a:normAutofit/>
          </a:bodyPr>
          <a:lstStyle/>
          <a:p>
            <a:pPr algn="ctr">
              <a:lnSpc>
                <a:spcPct val="100000"/>
              </a:lnSpc>
              <a:spcBef>
                <a:spcPts val="0"/>
              </a:spcBef>
              <a:spcAft>
                <a:spcPts val="0"/>
              </a:spcAft>
              <a:defRPr sz="2000" b="0">
                <a:solidFill>
                  <a:srgbClr val="666666"/>
                </a:solidFill>
                <a:latin typeface="微软雅黑"/>
              </a:defRPr>
            </a:pPr>
            <a:r>
              <a:rPr sz="2000" b="0" i="0">
                <a:solidFill>
                  <a:srgbClr val="666666"/>
                </a:solidFill>
                <a:latin typeface="微软雅黑"/>
                <a:ea typeface="微软雅黑"/>
              </a:rPr>
              <a:t>5</a:t>
            </a:r>
          </a:p>
        </p:txBody>
      </p:sp>
      <p:sp>
        <p:nvSpPr>
          <p:cNvPr id="12" name="TextBox 11"/>
          <p:cNvSpPr txBox="1"/>
          <p:nvPr/>
        </p:nvSpPr>
        <p:spPr>
          <a:xfrm>
            <a:off x="3703320" y="4599431"/>
            <a:ext cx="6126480" cy="384048"/>
          </a:xfrm>
          <a:prstGeom prst="rect">
            <a:avLst/>
          </a:prstGeom>
          <a:noFill/>
        </p:spPr>
        <p:txBody>
          <a:bodyPr wrap="square" lIns="36576" tIns="36576" rIns="36576" bIns="36576" anchor="ctr">
            <a:normAutofit/>
          </a:bodyPr>
          <a:lstStyle/>
          <a:p>
            <a:pPr algn="l">
              <a:lnSpc>
                <a:spcPct val="100000"/>
              </a:lnSpc>
              <a:spcBef>
                <a:spcPts val="0"/>
              </a:spcBef>
              <a:spcAft>
                <a:spcPts val="0"/>
              </a:spcAft>
              <a:defRPr sz="2000" b="0">
                <a:solidFill>
                  <a:srgbClr val="666666"/>
                </a:solidFill>
                <a:latin typeface="微软雅黑"/>
              </a:defRPr>
            </a:pPr>
            <a:r>
              <a:rPr sz="2000" b="0" i="0">
                <a:solidFill>
                  <a:srgbClr val="666666"/>
                </a:solidFill>
                <a:latin typeface="微软雅黑"/>
                <a:ea typeface="微软雅黑"/>
              </a:rPr>
              <a:t>下一步工作计划</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19456"/>
            <a:ext cx="9738360" cy="621792"/>
          </a:xfrm>
          <a:prstGeom prst="rect">
            <a:avLst/>
          </a:prstGeom>
          <a:noFill/>
        </p:spPr>
        <p:txBody>
          <a:bodyPr wrap="square" lIns="0" tIns="0" rIns="0" bIns="0" anchor="ctr">
            <a:normAutofit/>
          </a:bodyPr>
          <a:lstStyle/>
          <a:p>
            <a:pPr algn="l">
              <a:lnSpc>
                <a:spcPct val="100000"/>
              </a:lnSpc>
              <a:spcBef>
                <a:spcPts val="0"/>
              </a:spcBef>
              <a:spcAft>
                <a:spcPts val="0"/>
              </a:spcAft>
              <a:defRPr sz="1300" b="1">
                <a:solidFill>
                  <a:srgbClr val="111111"/>
                </a:solidFill>
                <a:latin typeface="微软雅黑"/>
              </a:defRPr>
            </a:pPr>
            <a:r>
              <a:rPr sz="3400" b="1" i="0">
                <a:solidFill>
                  <a:srgbClr val="111111"/>
                </a:solidFill>
                <a:latin typeface="微软雅黑"/>
                <a:ea typeface="微软雅黑"/>
              </a:rPr>
              <a:t>2026年1—5月技术指标情况</a:t>
            </a:r>
          </a:p>
        </p:txBody>
      </p:sp>
      <p:graphicFrame>
        <p:nvGraphicFramePr>
          <p:cNvPr id="4" name="Table 3"/>
          <p:cNvGraphicFramePr>
            <a:graphicFrameLocks noGrp="1"/>
          </p:cNvGraphicFramePr>
          <p:nvPr/>
        </p:nvGraphicFramePr>
        <p:xfrm>
          <a:off x="329184" y="1207008"/>
          <a:ext cx="11494003" cy="5376668"/>
        </p:xfrm>
        <a:graphic>
          <a:graphicData uri="http://schemas.openxmlformats.org/drawingml/2006/table">
            <a:tbl>
              <a:tblPr>
                <a:tableStyleId>{5C22544A-7EE6-4342-B048-85BDC9FD1C3A}</a:tableStyleId>
              </a:tblPr>
              <a:tblGrid>
                <a:gridCol w="823156">
                  <a:extLst>
                    <a:ext uri="{9D8B030D-6E8A-4147-A177-3AD203B41FA5}">
                      <a16:colId xmlns:a16="http://schemas.microsoft.com/office/drawing/2014/main" val="20000"/>
                    </a:ext>
                  </a:extLst>
                </a:gridCol>
                <a:gridCol w="1051810">
                  <a:extLst>
                    <a:ext uri="{9D8B030D-6E8A-4147-A177-3AD203B41FA5}">
                      <a16:colId xmlns:a16="http://schemas.microsoft.com/office/drawing/2014/main" val="20001"/>
                    </a:ext>
                  </a:extLst>
                </a:gridCol>
                <a:gridCol w="1705762">
                  <a:extLst>
                    <a:ext uri="{9D8B030D-6E8A-4147-A177-3AD203B41FA5}">
                      <a16:colId xmlns:a16="http://schemas.microsoft.com/office/drawing/2014/main" val="20002"/>
                    </a:ext>
                  </a:extLst>
                </a:gridCol>
                <a:gridCol w="659439">
                  <a:extLst>
                    <a:ext uri="{9D8B030D-6E8A-4147-A177-3AD203B41FA5}">
                      <a16:colId xmlns:a16="http://schemas.microsoft.com/office/drawing/2014/main" val="20003"/>
                    </a:ext>
                  </a:extLst>
                </a:gridCol>
                <a:gridCol w="659439">
                  <a:extLst>
                    <a:ext uri="{9D8B030D-6E8A-4147-A177-3AD203B41FA5}">
                      <a16:colId xmlns:a16="http://schemas.microsoft.com/office/drawing/2014/main" val="20004"/>
                    </a:ext>
                  </a:extLst>
                </a:gridCol>
                <a:gridCol w="659439">
                  <a:extLst>
                    <a:ext uri="{9D8B030D-6E8A-4147-A177-3AD203B41FA5}">
                      <a16:colId xmlns:a16="http://schemas.microsoft.com/office/drawing/2014/main" val="20005"/>
                    </a:ext>
                  </a:extLst>
                </a:gridCol>
                <a:gridCol w="659439">
                  <a:extLst>
                    <a:ext uri="{9D8B030D-6E8A-4147-A177-3AD203B41FA5}">
                      <a16:colId xmlns:a16="http://schemas.microsoft.com/office/drawing/2014/main" val="20006"/>
                    </a:ext>
                  </a:extLst>
                </a:gridCol>
                <a:gridCol w="659439">
                  <a:extLst>
                    <a:ext uri="{9D8B030D-6E8A-4147-A177-3AD203B41FA5}">
                      <a16:colId xmlns:a16="http://schemas.microsoft.com/office/drawing/2014/main" val="20007"/>
                    </a:ext>
                  </a:extLst>
                </a:gridCol>
                <a:gridCol w="659439">
                  <a:extLst>
                    <a:ext uri="{9D8B030D-6E8A-4147-A177-3AD203B41FA5}">
                      <a16:colId xmlns:a16="http://schemas.microsoft.com/office/drawing/2014/main" val="20008"/>
                    </a:ext>
                  </a:extLst>
                </a:gridCol>
                <a:gridCol w="659439">
                  <a:extLst>
                    <a:ext uri="{9D8B030D-6E8A-4147-A177-3AD203B41FA5}">
                      <a16:colId xmlns:a16="http://schemas.microsoft.com/office/drawing/2014/main" val="20009"/>
                    </a:ext>
                  </a:extLst>
                </a:gridCol>
                <a:gridCol w="659439">
                  <a:extLst>
                    <a:ext uri="{9D8B030D-6E8A-4147-A177-3AD203B41FA5}">
                      <a16:colId xmlns:a16="http://schemas.microsoft.com/office/drawing/2014/main" val="20010"/>
                    </a:ext>
                  </a:extLst>
                </a:gridCol>
                <a:gridCol w="659439">
                  <a:extLst>
                    <a:ext uri="{9D8B030D-6E8A-4147-A177-3AD203B41FA5}">
                      <a16:colId xmlns:a16="http://schemas.microsoft.com/office/drawing/2014/main" val="20011"/>
                    </a:ext>
                  </a:extLst>
                </a:gridCol>
                <a:gridCol w="659439">
                  <a:extLst>
                    <a:ext uri="{9D8B030D-6E8A-4147-A177-3AD203B41FA5}">
                      <a16:colId xmlns:a16="http://schemas.microsoft.com/office/drawing/2014/main" val="20012"/>
                    </a:ext>
                  </a:extLst>
                </a:gridCol>
                <a:gridCol w="659439">
                  <a:extLst>
                    <a:ext uri="{9D8B030D-6E8A-4147-A177-3AD203B41FA5}">
                      <a16:colId xmlns:a16="http://schemas.microsoft.com/office/drawing/2014/main" val="20013"/>
                    </a:ext>
                  </a:extLst>
                </a:gridCol>
                <a:gridCol w="659446">
                  <a:extLst>
                    <a:ext uri="{9D8B030D-6E8A-4147-A177-3AD203B41FA5}">
                      <a16:colId xmlns:a16="http://schemas.microsoft.com/office/drawing/2014/main" val="20014"/>
                    </a:ext>
                  </a:extLst>
                </a:gridCol>
              </a:tblGrid>
              <a:tr h="310896">
                <a:tc gridSpan="15">
                  <a:txBody>
                    <a:bodyPr/>
                    <a:lstStyle/>
                    <a:p>
                      <a:pPr algn="ctr">
                        <a:lnSpc>
                          <a:spcPct val="100000"/>
                        </a:lnSpc>
                        <a:spcBef>
                          <a:spcPts val="0"/>
                        </a:spcBef>
                        <a:spcAft>
                          <a:spcPts val="0"/>
                        </a:spcAft>
                        <a:defRPr sz="1300" b="1">
                          <a:latin typeface="微软雅黑"/>
                        </a:defRPr>
                      </a:pPr>
                      <a:r>
                        <a:rPr sz="1000" b="1">
                          <a:solidFill>
                            <a:srgbClr val="FFFFFF"/>
                          </a:solidFill>
                          <a:latin typeface="微软雅黑"/>
                          <a:ea typeface="微软雅黑"/>
                        </a:rPr>
                        <a:t>1-5月技术指标情况</a:t>
                      </a:r>
                    </a:p>
                  </a:txBody>
                  <a:tcPr marL="13716" marR="13716" marT="4572" marB="4572" anchor="ctr">
                    <a:solidFill>
                      <a:srgbClr val="4472C4"/>
                    </a:solidFill>
                  </a:tcPr>
                </a:tc>
                <a:tc hMerge="1">
                  <a:txBody>
                    <a:bodyPr/>
                    <a:lstStyle/>
                    <a:p>
                      <a:pPr algn="ctr">
                        <a:lnSpc>
                          <a:spcPct val="100000"/>
                        </a:lnSpc>
                        <a:spcBef>
                          <a:spcPts val="0"/>
                        </a:spcBef>
                        <a:spcAft>
                          <a:spcPts val="0"/>
                        </a:spcAft>
                        <a:defRPr sz="1300" b="1">
                          <a:latin typeface="微软雅黑"/>
                        </a:defRPr>
                      </a:pPr>
                      <a:endParaRPr/>
                    </a:p>
                  </a:txBody>
                  <a:tcPr marL="13716" marR="13716" marT="4572" marB="4572" anchor="ctr">
                    <a:solidFill>
                      <a:srgbClr val="4472C4"/>
                    </a:solidFill>
                  </a:tcPr>
                </a:tc>
                <a:tc hMerge="1">
                  <a:txBody>
                    <a:bodyPr/>
                    <a:lstStyle/>
                    <a:p>
                      <a:pPr algn="ctr">
                        <a:lnSpc>
                          <a:spcPct val="100000"/>
                        </a:lnSpc>
                        <a:spcBef>
                          <a:spcPts val="0"/>
                        </a:spcBef>
                        <a:spcAft>
                          <a:spcPts val="0"/>
                        </a:spcAft>
                        <a:defRPr sz="1300" b="1">
                          <a:latin typeface="微软雅黑"/>
                        </a:defRPr>
                      </a:pPr>
                      <a:endParaRPr/>
                    </a:p>
                  </a:txBody>
                  <a:tcPr marL="13716" marR="13716" marT="4572" marB="4572" anchor="ctr">
                    <a:solidFill>
                      <a:srgbClr val="4472C4"/>
                    </a:solidFill>
                  </a:tcPr>
                </a:tc>
                <a:tc hMerge="1">
                  <a:txBody>
                    <a:bodyPr/>
                    <a:lstStyle/>
                    <a:p>
                      <a:pPr algn="ctr">
                        <a:lnSpc>
                          <a:spcPct val="100000"/>
                        </a:lnSpc>
                        <a:spcBef>
                          <a:spcPts val="0"/>
                        </a:spcBef>
                        <a:spcAft>
                          <a:spcPts val="0"/>
                        </a:spcAft>
                        <a:defRPr sz="1300" b="1">
                          <a:latin typeface="微软雅黑"/>
                        </a:defRPr>
                      </a:pPr>
                      <a:endParaRPr/>
                    </a:p>
                  </a:txBody>
                  <a:tcPr marL="13716" marR="13716" marT="4572" marB="4572" anchor="ctr">
                    <a:solidFill>
                      <a:srgbClr val="4472C4"/>
                    </a:solidFill>
                  </a:tcPr>
                </a:tc>
                <a:tc hMerge="1">
                  <a:txBody>
                    <a:bodyPr/>
                    <a:lstStyle/>
                    <a:p>
                      <a:pPr algn="ctr">
                        <a:lnSpc>
                          <a:spcPct val="100000"/>
                        </a:lnSpc>
                        <a:spcBef>
                          <a:spcPts val="0"/>
                        </a:spcBef>
                        <a:spcAft>
                          <a:spcPts val="0"/>
                        </a:spcAft>
                        <a:defRPr sz="1300" b="1">
                          <a:latin typeface="微软雅黑"/>
                        </a:defRPr>
                      </a:pPr>
                      <a:endParaRPr/>
                    </a:p>
                  </a:txBody>
                  <a:tcPr marL="13716" marR="13716" marT="4572" marB="4572" anchor="ctr">
                    <a:solidFill>
                      <a:srgbClr val="4472C4"/>
                    </a:solidFill>
                  </a:tcPr>
                </a:tc>
                <a:tc hMerge="1">
                  <a:txBody>
                    <a:bodyPr/>
                    <a:lstStyle/>
                    <a:p>
                      <a:pPr algn="ctr">
                        <a:lnSpc>
                          <a:spcPct val="100000"/>
                        </a:lnSpc>
                        <a:spcBef>
                          <a:spcPts val="0"/>
                        </a:spcBef>
                        <a:spcAft>
                          <a:spcPts val="0"/>
                        </a:spcAft>
                        <a:defRPr sz="1300" b="1">
                          <a:latin typeface="微软雅黑"/>
                        </a:defRPr>
                      </a:pPr>
                      <a:endParaRPr/>
                    </a:p>
                  </a:txBody>
                  <a:tcPr marL="13716" marR="13716" marT="4572" marB="4572" anchor="ctr">
                    <a:solidFill>
                      <a:srgbClr val="4472C4"/>
                    </a:solidFill>
                  </a:tcPr>
                </a:tc>
                <a:tc hMerge="1">
                  <a:txBody>
                    <a:bodyPr/>
                    <a:lstStyle/>
                    <a:p>
                      <a:pPr algn="ctr">
                        <a:lnSpc>
                          <a:spcPct val="100000"/>
                        </a:lnSpc>
                        <a:spcBef>
                          <a:spcPts val="0"/>
                        </a:spcBef>
                        <a:spcAft>
                          <a:spcPts val="0"/>
                        </a:spcAft>
                        <a:defRPr sz="1300" b="1">
                          <a:latin typeface="微软雅黑"/>
                        </a:defRPr>
                      </a:pPr>
                      <a:endParaRPr/>
                    </a:p>
                  </a:txBody>
                  <a:tcPr marL="13716" marR="13716" marT="4572" marB="4572" anchor="ctr">
                    <a:solidFill>
                      <a:srgbClr val="4472C4"/>
                    </a:solidFill>
                  </a:tcPr>
                </a:tc>
                <a:tc hMerge="1">
                  <a:txBody>
                    <a:bodyPr/>
                    <a:lstStyle/>
                    <a:p>
                      <a:pPr algn="ctr">
                        <a:lnSpc>
                          <a:spcPct val="100000"/>
                        </a:lnSpc>
                        <a:spcBef>
                          <a:spcPts val="0"/>
                        </a:spcBef>
                        <a:spcAft>
                          <a:spcPts val="0"/>
                        </a:spcAft>
                        <a:defRPr sz="1300" b="1">
                          <a:latin typeface="微软雅黑"/>
                        </a:defRPr>
                      </a:pPr>
                      <a:endParaRPr/>
                    </a:p>
                  </a:txBody>
                  <a:tcPr marL="13716" marR="13716" marT="4572" marB="4572" anchor="ctr">
                    <a:solidFill>
                      <a:srgbClr val="4472C4"/>
                    </a:solidFill>
                  </a:tcPr>
                </a:tc>
                <a:tc hMerge="1">
                  <a:txBody>
                    <a:bodyPr/>
                    <a:lstStyle/>
                    <a:p>
                      <a:pPr algn="ctr">
                        <a:lnSpc>
                          <a:spcPct val="100000"/>
                        </a:lnSpc>
                        <a:spcBef>
                          <a:spcPts val="0"/>
                        </a:spcBef>
                        <a:spcAft>
                          <a:spcPts val="0"/>
                        </a:spcAft>
                        <a:defRPr sz="1300" b="1">
                          <a:latin typeface="微软雅黑"/>
                        </a:defRPr>
                      </a:pPr>
                      <a:endParaRPr/>
                    </a:p>
                  </a:txBody>
                  <a:tcPr marL="13716" marR="13716" marT="4572" marB="4572" anchor="ctr">
                    <a:solidFill>
                      <a:srgbClr val="4472C4"/>
                    </a:solidFill>
                  </a:tcPr>
                </a:tc>
                <a:tc hMerge="1">
                  <a:txBody>
                    <a:bodyPr/>
                    <a:lstStyle/>
                    <a:p>
                      <a:pPr algn="ctr">
                        <a:lnSpc>
                          <a:spcPct val="100000"/>
                        </a:lnSpc>
                        <a:spcBef>
                          <a:spcPts val="0"/>
                        </a:spcBef>
                        <a:spcAft>
                          <a:spcPts val="0"/>
                        </a:spcAft>
                        <a:defRPr sz="1300" b="1">
                          <a:latin typeface="微软雅黑"/>
                        </a:defRPr>
                      </a:pPr>
                      <a:endParaRPr/>
                    </a:p>
                  </a:txBody>
                  <a:tcPr marL="13716" marR="13716" marT="4572" marB="4572" anchor="ctr">
                    <a:solidFill>
                      <a:srgbClr val="4472C4"/>
                    </a:solidFill>
                  </a:tcPr>
                </a:tc>
                <a:tc hMerge="1">
                  <a:txBody>
                    <a:bodyPr/>
                    <a:lstStyle/>
                    <a:p>
                      <a:pPr algn="ctr">
                        <a:lnSpc>
                          <a:spcPct val="100000"/>
                        </a:lnSpc>
                        <a:spcBef>
                          <a:spcPts val="0"/>
                        </a:spcBef>
                        <a:spcAft>
                          <a:spcPts val="0"/>
                        </a:spcAft>
                        <a:defRPr sz="1300" b="1">
                          <a:latin typeface="微软雅黑"/>
                        </a:defRPr>
                      </a:pPr>
                      <a:endParaRPr/>
                    </a:p>
                  </a:txBody>
                  <a:tcPr marL="13716" marR="13716" marT="4572" marB="4572" anchor="ctr">
                    <a:solidFill>
                      <a:srgbClr val="4472C4"/>
                    </a:solidFill>
                  </a:tcPr>
                </a:tc>
                <a:tc hMerge="1">
                  <a:txBody>
                    <a:bodyPr/>
                    <a:lstStyle/>
                    <a:p>
                      <a:pPr algn="ctr">
                        <a:lnSpc>
                          <a:spcPct val="100000"/>
                        </a:lnSpc>
                        <a:spcBef>
                          <a:spcPts val="0"/>
                        </a:spcBef>
                        <a:spcAft>
                          <a:spcPts val="0"/>
                        </a:spcAft>
                        <a:defRPr sz="1300" b="1">
                          <a:latin typeface="微软雅黑"/>
                        </a:defRPr>
                      </a:pPr>
                      <a:endParaRPr/>
                    </a:p>
                  </a:txBody>
                  <a:tcPr marL="13716" marR="13716" marT="4572" marB="4572" anchor="ctr">
                    <a:solidFill>
                      <a:srgbClr val="4472C4"/>
                    </a:solidFill>
                  </a:tcPr>
                </a:tc>
                <a:tc hMerge="1">
                  <a:txBody>
                    <a:bodyPr/>
                    <a:lstStyle/>
                    <a:p>
                      <a:pPr algn="ctr">
                        <a:lnSpc>
                          <a:spcPct val="100000"/>
                        </a:lnSpc>
                        <a:spcBef>
                          <a:spcPts val="0"/>
                        </a:spcBef>
                        <a:spcAft>
                          <a:spcPts val="0"/>
                        </a:spcAft>
                        <a:defRPr sz="1300" b="1">
                          <a:latin typeface="微软雅黑"/>
                        </a:defRPr>
                      </a:pPr>
                      <a:endParaRPr/>
                    </a:p>
                  </a:txBody>
                  <a:tcPr marL="13716" marR="13716" marT="4572" marB="4572" anchor="ctr">
                    <a:solidFill>
                      <a:srgbClr val="4472C4"/>
                    </a:solidFill>
                  </a:tcPr>
                </a:tc>
                <a:tc hMerge="1">
                  <a:txBody>
                    <a:bodyPr/>
                    <a:lstStyle/>
                    <a:p>
                      <a:pPr algn="ctr">
                        <a:lnSpc>
                          <a:spcPct val="100000"/>
                        </a:lnSpc>
                        <a:spcBef>
                          <a:spcPts val="0"/>
                        </a:spcBef>
                        <a:spcAft>
                          <a:spcPts val="0"/>
                        </a:spcAft>
                        <a:defRPr sz="1300" b="1">
                          <a:latin typeface="微软雅黑"/>
                        </a:defRPr>
                      </a:pPr>
                      <a:endParaRPr/>
                    </a:p>
                  </a:txBody>
                  <a:tcPr marL="13716" marR="13716" marT="4572" marB="4572" anchor="ctr">
                    <a:solidFill>
                      <a:srgbClr val="4472C4"/>
                    </a:solidFill>
                  </a:tcPr>
                </a:tc>
                <a:tc hMerge="1">
                  <a:txBody>
                    <a:bodyPr/>
                    <a:lstStyle/>
                    <a:p>
                      <a:pPr algn="ctr">
                        <a:lnSpc>
                          <a:spcPct val="100000"/>
                        </a:lnSpc>
                        <a:spcBef>
                          <a:spcPts val="0"/>
                        </a:spcBef>
                        <a:spcAft>
                          <a:spcPts val="0"/>
                        </a:spcAft>
                        <a:defRPr sz="1300" b="1">
                          <a:latin typeface="微软雅黑"/>
                        </a:defRPr>
                      </a:pPr>
                      <a:endParaRPr/>
                    </a:p>
                  </a:txBody>
                  <a:tcPr marL="13716" marR="13716" marT="4572" marB="4572" anchor="ctr">
                    <a:solidFill>
                      <a:srgbClr val="4472C4"/>
                    </a:solidFill>
                  </a:tcPr>
                </a:tc>
                <a:extLst>
                  <a:ext uri="{0D108BD9-81ED-4DB2-BD59-A6C34878D82A}">
                    <a16:rowId xmlns:a16="http://schemas.microsoft.com/office/drawing/2014/main" val="10000"/>
                  </a:ext>
                </a:extLst>
              </a:tr>
              <a:tr h="530352">
                <a:tc rowSpan="2" gridSpan="3">
                  <a:txBody>
                    <a:bodyPr/>
                    <a:lstStyle/>
                    <a:p>
                      <a:pPr algn="ctr">
                        <a:lnSpc>
                          <a:spcPct val="100000"/>
                        </a:lnSpc>
                        <a:spcBef>
                          <a:spcPts val="0"/>
                        </a:spcBef>
                        <a:spcAft>
                          <a:spcPts val="0"/>
                        </a:spcAft>
                        <a:defRPr sz="1300">
                          <a:latin typeface="微软雅黑"/>
                        </a:defRPr>
                      </a:pPr>
                      <a:r>
                        <a:rPr sz="1000" b="1">
                          <a:solidFill>
                            <a:srgbClr val="FFFFFF"/>
                          </a:solidFill>
                          <a:latin typeface="微软雅黑"/>
                          <a:ea typeface="微软雅黑"/>
                        </a:rPr>
                        <a:t>规划院考核值</a:t>
                      </a:r>
                    </a:p>
                  </a:txBody>
                  <a:tcPr marL="13716" marR="13716" marT="4572" marB="4572" anchor="ctr">
                    <a:solidFill>
                      <a:srgbClr val="4472C4"/>
                    </a:solidFill>
                  </a:tcPr>
                </a:tc>
                <a:tc rowSpan="2" hMerge="1">
                  <a:txBody>
                    <a:bodyPr/>
                    <a:lstStyle/>
                    <a:p>
                      <a:pPr algn="ctr">
                        <a:lnSpc>
                          <a:spcPct val="100000"/>
                        </a:lnSpc>
                        <a:spcBef>
                          <a:spcPts val="0"/>
                        </a:spcBef>
                        <a:spcAft>
                          <a:spcPts val="0"/>
                        </a:spcAft>
                        <a:defRPr sz="1300">
                          <a:latin typeface="微软雅黑"/>
                        </a:defRPr>
                      </a:pPr>
                      <a:endParaRPr/>
                    </a:p>
                  </a:txBody>
                  <a:tcPr marL="13716" marR="13716" marT="4572" marB="4572" anchor="ctr">
                    <a:solidFill>
                      <a:srgbClr val="4472C4"/>
                    </a:solidFill>
                  </a:tcPr>
                </a:tc>
                <a:tc rowSpan="2" hMerge="1">
                  <a:txBody>
                    <a:bodyPr/>
                    <a:lstStyle/>
                    <a:p>
                      <a:pPr algn="ctr">
                        <a:lnSpc>
                          <a:spcPct val="100000"/>
                        </a:lnSpc>
                        <a:spcBef>
                          <a:spcPts val="0"/>
                        </a:spcBef>
                        <a:spcAft>
                          <a:spcPts val="0"/>
                        </a:spcAft>
                        <a:defRPr sz="1300">
                          <a:latin typeface="微软雅黑"/>
                        </a:defRPr>
                      </a:pPr>
                      <a:endParaRPr/>
                    </a:p>
                  </a:txBody>
                  <a:tcPr marL="13716" marR="13716" marT="4572" marB="4572" anchor="ctr">
                    <a:solidFill>
                      <a:srgbClr val="4472C4"/>
                    </a:solidFill>
                  </a:tcPr>
                </a:tc>
                <a:tc gridSpan="2">
                  <a:txBody>
                    <a:bodyPr/>
                    <a:lstStyle/>
                    <a:p>
                      <a:pPr algn="ctr">
                        <a:lnSpc>
                          <a:spcPct val="100000"/>
                        </a:lnSpc>
                        <a:spcBef>
                          <a:spcPts val="0"/>
                        </a:spcBef>
                        <a:spcAft>
                          <a:spcPts val="0"/>
                        </a:spcAft>
                        <a:defRPr sz="1300">
                          <a:latin typeface="微软雅黑"/>
                        </a:defRPr>
                      </a:pPr>
                      <a:r>
                        <a:rPr sz="1000" b="1">
                          <a:solidFill>
                            <a:srgbClr val="FFFFFF"/>
                          </a:solidFill>
                          <a:latin typeface="微软雅黑"/>
                          <a:ea typeface="微软雅黑"/>
                        </a:rPr>
                        <a:t>集团业务部</a:t>
                      </a:r>
                    </a:p>
                  </a:txBody>
                  <a:tcPr marL="13716" marR="13716" marT="4572" marB="4572" anchor="ctr">
                    <a:solidFill>
                      <a:srgbClr val="4472C4"/>
                    </a:solidFill>
                  </a:tcPr>
                </a:tc>
                <a:tc hMerge="1">
                  <a:txBody>
                    <a:bodyPr/>
                    <a:lstStyle/>
                    <a:p>
                      <a:pPr algn="ctr">
                        <a:lnSpc>
                          <a:spcPct val="100000"/>
                        </a:lnSpc>
                        <a:spcBef>
                          <a:spcPts val="0"/>
                        </a:spcBef>
                        <a:spcAft>
                          <a:spcPts val="0"/>
                        </a:spcAft>
                        <a:defRPr sz="1300">
                          <a:latin typeface="微软雅黑"/>
                        </a:defRPr>
                      </a:pPr>
                      <a:endParaRPr/>
                    </a:p>
                  </a:txBody>
                  <a:tcPr marL="13716" marR="13716" marT="4572" marB="4572" anchor="ctr">
                    <a:solidFill>
                      <a:srgbClr val="4472C4"/>
                    </a:solidFill>
                  </a:tcPr>
                </a:tc>
                <a:tc gridSpan="2">
                  <a:txBody>
                    <a:bodyPr/>
                    <a:lstStyle/>
                    <a:p>
                      <a:pPr algn="ctr">
                        <a:lnSpc>
                          <a:spcPct val="100000"/>
                        </a:lnSpc>
                        <a:spcBef>
                          <a:spcPts val="0"/>
                        </a:spcBef>
                        <a:spcAft>
                          <a:spcPts val="0"/>
                        </a:spcAft>
                        <a:defRPr sz="1300">
                          <a:latin typeface="微软雅黑"/>
                        </a:defRPr>
                      </a:pPr>
                      <a:r>
                        <a:rPr sz="1000" b="1">
                          <a:solidFill>
                            <a:srgbClr val="FFFFFF"/>
                          </a:solidFill>
                          <a:latin typeface="微软雅黑"/>
                          <a:ea typeface="微软雅黑"/>
                        </a:rPr>
                        <a:t>建筑能源设计院</a:t>
                      </a:r>
                    </a:p>
                  </a:txBody>
                  <a:tcPr marL="13716" marR="13716" marT="4572" marB="4572" anchor="ctr">
                    <a:solidFill>
                      <a:srgbClr val="4472C4"/>
                    </a:solidFill>
                  </a:tcPr>
                </a:tc>
                <a:tc hMerge="1">
                  <a:txBody>
                    <a:bodyPr/>
                    <a:lstStyle/>
                    <a:p>
                      <a:pPr algn="ctr">
                        <a:lnSpc>
                          <a:spcPct val="100000"/>
                        </a:lnSpc>
                        <a:spcBef>
                          <a:spcPts val="0"/>
                        </a:spcBef>
                        <a:spcAft>
                          <a:spcPts val="0"/>
                        </a:spcAft>
                        <a:defRPr sz="1300">
                          <a:latin typeface="微软雅黑"/>
                        </a:defRPr>
                      </a:pPr>
                      <a:endParaRPr/>
                    </a:p>
                  </a:txBody>
                  <a:tcPr marL="13716" marR="13716" marT="4572" marB="4572" anchor="ctr">
                    <a:solidFill>
                      <a:srgbClr val="4472C4"/>
                    </a:solidFill>
                  </a:tcPr>
                </a:tc>
                <a:tc gridSpan="2">
                  <a:txBody>
                    <a:bodyPr/>
                    <a:lstStyle/>
                    <a:p>
                      <a:pPr algn="ctr">
                        <a:lnSpc>
                          <a:spcPct val="100000"/>
                        </a:lnSpc>
                        <a:spcBef>
                          <a:spcPts val="0"/>
                        </a:spcBef>
                        <a:spcAft>
                          <a:spcPts val="0"/>
                        </a:spcAft>
                        <a:defRPr sz="1300">
                          <a:latin typeface="微软雅黑"/>
                        </a:defRPr>
                      </a:pPr>
                      <a:r>
                        <a:rPr sz="1000" b="1">
                          <a:solidFill>
                            <a:srgbClr val="FFFFFF"/>
                          </a:solidFill>
                          <a:latin typeface="微软雅黑"/>
                          <a:ea typeface="微软雅黑"/>
                        </a:rPr>
                        <a:t>智慧城市设计院</a:t>
                      </a:r>
                    </a:p>
                  </a:txBody>
                  <a:tcPr marL="13716" marR="13716" marT="4572" marB="4572" anchor="ctr">
                    <a:solidFill>
                      <a:srgbClr val="4472C4"/>
                    </a:solidFill>
                  </a:tcPr>
                </a:tc>
                <a:tc hMerge="1">
                  <a:txBody>
                    <a:bodyPr/>
                    <a:lstStyle/>
                    <a:p>
                      <a:pPr algn="ctr">
                        <a:lnSpc>
                          <a:spcPct val="100000"/>
                        </a:lnSpc>
                        <a:spcBef>
                          <a:spcPts val="0"/>
                        </a:spcBef>
                        <a:spcAft>
                          <a:spcPts val="0"/>
                        </a:spcAft>
                        <a:defRPr sz="1300">
                          <a:latin typeface="微软雅黑"/>
                        </a:defRPr>
                      </a:pPr>
                      <a:endParaRPr/>
                    </a:p>
                  </a:txBody>
                  <a:tcPr marL="13716" marR="13716" marT="4572" marB="4572" anchor="ctr">
                    <a:solidFill>
                      <a:srgbClr val="4472C4"/>
                    </a:solidFill>
                  </a:tcPr>
                </a:tc>
                <a:tc gridSpan="2">
                  <a:txBody>
                    <a:bodyPr/>
                    <a:lstStyle/>
                    <a:p>
                      <a:pPr algn="ctr">
                        <a:lnSpc>
                          <a:spcPct val="100000"/>
                        </a:lnSpc>
                        <a:spcBef>
                          <a:spcPts val="0"/>
                        </a:spcBef>
                        <a:spcAft>
                          <a:spcPts val="0"/>
                        </a:spcAft>
                        <a:defRPr sz="1300">
                          <a:latin typeface="微软雅黑"/>
                        </a:defRPr>
                      </a:pPr>
                      <a:r>
                        <a:rPr sz="1000" b="1">
                          <a:solidFill>
                            <a:srgbClr val="FFFFFF"/>
                          </a:solidFill>
                          <a:latin typeface="微软雅黑"/>
                          <a:ea typeface="微软雅黑"/>
                        </a:rPr>
                        <a:t>北京事业部</a:t>
                      </a:r>
                    </a:p>
                  </a:txBody>
                  <a:tcPr marL="13716" marR="13716" marT="4572" marB="4572" anchor="ctr">
                    <a:solidFill>
                      <a:srgbClr val="4472C4"/>
                    </a:solidFill>
                  </a:tcPr>
                </a:tc>
                <a:tc hMerge="1">
                  <a:txBody>
                    <a:bodyPr/>
                    <a:lstStyle/>
                    <a:p>
                      <a:pPr algn="ctr">
                        <a:lnSpc>
                          <a:spcPct val="100000"/>
                        </a:lnSpc>
                        <a:spcBef>
                          <a:spcPts val="0"/>
                        </a:spcBef>
                        <a:spcAft>
                          <a:spcPts val="0"/>
                        </a:spcAft>
                        <a:defRPr sz="1300">
                          <a:latin typeface="微软雅黑"/>
                        </a:defRPr>
                      </a:pPr>
                      <a:endParaRPr/>
                    </a:p>
                  </a:txBody>
                  <a:tcPr marL="13716" marR="13716" marT="4572" marB="4572" anchor="ctr">
                    <a:solidFill>
                      <a:srgbClr val="4472C4"/>
                    </a:solidFill>
                  </a:tcPr>
                </a:tc>
                <a:tc gridSpan="2">
                  <a:txBody>
                    <a:bodyPr/>
                    <a:lstStyle/>
                    <a:p>
                      <a:pPr algn="ctr">
                        <a:lnSpc>
                          <a:spcPct val="100000"/>
                        </a:lnSpc>
                        <a:spcBef>
                          <a:spcPts val="0"/>
                        </a:spcBef>
                        <a:spcAft>
                          <a:spcPts val="0"/>
                        </a:spcAft>
                        <a:defRPr sz="1300">
                          <a:latin typeface="微软雅黑"/>
                        </a:defRPr>
                      </a:pPr>
                      <a:r>
                        <a:rPr sz="1000" b="1">
                          <a:solidFill>
                            <a:srgbClr val="FFFFFF"/>
                          </a:solidFill>
                          <a:latin typeface="微软雅黑"/>
                          <a:ea typeface="微软雅黑"/>
                        </a:rPr>
                        <a:t>重点业务部</a:t>
                      </a:r>
                    </a:p>
                  </a:txBody>
                  <a:tcPr marL="13716" marR="13716" marT="4572" marB="4572" anchor="ctr">
                    <a:solidFill>
                      <a:srgbClr val="4472C4"/>
                    </a:solidFill>
                  </a:tcPr>
                </a:tc>
                <a:tc hMerge="1">
                  <a:txBody>
                    <a:bodyPr/>
                    <a:lstStyle/>
                    <a:p>
                      <a:pPr algn="ctr">
                        <a:lnSpc>
                          <a:spcPct val="100000"/>
                        </a:lnSpc>
                        <a:spcBef>
                          <a:spcPts val="0"/>
                        </a:spcBef>
                        <a:spcAft>
                          <a:spcPts val="0"/>
                        </a:spcAft>
                        <a:defRPr sz="1300">
                          <a:latin typeface="微软雅黑"/>
                        </a:defRPr>
                      </a:pPr>
                      <a:endParaRPr/>
                    </a:p>
                  </a:txBody>
                  <a:tcPr marL="13716" marR="13716" marT="4572" marB="4572" anchor="ctr">
                    <a:solidFill>
                      <a:srgbClr val="4472C4"/>
                    </a:solidFill>
                  </a:tcPr>
                </a:tc>
                <a:tc gridSpan="2">
                  <a:txBody>
                    <a:bodyPr/>
                    <a:lstStyle/>
                    <a:p>
                      <a:pPr algn="ctr">
                        <a:lnSpc>
                          <a:spcPct val="100000"/>
                        </a:lnSpc>
                        <a:spcBef>
                          <a:spcPts val="0"/>
                        </a:spcBef>
                        <a:spcAft>
                          <a:spcPts val="0"/>
                        </a:spcAft>
                        <a:defRPr sz="1300">
                          <a:latin typeface="微软雅黑"/>
                        </a:defRPr>
                      </a:pPr>
                      <a:r>
                        <a:rPr sz="1000" b="1">
                          <a:solidFill>
                            <a:srgbClr val="FFFFFF"/>
                          </a:solidFill>
                          <a:latin typeface="微软雅黑"/>
                          <a:ea typeface="微软雅黑"/>
                        </a:rPr>
                        <a:t>集团咨询支撑中心</a:t>
                      </a:r>
                    </a:p>
                  </a:txBody>
                  <a:tcPr marL="13716" marR="13716" marT="4572" marB="4572" anchor="ctr">
                    <a:solidFill>
                      <a:srgbClr val="4472C4"/>
                    </a:solidFill>
                  </a:tcPr>
                </a:tc>
                <a:tc hMerge="1">
                  <a:txBody>
                    <a:bodyPr/>
                    <a:lstStyle/>
                    <a:p>
                      <a:pPr algn="ctr">
                        <a:lnSpc>
                          <a:spcPct val="100000"/>
                        </a:lnSpc>
                        <a:spcBef>
                          <a:spcPts val="0"/>
                        </a:spcBef>
                        <a:spcAft>
                          <a:spcPts val="0"/>
                        </a:spcAft>
                        <a:defRPr sz="1300">
                          <a:latin typeface="微软雅黑"/>
                        </a:defRPr>
                      </a:pPr>
                      <a:endParaRPr/>
                    </a:p>
                  </a:txBody>
                  <a:tcPr marL="13716" marR="13716" marT="4572" marB="4572" anchor="ctr">
                    <a:solidFill>
                      <a:srgbClr val="4472C4"/>
                    </a:solidFill>
                  </a:tcPr>
                </a:tc>
                <a:extLst>
                  <a:ext uri="{0D108BD9-81ED-4DB2-BD59-A6C34878D82A}">
                    <a16:rowId xmlns:a16="http://schemas.microsoft.com/office/drawing/2014/main" val="10001"/>
                  </a:ext>
                </a:extLst>
              </a:tr>
              <a:tr h="402336">
                <a:tc gridSpan="3" vMerge="1">
                  <a:txBody>
                    <a:bodyPr/>
                    <a:lstStyle/>
                    <a:p>
                      <a:pPr algn="ctr">
                        <a:lnSpc>
                          <a:spcPct val="100000"/>
                        </a:lnSpc>
                        <a:spcBef>
                          <a:spcPts val="0"/>
                        </a:spcBef>
                        <a:spcAft>
                          <a:spcPts val="0"/>
                        </a:spcAft>
                        <a:defRPr sz="1300">
                          <a:latin typeface="微软雅黑"/>
                        </a:defRPr>
                      </a:pPr>
                      <a:endParaRPr/>
                    </a:p>
                  </a:txBody>
                  <a:tcPr marL="13716" marR="13716" marT="4572" marB="4572" anchor="ctr">
                    <a:solidFill>
                      <a:srgbClr val="4472C4"/>
                    </a:solidFill>
                  </a:tcPr>
                </a:tc>
                <a:tc hMerge="1" vMerge="1">
                  <a:txBody>
                    <a:bodyPr/>
                    <a:lstStyle/>
                    <a:p>
                      <a:pPr algn="ctr">
                        <a:lnSpc>
                          <a:spcPct val="100000"/>
                        </a:lnSpc>
                        <a:spcBef>
                          <a:spcPts val="0"/>
                        </a:spcBef>
                        <a:spcAft>
                          <a:spcPts val="0"/>
                        </a:spcAft>
                        <a:defRPr sz="1300">
                          <a:latin typeface="微软雅黑"/>
                        </a:defRPr>
                      </a:pPr>
                      <a:endParaRPr/>
                    </a:p>
                  </a:txBody>
                  <a:tcPr marL="13716" marR="13716" marT="4572" marB="4572" anchor="ctr">
                    <a:solidFill>
                      <a:srgbClr val="4472C4"/>
                    </a:solidFill>
                  </a:tcPr>
                </a:tc>
                <a:tc hMerge="1" vMerge="1">
                  <a:txBody>
                    <a:bodyPr/>
                    <a:lstStyle/>
                    <a:p>
                      <a:pPr algn="ctr">
                        <a:lnSpc>
                          <a:spcPct val="100000"/>
                        </a:lnSpc>
                        <a:spcBef>
                          <a:spcPts val="0"/>
                        </a:spcBef>
                        <a:spcAft>
                          <a:spcPts val="0"/>
                        </a:spcAft>
                        <a:defRPr sz="1300">
                          <a:latin typeface="微软雅黑"/>
                        </a:defRPr>
                      </a:pPr>
                      <a:endParaRPr/>
                    </a:p>
                  </a:txBody>
                  <a:tcPr marL="13716" marR="13716" marT="4572" marB="4572" anchor="ctr">
                    <a:solidFill>
                      <a:srgbClr val="4472C4"/>
                    </a:solidFill>
                  </a:tcPr>
                </a:tc>
                <a:tc>
                  <a:txBody>
                    <a:bodyPr/>
                    <a:lstStyle/>
                    <a:p>
                      <a:pPr algn="ctr">
                        <a:lnSpc>
                          <a:spcPct val="100000"/>
                        </a:lnSpc>
                        <a:spcBef>
                          <a:spcPts val="0"/>
                        </a:spcBef>
                        <a:spcAft>
                          <a:spcPts val="0"/>
                        </a:spcAft>
                        <a:defRPr sz="1300">
                          <a:latin typeface="微软雅黑"/>
                        </a:defRPr>
                      </a:pPr>
                      <a:r>
                        <a:rPr sz="1000" b="1">
                          <a:solidFill>
                            <a:srgbClr val="FFFFFF"/>
                          </a:solidFill>
                          <a:latin typeface="微软雅黑"/>
                          <a:ea typeface="微软雅黑"/>
                        </a:rPr>
                        <a:t>目标</a:t>
                      </a:r>
                    </a:p>
                  </a:txBody>
                  <a:tcPr marL="13716" marR="13716" marT="4572" marB="4572" anchor="ctr">
                    <a:solidFill>
                      <a:srgbClr val="4472C4"/>
                    </a:solidFill>
                  </a:tcPr>
                </a:tc>
                <a:tc>
                  <a:txBody>
                    <a:bodyPr/>
                    <a:lstStyle/>
                    <a:p>
                      <a:pPr algn="ctr">
                        <a:lnSpc>
                          <a:spcPct val="100000"/>
                        </a:lnSpc>
                        <a:spcBef>
                          <a:spcPts val="0"/>
                        </a:spcBef>
                        <a:spcAft>
                          <a:spcPts val="0"/>
                        </a:spcAft>
                        <a:defRPr sz="1300">
                          <a:latin typeface="微软雅黑"/>
                        </a:defRPr>
                      </a:pPr>
                      <a:r>
                        <a:rPr sz="1000" b="1">
                          <a:solidFill>
                            <a:srgbClr val="FFFFFF"/>
                          </a:solidFill>
                          <a:latin typeface="微软雅黑"/>
                          <a:ea typeface="微软雅黑"/>
                        </a:rPr>
                        <a:t>已完</a:t>
                      </a:r>
                    </a:p>
                  </a:txBody>
                  <a:tcPr marL="13716" marR="13716" marT="4572" marB="4572" anchor="ctr">
                    <a:solidFill>
                      <a:srgbClr val="4472C4"/>
                    </a:solidFill>
                  </a:tcPr>
                </a:tc>
                <a:tc>
                  <a:txBody>
                    <a:bodyPr/>
                    <a:lstStyle/>
                    <a:p>
                      <a:pPr algn="ctr">
                        <a:lnSpc>
                          <a:spcPct val="100000"/>
                        </a:lnSpc>
                        <a:spcBef>
                          <a:spcPts val="0"/>
                        </a:spcBef>
                        <a:spcAft>
                          <a:spcPts val="0"/>
                        </a:spcAft>
                        <a:defRPr sz="1300">
                          <a:latin typeface="微软雅黑"/>
                        </a:defRPr>
                      </a:pPr>
                      <a:r>
                        <a:rPr sz="1000" b="1">
                          <a:solidFill>
                            <a:srgbClr val="FFFFFF"/>
                          </a:solidFill>
                          <a:latin typeface="微软雅黑"/>
                          <a:ea typeface="微软雅黑"/>
                        </a:rPr>
                        <a:t>目标</a:t>
                      </a:r>
                    </a:p>
                  </a:txBody>
                  <a:tcPr marL="13716" marR="13716" marT="4572" marB="4572" anchor="ctr">
                    <a:solidFill>
                      <a:srgbClr val="4472C4"/>
                    </a:solidFill>
                  </a:tcPr>
                </a:tc>
                <a:tc>
                  <a:txBody>
                    <a:bodyPr/>
                    <a:lstStyle/>
                    <a:p>
                      <a:pPr algn="ctr">
                        <a:lnSpc>
                          <a:spcPct val="100000"/>
                        </a:lnSpc>
                        <a:spcBef>
                          <a:spcPts val="0"/>
                        </a:spcBef>
                        <a:spcAft>
                          <a:spcPts val="0"/>
                        </a:spcAft>
                        <a:defRPr sz="1300">
                          <a:latin typeface="微软雅黑"/>
                        </a:defRPr>
                      </a:pPr>
                      <a:r>
                        <a:rPr sz="1000" b="1">
                          <a:solidFill>
                            <a:srgbClr val="FFFFFF"/>
                          </a:solidFill>
                          <a:latin typeface="微软雅黑"/>
                          <a:ea typeface="微软雅黑"/>
                        </a:rPr>
                        <a:t>已完</a:t>
                      </a:r>
                    </a:p>
                  </a:txBody>
                  <a:tcPr marL="13716" marR="13716" marT="4572" marB="4572" anchor="ctr">
                    <a:solidFill>
                      <a:srgbClr val="4472C4"/>
                    </a:solidFill>
                  </a:tcPr>
                </a:tc>
                <a:tc>
                  <a:txBody>
                    <a:bodyPr/>
                    <a:lstStyle/>
                    <a:p>
                      <a:pPr algn="ctr">
                        <a:lnSpc>
                          <a:spcPct val="100000"/>
                        </a:lnSpc>
                        <a:spcBef>
                          <a:spcPts val="0"/>
                        </a:spcBef>
                        <a:spcAft>
                          <a:spcPts val="0"/>
                        </a:spcAft>
                        <a:defRPr sz="1300">
                          <a:latin typeface="微软雅黑"/>
                        </a:defRPr>
                      </a:pPr>
                      <a:r>
                        <a:rPr sz="1000" b="1">
                          <a:solidFill>
                            <a:srgbClr val="FFFFFF"/>
                          </a:solidFill>
                          <a:latin typeface="微软雅黑"/>
                          <a:ea typeface="微软雅黑"/>
                        </a:rPr>
                        <a:t>目标</a:t>
                      </a:r>
                    </a:p>
                  </a:txBody>
                  <a:tcPr marL="13716" marR="13716" marT="4572" marB="4572" anchor="ctr">
                    <a:solidFill>
                      <a:srgbClr val="4472C4"/>
                    </a:solidFill>
                  </a:tcPr>
                </a:tc>
                <a:tc>
                  <a:txBody>
                    <a:bodyPr/>
                    <a:lstStyle/>
                    <a:p>
                      <a:pPr algn="ctr">
                        <a:lnSpc>
                          <a:spcPct val="100000"/>
                        </a:lnSpc>
                        <a:spcBef>
                          <a:spcPts val="0"/>
                        </a:spcBef>
                        <a:spcAft>
                          <a:spcPts val="0"/>
                        </a:spcAft>
                        <a:defRPr sz="1300">
                          <a:latin typeface="微软雅黑"/>
                        </a:defRPr>
                      </a:pPr>
                      <a:r>
                        <a:rPr sz="1000" b="1">
                          <a:solidFill>
                            <a:srgbClr val="FFFFFF"/>
                          </a:solidFill>
                          <a:latin typeface="微软雅黑"/>
                          <a:ea typeface="微软雅黑"/>
                        </a:rPr>
                        <a:t>已完</a:t>
                      </a:r>
                    </a:p>
                  </a:txBody>
                  <a:tcPr marL="13716" marR="13716" marT="4572" marB="4572" anchor="ctr">
                    <a:solidFill>
                      <a:srgbClr val="4472C4"/>
                    </a:solidFill>
                  </a:tcPr>
                </a:tc>
                <a:tc>
                  <a:txBody>
                    <a:bodyPr/>
                    <a:lstStyle/>
                    <a:p>
                      <a:pPr algn="ctr">
                        <a:lnSpc>
                          <a:spcPct val="100000"/>
                        </a:lnSpc>
                        <a:spcBef>
                          <a:spcPts val="0"/>
                        </a:spcBef>
                        <a:spcAft>
                          <a:spcPts val="0"/>
                        </a:spcAft>
                        <a:defRPr sz="1300">
                          <a:latin typeface="微软雅黑"/>
                        </a:defRPr>
                      </a:pPr>
                      <a:r>
                        <a:rPr sz="1000" b="1">
                          <a:solidFill>
                            <a:srgbClr val="FFFFFF"/>
                          </a:solidFill>
                          <a:latin typeface="微软雅黑"/>
                          <a:ea typeface="微软雅黑"/>
                        </a:rPr>
                        <a:t>目标</a:t>
                      </a:r>
                    </a:p>
                  </a:txBody>
                  <a:tcPr marL="13716" marR="13716" marT="4572" marB="4572" anchor="ctr">
                    <a:solidFill>
                      <a:srgbClr val="4472C4"/>
                    </a:solidFill>
                  </a:tcPr>
                </a:tc>
                <a:tc>
                  <a:txBody>
                    <a:bodyPr/>
                    <a:lstStyle/>
                    <a:p>
                      <a:pPr algn="ctr">
                        <a:lnSpc>
                          <a:spcPct val="100000"/>
                        </a:lnSpc>
                        <a:spcBef>
                          <a:spcPts val="0"/>
                        </a:spcBef>
                        <a:spcAft>
                          <a:spcPts val="0"/>
                        </a:spcAft>
                        <a:defRPr sz="1300">
                          <a:latin typeface="微软雅黑"/>
                        </a:defRPr>
                      </a:pPr>
                      <a:r>
                        <a:rPr sz="1000" b="1">
                          <a:solidFill>
                            <a:srgbClr val="FFFFFF"/>
                          </a:solidFill>
                          <a:latin typeface="微软雅黑"/>
                          <a:ea typeface="微软雅黑"/>
                        </a:rPr>
                        <a:t>已完</a:t>
                      </a:r>
                    </a:p>
                  </a:txBody>
                  <a:tcPr marL="13716" marR="13716" marT="4572" marB="4572" anchor="ctr">
                    <a:solidFill>
                      <a:srgbClr val="4472C4"/>
                    </a:solidFill>
                  </a:tcPr>
                </a:tc>
                <a:tc>
                  <a:txBody>
                    <a:bodyPr/>
                    <a:lstStyle/>
                    <a:p>
                      <a:pPr algn="ctr">
                        <a:lnSpc>
                          <a:spcPct val="100000"/>
                        </a:lnSpc>
                        <a:spcBef>
                          <a:spcPts val="0"/>
                        </a:spcBef>
                        <a:spcAft>
                          <a:spcPts val="0"/>
                        </a:spcAft>
                        <a:defRPr sz="1300">
                          <a:latin typeface="微软雅黑"/>
                        </a:defRPr>
                      </a:pPr>
                      <a:r>
                        <a:rPr sz="1000" b="1">
                          <a:solidFill>
                            <a:srgbClr val="FFFFFF"/>
                          </a:solidFill>
                          <a:latin typeface="微软雅黑"/>
                          <a:ea typeface="微软雅黑"/>
                        </a:rPr>
                        <a:t>目标</a:t>
                      </a:r>
                    </a:p>
                  </a:txBody>
                  <a:tcPr marL="13716" marR="13716" marT="4572" marB="4572" anchor="ctr">
                    <a:solidFill>
                      <a:srgbClr val="4472C4"/>
                    </a:solidFill>
                  </a:tcPr>
                </a:tc>
                <a:tc>
                  <a:txBody>
                    <a:bodyPr/>
                    <a:lstStyle/>
                    <a:p>
                      <a:pPr algn="ctr">
                        <a:lnSpc>
                          <a:spcPct val="100000"/>
                        </a:lnSpc>
                        <a:spcBef>
                          <a:spcPts val="0"/>
                        </a:spcBef>
                        <a:spcAft>
                          <a:spcPts val="0"/>
                        </a:spcAft>
                        <a:defRPr sz="1300">
                          <a:latin typeface="微软雅黑"/>
                        </a:defRPr>
                      </a:pPr>
                      <a:r>
                        <a:rPr sz="1000" b="1">
                          <a:solidFill>
                            <a:srgbClr val="FFFFFF"/>
                          </a:solidFill>
                          <a:latin typeface="微软雅黑"/>
                          <a:ea typeface="微软雅黑"/>
                        </a:rPr>
                        <a:t>已完</a:t>
                      </a:r>
                    </a:p>
                  </a:txBody>
                  <a:tcPr marL="13716" marR="13716" marT="4572" marB="4572" anchor="ctr">
                    <a:solidFill>
                      <a:srgbClr val="4472C4"/>
                    </a:solidFill>
                  </a:tcPr>
                </a:tc>
                <a:tc>
                  <a:txBody>
                    <a:bodyPr/>
                    <a:lstStyle/>
                    <a:p>
                      <a:pPr algn="ctr">
                        <a:lnSpc>
                          <a:spcPct val="100000"/>
                        </a:lnSpc>
                        <a:spcBef>
                          <a:spcPts val="0"/>
                        </a:spcBef>
                        <a:spcAft>
                          <a:spcPts val="0"/>
                        </a:spcAft>
                        <a:defRPr sz="1300">
                          <a:latin typeface="微软雅黑"/>
                        </a:defRPr>
                      </a:pPr>
                      <a:r>
                        <a:rPr sz="1000" b="1">
                          <a:solidFill>
                            <a:srgbClr val="FFFFFF"/>
                          </a:solidFill>
                          <a:latin typeface="微软雅黑"/>
                          <a:ea typeface="微软雅黑"/>
                        </a:rPr>
                        <a:t>目标</a:t>
                      </a:r>
                    </a:p>
                  </a:txBody>
                  <a:tcPr marL="13716" marR="13716" marT="4572" marB="4572" anchor="ctr">
                    <a:solidFill>
                      <a:srgbClr val="4472C4"/>
                    </a:solidFill>
                  </a:tcPr>
                </a:tc>
                <a:tc>
                  <a:txBody>
                    <a:bodyPr/>
                    <a:lstStyle/>
                    <a:p>
                      <a:pPr algn="ctr">
                        <a:lnSpc>
                          <a:spcPct val="100000"/>
                        </a:lnSpc>
                        <a:spcBef>
                          <a:spcPts val="0"/>
                        </a:spcBef>
                        <a:spcAft>
                          <a:spcPts val="0"/>
                        </a:spcAft>
                        <a:defRPr sz="1300">
                          <a:latin typeface="微软雅黑"/>
                        </a:defRPr>
                      </a:pPr>
                      <a:r>
                        <a:rPr sz="1000" b="1">
                          <a:solidFill>
                            <a:srgbClr val="FFFFFF"/>
                          </a:solidFill>
                          <a:latin typeface="微软雅黑"/>
                          <a:ea typeface="微软雅黑"/>
                        </a:rPr>
                        <a:t>已完</a:t>
                      </a:r>
                    </a:p>
                  </a:txBody>
                  <a:tcPr marL="13716" marR="13716" marT="4572" marB="4572" anchor="ctr">
                    <a:solidFill>
                      <a:srgbClr val="4472C4"/>
                    </a:solidFill>
                  </a:tcPr>
                </a:tc>
                <a:extLst>
                  <a:ext uri="{0D108BD9-81ED-4DB2-BD59-A6C34878D82A}">
                    <a16:rowId xmlns:a16="http://schemas.microsoft.com/office/drawing/2014/main" val="10002"/>
                  </a:ext>
                </a:extLst>
              </a:tr>
              <a:tr h="1033271">
                <a:tc rowSpan="4">
                  <a:txBody>
                    <a:bodyPr/>
                    <a:lstStyle/>
                    <a:p>
                      <a:pPr algn="ctr">
                        <a:lnSpc>
                          <a:spcPct val="100000"/>
                        </a:lnSpc>
                        <a:spcBef>
                          <a:spcPts val="0"/>
                        </a:spcBef>
                        <a:spcAft>
                          <a:spcPts val="0"/>
                        </a:spcAft>
                        <a:defRPr sz="1300">
                          <a:latin typeface="微软雅黑"/>
                        </a:defRPr>
                      </a:pPr>
                      <a:r>
                        <a:rPr sz="1000" b="0">
                          <a:solidFill>
                            <a:srgbClr val="000000"/>
                          </a:solidFill>
                          <a:latin typeface="微软雅黑"/>
                          <a:ea typeface="微软雅黑"/>
                        </a:rPr>
                        <a:t>（一）科技创新成效及核心能力</a:t>
                      </a:r>
                    </a:p>
                  </a:txBody>
                  <a:tcPr marL="13716" marR="13716" marT="4572" marB="4572" anchor="ctr">
                    <a:solidFill>
                      <a:srgbClr val="DDEBF7"/>
                    </a:solidFill>
                  </a:tcPr>
                </a:tc>
                <a:tc>
                  <a:txBody>
                    <a:bodyPr/>
                    <a:lstStyle/>
                    <a:p>
                      <a:pPr algn="ctr">
                        <a:lnSpc>
                          <a:spcPct val="100000"/>
                        </a:lnSpc>
                        <a:spcBef>
                          <a:spcPts val="0"/>
                        </a:spcBef>
                        <a:spcAft>
                          <a:spcPts val="0"/>
                        </a:spcAft>
                        <a:defRPr sz="1300">
                          <a:latin typeface="微软雅黑"/>
                        </a:defRPr>
                      </a:pPr>
                      <a:r>
                        <a:rPr sz="1000" b="0">
                          <a:solidFill>
                            <a:srgbClr val="000000"/>
                          </a:solidFill>
                          <a:latin typeface="微软雅黑"/>
                          <a:ea typeface="微软雅黑"/>
                        </a:rPr>
                        <a:t>年度研发投入
（万元）</a:t>
                      </a:r>
                    </a:p>
                  </a:txBody>
                  <a:tcPr marL="13716" marR="13716" marT="4572" marB="4572" anchor="ctr">
                    <a:solidFill>
                      <a:srgbClr val="DDEB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4000万</a:t>
                      </a:r>
                    </a:p>
                  </a:txBody>
                  <a:tcPr marL="13716" marR="13716" marT="4572" marB="4572" anchor="ctr">
                    <a:solidFill>
                      <a:srgbClr val="DDEB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750</a:t>
                      </a:r>
                    </a:p>
                  </a:txBody>
                  <a:tcPr marL="13716" marR="13716" marT="4572" marB="4572" anchor="ctr">
                    <a:solidFill>
                      <a:srgbClr val="DDEB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285.71</a:t>
                      </a:r>
                    </a:p>
                  </a:txBody>
                  <a:tcPr marL="13716" marR="13716" marT="4572" marB="4572" anchor="ctr">
                    <a:solidFill>
                      <a:srgbClr val="DDEB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1100</a:t>
                      </a:r>
                    </a:p>
                  </a:txBody>
                  <a:tcPr marL="13716" marR="13716" marT="4572" marB="4572" anchor="ctr">
                    <a:solidFill>
                      <a:srgbClr val="DDEB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359.23</a:t>
                      </a:r>
                    </a:p>
                  </a:txBody>
                  <a:tcPr marL="13716" marR="13716" marT="4572" marB="4572" anchor="ctr">
                    <a:solidFill>
                      <a:srgbClr val="DDEB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550</a:t>
                      </a:r>
                    </a:p>
                  </a:txBody>
                  <a:tcPr marL="13716" marR="13716" marT="4572" marB="4572" anchor="ctr">
                    <a:solidFill>
                      <a:srgbClr val="DDEB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197.52</a:t>
                      </a:r>
                    </a:p>
                  </a:txBody>
                  <a:tcPr marL="13716" marR="13716" marT="4572" marB="4572" anchor="ctr">
                    <a:solidFill>
                      <a:srgbClr val="DDEB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850</a:t>
                      </a:r>
                    </a:p>
                  </a:txBody>
                  <a:tcPr marL="13716" marR="13716" marT="4572" marB="4572" anchor="ctr">
                    <a:solidFill>
                      <a:srgbClr val="DDEB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185.8</a:t>
                      </a:r>
                    </a:p>
                  </a:txBody>
                  <a:tcPr marL="13716" marR="13716" marT="4572" marB="4572" anchor="ctr">
                    <a:solidFill>
                      <a:srgbClr val="DDEB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250</a:t>
                      </a:r>
                    </a:p>
                  </a:txBody>
                  <a:tcPr marL="13716" marR="13716" marT="4572" marB="4572" anchor="ctr">
                    <a:solidFill>
                      <a:srgbClr val="DDEB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97.46</a:t>
                      </a:r>
                    </a:p>
                  </a:txBody>
                  <a:tcPr marL="13716" marR="13716" marT="4572" marB="4572" anchor="ctr">
                    <a:solidFill>
                      <a:srgbClr val="DDEB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500</a:t>
                      </a:r>
                    </a:p>
                  </a:txBody>
                  <a:tcPr marL="13716" marR="13716" marT="4572" marB="4572" anchor="ctr">
                    <a:solidFill>
                      <a:srgbClr val="DDEB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184.92</a:t>
                      </a:r>
                    </a:p>
                  </a:txBody>
                  <a:tcPr marL="13716" marR="13716" marT="4572" marB="4572" anchor="ctr">
                    <a:solidFill>
                      <a:srgbClr val="DDEBF7"/>
                    </a:solidFill>
                  </a:tcPr>
                </a:tc>
                <a:extLst>
                  <a:ext uri="{0D108BD9-81ED-4DB2-BD59-A6C34878D82A}">
                    <a16:rowId xmlns:a16="http://schemas.microsoft.com/office/drawing/2014/main" val="10003"/>
                  </a:ext>
                </a:extLst>
              </a:tr>
              <a:tr h="1033271">
                <a:tc vMerge="1">
                  <a:txBody>
                    <a:bodyPr/>
                    <a:lstStyle/>
                    <a:p>
                      <a:pPr algn="ctr">
                        <a:lnSpc>
                          <a:spcPct val="100000"/>
                        </a:lnSpc>
                        <a:spcBef>
                          <a:spcPts val="0"/>
                        </a:spcBef>
                        <a:spcAft>
                          <a:spcPts val="0"/>
                        </a:spcAft>
                        <a:defRPr sz="1300">
                          <a:latin typeface="微软雅黑"/>
                        </a:defRPr>
                      </a:pPr>
                      <a:endParaRPr/>
                    </a:p>
                  </a:txBody>
                  <a:tcPr marL="13716" marR="13716" marT="4572" marB="4572" anchor="ctr">
                    <a:solidFill>
                      <a:srgbClr val="D2DEEF"/>
                    </a:solidFill>
                  </a:tcPr>
                </a:tc>
                <a:tc>
                  <a:txBody>
                    <a:bodyPr/>
                    <a:lstStyle/>
                    <a:p>
                      <a:pPr algn="ctr">
                        <a:lnSpc>
                          <a:spcPct val="100000"/>
                        </a:lnSpc>
                        <a:spcBef>
                          <a:spcPts val="0"/>
                        </a:spcBef>
                        <a:spcAft>
                          <a:spcPts val="0"/>
                        </a:spcAft>
                      </a:pPr>
                      <a:r>
                        <a:rPr sz="1000">
                          <a:solidFill>
                            <a:srgbClr val="232D37"/>
                          </a:solidFill>
                          <a:latin typeface="微软雅黑"/>
                          <a:ea typeface="微软雅黑"/>
                        </a:rPr>
                        <a:t>集团研发经费获取</a:t>
                      </a:r>
                    </a:p>
                    <a:p>
                      <a:pPr algn="ctr">
                        <a:lnSpc>
                          <a:spcPct val="100000"/>
                        </a:lnSpc>
                        <a:spcBef>
                          <a:spcPts val="0"/>
                        </a:spcBef>
                        <a:spcAft>
                          <a:spcPts val="0"/>
                        </a:spcAft>
                      </a:pPr>
                      <a:r>
                        <a:rPr sz="1000">
                          <a:solidFill>
                            <a:srgbClr val="232D37"/>
                          </a:solidFill>
                          <a:latin typeface="微软雅黑"/>
                          <a:ea typeface="微软雅黑"/>
                        </a:rPr>
                        <a:t>（万元）</a:t>
                      </a:r>
                    </a:p>
                  </a:txBody>
                  <a:tcPr marL="13716" marR="13716" marT="4572" marB="4572" anchor="ctr">
                    <a:solidFill>
                      <a:srgbClr val="D2DEEF"/>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400万</a:t>
                      </a:r>
                    </a:p>
                  </a:txBody>
                  <a:tcPr marL="13716" marR="13716" marT="4572" marB="4572" anchor="ctr">
                    <a:solidFill>
                      <a:srgbClr val="D2DEEF"/>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160</a:t>
                      </a:r>
                    </a:p>
                  </a:txBody>
                  <a:tcPr marL="13716" marR="13716" marT="4572" marB="4572" anchor="ctr">
                    <a:solidFill>
                      <a:srgbClr val="D2DEEF"/>
                    </a:solidFill>
                  </a:tcPr>
                </a:tc>
                <a:tc>
                  <a:txBody>
                    <a:bodyPr/>
                    <a:lstStyle/>
                    <a:p>
                      <a:pPr algn="l">
                        <a:lnSpc>
                          <a:spcPct val="100000"/>
                        </a:lnSpc>
                        <a:spcBef>
                          <a:spcPts val="0"/>
                        </a:spcBef>
                        <a:spcAft>
                          <a:spcPts val="0"/>
                        </a:spcAft>
                        <a:defRPr sz="1300">
                          <a:latin typeface="微软雅黑"/>
                        </a:defRPr>
                      </a:pPr>
                      <a:r>
                        <a:rPr sz="1000" b="1">
                          <a:solidFill>
                            <a:srgbClr val="C00000"/>
                          </a:solidFill>
                          <a:latin typeface="微软雅黑"/>
                          <a:ea typeface="微软雅黑"/>
                        </a:rPr>
                        <a:t>475.2</a:t>
                      </a:r>
                    </a:p>
                  </a:txBody>
                  <a:tcPr marL="13716" marR="13716" marT="4572" marB="4572" anchor="ctr">
                    <a:solidFill>
                      <a:srgbClr val="D2DEEF"/>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80</a:t>
                      </a:r>
                    </a:p>
                  </a:txBody>
                  <a:tcPr marL="13716" marR="13716" marT="4572" marB="4572" anchor="ctr">
                    <a:solidFill>
                      <a:srgbClr val="D2DEEF"/>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3</a:t>
                      </a:r>
                    </a:p>
                  </a:txBody>
                  <a:tcPr marL="13716" marR="13716" marT="4572" marB="4572" anchor="ctr">
                    <a:solidFill>
                      <a:srgbClr val="D2DEEF"/>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30</a:t>
                      </a:r>
                    </a:p>
                  </a:txBody>
                  <a:tcPr marL="13716" marR="13716" marT="4572" marB="4572" anchor="ctr">
                    <a:solidFill>
                      <a:srgbClr val="D2DEEF"/>
                    </a:solidFill>
                  </a:tcPr>
                </a:tc>
                <a:tc>
                  <a:txBody>
                    <a:bodyPr/>
                    <a:lstStyle/>
                    <a:p>
                      <a:pPr algn="l">
                        <a:lnSpc>
                          <a:spcPct val="100000"/>
                        </a:lnSpc>
                        <a:spcBef>
                          <a:spcPts val="0"/>
                        </a:spcBef>
                        <a:spcAft>
                          <a:spcPts val="0"/>
                        </a:spcAft>
                        <a:defRPr sz="1300">
                          <a:latin typeface="微软雅黑"/>
                        </a:defRPr>
                      </a:pPr>
                      <a:r>
                        <a:rPr sz="1000" b="1">
                          <a:solidFill>
                            <a:srgbClr val="C00000"/>
                          </a:solidFill>
                          <a:latin typeface="微软雅黑"/>
                          <a:ea typeface="微软雅黑"/>
                        </a:rPr>
                        <a:t>153.01</a:t>
                      </a:r>
                    </a:p>
                  </a:txBody>
                  <a:tcPr marL="13716" marR="13716" marT="4572" marB="4572" anchor="ctr">
                    <a:solidFill>
                      <a:srgbClr val="D2DEEF"/>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80</a:t>
                      </a:r>
                    </a:p>
                  </a:txBody>
                  <a:tcPr marL="13716" marR="13716" marT="4572" marB="4572" anchor="ctr">
                    <a:solidFill>
                      <a:srgbClr val="D2DEEF"/>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19</a:t>
                      </a:r>
                    </a:p>
                  </a:txBody>
                  <a:tcPr marL="13716" marR="13716" marT="4572" marB="4572" anchor="ctr">
                    <a:solidFill>
                      <a:srgbClr val="D2DEEF"/>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30</a:t>
                      </a:r>
                    </a:p>
                  </a:txBody>
                  <a:tcPr marL="13716" marR="13716" marT="4572" marB="4572" anchor="ctr">
                    <a:solidFill>
                      <a:srgbClr val="D2DEEF"/>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0</a:t>
                      </a:r>
                    </a:p>
                  </a:txBody>
                  <a:tcPr marL="13716" marR="13716" marT="4572" marB="4572" anchor="ctr">
                    <a:solidFill>
                      <a:srgbClr val="D2DEEF"/>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20</a:t>
                      </a:r>
                    </a:p>
                  </a:txBody>
                  <a:tcPr marL="13716" marR="13716" marT="4572" marB="4572" anchor="ctr">
                    <a:solidFill>
                      <a:srgbClr val="D2DEEF"/>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12</a:t>
                      </a:r>
                    </a:p>
                  </a:txBody>
                  <a:tcPr marL="13716" marR="13716" marT="4572" marB="4572" anchor="ctr">
                    <a:solidFill>
                      <a:srgbClr val="D2DEEF"/>
                    </a:solidFill>
                  </a:tcPr>
                </a:tc>
                <a:extLst>
                  <a:ext uri="{0D108BD9-81ED-4DB2-BD59-A6C34878D82A}">
                    <a16:rowId xmlns:a16="http://schemas.microsoft.com/office/drawing/2014/main" val="10004"/>
                  </a:ext>
                </a:extLst>
              </a:tr>
              <a:tr h="1033271">
                <a:tc vMerge="1">
                  <a:txBody>
                    <a:bodyPr/>
                    <a:lstStyle/>
                    <a:p>
                      <a:pPr algn="ctr">
                        <a:lnSpc>
                          <a:spcPct val="100000"/>
                        </a:lnSpc>
                        <a:spcBef>
                          <a:spcPts val="0"/>
                        </a:spcBef>
                        <a:spcAft>
                          <a:spcPts val="0"/>
                        </a:spcAft>
                        <a:defRPr sz="1300">
                          <a:latin typeface="微软雅黑"/>
                        </a:defRPr>
                      </a:pPr>
                      <a:endParaRPr/>
                    </a:p>
                  </a:txBody>
                  <a:tcPr marL="13716" marR="13716" marT="4572" marB="4572" anchor="ctr">
                    <a:solidFill>
                      <a:srgbClr val="DDEBF7"/>
                    </a:solidFill>
                  </a:tcPr>
                </a:tc>
                <a:tc>
                  <a:txBody>
                    <a:bodyPr/>
                    <a:lstStyle/>
                    <a:p>
                      <a:pPr algn="ctr">
                        <a:lnSpc>
                          <a:spcPct val="100000"/>
                        </a:lnSpc>
                        <a:spcBef>
                          <a:spcPts val="0"/>
                        </a:spcBef>
                        <a:spcAft>
                          <a:spcPts val="0"/>
                        </a:spcAft>
                        <a:defRPr sz="1300">
                          <a:latin typeface="微软雅黑"/>
                        </a:defRPr>
                      </a:pPr>
                      <a:r>
                        <a:rPr sz="1000" b="0">
                          <a:solidFill>
                            <a:srgbClr val="000000"/>
                          </a:solidFill>
                          <a:latin typeface="微软雅黑"/>
                          <a:ea typeface="微软雅黑"/>
                        </a:rPr>
                        <a:t>研发科技成果输出</a:t>
                      </a:r>
                    </a:p>
                  </a:txBody>
                  <a:tcPr marL="13716" marR="13716" marT="4572" marB="4572" anchor="ctr">
                    <a:solidFill>
                      <a:srgbClr val="DDEB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入选集团成果目录2年1项
重点储备项</a:t>
                      </a:r>
                    </a:p>
                  </a:txBody>
                  <a:tcPr marL="13716" marR="13716" marT="4572" marB="4572" anchor="ctr">
                    <a:solidFill>
                      <a:srgbClr val="DDEB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入选1
重点储备2</a:t>
                      </a:r>
                    </a:p>
                  </a:txBody>
                  <a:tcPr marL="13716" marR="13716" marT="4572" marB="4572" anchor="ctr">
                    <a:solidFill>
                      <a:srgbClr val="DDEBF7"/>
                    </a:solidFill>
                  </a:tcPr>
                </a:tc>
                <a:tc>
                  <a:txBody>
                    <a:bodyPr/>
                    <a:lstStyle/>
                    <a:p>
                      <a:pPr algn="l">
                        <a:lnSpc>
                          <a:spcPct val="100000"/>
                        </a:lnSpc>
                        <a:spcBef>
                          <a:spcPts val="0"/>
                        </a:spcBef>
                        <a:spcAft>
                          <a:spcPts val="0"/>
                        </a:spcAft>
                        <a:defRPr sz="1300">
                          <a:latin typeface="微软雅黑"/>
                        </a:defRPr>
                      </a:pPr>
                      <a:r>
                        <a:rPr sz="1000" b="1">
                          <a:solidFill>
                            <a:srgbClr val="C00000"/>
                          </a:solidFill>
                          <a:latin typeface="微软雅黑"/>
                          <a:ea typeface="微软雅黑"/>
                        </a:rPr>
                        <a:t>入选0
在途2</a:t>
                      </a:r>
                    </a:p>
                  </a:txBody>
                  <a:tcPr marL="13716" marR="13716" marT="4572" marB="4572" anchor="ctr">
                    <a:solidFill>
                      <a:srgbClr val="DDEB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入选1
重点储备1</a:t>
                      </a:r>
                    </a:p>
                  </a:txBody>
                  <a:tcPr marL="13716" marR="13716" marT="4572" marB="4572" anchor="ctr">
                    <a:solidFill>
                      <a:srgbClr val="DDEBF7"/>
                    </a:solidFill>
                  </a:tcPr>
                </a:tc>
                <a:tc>
                  <a:txBody>
                    <a:bodyPr/>
                    <a:lstStyle/>
                    <a:p>
                      <a:pPr algn="l">
                        <a:lnSpc>
                          <a:spcPct val="100000"/>
                        </a:lnSpc>
                        <a:spcBef>
                          <a:spcPts val="0"/>
                        </a:spcBef>
                        <a:spcAft>
                          <a:spcPts val="0"/>
                        </a:spcAft>
                        <a:defRPr sz="1300">
                          <a:latin typeface="微软雅黑"/>
                        </a:defRPr>
                      </a:pPr>
                      <a:r>
                        <a:rPr sz="1000" b="1">
                          <a:solidFill>
                            <a:srgbClr val="C00000"/>
                          </a:solidFill>
                          <a:latin typeface="微软雅黑"/>
                          <a:ea typeface="微软雅黑"/>
                        </a:rPr>
                        <a:t>入选0
在途0</a:t>
                      </a:r>
                    </a:p>
                  </a:txBody>
                  <a:tcPr marL="13716" marR="13716" marT="4572" marB="4572" anchor="ctr">
                    <a:solidFill>
                      <a:srgbClr val="DDEB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入选1
重点储备1</a:t>
                      </a:r>
                    </a:p>
                  </a:txBody>
                  <a:tcPr marL="13716" marR="13716" marT="4572" marB="4572" anchor="ctr">
                    <a:solidFill>
                      <a:srgbClr val="DDEB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入选1（25年）
在途1</a:t>
                      </a:r>
                    </a:p>
                  </a:txBody>
                  <a:tcPr marL="13716" marR="13716" marT="4572" marB="4572" anchor="ctr">
                    <a:solidFill>
                      <a:srgbClr val="DDEB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入选1
重点储备1</a:t>
                      </a:r>
                    </a:p>
                  </a:txBody>
                  <a:tcPr marL="13716" marR="13716" marT="4572" marB="4572" anchor="ctr">
                    <a:solidFill>
                      <a:srgbClr val="DDEBF7"/>
                    </a:solidFill>
                  </a:tcPr>
                </a:tc>
                <a:tc>
                  <a:txBody>
                    <a:bodyPr/>
                    <a:lstStyle/>
                    <a:p>
                      <a:pPr algn="l">
                        <a:lnSpc>
                          <a:spcPct val="100000"/>
                        </a:lnSpc>
                        <a:spcBef>
                          <a:spcPts val="0"/>
                        </a:spcBef>
                        <a:spcAft>
                          <a:spcPts val="0"/>
                        </a:spcAft>
                        <a:defRPr sz="1300">
                          <a:latin typeface="微软雅黑"/>
                        </a:defRPr>
                      </a:pPr>
                      <a:r>
                        <a:rPr sz="1000" b="1">
                          <a:solidFill>
                            <a:srgbClr val="C00000"/>
                          </a:solidFill>
                          <a:latin typeface="微软雅黑"/>
                          <a:ea typeface="微软雅黑"/>
                        </a:rPr>
                        <a:t>入选0
在途1</a:t>
                      </a:r>
                    </a:p>
                  </a:txBody>
                  <a:tcPr marL="13716" marR="13716" marT="4572" marB="4572" anchor="ctr">
                    <a:solidFill>
                      <a:srgbClr val="DDEB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入选1
重点储备1</a:t>
                      </a:r>
                    </a:p>
                  </a:txBody>
                  <a:tcPr marL="13716" marR="13716" marT="4572" marB="4572" anchor="ctr">
                    <a:solidFill>
                      <a:srgbClr val="DDEBF7"/>
                    </a:solidFill>
                  </a:tcPr>
                </a:tc>
                <a:tc>
                  <a:txBody>
                    <a:bodyPr/>
                    <a:lstStyle/>
                    <a:p>
                      <a:pPr algn="l">
                        <a:lnSpc>
                          <a:spcPct val="100000"/>
                        </a:lnSpc>
                        <a:spcBef>
                          <a:spcPts val="0"/>
                        </a:spcBef>
                        <a:spcAft>
                          <a:spcPts val="0"/>
                        </a:spcAft>
                        <a:defRPr sz="1300">
                          <a:latin typeface="微软雅黑"/>
                        </a:defRPr>
                      </a:pPr>
                      <a:r>
                        <a:rPr sz="1000" b="1">
                          <a:solidFill>
                            <a:srgbClr val="C00000"/>
                          </a:solidFill>
                          <a:latin typeface="微软雅黑"/>
                          <a:ea typeface="微软雅黑"/>
                        </a:rPr>
                        <a:t>入选0
在途1</a:t>
                      </a:r>
                    </a:p>
                  </a:txBody>
                  <a:tcPr marL="13716" marR="13716" marT="4572" marB="4572" anchor="ctr">
                    <a:solidFill>
                      <a:srgbClr val="DDEB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入选1
重点储备1</a:t>
                      </a:r>
                    </a:p>
                  </a:txBody>
                  <a:tcPr marL="13716" marR="13716" marT="4572" marB="4572" anchor="ctr">
                    <a:solidFill>
                      <a:srgbClr val="DDEBF7"/>
                    </a:solidFill>
                  </a:tcPr>
                </a:tc>
                <a:tc>
                  <a:txBody>
                    <a:bodyPr/>
                    <a:lstStyle/>
                    <a:p>
                      <a:pPr algn="l">
                        <a:lnSpc>
                          <a:spcPct val="100000"/>
                        </a:lnSpc>
                        <a:spcBef>
                          <a:spcPts val="0"/>
                        </a:spcBef>
                        <a:spcAft>
                          <a:spcPts val="0"/>
                        </a:spcAft>
                        <a:defRPr sz="1300">
                          <a:latin typeface="微软雅黑"/>
                        </a:defRPr>
                      </a:pPr>
                      <a:r>
                        <a:rPr sz="1000" b="1">
                          <a:solidFill>
                            <a:srgbClr val="C00000"/>
                          </a:solidFill>
                          <a:latin typeface="微软雅黑"/>
                          <a:ea typeface="微软雅黑"/>
                        </a:rPr>
                        <a:t>入选0
在途1</a:t>
                      </a:r>
                    </a:p>
                  </a:txBody>
                  <a:tcPr marL="13716" marR="13716" marT="4572" marB="4572" anchor="ctr">
                    <a:solidFill>
                      <a:srgbClr val="DDEBF7"/>
                    </a:solidFill>
                  </a:tcPr>
                </a:tc>
                <a:extLst>
                  <a:ext uri="{0D108BD9-81ED-4DB2-BD59-A6C34878D82A}">
                    <a16:rowId xmlns:a16="http://schemas.microsoft.com/office/drawing/2014/main" val="10005"/>
                  </a:ext>
                </a:extLst>
              </a:tr>
              <a:tr h="1033271">
                <a:tc vMerge="1">
                  <a:txBody>
                    <a:bodyPr/>
                    <a:lstStyle/>
                    <a:p>
                      <a:pPr algn="ctr">
                        <a:lnSpc>
                          <a:spcPct val="100000"/>
                        </a:lnSpc>
                        <a:spcBef>
                          <a:spcPts val="0"/>
                        </a:spcBef>
                        <a:spcAft>
                          <a:spcPts val="0"/>
                        </a:spcAft>
                        <a:defRPr sz="1300">
                          <a:latin typeface="微软雅黑"/>
                        </a:defRPr>
                      </a:pPr>
                      <a:endParaRPr/>
                    </a:p>
                  </a:txBody>
                  <a:tcPr marL="13716" marR="13716" marT="4572" marB="4572" anchor="ctr">
                    <a:solidFill>
                      <a:srgbClr val="D2DEEF"/>
                    </a:solidFill>
                  </a:tcPr>
                </a:tc>
                <a:tc>
                  <a:txBody>
                    <a:bodyPr/>
                    <a:lstStyle/>
                    <a:p>
                      <a:pPr algn="ctr">
                        <a:lnSpc>
                          <a:spcPct val="100000"/>
                        </a:lnSpc>
                        <a:spcBef>
                          <a:spcPts val="0"/>
                        </a:spcBef>
                        <a:spcAft>
                          <a:spcPts val="0"/>
                        </a:spcAft>
                        <a:defRPr sz="1300">
                          <a:latin typeface="微软雅黑"/>
                        </a:defRPr>
                      </a:pPr>
                      <a:r>
                        <a:rPr sz="1000" b="0">
                          <a:solidFill>
                            <a:srgbClr val="000000"/>
                          </a:solidFill>
                          <a:latin typeface="微软雅黑"/>
                          <a:ea typeface="微软雅黑"/>
                        </a:rPr>
                        <a:t>国家项目申报（项）</a:t>
                      </a:r>
                    </a:p>
                  </a:txBody>
                  <a:tcPr marL="13716" marR="13716" marT="4572" marB="4572" anchor="ctr">
                    <a:solidFill>
                      <a:srgbClr val="D2DEEF"/>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加分项（分值待定）
申报/获批国家级；
申报/获批工信部；
申报指南或动议</a:t>
                      </a:r>
                    </a:p>
                  </a:txBody>
                  <a:tcPr marL="13716" marR="13716" marT="4572" marB="4572" anchor="ctr">
                    <a:solidFill>
                      <a:srgbClr val="D2DEEF"/>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同左</a:t>
                      </a:r>
                    </a:p>
                  </a:txBody>
                  <a:tcPr marL="13716" marR="13716" marT="4572" marB="4572" anchor="ctr">
                    <a:solidFill>
                      <a:srgbClr val="D2DEEF"/>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申报指南1
申报动议1</a:t>
                      </a:r>
                    </a:p>
                  </a:txBody>
                  <a:tcPr marL="13716" marR="13716" marT="4572" marB="4572" anchor="ctr">
                    <a:solidFill>
                      <a:srgbClr val="D2DEEF"/>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同左</a:t>
                      </a:r>
                    </a:p>
                  </a:txBody>
                  <a:tcPr marL="13716" marR="13716" marT="4572" marB="4572" anchor="ctr">
                    <a:solidFill>
                      <a:srgbClr val="D2DEEF"/>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0</a:t>
                      </a:r>
                    </a:p>
                  </a:txBody>
                  <a:tcPr marL="13716" marR="13716" marT="4572" marB="4572" anchor="ctr">
                    <a:solidFill>
                      <a:srgbClr val="D2DEEF"/>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同左</a:t>
                      </a:r>
                    </a:p>
                  </a:txBody>
                  <a:tcPr marL="13716" marR="13716" marT="4572" marB="4572" anchor="ctr">
                    <a:solidFill>
                      <a:srgbClr val="D2DEEF"/>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0</a:t>
                      </a:r>
                    </a:p>
                  </a:txBody>
                  <a:tcPr marL="13716" marR="13716" marT="4572" marB="4572" anchor="ctr">
                    <a:solidFill>
                      <a:srgbClr val="D2DEEF"/>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同左</a:t>
                      </a:r>
                    </a:p>
                  </a:txBody>
                  <a:tcPr marL="13716" marR="13716" marT="4572" marB="4572" anchor="ctr">
                    <a:solidFill>
                      <a:srgbClr val="D2DEEF"/>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申报指南1</a:t>
                      </a:r>
                    </a:p>
                  </a:txBody>
                  <a:tcPr marL="13716" marR="13716" marT="4572" marB="4572" anchor="ctr">
                    <a:solidFill>
                      <a:srgbClr val="D2DEEF"/>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同左</a:t>
                      </a:r>
                    </a:p>
                  </a:txBody>
                  <a:tcPr marL="13716" marR="13716" marT="4572" marB="4572" anchor="ctr">
                    <a:solidFill>
                      <a:srgbClr val="D2DEEF"/>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0</a:t>
                      </a:r>
                    </a:p>
                  </a:txBody>
                  <a:tcPr marL="13716" marR="13716" marT="4572" marB="4572" anchor="ctr">
                    <a:solidFill>
                      <a:srgbClr val="D2DEEF"/>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同左</a:t>
                      </a:r>
                    </a:p>
                  </a:txBody>
                  <a:tcPr marL="13716" marR="13716" marT="4572" marB="4572" anchor="ctr">
                    <a:solidFill>
                      <a:srgbClr val="D2DEEF"/>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0</a:t>
                      </a:r>
                    </a:p>
                  </a:txBody>
                  <a:tcPr marL="13716" marR="13716" marT="4572" marB="4572" anchor="ctr">
                    <a:solidFill>
                      <a:srgbClr val="D2DEEF"/>
                    </a:solidFill>
                  </a:tcPr>
                </a:tc>
                <a:extLst>
                  <a:ext uri="{0D108BD9-81ED-4DB2-BD59-A6C34878D82A}">
                    <a16:rowId xmlns:a16="http://schemas.microsoft.com/office/drawing/2014/main" val="10006"/>
                  </a:ext>
                </a:extLst>
              </a:tr>
            </a:tbl>
          </a:graphicData>
        </a:graphic>
      </p:graphicFrame>
      <p:sp>
        <p:nvSpPr>
          <p:cNvPr id="5" name="TextBox 4"/>
          <p:cNvSpPr txBox="1"/>
          <p:nvPr/>
        </p:nvSpPr>
        <p:spPr>
          <a:xfrm>
            <a:off x="11338560" y="6565392"/>
            <a:ext cx="502920" cy="182880"/>
          </a:xfrm>
          <a:prstGeom prst="rect">
            <a:avLst/>
          </a:prstGeom>
          <a:noFill/>
        </p:spPr>
        <p:txBody>
          <a:bodyPr wrap="square" lIns="0" tIns="0" rIns="0" bIns="0" anchor="ctr">
            <a:spAutoFit/>
          </a:bodyPr>
          <a:lstStyle/>
          <a:p>
            <a:pPr algn="ctr">
              <a:lnSpc>
                <a:spcPct val="130000"/>
              </a:lnSpc>
              <a:spcBef>
                <a:spcPts val="0"/>
              </a:spcBef>
              <a:spcAft>
                <a:spcPts val="0"/>
              </a:spcAft>
              <a:defRPr sz="1300" b="0">
                <a:solidFill>
                  <a:srgbClr val="666666"/>
                </a:solidFill>
                <a:latin typeface="微软雅黑"/>
              </a:defRPr>
            </a:pPr>
            <a:r>
              <a:rPr sz="1000" b="0">
                <a:solidFill>
                  <a:srgbClr val="666666"/>
                </a:solidFill>
                <a:latin typeface="微软雅黑"/>
                <a:ea typeface="微软雅黑"/>
              </a:rPr>
              <a:t>2</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19456"/>
            <a:ext cx="9738360" cy="621792"/>
          </a:xfrm>
          <a:prstGeom prst="rect">
            <a:avLst/>
          </a:prstGeom>
          <a:noFill/>
        </p:spPr>
        <p:txBody>
          <a:bodyPr wrap="square" lIns="0" tIns="0" rIns="0" bIns="0" anchor="ctr">
            <a:normAutofit/>
          </a:bodyPr>
          <a:lstStyle/>
          <a:p>
            <a:pPr algn="l">
              <a:lnSpc>
                <a:spcPct val="100000"/>
              </a:lnSpc>
              <a:spcBef>
                <a:spcPts val="0"/>
              </a:spcBef>
              <a:spcAft>
                <a:spcPts val="0"/>
              </a:spcAft>
              <a:defRPr sz="1300" b="1">
                <a:solidFill>
                  <a:srgbClr val="111111"/>
                </a:solidFill>
                <a:latin typeface="微软雅黑"/>
              </a:defRPr>
            </a:pPr>
            <a:r>
              <a:rPr sz="3400" b="1" i="0">
                <a:solidFill>
                  <a:srgbClr val="111111"/>
                </a:solidFill>
                <a:latin typeface="微软雅黑"/>
                <a:ea typeface="微软雅黑"/>
              </a:rPr>
              <a:t>2026年1—5月技术指标情况</a:t>
            </a:r>
          </a:p>
        </p:txBody>
      </p:sp>
      <p:graphicFrame>
        <p:nvGraphicFramePr>
          <p:cNvPr id="4" name="Table 3"/>
          <p:cNvGraphicFramePr>
            <a:graphicFrameLocks noGrp="1"/>
          </p:cNvGraphicFramePr>
          <p:nvPr/>
        </p:nvGraphicFramePr>
        <p:xfrm>
          <a:off x="329184" y="1207008"/>
          <a:ext cx="11494003" cy="5404065"/>
        </p:xfrm>
        <a:graphic>
          <a:graphicData uri="http://schemas.openxmlformats.org/drawingml/2006/table">
            <a:tbl>
              <a:tblPr>
                <a:tableStyleId>{5C22544A-7EE6-4342-B048-85BDC9FD1C3A}</a:tableStyleId>
              </a:tblPr>
              <a:tblGrid>
                <a:gridCol w="686018">
                  <a:extLst>
                    <a:ext uri="{9D8B030D-6E8A-4147-A177-3AD203B41FA5}">
                      <a16:colId xmlns:a16="http://schemas.microsoft.com/office/drawing/2014/main" val="20000"/>
                    </a:ext>
                  </a:extLst>
                </a:gridCol>
                <a:gridCol w="823221">
                  <a:extLst>
                    <a:ext uri="{9D8B030D-6E8A-4147-A177-3AD203B41FA5}">
                      <a16:colId xmlns:a16="http://schemas.microsoft.com/office/drawing/2014/main" val="20001"/>
                    </a:ext>
                  </a:extLst>
                </a:gridCol>
                <a:gridCol w="1006159">
                  <a:extLst>
                    <a:ext uri="{9D8B030D-6E8A-4147-A177-3AD203B41FA5}">
                      <a16:colId xmlns:a16="http://schemas.microsoft.com/office/drawing/2014/main" val="20002"/>
                    </a:ext>
                  </a:extLst>
                </a:gridCol>
                <a:gridCol w="896396">
                  <a:extLst>
                    <a:ext uri="{9D8B030D-6E8A-4147-A177-3AD203B41FA5}">
                      <a16:colId xmlns:a16="http://schemas.microsoft.com/office/drawing/2014/main" val="20003"/>
                    </a:ext>
                  </a:extLst>
                </a:gridCol>
                <a:gridCol w="600037">
                  <a:extLst>
                    <a:ext uri="{9D8B030D-6E8A-4147-A177-3AD203B41FA5}">
                      <a16:colId xmlns:a16="http://schemas.microsoft.com/office/drawing/2014/main" val="20004"/>
                    </a:ext>
                  </a:extLst>
                </a:gridCol>
                <a:gridCol w="896396">
                  <a:extLst>
                    <a:ext uri="{9D8B030D-6E8A-4147-A177-3AD203B41FA5}">
                      <a16:colId xmlns:a16="http://schemas.microsoft.com/office/drawing/2014/main" val="20005"/>
                    </a:ext>
                  </a:extLst>
                </a:gridCol>
                <a:gridCol w="600037">
                  <a:extLst>
                    <a:ext uri="{9D8B030D-6E8A-4147-A177-3AD203B41FA5}">
                      <a16:colId xmlns:a16="http://schemas.microsoft.com/office/drawing/2014/main" val="20006"/>
                    </a:ext>
                  </a:extLst>
                </a:gridCol>
                <a:gridCol w="896396">
                  <a:extLst>
                    <a:ext uri="{9D8B030D-6E8A-4147-A177-3AD203B41FA5}">
                      <a16:colId xmlns:a16="http://schemas.microsoft.com/office/drawing/2014/main" val="20007"/>
                    </a:ext>
                  </a:extLst>
                </a:gridCol>
                <a:gridCol w="600037">
                  <a:extLst>
                    <a:ext uri="{9D8B030D-6E8A-4147-A177-3AD203B41FA5}">
                      <a16:colId xmlns:a16="http://schemas.microsoft.com/office/drawing/2014/main" val="20008"/>
                    </a:ext>
                  </a:extLst>
                </a:gridCol>
                <a:gridCol w="896396">
                  <a:extLst>
                    <a:ext uri="{9D8B030D-6E8A-4147-A177-3AD203B41FA5}">
                      <a16:colId xmlns:a16="http://schemas.microsoft.com/office/drawing/2014/main" val="20009"/>
                    </a:ext>
                  </a:extLst>
                </a:gridCol>
                <a:gridCol w="600037">
                  <a:extLst>
                    <a:ext uri="{9D8B030D-6E8A-4147-A177-3AD203B41FA5}">
                      <a16:colId xmlns:a16="http://schemas.microsoft.com/office/drawing/2014/main" val="20010"/>
                    </a:ext>
                  </a:extLst>
                </a:gridCol>
                <a:gridCol w="896396">
                  <a:extLst>
                    <a:ext uri="{9D8B030D-6E8A-4147-A177-3AD203B41FA5}">
                      <a16:colId xmlns:a16="http://schemas.microsoft.com/office/drawing/2014/main" val="20011"/>
                    </a:ext>
                  </a:extLst>
                </a:gridCol>
                <a:gridCol w="600037">
                  <a:extLst>
                    <a:ext uri="{9D8B030D-6E8A-4147-A177-3AD203B41FA5}">
                      <a16:colId xmlns:a16="http://schemas.microsoft.com/office/drawing/2014/main" val="20012"/>
                    </a:ext>
                  </a:extLst>
                </a:gridCol>
                <a:gridCol w="896396">
                  <a:extLst>
                    <a:ext uri="{9D8B030D-6E8A-4147-A177-3AD203B41FA5}">
                      <a16:colId xmlns:a16="http://schemas.microsoft.com/office/drawing/2014/main" val="20013"/>
                    </a:ext>
                  </a:extLst>
                </a:gridCol>
                <a:gridCol w="600044">
                  <a:extLst>
                    <a:ext uri="{9D8B030D-6E8A-4147-A177-3AD203B41FA5}">
                      <a16:colId xmlns:a16="http://schemas.microsoft.com/office/drawing/2014/main" val="20014"/>
                    </a:ext>
                  </a:extLst>
                </a:gridCol>
              </a:tblGrid>
              <a:tr h="309317">
                <a:tc gridSpan="15">
                  <a:txBody>
                    <a:bodyPr/>
                    <a:lstStyle/>
                    <a:p>
                      <a:pPr algn="ctr">
                        <a:lnSpc>
                          <a:spcPct val="100000"/>
                        </a:lnSpc>
                        <a:spcBef>
                          <a:spcPts val="0"/>
                        </a:spcBef>
                        <a:spcAft>
                          <a:spcPts val="0"/>
                        </a:spcAft>
                        <a:defRPr sz="1300" b="1">
                          <a:latin typeface="微软雅黑"/>
                        </a:defRPr>
                      </a:pPr>
                      <a:r>
                        <a:rPr sz="1000" b="1">
                          <a:solidFill>
                            <a:srgbClr val="FFFFFF"/>
                          </a:solidFill>
                          <a:latin typeface="微软雅黑"/>
                          <a:ea typeface="微软雅黑"/>
                        </a:rPr>
                        <a:t>1-5月技术指标情况</a:t>
                      </a:r>
                    </a:p>
                  </a:txBody>
                  <a:tcPr marL="13716" marR="13716" marT="4572" marB="4572" anchor="ctr">
                    <a:solidFill>
                      <a:srgbClr val="4472C4"/>
                    </a:solidFill>
                  </a:tcPr>
                </a:tc>
                <a:tc hMerge="1">
                  <a:txBody>
                    <a:bodyPr/>
                    <a:lstStyle/>
                    <a:p>
                      <a:pPr algn="ctr">
                        <a:lnSpc>
                          <a:spcPct val="100000"/>
                        </a:lnSpc>
                        <a:spcBef>
                          <a:spcPts val="0"/>
                        </a:spcBef>
                        <a:spcAft>
                          <a:spcPts val="0"/>
                        </a:spcAft>
                        <a:defRPr sz="1300" b="1">
                          <a:latin typeface="微软雅黑"/>
                        </a:defRPr>
                      </a:pPr>
                      <a:endParaRPr/>
                    </a:p>
                  </a:txBody>
                  <a:tcPr marL="13716" marR="13716" marT="4572" marB="4572" anchor="ctr">
                    <a:solidFill>
                      <a:srgbClr val="4472C4"/>
                    </a:solidFill>
                  </a:tcPr>
                </a:tc>
                <a:tc hMerge="1">
                  <a:txBody>
                    <a:bodyPr/>
                    <a:lstStyle/>
                    <a:p>
                      <a:pPr algn="ctr">
                        <a:lnSpc>
                          <a:spcPct val="100000"/>
                        </a:lnSpc>
                        <a:spcBef>
                          <a:spcPts val="0"/>
                        </a:spcBef>
                        <a:spcAft>
                          <a:spcPts val="0"/>
                        </a:spcAft>
                        <a:defRPr sz="1300" b="1">
                          <a:latin typeface="微软雅黑"/>
                        </a:defRPr>
                      </a:pPr>
                      <a:endParaRPr/>
                    </a:p>
                  </a:txBody>
                  <a:tcPr marL="13716" marR="13716" marT="4572" marB="4572" anchor="ctr">
                    <a:solidFill>
                      <a:srgbClr val="4472C4"/>
                    </a:solidFill>
                  </a:tcPr>
                </a:tc>
                <a:tc hMerge="1">
                  <a:txBody>
                    <a:bodyPr/>
                    <a:lstStyle/>
                    <a:p>
                      <a:pPr algn="ctr">
                        <a:lnSpc>
                          <a:spcPct val="100000"/>
                        </a:lnSpc>
                        <a:spcBef>
                          <a:spcPts val="0"/>
                        </a:spcBef>
                        <a:spcAft>
                          <a:spcPts val="0"/>
                        </a:spcAft>
                        <a:defRPr sz="1300" b="1">
                          <a:latin typeface="微软雅黑"/>
                        </a:defRPr>
                      </a:pPr>
                      <a:endParaRPr/>
                    </a:p>
                  </a:txBody>
                  <a:tcPr marL="13716" marR="13716" marT="4572" marB="4572" anchor="ctr">
                    <a:solidFill>
                      <a:srgbClr val="4472C4"/>
                    </a:solidFill>
                  </a:tcPr>
                </a:tc>
                <a:tc hMerge="1">
                  <a:txBody>
                    <a:bodyPr/>
                    <a:lstStyle/>
                    <a:p>
                      <a:pPr algn="ctr">
                        <a:lnSpc>
                          <a:spcPct val="100000"/>
                        </a:lnSpc>
                        <a:spcBef>
                          <a:spcPts val="0"/>
                        </a:spcBef>
                        <a:spcAft>
                          <a:spcPts val="0"/>
                        </a:spcAft>
                        <a:defRPr sz="1300" b="1">
                          <a:latin typeface="微软雅黑"/>
                        </a:defRPr>
                      </a:pPr>
                      <a:endParaRPr/>
                    </a:p>
                  </a:txBody>
                  <a:tcPr marL="13716" marR="13716" marT="4572" marB="4572" anchor="ctr">
                    <a:solidFill>
                      <a:srgbClr val="4472C4"/>
                    </a:solidFill>
                  </a:tcPr>
                </a:tc>
                <a:tc hMerge="1">
                  <a:txBody>
                    <a:bodyPr/>
                    <a:lstStyle/>
                    <a:p>
                      <a:pPr algn="ctr">
                        <a:lnSpc>
                          <a:spcPct val="100000"/>
                        </a:lnSpc>
                        <a:spcBef>
                          <a:spcPts val="0"/>
                        </a:spcBef>
                        <a:spcAft>
                          <a:spcPts val="0"/>
                        </a:spcAft>
                        <a:defRPr sz="1300" b="1">
                          <a:latin typeface="微软雅黑"/>
                        </a:defRPr>
                      </a:pPr>
                      <a:endParaRPr/>
                    </a:p>
                  </a:txBody>
                  <a:tcPr marL="13716" marR="13716" marT="4572" marB="4572" anchor="ctr">
                    <a:solidFill>
                      <a:srgbClr val="4472C4"/>
                    </a:solidFill>
                  </a:tcPr>
                </a:tc>
                <a:tc hMerge="1">
                  <a:txBody>
                    <a:bodyPr/>
                    <a:lstStyle/>
                    <a:p>
                      <a:pPr algn="ctr">
                        <a:lnSpc>
                          <a:spcPct val="100000"/>
                        </a:lnSpc>
                        <a:spcBef>
                          <a:spcPts val="0"/>
                        </a:spcBef>
                        <a:spcAft>
                          <a:spcPts val="0"/>
                        </a:spcAft>
                        <a:defRPr sz="1300" b="1">
                          <a:latin typeface="微软雅黑"/>
                        </a:defRPr>
                      </a:pPr>
                      <a:endParaRPr/>
                    </a:p>
                  </a:txBody>
                  <a:tcPr marL="13716" marR="13716" marT="4572" marB="4572" anchor="ctr">
                    <a:solidFill>
                      <a:srgbClr val="4472C4"/>
                    </a:solidFill>
                  </a:tcPr>
                </a:tc>
                <a:tc hMerge="1">
                  <a:txBody>
                    <a:bodyPr/>
                    <a:lstStyle/>
                    <a:p>
                      <a:pPr algn="ctr">
                        <a:lnSpc>
                          <a:spcPct val="100000"/>
                        </a:lnSpc>
                        <a:spcBef>
                          <a:spcPts val="0"/>
                        </a:spcBef>
                        <a:spcAft>
                          <a:spcPts val="0"/>
                        </a:spcAft>
                        <a:defRPr sz="1300" b="1">
                          <a:latin typeface="微软雅黑"/>
                        </a:defRPr>
                      </a:pPr>
                      <a:endParaRPr/>
                    </a:p>
                  </a:txBody>
                  <a:tcPr marL="13716" marR="13716" marT="4572" marB="4572" anchor="ctr">
                    <a:solidFill>
                      <a:srgbClr val="4472C4"/>
                    </a:solidFill>
                  </a:tcPr>
                </a:tc>
                <a:tc hMerge="1">
                  <a:txBody>
                    <a:bodyPr/>
                    <a:lstStyle/>
                    <a:p>
                      <a:pPr algn="ctr">
                        <a:lnSpc>
                          <a:spcPct val="100000"/>
                        </a:lnSpc>
                        <a:spcBef>
                          <a:spcPts val="0"/>
                        </a:spcBef>
                        <a:spcAft>
                          <a:spcPts val="0"/>
                        </a:spcAft>
                        <a:defRPr sz="1300" b="1">
                          <a:latin typeface="微软雅黑"/>
                        </a:defRPr>
                      </a:pPr>
                      <a:endParaRPr/>
                    </a:p>
                  </a:txBody>
                  <a:tcPr marL="13716" marR="13716" marT="4572" marB="4572" anchor="ctr">
                    <a:solidFill>
                      <a:srgbClr val="4472C4"/>
                    </a:solidFill>
                  </a:tcPr>
                </a:tc>
                <a:tc hMerge="1">
                  <a:txBody>
                    <a:bodyPr/>
                    <a:lstStyle/>
                    <a:p>
                      <a:pPr algn="ctr">
                        <a:lnSpc>
                          <a:spcPct val="100000"/>
                        </a:lnSpc>
                        <a:spcBef>
                          <a:spcPts val="0"/>
                        </a:spcBef>
                        <a:spcAft>
                          <a:spcPts val="0"/>
                        </a:spcAft>
                        <a:defRPr sz="1300" b="1">
                          <a:latin typeface="微软雅黑"/>
                        </a:defRPr>
                      </a:pPr>
                      <a:endParaRPr/>
                    </a:p>
                  </a:txBody>
                  <a:tcPr marL="13716" marR="13716" marT="4572" marB="4572" anchor="ctr">
                    <a:solidFill>
                      <a:srgbClr val="4472C4"/>
                    </a:solidFill>
                  </a:tcPr>
                </a:tc>
                <a:tc hMerge="1">
                  <a:txBody>
                    <a:bodyPr/>
                    <a:lstStyle/>
                    <a:p>
                      <a:pPr algn="ctr">
                        <a:lnSpc>
                          <a:spcPct val="100000"/>
                        </a:lnSpc>
                        <a:spcBef>
                          <a:spcPts val="0"/>
                        </a:spcBef>
                        <a:spcAft>
                          <a:spcPts val="0"/>
                        </a:spcAft>
                        <a:defRPr sz="1300" b="1">
                          <a:latin typeface="微软雅黑"/>
                        </a:defRPr>
                      </a:pPr>
                      <a:endParaRPr/>
                    </a:p>
                  </a:txBody>
                  <a:tcPr marL="13716" marR="13716" marT="4572" marB="4572" anchor="ctr">
                    <a:solidFill>
                      <a:srgbClr val="4472C4"/>
                    </a:solidFill>
                  </a:tcPr>
                </a:tc>
                <a:tc hMerge="1">
                  <a:txBody>
                    <a:bodyPr/>
                    <a:lstStyle/>
                    <a:p>
                      <a:pPr algn="ctr">
                        <a:lnSpc>
                          <a:spcPct val="100000"/>
                        </a:lnSpc>
                        <a:spcBef>
                          <a:spcPts val="0"/>
                        </a:spcBef>
                        <a:spcAft>
                          <a:spcPts val="0"/>
                        </a:spcAft>
                        <a:defRPr sz="1300" b="1">
                          <a:latin typeface="微软雅黑"/>
                        </a:defRPr>
                      </a:pPr>
                      <a:endParaRPr/>
                    </a:p>
                  </a:txBody>
                  <a:tcPr marL="13716" marR="13716" marT="4572" marB="4572" anchor="ctr">
                    <a:solidFill>
                      <a:srgbClr val="4472C4"/>
                    </a:solidFill>
                  </a:tcPr>
                </a:tc>
                <a:tc hMerge="1">
                  <a:txBody>
                    <a:bodyPr/>
                    <a:lstStyle/>
                    <a:p>
                      <a:pPr algn="ctr">
                        <a:lnSpc>
                          <a:spcPct val="100000"/>
                        </a:lnSpc>
                        <a:spcBef>
                          <a:spcPts val="0"/>
                        </a:spcBef>
                        <a:spcAft>
                          <a:spcPts val="0"/>
                        </a:spcAft>
                        <a:defRPr sz="1300" b="1">
                          <a:latin typeface="微软雅黑"/>
                        </a:defRPr>
                      </a:pPr>
                      <a:endParaRPr/>
                    </a:p>
                  </a:txBody>
                  <a:tcPr marL="13716" marR="13716" marT="4572" marB="4572" anchor="ctr">
                    <a:solidFill>
                      <a:srgbClr val="4472C4"/>
                    </a:solidFill>
                  </a:tcPr>
                </a:tc>
                <a:tc hMerge="1">
                  <a:txBody>
                    <a:bodyPr/>
                    <a:lstStyle/>
                    <a:p>
                      <a:pPr algn="ctr">
                        <a:lnSpc>
                          <a:spcPct val="100000"/>
                        </a:lnSpc>
                        <a:spcBef>
                          <a:spcPts val="0"/>
                        </a:spcBef>
                        <a:spcAft>
                          <a:spcPts val="0"/>
                        </a:spcAft>
                        <a:defRPr sz="1300" b="1">
                          <a:latin typeface="微软雅黑"/>
                        </a:defRPr>
                      </a:pPr>
                      <a:endParaRPr/>
                    </a:p>
                  </a:txBody>
                  <a:tcPr marL="13716" marR="13716" marT="4572" marB="4572" anchor="ctr">
                    <a:solidFill>
                      <a:srgbClr val="4472C4"/>
                    </a:solidFill>
                  </a:tcPr>
                </a:tc>
                <a:tc hMerge="1">
                  <a:txBody>
                    <a:bodyPr/>
                    <a:lstStyle/>
                    <a:p>
                      <a:pPr algn="ctr">
                        <a:lnSpc>
                          <a:spcPct val="100000"/>
                        </a:lnSpc>
                        <a:spcBef>
                          <a:spcPts val="0"/>
                        </a:spcBef>
                        <a:spcAft>
                          <a:spcPts val="0"/>
                        </a:spcAft>
                        <a:defRPr sz="1300" b="1">
                          <a:latin typeface="微软雅黑"/>
                        </a:defRPr>
                      </a:pPr>
                      <a:endParaRPr/>
                    </a:p>
                  </a:txBody>
                  <a:tcPr marL="13716" marR="13716" marT="4572" marB="4572" anchor="ctr">
                    <a:solidFill>
                      <a:srgbClr val="4472C4"/>
                    </a:solidFill>
                  </a:tcPr>
                </a:tc>
                <a:extLst>
                  <a:ext uri="{0D108BD9-81ED-4DB2-BD59-A6C34878D82A}">
                    <a16:rowId xmlns:a16="http://schemas.microsoft.com/office/drawing/2014/main" val="10000"/>
                  </a:ext>
                </a:extLst>
              </a:tr>
              <a:tr h="527659">
                <a:tc rowSpan="2" gridSpan="3">
                  <a:txBody>
                    <a:bodyPr/>
                    <a:lstStyle/>
                    <a:p>
                      <a:pPr algn="ctr">
                        <a:lnSpc>
                          <a:spcPct val="100000"/>
                        </a:lnSpc>
                        <a:spcBef>
                          <a:spcPts val="0"/>
                        </a:spcBef>
                        <a:spcAft>
                          <a:spcPts val="0"/>
                        </a:spcAft>
                        <a:defRPr sz="1300">
                          <a:latin typeface="微软雅黑"/>
                        </a:defRPr>
                      </a:pPr>
                      <a:r>
                        <a:rPr sz="1000" b="1">
                          <a:solidFill>
                            <a:srgbClr val="FFFFFF"/>
                          </a:solidFill>
                          <a:latin typeface="微软雅黑"/>
                          <a:ea typeface="微软雅黑"/>
                        </a:rPr>
                        <a:t>规划院考核值</a:t>
                      </a:r>
                    </a:p>
                  </a:txBody>
                  <a:tcPr marL="13716" marR="13716" marT="4572" marB="4572" anchor="ctr">
                    <a:solidFill>
                      <a:srgbClr val="4472C4"/>
                    </a:solidFill>
                  </a:tcPr>
                </a:tc>
                <a:tc rowSpan="2" hMerge="1">
                  <a:txBody>
                    <a:bodyPr/>
                    <a:lstStyle/>
                    <a:p>
                      <a:pPr algn="ctr">
                        <a:lnSpc>
                          <a:spcPct val="100000"/>
                        </a:lnSpc>
                        <a:spcBef>
                          <a:spcPts val="0"/>
                        </a:spcBef>
                        <a:spcAft>
                          <a:spcPts val="0"/>
                        </a:spcAft>
                        <a:defRPr sz="1300">
                          <a:latin typeface="微软雅黑"/>
                        </a:defRPr>
                      </a:pPr>
                      <a:endParaRPr/>
                    </a:p>
                  </a:txBody>
                  <a:tcPr marL="13716" marR="13716" marT="4572" marB="4572" anchor="ctr">
                    <a:solidFill>
                      <a:srgbClr val="4472C4"/>
                    </a:solidFill>
                  </a:tcPr>
                </a:tc>
                <a:tc rowSpan="2" hMerge="1">
                  <a:txBody>
                    <a:bodyPr/>
                    <a:lstStyle/>
                    <a:p>
                      <a:pPr algn="ctr">
                        <a:lnSpc>
                          <a:spcPct val="100000"/>
                        </a:lnSpc>
                        <a:spcBef>
                          <a:spcPts val="0"/>
                        </a:spcBef>
                        <a:spcAft>
                          <a:spcPts val="0"/>
                        </a:spcAft>
                        <a:defRPr sz="1300">
                          <a:latin typeface="微软雅黑"/>
                        </a:defRPr>
                      </a:pPr>
                      <a:endParaRPr/>
                    </a:p>
                  </a:txBody>
                  <a:tcPr marL="13716" marR="13716" marT="4572" marB="4572" anchor="ctr">
                    <a:solidFill>
                      <a:srgbClr val="4472C4"/>
                    </a:solidFill>
                  </a:tcPr>
                </a:tc>
                <a:tc gridSpan="2">
                  <a:txBody>
                    <a:bodyPr/>
                    <a:lstStyle/>
                    <a:p>
                      <a:pPr algn="ctr">
                        <a:lnSpc>
                          <a:spcPct val="100000"/>
                        </a:lnSpc>
                        <a:spcBef>
                          <a:spcPts val="0"/>
                        </a:spcBef>
                        <a:spcAft>
                          <a:spcPts val="0"/>
                        </a:spcAft>
                        <a:defRPr sz="1300">
                          <a:latin typeface="微软雅黑"/>
                        </a:defRPr>
                      </a:pPr>
                      <a:r>
                        <a:rPr sz="1000" b="1">
                          <a:solidFill>
                            <a:srgbClr val="FFFFFF"/>
                          </a:solidFill>
                          <a:latin typeface="微软雅黑"/>
                          <a:ea typeface="微软雅黑"/>
                        </a:rPr>
                        <a:t>集团业务部</a:t>
                      </a:r>
                    </a:p>
                  </a:txBody>
                  <a:tcPr marL="13716" marR="13716" marT="4572" marB="4572" anchor="ctr">
                    <a:solidFill>
                      <a:srgbClr val="4472C4"/>
                    </a:solidFill>
                  </a:tcPr>
                </a:tc>
                <a:tc hMerge="1">
                  <a:txBody>
                    <a:bodyPr/>
                    <a:lstStyle/>
                    <a:p>
                      <a:pPr algn="ctr">
                        <a:lnSpc>
                          <a:spcPct val="100000"/>
                        </a:lnSpc>
                        <a:spcBef>
                          <a:spcPts val="0"/>
                        </a:spcBef>
                        <a:spcAft>
                          <a:spcPts val="0"/>
                        </a:spcAft>
                        <a:defRPr sz="1300">
                          <a:latin typeface="微软雅黑"/>
                        </a:defRPr>
                      </a:pPr>
                      <a:endParaRPr/>
                    </a:p>
                  </a:txBody>
                  <a:tcPr marL="13716" marR="13716" marT="4572" marB="4572" anchor="ctr">
                    <a:solidFill>
                      <a:srgbClr val="4472C4"/>
                    </a:solidFill>
                  </a:tcPr>
                </a:tc>
                <a:tc gridSpan="2">
                  <a:txBody>
                    <a:bodyPr/>
                    <a:lstStyle/>
                    <a:p>
                      <a:pPr algn="ctr">
                        <a:lnSpc>
                          <a:spcPct val="100000"/>
                        </a:lnSpc>
                        <a:spcBef>
                          <a:spcPts val="0"/>
                        </a:spcBef>
                        <a:spcAft>
                          <a:spcPts val="0"/>
                        </a:spcAft>
                        <a:defRPr sz="1300">
                          <a:latin typeface="微软雅黑"/>
                        </a:defRPr>
                      </a:pPr>
                      <a:r>
                        <a:rPr sz="1000" b="1">
                          <a:solidFill>
                            <a:srgbClr val="FFFFFF"/>
                          </a:solidFill>
                          <a:latin typeface="微软雅黑"/>
                          <a:ea typeface="微软雅黑"/>
                        </a:rPr>
                        <a:t>建筑能源设计院</a:t>
                      </a:r>
                    </a:p>
                  </a:txBody>
                  <a:tcPr marL="13716" marR="13716" marT="4572" marB="4572" anchor="ctr">
                    <a:solidFill>
                      <a:srgbClr val="4472C4"/>
                    </a:solidFill>
                  </a:tcPr>
                </a:tc>
                <a:tc hMerge="1">
                  <a:txBody>
                    <a:bodyPr/>
                    <a:lstStyle/>
                    <a:p>
                      <a:pPr algn="ctr">
                        <a:lnSpc>
                          <a:spcPct val="100000"/>
                        </a:lnSpc>
                        <a:spcBef>
                          <a:spcPts val="0"/>
                        </a:spcBef>
                        <a:spcAft>
                          <a:spcPts val="0"/>
                        </a:spcAft>
                        <a:defRPr sz="1300">
                          <a:latin typeface="微软雅黑"/>
                        </a:defRPr>
                      </a:pPr>
                      <a:endParaRPr/>
                    </a:p>
                  </a:txBody>
                  <a:tcPr marL="13716" marR="13716" marT="4572" marB="4572" anchor="ctr">
                    <a:solidFill>
                      <a:srgbClr val="4472C4"/>
                    </a:solidFill>
                  </a:tcPr>
                </a:tc>
                <a:tc gridSpan="2">
                  <a:txBody>
                    <a:bodyPr/>
                    <a:lstStyle/>
                    <a:p>
                      <a:pPr algn="ctr">
                        <a:lnSpc>
                          <a:spcPct val="100000"/>
                        </a:lnSpc>
                        <a:spcBef>
                          <a:spcPts val="0"/>
                        </a:spcBef>
                        <a:spcAft>
                          <a:spcPts val="0"/>
                        </a:spcAft>
                        <a:defRPr sz="1300">
                          <a:latin typeface="微软雅黑"/>
                        </a:defRPr>
                      </a:pPr>
                      <a:r>
                        <a:rPr sz="1000" b="1">
                          <a:solidFill>
                            <a:srgbClr val="FFFFFF"/>
                          </a:solidFill>
                          <a:latin typeface="微软雅黑"/>
                          <a:ea typeface="微软雅黑"/>
                        </a:rPr>
                        <a:t>智慧城市设计院</a:t>
                      </a:r>
                    </a:p>
                  </a:txBody>
                  <a:tcPr marL="13716" marR="13716" marT="4572" marB="4572" anchor="ctr">
                    <a:solidFill>
                      <a:srgbClr val="4472C4"/>
                    </a:solidFill>
                  </a:tcPr>
                </a:tc>
                <a:tc hMerge="1">
                  <a:txBody>
                    <a:bodyPr/>
                    <a:lstStyle/>
                    <a:p>
                      <a:pPr algn="ctr">
                        <a:lnSpc>
                          <a:spcPct val="100000"/>
                        </a:lnSpc>
                        <a:spcBef>
                          <a:spcPts val="0"/>
                        </a:spcBef>
                        <a:spcAft>
                          <a:spcPts val="0"/>
                        </a:spcAft>
                        <a:defRPr sz="1300">
                          <a:latin typeface="微软雅黑"/>
                        </a:defRPr>
                      </a:pPr>
                      <a:endParaRPr/>
                    </a:p>
                  </a:txBody>
                  <a:tcPr marL="13716" marR="13716" marT="4572" marB="4572" anchor="ctr">
                    <a:solidFill>
                      <a:srgbClr val="4472C4"/>
                    </a:solidFill>
                  </a:tcPr>
                </a:tc>
                <a:tc gridSpan="2">
                  <a:txBody>
                    <a:bodyPr/>
                    <a:lstStyle/>
                    <a:p>
                      <a:pPr algn="ctr">
                        <a:lnSpc>
                          <a:spcPct val="100000"/>
                        </a:lnSpc>
                        <a:spcBef>
                          <a:spcPts val="0"/>
                        </a:spcBef>
                        <a:spcAft>
                          <a:spcPts val="0"/>
                        </a:spcAft>
                        <a:defRPr sz="1300">
                          <a:latin typeface="微软雅黑"/>
                        </a:defRPr>
                      </a:pPr>
                      <a:r>
                        <a:rPr sz="1000" b="1">
                          <a:solidFill>
                            <a:srgbClr val="FFFFFF"/>
                          </a:solidFill>
                          <a:latin typeface="微软雅黑"/>
                          <a:ea typeface="微软雅黑"/>
                        </a:rPr>
                        <a:t>北京事业部</a:t>
                      </a:r>
                    </a:p>
                  </a:txBody>
                  <a:tcPr marL="13716" marR="13716" marT="4572" marB="4572" anchor="ctr">
                    <a:solidFill>
                      <a:srgbClr val="4472C4"/>
                    </a:solidFill>
                  </a:tcPr>
                </a:tc>
                <a:tc hMerge="1">
                  <a:txBody>
                    <a:bodyPr/>
                    <a:lstStyle/>
                    <a:p>
                      <a:pPr algn="ctr">
                        <a:lnSpc>
                          <a:spcPct val="100000"/>
                        </a:lnSpc>
                        <a:spcBef>
                          <a:spcPts val="0"/>
                        </a:spcBef>
                        <a:spcAft>
                          <a:spcPts val="0"/>
                        </a:spcAft>
                        <a:defRPr sz="1300">
                          <a:latin typeface="微软雅黑"/>
                        </a:defRPr>
                      </a:pPr>
                      <a:endParaRPr/>
                    </a:p>
                  </a:txBody>
                  <a:tcPr marL="13716" marR="13716" marT="4572" marB="4572" anchor="ctr">
                    <a:solidFill>
                      <a:srgbClr val="4472C4"/>
                    </a:solidFill>
                  </a:tcPr>
                </a:tc>
                <a:tc gridSpan="2">
                  <a:txBody>
                    <a:bodyPr/>
                    <a:lstStyle/>
                    <a:p>
                      <a:pPr algn="ctr">
                        <a:lnSpc>
                          <a:spcPct val="100000"/>
                        </a:lnSpc>
                        <a:spcBef>
                          <a:spcPts val="0"/>
                        </a:spcBef>
                        <a:spcAft>
                          <a:spcPts val="0"/>
                        </a:spcAft>
                        <a:defRPr sz="1300">
                          <a:latin typeface="微软雅黑"/>
                        </a:defRPr>
                      </a:pPr>
                      <a:r>
                        <a:rPr sz="1000" b="1">
                          <a:solidFill>
                            <a:srgbClr val="FFFFFF"/>
                          </a:solidFill>
                          <a:latin typeface="微软雅黑"/>
                          <a:ea typeface="微软雅黑"/>
                        </a:rPr>
                        <a:t>重点业务部</a:t>
                      </a:r>
                    </a:p>
                  </a:txBody>
                  <a:tcPr marL="13716" marR="13716" marT="4572" marB="4572" anchor="ctr">
                    <a:solidFill>
                      <a:srgbClr val="4472C4"/>
                    </a:solidFill>
                  </a:tcPr>
                </a:tc>
                <a:tc hMerge="1">
                  <a:txBody>
                    <a:bodyPr/>
                    <a:lstStyle/>
                    <a:p>
                      <a:pPr algn="ctr">
                        <a:lnSpc>
                          <a:spcPct val="100000"/>
                        </a:lnSpc>
                        <a:spcBef>
                          <a:spcPts val="0"/>
                        </a:spcBef>
                        <a:spcAft>
                          <a:spcPts val="0"/>
                        </a:spcAft>
                        <a:defRPr sz="1300">
                          <a:latin typeface="微软雅黑"/>
                        </a:defRPr>
                      </a:pPr>
                      <a:endParaRPr/>
                    </a:p>
                  </a:txBody>
                  <a:tcPr marL="13716" marR="13716" marT="4572" marB="4572" anchor="ctr">
                    <a:solidFill>
                      <a:srgbClr val="4472C4"/>
                    </a:solidFill>
                  </a:tcPr>
                </a:tc>
                <a:tc gridSpan="2">
                  <a:txBody>
                    <a:bodyPr/>
                    <a:lstStyle/>
                    <a:p>
                      <a:pPr algn="ctr">
                        <a:lnSpc>
                          <a:spcPct val="100000"/>
                        </a:lnSpc>
                        <a:spcBef>
                          <a:spcPts val="0"/>
                        </a:spcBef>
                        <a:spcAft>
                          <a:spcPts val="0"/>
                        </a:spcAft>
                        <a:defRPr sz="1300">
                          <a:latin typeface="微软雅黑"/>
                        </a:defRPr>
                      </a:pPr>
                      <a:r>
                        <a:rPr sz="1000" b="1">
                          <a:solidFill>
                            <a:srgbClr val="FFFFFF"/>
                          </a:solidFill>
                          <a:latin typeface="微软雅黑"/>
                          <a:ea typeface="微软雅黑"/>
                        </a:rPr>
                        <a:t>集团咨询支撑中心</a:t>
                      </a:r>
                    </a:p>
                  </a:txBody>
                  <a:tcPr marL="13716" marR="13716" marT="4572" marB="4572" anchor="ctr">
                    <a:solidFill>
                      <a:srgbClr val="4472C4"/>
                    </a:solidFill>
                  </a:tcPr>
                </a:tc>
                <a:tc hMerge="1">
                  <a:txBody>
                    <a:bodyPr/>
                    <a:lstStyle/>
                    <a:p>
                      <a:pPr algn="ctr">
                        <a:lnSpc>
                          <a:spcPct val="100000"/>
                        </a:lnSpc>
                        <a:spcBef>
                          <a:spcPts val="0"/>
                        </a:spcBef>
                        <a:spcAft>
                          <a:spcPts val="0"/>
                        </a:spcAft>
                        <a:defRPr sz="1300">
                          <a:latin typeface="微软雅黑"/>
                        </a:defRPr>
                      </a:pPr>
                      <a:endParaRPr/>
                    </a:p>
                  </a:txBody>
                  <a:tcPr marL="13716" marR="13716" marT="4572" marB="4572" anchor="ctr">
                    <a:solidFill>
                      <a:srgbClr val="4472C4"/>
                    </a:solidFill>
                  </a:tcPr>
                </a:tc>
                <a:extLst>
                  <a:ext uri="{0D108BD9-81ED-4DB2-BD59-A6C34878D82A}">
                    <a16:rowId xmlns:a16="http://schemas.microsoft.com/office/drawing/2014/main" val="10001"/>
                  </a:ext>
                </a:extLst>
              </a:tr>
              <a:tr h="400293">
                <a:tc gridSpan="3" vMerge="1">
                  <a:txBody>
                    <a:bodyPr/>
                    <a:lstStyle/>
                    <a:p>
                      <a:pPr algn="ctr">
                        <a:lnSpc>
                          <a:spcPct val="100000"/>
                        </a:lnSpc>
                        <a:spcBef>
                          <a:spcPts val="0"/>
                        </a:spcBef>
                        <a:spcAft>
                          <a:spcPts val="0"/>
                        </a:spcAft>
                        <a:defRPr sz="1300">
                          <a:latin typeface="微软雅黑"/>
                        </a:defRPr>
                      </a:pPr>
                      <a:endParaRPr/>
                    </a:p>
                  </a:txBody>
                  <a:tcPr marL="13716" marR="13716" marT="4572" marB="4572" anchor="ctr">
                    <a:solidFill>
                      <a:srgbClr val="4472C4"/>
                    </a:solidFill>
                  </a:tcPr>
                </a:tc>
                <a:tc hMerge="1" vMerge="1">
                  <a:txBody>
                    <a:bodyPr/>
                    <a:lstStyle/>
                    <a:p>
                      <a:pPr algn="ctr">
                        <a:lnSpc>
                          <a:spcPct val="100000"/>
                        </a:lnSpc>
                        <a:spcBef>
                          <a:spcPts val="0"/>
                        </a:spcBef>
                        <a:spcAft>
                          <a:spcPts val="0"/>
                        </a:spcAft>
                        <a:defRPr sz="1300">
                          <a:latin typeface="微软雅黑"/>
                        </a:defRPr>
                      </a:pPr>
                      <a:endParaRPr/>
                    </a:p>
                  </a:txBody>
                  <a:tcPr marL="13716" marR="13716" marT="4572" marB="4572" anchor="ctr">
                    <a:solidFill>
                      <a:srgbClr val="4472C4"/>
                    </a:solidFill>
                  </a:tcPr>
                </a:tc>
                <a:tc hMerge="1" vMerge="1">
                  <a:txBody>
                    <a:bodyPr/>
                    <a:lstStyle/>
                    <a:p>
                      <a:pPr algn="ctr">
                        <a:lnSpc>
                          <a:spcPct val="100000"/>
                        </a:lnSpc>
                        <a:spcBef>
                          <a:spcPts val="0"/>
                        </a:spcBef>
                        <a:spcAft>
                          <a:spcPts val="0"/>
                        </a:spcAft>
                        <a:defRPr sz="1300">
                          <a:latin typeface="微软雅黑"/>
                        </a:defRPr>
                      </a:pPr>
                      <a:endParaRPr/>
                    </a:p>
                  </a:txBody>
                  <a:tcPr marL="13716" marR="13716" marT="4572" marB="4572" anchor="ctr">
                    <a:solidFill>
                      <a:srgbClr val="4472C4"/>
                    </a:solidFill>
                  </a:tcPr>
                </a:tc>
                <a:tc>
                  <a:txBody>
                    <a:bodyPr/>
                    <a:lstStyle/>
                    <a:p>
                      <a:pPr algn="ctr">
                        <a:lnSpc>
                          <a:spcPct val="100000"/>
                        </a:lnSpc>
                        <a:spcBef>
                          <a:spcPts val="0"/>
                        </a:spcBef>
                        <a:spcAft>
                          <a:spcPts val="0"/>
                        </a:spcAft>
                        <a:defRPr sz="1300">
                          <a:latin typeface="微软雅黑"/>
                        </a:defRPr>
                      </a:pPr>
                      <a:r>
                        <a:rPr sz="1000" b="1">
                          <a:solidFill>
                            <a:srgbClr val="FFFFFF"/>
                          </a:solidFill>
                          <a:latin typeface="微软雅黑"/>
                          <a:ea typeface="微软雅黑"/>
                        </a:rPr>
                        <a:t>目标</a:t>
                      </a:r>
                    </a:p>
                  </a:txBody>
                  <a:tcPr marL="13716" marR="13716" marT="4572" marB="4572" anchor="ctr">
                    <a:solidFill>
                      <a:srgbClr val="4472C4"/>
                    </a:solidFill>
                  </a:tcPr>
                </a:tc>
                <a:tc>
                  <a:txBody>
                    <a:bodyPr/>
                    <a:lstStyle/>
                    <a:p>
                      <a:pPr algn="ctr">
                        <a:lnSpc>
                          <a:spcPct val="100000"/>
                        </a:lnSpc>
                        <a:spcBef>
                          <a:spcPts val="0"/>
                        </a:spcBef>
                        <a:spcAft>
                          <a:spcPts val="0"/>
                        </a:spcAft>
                        <a:defRPr sz="1300">
                          <a:latin typeface="微软雅黑"/>
                        </a:defRPr>
                      </a:pPr>
                      <a:r>
                        <a:rPr sz="1000" b="1">
                          <a:solidFill>
                            <a:srgbClr val="FFFFFF"/>
                          </a:solidFill>
                          <a:latin typeface="微软雅黑"/>
                          <a:ea typeface="微软雅黑"/>
                        </a:rPr>
                        <a:t>已完</a:t>
                      </a:r>
                    </a:p>
                  </a:txBody>
                  <a:tcPr marL="13716" marR="13716" marT="4572" marB="4572" anchor="ctr">
                    <a:solidFill>
                      <a:srgbClr val="4472C4"/>
                    </a:solidFill>
                  </a:tcPr>
                </a:tc>
                <a:tc>
                  <a:txBody>
                    <a:bodyPr/>
                    <a:lstStyle/>
                    <a:p>
                      <a:pPr algn="ctr">
                        <a:lnSpc>
                          <a:spcPct val="100000"/>
                        </a:lnSpc>
                        <a:spcBef>
                          <a:spcPts val="0"/>
                        </a:spcBef>
                        <a:spcAft>
                          <a:spcPts val="0"/>
                        </a:spcAft>
                        <a:defRPr sz="1300">
                          <a:latin typeface="微软雅黑"/>
                        </a:defRPr>
                      </a:pPr>
                      <a:r>
                        <a:rPr sz="1000" b="1">
                          <a:solidFill>
                            <a:srgbClr val="FFFFFF"/>
                          </a:solidFill>
                          <a:latin typeface="微软雅黑"/>
                          <a:ea typeface="微软雅黑"/>
                        </a:rPr>
                        <a:t>目标</a:t>
                      </a:r>
                    </a:p>
                  </a:txBody>
                  <a:tcPr marL="13716" marR="13716" marT="4572" marB="4572" anchor="ctr">
                    <a:solidFill>
                      <a:srgbClr val="4472C4"/>
                    </a:solidFill>
                  </a:tcPr>
                </a:tc>
                <a:tc>
                  <a:txBody>
                    <a:bodyPr/>
                    <a:lstStyle/>
                    <a:p>
                      <a:pPr algn="ctr">
                        <a:lnSpc>
                          <a:spcPct val="100000"/>
                        </a:lnSpc>
                        <a:spcBef>
                          <a:spcPts val="0"/>
                        </a:spcBef>
                        <a:spcAft>
                          <a:spcPts val="0"/>
                        </a:spcAft>
                        <a:defRPr sz="1300">
                          <a:latin typeface="微软雅黑"/>
                        </a:defRPr>
                      </a:pPr>
                      <a:r>
                        <a:rPr sz="1000" b="1">
                          <a:solidFill>
                            <a:srgbClr val="FFFFFF"/>
                          </a:solidFill>
                          <a:latin typeface="微软雅黑"/>
                          <a:ea typeface="微软雅黑"/>
                        </a:rPr>
                        <a:t>已完</a:t>
                      </a:r>
                    </a:p>
                  </a:txBody>
                  <a:tcPr marL="13716" marR="13716" marT="4572" marB="4572" anchor="ctr">
                    <a:solidFill>
                      <a:srgbClr val="4472C4"/>
                    </a:solidFill>
                  </a:tcPr>
                </a:tc>
                <a:tc>
                  <a:txBody>
                    <a:bodyPr/>
                    <a:lstStyle/>
                    <a:p>
                      <a:pPr algn="ctr">
                        <a:lnSpc>
                          <a:spcPct val="100000"/>
                        </a:lnSpc>
                        <a:spcBef>
                          <a:spcPts val="0"/>
                        </a:spcBef>
                        <a:spcAft>
                          <a:spcPts val="0"/>
                        </a:spcAft>
                        <a:defRPr sz="1300">
                          <a:latin typeface="微软雅黑"/>
                        </a:defRPr>
                      </a:pPr>
                      <a:r>
                        <a:rPr sz="1000" b="1">
                          <a:solidFill>
                            <a:srgbClr val="FFFFFF"/>
                          </a:solidFill>
                          <a:latin typeface="微软雅黑"/>
                          <a:ea typeface="微软雅黑"/>
                        </a:rPr>
                        <a:t>目标</a:t>
                      </a:r>
                    </a:p>
                  </a:txBody>
                  <a:tcPr marL="13716" marR="13716" marT="4572" marB="4572" anchor="ctr">
                    <a:solidFill>
                      <a:srgbClr val="4472C4"/>
                    </a:solidFill>
                  </a:tcPr>
                </a:tc>
                <a:tc>
                  <a:txBody>
                    <a:bodyPr/>
                    <a:lstStyle/>
                    <a:p>
                      <a:pPr algn="ctr">
                        <a:lnSpc>
                          <a:spcPct val="100000"/>
                        </a:lnSpc>
                        <a:spcBef>
                          <a:spcPts val="0"/>
                        </a:spcBef>
                        <a:spcAft>
                          <a:spcPts val="0"/>
                        </a:spcAft>
                        <a:defRPr sz="1300">
                          <a:latin typeface="微软雅黑"/>
                        </a:defRPr>
                      </a:pPr>
                      <a:r>
                        <a:rPr sz="1000" b="1">
                          <a:solidFill>
                            <a:srgbClr val="FFFFFF"/>
                          </a:solidFill>
                          <a:latin typeface="微软雅黑"/>
                          <a:ea typeface="微软雅黑"/>
                        </a:rPr>
                        <a:t>已完</a:t>
                      </a:r>
                    </a:p>
                  </a:txBody>
                  <a:tcPr marL="13716" marR="13716" marT="4572" marB="4572" anchor="ctr">
                    <a:solidFill>
                      <a:srgbClr val="4472C4"/>
                    </a:solidFill>
                  </a:tcPr>
                </a:tc>
                <a:tc>
                  <a:txBody>
                    <a:bodyPr/>
                    <a:lstStyle/>
                    <a:p>
                      <a:pPr algn="ctr">
                        <a:lnSpc>
                          <a:spcPct val="100000"/>
                        </a:lnSpc>
                        <a:spcBef>
                          <a:spcPts val="0"/>
                        </a:spcBef>
                        <a:spcAft>
                          <a:spcPts val="0"/>
                        </a:spcAft>
                        <a:defRPr sz="1300">
                          <a:latin typeface="微软雅黑"/>
                        </a:defRPr>
                      </a:pPr>
                      <a:r>
                        <a:rPr sz="1000" b="1">
                          <a:solidFill>
                            <a:srgbClr val="FFFFFF"/>
                          </a:solidFill>
                          <a:latin typeface="微软雅黑"/>
                          <a:ea typeface="微软雅黑"/>
                        </a:rPr>
                        <a:t>目标</a:t>
                      </a:r>
                    </a:p>
                  </a:txBody>
                  <a:tcPr marL="13716" marR="13716" marT="4572" marB="4572" anchor="ctr">
                    <a:solidFill>
                      <a:srgbClr val="4472C4"/>
                    </a:solidFill>
                  </a:tcPr>
                </a:tc>
                <a:tc>
                  <a:txBody>
                    <a:bodyPr/>
                    <a:lstStyle/>
                    <a:p>
                      <a:pPr algn="ctr">
                        <a:lnSpc>
                          <a:spcPct val="100000"/>
                        </a:lnSpc>
                        <a:spcBef>
                          <a:spcPts val="0"/>
                        </a:spcBef>
                        <a:spcAft>
                          <a:spcPts val="0"/>
                        </a:spcAft>
                        <a:defRPr sz="1300">
                          <a:latin typeface="微软雅黑"/>
                        </a:defRPr>
                      </a:pPr>
                      <a:r>
                        <a:rPr sz="1000" b="1">
                          <a:solidFill>
                            <a:srgbClr val="FFFFFF"/>
                          </a:solidFill>
                          <a:latin typeface="微软雅黑"/>
                          <a:ea typeface="微软雅黑"/>
                        </a:rPr>
                        <a:t>已完</a:t>
                      </a:r>
                    </a:p>
                  </a:txBody>
                  <a:tcPr marL="13716" marR="13716" marT="4572" marB="4572" anchor="ctr">
                    <a:solidFill>
                      <a:srgbClr val="4472C4"/>
                    </a:solidFill>
                  </a:tcPr>
                </a:tc>
                <a:tc>
                  <a:txBody>
                    <a:bodyPr/>
                    <a:lstStyle/>
                    <a:p>
                      <a:pPr algn="ctr">
                        <a:lnSpc>
                          <a:spcPct val="100000"/>
                        </a:lnSpc>
                        <a:spcBef>
                          <a:spcPts val="0"/>
                        </a:spcBef>
                        <a:spcAft>
                          <a:spcPts val="0"/>
                        </a:spcAft>
                        <a:defRPr sz="1300">
                          <a:latin typeface="微软雅黑"/>
                        </a:defRPr>
                      </a:pPr>
                      <a:r>
                        <a:rPr sz="1000" b="1">
                          <a:solidFill>
                            <a:srgbClr val="FFFFFF"/>
                          </a:solidFill>
                          <a:latin typeface="微软雅黑"/>
                          <a:ea typeface="微软雅黑"/>
                        </a:rPr>
                        <a:t>目标</a:t>
                      </a:r>
                    </a:p>
                  </a:txBody>
                  <a:tcPr marL="13716" marR="13716" marT="4572" marB="4572" anchor="ctr">
                    <a:solidFill>
                      <a:srgbClr val="4472C4"/>
                    </a:solidFill>
                  </a:tcPr>
                </a:tc>
                <a:tc>
                  <a:txBody>
                    <a:bodyPr/>
                    <a:lstStyle/>
                    <a:p>
                      <a:pPr algn="ctr">
                        <a:lnSpc>
                          <a:spcPct val="100000"/>
                        </a:lnSpc>
                        <a:spcBef>
                          <a:spcPts val="0"/>
                        </a:spcBef>
                        <a:spcAft>
                          <a:spcPts val="0"/>
                        </a:spcAft>
                        <a:defRPr sz="1300">
                          <a:latin typeface="微软雅黑"/>
                        </a:defRPr>
                      </a:pPr>
                      <a:r>
                        <a:rPr sz="1000" b="1">
                          <a:solidFill>
                            <a:srgbClr val="FFFFFF"/>
                          </a:solidFill>
                          <a:latin typeface="微软雅黑"/>
                          <a:ea typeface="微软雅黑"/>
                        </a:rPr>
                        <a:t>已完</a:t>
                      </a:r>
                    </a:p>
                  </a:txBody>
                  <a:tcPr marL="13716" marR="13716" marT="4572" marB="4572" anchor="ctr">
                    <a:solidFill>
                      <a:srgbClr val="4472C4"/>
                    </a:solidFill>
                  </a:tcPr>
                </a:tc>
                <a:tc>
                  <a:txBody>
                    <a:bodyPr/>
                    <a:lstStyle/>
                    <a:p>
                      <a:pPr algn="ctr">
                        <a:lnSpc>
                          <a:spcPct val="100000"/>
                        </a:lnSpc>
                        <a:spcBef>
                          <a:spcPts val="0"/>
                        </a:spcBef>
                        <a:spcAft>
                          <a:spcPts val="0"/>
                        </a:spcAft>
                        <a:defRPr sz="1300">
                          <a:latin typeface="微软雅黑"/>
                        </a:defRPr>
                      </a:pPr>
                      <a:r>
                        <a:rPr sz="1000" b="1">
                          <a:solidFill>
                            <a:srgbClr val="FFFFFF"/>
                          </a:solidFill>
                          <a:latin typeface="微软雅黑"/>
                          <a:ea typeface="微软雅黑"/>
                        </a:rPr>
                        <a:t>目标</a:t>
                      </a:r>
                    </a:p>
                  </a:txBody>
                  <a:tcPr marL="13716" marR="13716" marT="4572" marB="4572" anchor="ctr">
                    <a:solidFill>
                      <a:srgbClr val="4472C4"/>
                    </a:solidFill>
                  </a:tcPr>
                </a:tc>
                <a:tc>
                  <a:txBody>
                    <a:bodyPr/>
                    <a:lstStyle/>
                    <a:p>
                      <a:pPr algn="ctr">
                        <a:lnSpc>
                          <a:spcPct val="100000"/>
                        </a:lnSpc>
                        <a:spcBef>
                          <a:spcPts val="0"/>
                        </a:spcBef>
                        <a:spcAft>
                          <a:spcPts val="0"/>
                        </a:spcAft>
                        <a:defRPr sz="1300">
                          <a:latin typeface="微软雅黑"/>
                        </a:defRPr>
                      </a:pPr>
                      <a:r>
                        <a:rPr sz="1000" b="1">
                          <a:solidFill>
                            <a:srgbClr val="FFFFFF"/>
                          </a:solidFill>
                          <a:latin typeface="微软雅黑"/>
                          <a:ea typeface="微软雅黑"/>
                        </a:rPr>
                        <a:t>已完</a:t>
                      </a:r>
                    </a:p>
                  </a:txBody>
                  <a:tcPr marL="13716" marR="13716" marT="4572" marB="4572" anchor="ctr">
                    <a:solidFill>
                      <a:srgbClr val="4472C4"/>
                    </a:solidFill>
                  </a:tcPr>
                </a:tc>
                <a:extLst>
                  <a:ext uri="{0D108BD9-81ED-4DB2-BD59-A6C34878D82A}">
                    <a16:rowId xmlns:a16="http://schemas.microsoft.com/office/drawing/2014/main" val="10002"/>
                  </a:ext>
                </a:extLst>
              </a:tr>
              <a:tr h="591342">
                <a:tc rowSpan="5">
                  <a:txBody>
                    <a:bodyPr/>
                    <a:lstStyle/>
                    <a:p>
                      <a:pPr algn="ctr">
                        <a:lnSpc>
                          <a:spcPct val="100000"/>
                        </a:lnSpc>
                        <a:spcBef>
                          <a:spcPts val="0"/>
                        </a:spcBef>
                        <a:spcAft>
                          <a:spcPts val="0"/>
                        </a:spcAft>
                        <a:defRPr sz="1300">
                          <a:latin typeface="微软雅黑"/>
                        </a:defRPr>
                      </a:pPr>
                      <a:r>
                        <a:rPr sz="1000" b="0">
                          <a:solidFill>
                            <a:srgbClr val="000000"/>
                          </a:solidFill>
                          <a:latin typeface="微软雅黑"/>
                          <a:ea typeface="微软雅黑"/>
                        </a:rPr>
                        <a:t>（二）科技成果转化</a:t>
                      </a:r>
                    </a:p>
                  </a:txBody>
                  <a:tcPr marL="13716" marR="13716" marT="4572" marB="4572" anchor="ctr">
                    <a:solidFill>
                      <a:srgbClr val="DDEBF7"/>
                    </a:solidFill>
                  </a:tcPr>
                </a:tc>
                <a:tc>
                  <a:txBody>
                    <a:bodyPr/>
                    <a:lstStyle/>
                    <a:p>
                      <a:pPr algn="ctr">
                        <a:lnSpc>
                          <a:spcPct val="100000"/>
                        </a:lnSpc>
                        <a:spcBef>
                          <a:spcPts val="0"/>
                        </a:spcBef>
                        <a:spcAft>
                          <a:spcPts val="0"/>
                        </a:spcAft>
                        <a:defRPr sz="1300">
                          <a:latin typeface="微软雅黑"/>
                        </a:defRPr>
                      </a:pPr>
                      <a:r>
                        <a:rPr sz="1000" b="0">
                          <a:solidFill>
                            <a:srgbClr val="000000"/>
                          </a:solidFill>
                          <a:latin typeface="微软雅黑"/>
                          <a:ea typeface="微软雅黑"/>
                        </a:rPr>
                        <a:t>专利</a:t>
                      </a:r>
                    </a:p>
                  </a:txBody>
                  <a:tcPr marL="13716" marR="13716" marT="4572" marB="4572" anchor="ctr">
                    <a:solidFill>
                      <a:srgbClr val="DDEB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受理发明专利17件</a:t>
                      </a:r>
                    </a:p>
                  </a:txBody>
                  <a:tcPr marL="13716" marR="13716" marT="4572" marB="4572" anchor="ctr">
                    <a:solidFill>
                      <a:srgbClr val="DDEB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4项得80%
6项100%</a:t>
                      </a:r>
                    </a:p>
                  </a:txBody>
                  <a:tcPr marL="13716" marR="13716" marT="4572" marB="4572" anchor="ctr">
                    <a:solidFill>
                      <a:srgbClr val="DDEB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已受理4
在途2</a:t>
                      </a:r>
                    </a:p>
                  </a:txBody>
                  <a:tcPr marL="13716" marR="13716" marT="4572" marB="4572" anchor="ctr">
                    <a:solidFill>
                      <a:srgbClr val="DDEB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4项得80%
6项100%</a:t>
                      </a:r>
                    </a:p>
                  </a:txBody>
                  <a:tcPr marL="13716" marR="13716" marT="4572" marB="4572" anchor="ctr">
                    <a:solidFill>
                      <a:srgbClr val="DDEBF7"/>
                    </a:solidFill>
                  </a:tcPr>
                </a:tc>
                <a:tc>
                  <a:txBody>
                    <a:bodyPr/>
                    <a:lstStyle/>
                    <a:p>
                      <a:pPr algn="l">
                        <a:lnSpc>
                          <a:spcPct val="100000"/>
                        </a:lnSpc>
                        <a:spcBef>
                          <a:spcPts val="0"/>
                        </a:spcBef>
                        <a:spcAft>
                          <a:spcPts val="0"/>
                        </a:spcAft>
                        <a:defRPr sz="1300">
                          <a:latin typeface="微软雅黑"/>
                        </a:defRPr>
                      </a:pPr>
                      <a:r>
                        <a:rPr sz="1000" b="1">
                          <a:solidFill>
                            <a:srgbClr val="C00000"/>
                          </a:solidFill>
                          <a:latin typeface="微软雅黑"/>
                          <a:ea typeface="微软雅黑"/>
                        </a:rPr>
                        <a:t>已受理1
在途0</a:t>
                      </a:r>
                    </a:p>
                  </a:txBody>
                  <a:tcPr marL="13716" marR="13716" marT="4572" marB="4572" anchor="ctr">
                    <a:solidFill>
                      <a:srgbClr val="DDEB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4项得80%
6项100%</a:t>
                      </a:r>
                    </a:p>
                  </a:txBody>
                  <a:tcPr marL="13716" marR="13716" marT="4572" marB="4572" anchor="ctr">
                    <a:solidFill>
                      <a:srgbClr val="DDEBF7"/>
                    </a:solidFill>
                  </a:tcPr>
                </a:tc>
                <a:tc>
                  <a:txBody>
                    <a:bodyPr/>
                    <a:lstStyle/>
                    <a:p>
                      <a:pPr algn="l">
                        <a:lnSpc>
                          <a:spcPct val="100000"/>
                        </a:lnSpc>
                        <a:spcBef>
                          <a:spcPts val="0"/>
                        </a:spcBef>
                        <a:spcAft>
                          <a:spcPts val="0"/>
                        </a:spcAft>
                        <a:defRPr sz="1300">
                          <a:latin typeface="微软雅黑"/>
                        </a:defRPr>
                      </a:pPr>
                      <a:r>
                        <a:rPr sz="1000" b="1">
                          <a:solidFill>
                            <a:srgbClr val="C00000"/>
                          </a:solidFill>
                          <a:latin typeface="微软雅黑"/>
                          <a:ea typeface="微软雅黑"/>
                        </a:rPr>
                        <a:t>已受理0
在途1</a:t>
                      </a:r>
                    </a:p>
                  </a:txBody>
                  <a:tcPr marL="13716" marR="13716" marT="4572" marB="4572" anchor="ctr">
                    <a:solidFill>
                      <a:srgbClr val="DDEB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4项得80%
6项100%</a:t>
                      </a:r>
                    </a:p>
                  </a:txBody>
                  <a:tcPr marL="13716" marR="13716" marT="4572" marB="4572" anchor="ctr">
                    <a:solidFill>
                      <a:srgbClr val="DDEB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已受理2
在途2</a:t>
                      </a:r>
                    </a:p>
                  </a:txBody>
                  <a:tcPr marL="13716" marR="13716" marT="4572" marB="4572" anchor="ctr">
                    <a:solidFill>
                      <a:srgbClr val="DDEB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2项得80%
3项100%</a:t>
                      </a:r>
                    </a:p>
                  </a:txBody>
                  <a:tcPr marL="13716" marR="13716" marT="4572" marB="4572" anchor="ctr">
                    <a:solidFill>
                      <a:srgbClr val="DDEBF7"/>
                    </a:solidFill>
                  </a:tcPr>
                </a:tc>
                <a:tc>
                  <a:txBody>
                    <a:bodyPr/>
                    <a:lstStyle/>
                    <a:p>
                      <a:pPr algn="l">
                        <a:lnSpc>
                          <a:spcPct val="100000"/>
                        </a:lnSpc>
                        <a:spcBef>
                          <a:spcPts val="0"/>
                        </a:spcBef>
                        <a:spcAft>
                          <a:spcPts val="0"/>
                        </a:spcAft>
                        <a:defRPr sz="1300">
                          <a:latin typeface="微软雅黑"/>
                        </a:defRPr>
                      </a:pPr>
                      <a:r>
                        <a:rPr sz="1000" b="1">
                          <a:solidFill>
                            <a:srgbClr val="C00000"/>
                          </a:solidFill>
                          <a:latin typeface="微软雅黑"/>
                          <a:ea typeface="微软雅黑"/>
                        </a:rPr>
                        <a:t>已受理0
在途1</a:t>
                      </a:r>
                    </a:p>
                  </a:txBody>
                  <a:tcPr marL="13716" marR="13716" marT="4572" marB="4572" anchor="ctr">
                    <a:solidFill>
                      <a:srgbClr val="DDEB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2项得80%
3项100%</a:t>
                      </a:r>
                    </a:p>
                  </a:txBody>
                  <a:tcPr marL="13716" marR="13716" marT="4572" marB="4572" anchor="ctr">
                    <a:solidFill>
                      <a:srgbClr val="DDEBF7"/>
                    </a:solidFill>
                  </a:tcPr>
                </a:tc>
                <a:tc>
                  <a:txBody>
                    <a:bodyPr/>
                    <a:lstStyle/>
                    <a:p>
                      <a:pPr algn="l">
                        <a:lnSpc>
                          <a:spcPct val="100000"/>
                        </a:lnSpc>
                        <a:spcBef>
                          <a:spcPts val="0"/>
                        </a:spcBef>
                        <a:spcAft>
                          <a:spcPts val="0"/>
                        </a:spcAft>
                        <a:defRPr sz="1300">
                          <a:latin typeface="微软雅黑"/>
                        </a:defRPr>
                      </a:pPr>
                      <a:r>
                        <a:rPr sz="1000" b="1">
                          <a:solidFill>
                            <a:srgbClr val="C00000"/>
                          </a:solidFill>
                          <a:latin typeface="微软雅黑"/>
                          <a:ea typeface="微软雅黑"/>
                        </a:rPr>
                        <a:t>已受理0
在途1</a:t>
                      </a:r>
                    </a:p>
                  </a:txBody>
                  <a:tcPr marL="13716" marR="13716" marT="4572" marB="4572" anchor="ctr">
                    <a:solidFill>
                      <a:srgbClr val="DDEBF7"/>
                    </a:solidFill>
                  </a:tcPr>
                </a:tc>
                <a:extLst>
                  <a:ext uri="{0D108BD9-81ED-4DB2-BD59-A6C34878D82A}">
                    <a16:rowId xmlns:a16="http://schemas.microsoft.com/office/drawing/2014/main" val="10003"/>
                  </a:ext>
                </a:extLst>
              </a:tr>
              <a:tr h="591342">
                <a:tc vMerge="1">
                  <a:txBody>
                    <a:bodyPr/>
                    <a:lstStyle/>
                    <a:p>
                      <a:pPr algn="ctr">
                        <a:lnSpc>
                          <a:spcPct val="100000"/>
                        </a:lnSpc>
                        <a:spcBef>
                          <a:spcPts val="0"/>
                        </a:spcBef>
                        <a:spcAft>
                          <a:spcPts val="0"/>
                        </a:spcAft>
                        <a:defRPr sz="1300">
                          <a:latin typeface="微软雅黑"/>
                        </a:defRPr>
                      </a:pPr>
                      <a:endParaRPr/>
                    </a:p>
                  </a:txBody>
                  <a:tcPr marL="13716" marR="13716" marT="4572" marB="4572" anchor="ctr">
                    <a:solidFill>
                      <a:srgbClr val="D2DEEF"/>
                    </a:solidFill>
                  </a:tcPr>
                </a:tc>
                <a:tc>
                  <a:txBody>
                    <a:bodyPr/>
                    <a:lstStyle/>
                    <a:p>
                      <a:pPr algn="ctr">
                        <a:lnSpc>
                          <a:spcPct val="100000"/>
                        </a:lnSpc>
                        <a:spcBef>
                          <a:spcPts val="0"/>
                        </a:spcBef>
                        <a:spcAft>
                          <a:spcPts val="0"/>
                        </a:spcAft>
                        <a:defRPr sz="1300">
                          <a:latin typeface="微软雅黑"/>
                        </a:defRPr>
                      </a:pPr>
                      <a:r>
                        <a:rPr sz="1000" b="0">
                          <a:solidFill>
                            <a:srgbClr val="000000"/>
                          </a:solidFill>
                          <a:latin typeface="微软雅黑"/>
                          <a:ea typeface="微软雅黑"/>
                        </a:rPr>
                        <a:t>专利</a:t>
                      </a:r>
                    </a:p>
                  </a:txBody>
                  <a:tcPr marL="13716" marR="13716" marT="4572" marB="4572" anchor="ctr">
                    <a:solidFill>
                      <a:srgbClr val="D2DEEF"/>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专利外部转化5个</a:t>
                      </a:r>
                    </a:p>
                  </a:txBody>
                  <a:tcPr marL="13716" marR="13716" marT="4572" marB="4572" anchor="ctr">
                    <a:solidFill>
                      <a:srgbClr val="D2DEEF"/>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1项得80%
2项100%</a:t>
                      </a:r>
                    </a:p>
                  </a:txBody>
                  <a:tcPr marL="13716" marR="13716" marT="4572" marB="4572" anchor="ctr">
                    <a:solidFill>
                      <a:srgbClr val="D2DEEF"/>
                    </a:solidFill>
                  </a:tcPr>
                </a:tc>
                <a:tc>
                  <a:txBody>
                    <a:bodyPr/>
                    <a:lstStyle/>
                    <a:p>
                      <a:pPr algn="l">
                        <a:lnSpc>
                          <a:spcPct val="100000"/>
                        </a:lnSpc>
                        <a:spcBef>
                          <a:spcPts val="0"/>
                        </a:spcBef>
                        <a:spcAft>
                          <a:spcPts val="0"/>
                        </a:spcAft>
                        <a:defRPr sz="1300">
                          <a:latin typeface="微软雅黑"/>
                        </a:defRPr>
                      </a:pPr>
                      <a:r>
                        <a:rPr sz="1000" b="1">
                          <a:solidFill>
                            <a:srgbClr val="C00000"/>
                          </a:solidFill>
                          <a:latin typeface="微软雅黑"/>
                          <a:ea typeface="微软雅黑"/>
                        </a:rPr>
                        <a:t>0</a:t>
                      </a:r>
                    </a:p>
                  </a:txBody>
                  <a:tcPr marL="13716" marR="13716" marT="4572" marB="4572" anchor="ctr">
                    <a:solidFill>
                      <a:srgbClr val="D2DEEF"/>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1项得80%
2项100%</a:t>
                      </a:r>
                    </a:p>
                  </a:txBody>
                  <a:tcPr marL="13716" marR="13716" marT="4572" marB="4572" anchor="ctr">
                    <a:solidFill>
                      <a:srgbClr val="D2DEEF"/>
                    </a:solidFill>
                  </a:tcPr>
                </a:tc>
                <a:tc>
                  <a:txBody>
                    <a:bodyPr/>
                    <a:lstStyle/>
                    <a:p>
                      <a:pPr algn="l">
                        <a:lnSpc>
                          <a:spcPct val="100000"/>
                        </a:lnSpc>
                        <a:spcBef>
                          <a:spcPts val="0"/>
                        </a:spcBef>
                        <a:spcAft>
                          <a:spcPts val="0"/>
                        </a:spcAft>
                        <a:defRPr sz="1300">
                          <a:latin typeface="微软雅黑"/>
                        </a:defRPr>
                      </a:pPr>
                      <a:r>
                        <a:rPr sz="1000" b="1">
                          <a:solidFill>
                            <a:srgbClr val="C00000"/>
                          </a:solidFill>
                          <a:latin typeface="微软雅黑"/>
                          <a:ea typeface="微软雅黑"/>
                        </a:rPr>
                        <a:t>0</a:t>
                      </a:r>
                    </a:p>
                  </a:txBody>
                  <a:tcPr marL="13716" marR="13716" marT="4572" marB="4572" anchor="ctr">
                    <a:solidFill>
                      <a:srgbClr val="D2DEEF"/>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1项得80%
2项100%</a:t>
                      </a:r>
                    </a:p>
                  </a:txBody>
                  <a:tcPr marL="13716" marR="13716" marT="4572" marB="4572" anchor="ctr">
                    <a:solidFill>
                      <a:srgbClr val="D2DEEF"/>
                    </a:solidFill>
                  </a:tcPr>
                </a:tc>
                <a:tc>
                  <a:txBody>
                    <a:bodyPr/>
                    <a:lstStyle/>
                    <a:p>
                      <a:pPr algn="l">
                        <a:lnSpc>
                          <a:spcPct val="100000"/>
                        </a:lnSpc>
                        <a:spcBef>
                          <a:spcPts val="0"/>
                        </a:spcBef>
                        <a:spcAft>
                          <a:spcPts val="0"/>
                        </a:spcAft>
                        <a:defRPr sz="1300">
                          <a:latin typeface="微软雅黑"/>
                        </a:defRPr>
                      </a:pPr>
                      <a:r>
                        <a:rPr sz="1000" b="1">
                          <a:solidFill>
                            <a:srgbClr val="C00000"/>
                          </a:solidFill>
                          <a:latin typeface="微软雅黑"/>
                          <a:ea typeface="微软雅黑"/>
                        </a:rPr>
                        <a:t>0</a:t>
                      </a:r>
                    </a:p>
                  </a:txBody>
                  <a:tcPr marL="13716" marR="13716" marT="4572" marB="4572" anchor="ctr">
                    <a:solidFill>
                      <a:srgbClr val="D2DEEF"/>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1项得80%
2项100%</a:t>
                      </a:r>
                    </a:p>
                  </a:txBody>
                  <a:tcPr marL="13716" marR="13716" marT="4572" marB="4572" anchor="ctr">
                    <a:solidFill>
                      <a:srgbClr val="D2DEEF"/>
                    </a:solidFill>
                  </a:tcPr>
                </a:tc>
                <a:tc>
                  <a:txBody>
                    <a:bodyPr/>
                    <a:lstStyle/>
                    <a:p>
                      <a:pPr algn="l">
                        <a:lnSpc>
                          <a:spcPct val="100000"/>
                        </a:lnSpc>
                        <a:spcBef>
                          <a:spcPts val="0"/>
                        </a:spcBef>
                        <a:spcAft>
                          <a:spcPts val="0"/>
                        </a:spcAft>
                        <a:defRPr sz="1300">
                          <a:latin typeface="微软雅黑"/>
                        </a:defRPr>
                      </a:pPr>
                      <a:r>
                        <a:rPr sz="1000" b="1">
                          <a:solidFill>
                            <a:srgbClr val="C00000"/>
                          </a:solidFill>
                          <a:latin typeface="微软雅黑"/>
                          <a:ea typeface="微软雅黑"/>
                        </a:rPr>
                        <a:t>0</a:t>
                      </a:r>
                    </a:p>
                  </a:txBody>
                  <a:tcPr marL="13716" marR="13716" marT="4572" marB="4572" anchor="ctr">
                    <a:solidFill>
                      <a:srgbClr val="D2DEEF"/>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1项得80%
2项100%</a:t>
                      </a:r>
                    </a:p>
                  </a:txBody>
                  <a:tcPr marL="13716" marR="13716" marT="4572" marB="4572" anchor="ctr">
                    <a:solidFill>
                      <a:srgbClr val="D2DEEF"/>
                    </a:solidFill>
                  </a:tcPr>
                </a:tc>
                <a:tc>
                  <a:txBody>
                    <a:bodyPr/>
                    <a:lstStyle/>
                    <a:p>
                      <a:pPr algn="l">
                        <a:lnSpc>
                          <a:spcPct val="100000"/>
                        </a:lnSpc>
                        <a:spcBef>
                          <a:spcPts val="0"/>
                        </a:spcBef>
                        <a:spcAft>
                          <a:spcPts val="0"/>
                        </a:spcAft>
                        <a:defRPr sz="1300">
                          <a:latin typeface="微软雅黑"/>
                        </a:defRPr>
                      </a:pPr>
                      <a:r>
                        <a:rPr sz="1000" b="1">
                          <a:solidFill>
                            <a:srgbClr val="C00000"/>
                          </a:solidFill>
                          <a:latin typeface="微软雅黑"/>
                          <a:ea typeface="微软雅黑"/>
                        </a:rPr>
                        <a:t>0</a:t>
                      </a:r>
                    </a:p>
                  </a:txBody>
                  <a:tcPr marL="13716" marR="13716" marT="4572" marB="4572" anchor="ctr">
                    <a:solidFill>
                      <a:srgbClr val="D2DEEF"/>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1项得80%
2项100%</a:t>
                      </a:r>
                    </a:p>
                  </a:txBody>
                  <a:tcPr marL="13716" marR="13716" marT="4572" marB="4572" anchor="ctr">
                    <a:solidFill>
                      <a:srgbClr val="D2DEEF"/>
                    </a:solidFill>
                  </a:tcPr>
                </a:tc>
                <a:tc>
                  <a:txBody>
                    <a:bodyPr/>
                    <a:lstStyle/>
                    <a:p>
                      <a:pPr algn="l">
                        <a:lnSpc>
                          <a:spcPct val="100000"/>
                        </a:lnSpc>
                        <a:spcBef>
                          <a:spcPts val="0"/>
                        </a:spcBef>
                        <a:spcAft>
                          <a:spcPts val="0"/>
                        </a:spcAft>
                        <a:defRPr sz="1300">
                          <a:latin typeface="微软雅黑"/>
                        </a:defRPr>
                      </a:pPr>
                      <a:r>
                        <a:rPr sz="1000" b="1">
                          <a:solidFill>
                            <a:srgbClr val="C00000"/>
                          </a:solidFill>
                          <a:latin typeface="微软雅黑"/>
                          <a:ea typeface="微软雅黑"/>
                        </a:rPr>
                        <a:t>0</a:t>
                      </a:r>
                    </a:p>
                  </a:txBody>
                  <a:tcPr marL="13716" marR="13716" marT="4572" marB="4572" anchor="ctr">
                    <a:solidFill>
                      <a:srgbClr val="D2DEEF"/>
                    </a:solidFill>
                  </a:tcPr>
                </a:tc>
                <a:extLst>
                  <a:ext uri="{0D108BD9-81ED-4DB2-BD59-A6C34878D82A}">
                    <a16:rowId xmlns:a16="http://schemas.microsoft.com/office/drawing/2014/main" val="10004"/>
                  </a:ext>
                </a:extLst>
              </a:tr>
              <a:tr h="591342">
                <a:tc vMerge="1">
                  <a:txBody>
                    <a:bodyPr/>
                    <a:lstStyle/>
                    <a:p>
                      <a:pPr algn="ctr">
                        <a:lnSpc>
                          <a:spcPct val="100000"/>
                        </a:lnSpc>
                        <a:spcBef>
                          <a:spcPts val="0"/>
                        </a:spcBef>
                        <a:spcAft>
                          <a:spcPts val="0"/>
                        </a:spcAft>
                        <a:defRPr sz="1300">
                          <a:latin typeface="微软雅黑"/>
                        </a:defRPr>
                      </a:pPr>
                      <a:endParaRPr/>
                    </a:p>
                  </a:txBody>
                  <a:tcPr marL="13716" marR="13716" marT="4572" marB="4572" anchor="ctr">
                    <a:solidFill>
                      <a:srgbClr val="DDEBF7"/>
                    </a:solidFill>
                  </a:tcPr>
                </a:tc>
                <a:tc>
                  <a:txBody>
                    <a:bodyPr/>
                    <a:lstStyle/>
                    <a:p>
                      <a:pPr algn="ctr">
                        <a:lnSpc>
                          <a:spcPct val="100000"/>
                        </a:lnSpc>
                        <a:spcBef>
                          <a:spcPts val="0"/>
                        </a:spcBef>
                        <a:spcAft>
                          <a:spcPts val="0"/>
                        </a:spcAft>
                        <a:defRPr sz="1300">
                          <a:latin typeface="微软雅黑"/>
                        </a:defRPr>
                      </a:pPr>
                      <a:r>
                        <a:rPr sz="1000" b="0">
                          <a:solidFill>
                            <a:srgbClr val="000000"/>
                          </a:solidFill>
                          <a:latin typeface="微软雅黑"/>
                          <a:ea typeface="微软雅黑"/>
                        </a:rPr>
                        <a:t>标准</a:t>
                      </a:r>
                    </a:p>
                  </a:txBody>
                  <a:tcPr marL="13716" marR="13716" marT="4572" marB="4572" anchor="ctr">
                    <a:solidFill>
                      <a:srgbClr val="DDEB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国/行标主、参编编制8个</a:t>
                      </a:r>
                    </a:p>
                  </a:txBody>
                  <a:tcPr marL="13716" marR="13716" marT="4572" marB="4572" anchor="ctr">
                    <a:solidFill>
                      <a:srgbClr val="DDEB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国行标2项，得80%；
国行标3项，得100%</a:t>
                      </a:r>
                    </a:p>
                  </a:txBody>
                  <a:tcPr marL="13716" marR="13716" marT="4572" marB="4572" anchor="ctr">
                    <a:solidFill>
                      <a:srgbClr val="DDEB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1国发布</a:t>
                      </a:r>
                    </a:p>
                  </a:txBody>
                  <a:tcPr marL="13716" marR="13716" marT="4572" marB="4572" anchor="ctr">
                    <a:solidFill>
                      <a:srgbClr val="DDEB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国行标2项，得80%；
国行标3项，得100%</a:t>
                      </a:r>
                    </a:p>
                  </a:txBody>
                  <a:tcPr marL="13716" marR="13716" marT="4572" marB="4572" anchor="ctr">
                    <a:solidFill>
                      <a:srgbClr val="DDEB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0</a:t>
                      </a:r>
                    </a:p>
                  </a:txBody>
                  <a:tcPr marL="13716" marR="13716" marT="4572" marB="4572" anchor="ctr">
                    <a:solidFill>
                      <a:srgbClr val="DDEB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国行标2项，得80%；
国行标3项，得100%</a:t>
                      </a:r>
                    </a:p>
                  </a:txBody>
                  <a:tcPr marL="13716" marR="13716" marT="4572" marB="4572" anchor="ctr">
                    <a:solidFill>
                      <a:srgbClr val="DDEB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1国2行</a:t>
                      </a:r>
                    </a:p>
                  </a:txBody>
                  <a:tcPr marL="13716" marR="13716" marT="4572" marB="4572" anchor="ctr">
                    <a:solidFill>
                      <a:srgbClr val="DDEB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国行标2项，得80%；
国行标3项，得100%</a:t>
                      </a:r>
                    </a:p>
                  </a:txBody>
                  <a:tcPr marL="13716" marR="13716" marT="4572" marB="4572" anchor="ctr">
                    <a:solidFill>
                      <a:srgbClr val="DDEB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1国发布</a:t>
                      </a:r>
                    </a:p>
                  </a:txBody>
                  <a:tcPr marL="13716" marR="13716" marT="4572" marB="4572" anchor="ctr">
                    <a:solidFill>
                      <a:srgbClr val="DDEB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国行标1项，得80%；
国行标2项，得100%</a:t>
                      </a:r>
                    </a:p>
                  </a:txBody>
                  <a:tcPr marL="13716" marR="13716" marT="4572" marB="4572" anchor="ctr">
                    <a:solidFill>
                      <a:srgbClr val="DDEB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0</a:t>
                      </a:r>
                    </a:p>
                  </a:txBody>
                  <a:tcPr marL="13716" marR="13716" marT="4572" marB="4572" anchor="ctr">
                    <a:solidFill>
                      <a:srgbClr val="DDEB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国行标1项，得80%；
国行标2项，得100%</a:t>
                      </a:r>
                    </a:p>
                  </a:txBody>
                  <a:tcPr marL="13716" marR="13716" marT="4572" marB="4572" anchor="ctr">
                    <a:solidFill>
                      <a:srgbClr val="DDEB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0</a:t>
                      </a:r>
                    </a:p>
                  </a:txBody>
                  <a:tcPr marL="13716" marR="13716" marT="4572" marB="4572" anchor="ctr">
                    <a:solidFill>
                      <a:srgbClr val="DDEBF7"/>
                    </a:solidFill>
                  </a:tcPr>
                </a:tc>
                <a:extLst>
                  <a:ext uri="{0D108BD9-81ED-4DB2-BD59-A6C34878D82A}">
                    <a16:rowId xmlns:a16="http://schemas.microsoft.com/office/drawing/2014/main" val="10005"/>
                  </a:ext>
                </a:extLst>
              </a:tr>
              <a:tr h="591342">
                <a:tc vMerge="1">
                  <a:txBody>
                    <a:bodyPr/>
                    <a:lstStyle/>
                    <a:p>
                      <a:pPr algn="ctr">
                        <a:lnSpc>
                          <a:spcPct val="100000"/>
                        </a:lnSpc>
                        <a:spcBef>
                          <a:spcPts val="0"/>
                        </a:spcBef>
                        <a:spcAft>
                          <a:spcPts val="0"/>
                        </a:spcAft>
                        <a:defRPr sz="1300">
                          <a:latin typeface="微软雅黑"/>
                        </a:defRPr>
                      </a:pPr>
                      <a:endParaRPr/>
                    </a:p>
                  </a:txBody>
                  <a:tcPr marL="13716" marR="13716" marT="4572" marB="4572" anchor="ctr">
                    <a:solidFill>
                      <a:srgbClr val="D2DEEF"/>
                    </a:solidFill>
                  </a:tcPr>
                </a:tc>
                <a:tc>
                  <a:txBody>
                    <a:bodyPr/>
                    <a:lstStyle/>
                    <a:p>
                      <a:pPr algn="ctr">
                        <a:lnSpc>
                          <a:spcPct val="100000"/>
                        </a:lnSpc>
                        <a:spcBef>
                          <a:spcPts val="0"/>
                        </a:spcBef>
                        <a:spcAft>
                          <a:spcPts val="0"/>
                        </a:spcAft>
                        <a:defRPr sz="1300">
                          <a:latin typeface="微软雅黑"/>
                        </a:defRPr>
                      </a:pPr>
                      <a:r>
                        <a:rPr sz="1000" b="0">
                          <a:solidFill>
                            <a:srgbClr val="000000"/>
                          </a:solidFill>
                          <a:latin typeface="微软雅黑"/>
                          <a:ea typeface="微软雅黑"/>
                        </a:rPr>
                        <a:t>获奖</a:t>
                      </a:r>
                    </a:p>
                  </a:txBody>
                  <a:tcPr marL="13716" marR="13716" marT="4572" marB="4572" anchor="ctr">
                    <a:solidFill>
                      <a:srgbClr val="D2DEEF"/>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加分项（分值待定）</a:t>
                      </a:r>
                    </a:p>
                  </a:txBody>
                  <a:tcPr marL="13716" marR="13716" marT="4572" marB="4572" anchor="ctr">
                    <a:solidFill>
                      <a:srgbClr val="D2DEEF"/>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同左</a:t>
                      </a:r>
                    </a:p>
                  </a:txBody>
                  <a:tcPr marL="13716" marR="13716" marT="4572" marB="4572" anchor="ctr">
                    <a:solidFill>
                      <a:srgbClr val="D2DEEF"/>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0</a:t>
                      </a:r>
                    </a:p>
                  </a:txBody>
                  <a:tcPr marL="13716" marR="13716" marT="4572" marB="4572" anchor="ctr">
                    <a:solidFill>
                      <a:srgbClr val="D2DEEF"/>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同左</a:t>
                      </a:r>
                    </a:p>
                  </a:txBody>
                  <a:tcPr marL="13716" marR="13716" marT="4572" marB="4572" anchor="ctr">
                    <a:solidFill>
                      <a:srgbClr val="D2DEEF"/>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0</a:t>
                      </a:r>
                    </a:p>
                  </a:txBody>
                  <a:tcPr marL="13716" marR="13716" marT="4572" marB="4572" anchor="ctr">
                    <a:solidFill>
                      <a:srgbClr val="D2DEEF"/>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同左</a:t>
                      </a:r>
                    </a:p>
                  </a:txBody>
                  <a:tcPr marL="13716" marR="13716" marT="4572" marB="4572" anchor="ctr">
                    <a:solidFill>
                      <a:srgbClr val="D2DEEF"/>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0</a:t>
                      </a:r>
                    </a:p>
                  </a:txBody>
                  <a:tcPr marL="13716" marR="13716" marT="4572" marB="4572" anchor="ctr">
                    <a:solidFill>
                      <a:srgbClr val="D2DEEF"/>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同左</a:t>
                      </a:r>
                    </a:p>
                  </a:txBody>
                  <a:tcPr marL="13716" marR="13716" marT="4572" marB="4572" anchor="ctr">
                    <a:solidFill>
                      <a:srgbClr val="D2DEEF"/>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0</a:t>
                      </a:r>
                    </a:p>
                  </a:txBody>
                  <a:tcPr marL="13716" marR="13716" marT="4572" marB="4572" anchor="ctr">
                    <a:solidFill>
                      <a:srgbClr val="D2DEEF"/>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同左</a:t>
                      </a:r>
                    </a:p>
                  </a:txBody>
                  <a:tcPr marL="13716" marR="13716" marT="4572" marB="4572" anchor="ctr">
                    <a:solidFill>
                      <a:srgbClr val="D2DEEF"/>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0</a:t>
                      </a:r>
                    </a:p>
                  </a:txBody>
                  <a:tcPr marL="13716" marR="13716" marT="4572" marB="4572" anchor="ctr">
                    <a:solidFill>
                      <a:srgbClr val="D2DEEF"/>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同左</a:t>
                      </a:r>
                    </a:p>
                  </a:txBody>
                  <a:tcPr marL="13716" marR="13716" marT="4572" marB="4572" anchor="ctr">
                    <a:solidFill>
                      <a:srgbClr val="D2DEEF"/>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0</a:t>
                      </a:r>
                    </a:p>
                  </a:txBody>
                  <a:tcPr marL="13716" marR="13716" marT="4572" marB="4572" anchor="ctr">
                    <a:solidFill>
                      <a:srgbClr val="D2DEEF"/>
                    </a:solidFill>
                  </a:tcPr>
                </a:tc>
                <a:extLst>
                  <a:ext uri="{0D108BD9-81ED-4DB2-BD59-A6C34878D82A}">
                    <a16:rowId xmlns:a16="http://schemas.microsoft.com/office/drawing/2014/main" val="10006"/>
                  </a:ext>
                </a:extLst>
              </a:tr>
              <a:tr h="591342">
                <a:tc vMerge="1">
                  <a:txBody>
                    <a:bodyPr/>
                    <a:lstStyle/>
                    <a:p>
                      <a:pPr algn="ctr">
                        <a:lnSpc>
                          <a:spcPct val="100000"/>
                        </a:lnSpc>
                        <a:spcBef>
                          <a:spcPts val="0"/>
                        </a:spcBef>
                        <a:spcAft>
                          <a:spcPts val="0"/>
                        </a:spcAft>
                        <a:defRPr sz="1300">
                          <a:latin typeface="微软雅黑"/>
                        </a:defRPr>
                      </a:pPr>
                      <a:endParaRPr/>
                    </a:p>
                  </a:txBody>
                  <a:tcPr marL="13716" marR="13716" marT="4572" marB="4572" anchor="ctr">
                    <a:solidFill>
                      <a:srgbClr val="DDEBF7"/>
                    </a:solidFill>
                  </a:tcPr>
                </a:tc>
                <a:tc>
                  <a:txBody>
                    <a:bodyPr/>
                    <a:lstStyle/>
                    <a:p>
                      <a:pPr algn="ctr">
                        <a:lnSpc>
                          <a:spcPct val="100000"/>
                        </a:lnSpc>
                        <a:spcBef>
                          <a:spcPts val="0"/>
                        </a:spcBef>
                        <a:spcAft>
                          <a:spcPts val="0"/>
                        </a:spcAft>
                        <a:defRPr sz="1300">
                          <a:latin typeface="微软雅黑"/>
                        </a:defRPr>
                      </a:pPr>
                      <a:r>
                        <a:rPr sz="1000" b="0">
                          <a:solidFill>
                            <a:srgbClr val="000000"/>
                          </a:solidFill>
                          <a:latin typeface="微软雅黑"/>
                          <a:ea typeface="微软雅黑"/>
                        </a:rPr>
                        <a:t>论文</a:t>
                      </a:r>
                    </a:p>
                  </a:txBody>
                  <a:tcPr marL="13716" marR="13716" marT="4572" marB="4572" anchor="ctr">
                    <a:solidFill>
                      <a:srgbClr val="DDEB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加分项（分值待定）</a:t>
                      </a:r>
                    </a:p>
                  </a:txBody>
                  <a:tcPr marL="13716" marR="13716" marT="4572" marB="4572" anchor="ctr">
                    <a:solidFill>
                      <a:srgbClr val="DDEB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同左</a:t>
                      </a:r>
                    </a:p>
                  </a:txBody>
                  <a:tcPr marL="13716" marR="13716" marT="4572" marB="4572" anchor="ctr">
                    <a:solidFill>
                      <a:srgbClr val="DDEB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0.5</a:t>
                      </a:r>
                    </a:p>
                  </a:txBody>
                  <a:tcPr marL="13716" marR="13716" marT="4572" marB="4572" anchor="ctr">
                    <a:solidFill>
                      <a:srgbClr val="DDEB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同左</a:t>
                      </a:r>
                    </a:p>
                  </a:txBody>
                  <a:tcPr marL="13716" marR="13716" marT="4572" marB="4572" anchor="ctr">
                    <a:solidFill>
                      <a:srgbClr val="DDEB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0</a:t>
                      </a:r>
                    </a:p>
                  </a:txBody>
                  <a:tcPr marL="13716" marR="13716" marT="4572" marB="4572" anchor="ctr">
                    <a:solidFill>
                      <a:srgbClr val="DDEB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同左</a:t>
                      </a:r>
                    </a:p>
                  </a:txBody>
                  <a:tcPr marL="13716" marR="13716" marT="4572" marB="4572" anchor="ctr">
                    <a:solidFill>
                      <a:srgbClr val="DDEB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0.5</a:t>
                      </a:r>
                    </a:p>
                  </a:txBody>
                  <a:tcPr marL="13716" marR="13716" marT="4572" marB="4572" anchor="ctr">
                    <a:solidFill>
                      <a:srgbClr val="DDEB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同左</a:t>
                      </a:r>
                    </a:p>
                  </a:txBody>
                  <a:tcPr marL="13716" marR="13716" marT="4572" marB="4572" anchor="ctr">
                    <a:solidFill>
                      <a:srgbClr val="DDEB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0</a:t>
                      </a:r>
                    </a:p>
                  </a:txBody>
                  <a:tcPr marL="13716" marR="13716" marT="4572" marB="4572" anchor="ctr">
                    <a:solidFill>
                      <a:srgbClr val="DDEB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同左</a:t>
                      </a:r>
                    </a:p>
                  </a:txBody>
                  <a:tcPr marL="13716" marR="13716" marT="4572" marB="4572" anchor="ctr">
                    <a:solidFill>
                      <a:srgbClr val="DDEB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0</a:t>
                      </a:r>
                    </a:p>
                  </a:txBody>
                  <a:tcPr marL="13716" marR="13716" marT="4572" marB="4572" anchor="ctr">
                    <a:solidFill>
                      <a:srgbClr val="DDEB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同左</a:t>
                      </a:r>
                    </a:p>
                  </a:txBody>
                  <a:tcPr marL="13716" marR="13716" marT="4572" marB="4572" anchor="ctr">
                    <a:solidFill>
                      <a:srgbClr val="DDEB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0</a:t>
                      </a:r>
                    </a:p>
                  </a:txBody>
                  <a:tcPr marL="13716" marR="13716" marT="4572" marB="4572" anchor="ctr">
                    <a:solidFill>
                      <a:srgbClr val="DDEBF7"/>
                    </a:solidFill>
                  </a:tcPr>
                </a:tc>
                <a:extLst>
                  <a:ext uri="{0D108BD9-81ED-4DB2-BD59-A6C34878D82A}">
                    <a16:rowId xmlns:a16="http://schemas.microsoft.com/office/drawing/2014/main" val="10007"/>
                  </a:ext>
                </a:extLst>
              </a:tr>
              <a:tr h="591342">
                <a:tc rowSpan="2">
                  <a:txBody>
                    <a:bodyPr/>
                    <a:lstStyle/>
                    <a:p>
                      <a:pPr algn="ctr">
                        <a:lnSpc>
                          <a:spcPct val="100000"/>
                        </a:lnSpc>
                        <a:spcBef>
                          <a:spcPts val="0"/>
                        </a:spcBef>
                        <a:spcAft>
                          <a:spcPts val="0"/>
                        </a:spcAft>
                        <a:defRPr sz="1300">
                          <a:latin typeface="微软雅黑"/>
                        </a:defRPr>
                      </a:pPr>
                      <a:r>
                        <a:rPr sz="1000" b="0">
                          <a:solidFill>
                            <a:srgbClr val="000000"/>
                          </a:solidFill>
                          <a:latin typeface="微软雅黑"/>
                          <a:ea typeface="微软雅黑"/>
                        </a:rPr>
                        <a:t>（三）质量管理</a:t>
                      </a:r>
                    </a:p>
                  </a:txBody>
                  <a:tcPr marL="13716" marR="13716" marT="4572" marB="4572" anchor="ctr">
                    <a:solidFill>
                      <a:srgbClr val="EAF2F8"/>
                    </a:solidFill>
                  </a:tcPr>
                </a:tc>
                <a:tc>
                  <a:txBody>
                    <a:bodyPr/>
                    <a:lstStyle/>
                    <a:p>
                      <a:pPr algn="ctr">
                        <a:lnSpc>
                          <a:spcPct val="100000"/>
                        </a:lnSpc>
                        <a:spcBef>
                          <a:spcPts val="0"/>
                        </a:spcBef>
                        <a:spcAft>
                          <a:spcPts val="0"/>
                        </a:spcAft>
                        <a:defRPr sz="1300">
                          <a:latin typeface="微软雅黑"/>
                        </a:defRPr>
                      </a:pPr>
                      <a:r>
                        <a:rPr sz="1000" b="0">
                          <a:solidFill>
                            <a:srgbClr val="000000"/>
                          </a:solidFill>
                          <a:latin typeface="微软雅黑"/>
                          <a:ea typeface="微软雅黑"/>
                        </a:rPr>
                        <a:t>质量综合分</a:t>
                      </a:r>
                    </a:p>
                  </a:txBody>
                  <a:tcPr marL="13716" marR="13716" marT="4572" marB="4572" anchor="ctr">
                    <a:solidFill>
                      <a:srgbClr val="EAF2F8"/>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95分</a:t>
                      </a:r>
                    </a:p>
                  </a:txBody>
                  <a:tcPr marL="13716" marR="13716" marT="4572" marB="4572" anchor="ctr">
                    <a:solidFill>
                      <a:srgbClr val="EAF2F8"/>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95</a:t>
                      </a:r>
                    </a:p>
                  </a:txBody>
                  <a:tcPr marL="13716" marR="13716" marT="4572" marB="4572" anchor="ctr">
                    <a:solidFill>
                      <a:srgbClr val="EAF2F8"/>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95.29</a:t>
                      </a:r>
                    </a:p>
                  </a:txBody>
                  <a:tcPr marL="13716" marR="13716" marT="4572" marB="4572" anchor="ctr">
                    <a:solidFill>
                      <a:srgbClr val="EAF2F8"/>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95</a:t>
                      </a:r>
                    </a:p>
                  </a:txBody>
                  <a:tcPr marL="13716" marR="13716" marT="4572" marB="4572" anchor="ctr">
                    <a:solidFill>
                      <a:srgbClr val="EAF2F8"/>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93.60</a:t>
                      </a:r>
                    </a:p>
                  </a:txBody>
                  <a:tcPr marL="13716" marR="13716" marT="4572" marB="4572" anchor="ctr">
                    <a:solidFill>
                      <a:srgbClr val="EAF2F8"/>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95</a:t>
                      </a:r>
                    </a:p>
                  </a:txBody>
                  <a:tcPr marL="13716" marR="13716" marT="4572" marB="4572" anchor="ctr">
                    <a:solidFill>
                      <a:srgbClr val="EAF2F8"/>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98.90</a:t>
                      </a:r>
                    </a:p>
                  </a:txBody>
                  <a:tcPr marL="13716" marR="13716" marT="4572" marB="4572" anchor="ctr">
                    <a:solidFill>
                      <a:srgbClr val="EAF2F8"/>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95</a:t>
                      </a:r>
                    </a:p>
                  </a:txBody>
                  <a:tcPr marL="13716" marR="13716" marT="4572" marB="4572" anchor="ctr">
                    <a:solidFill>
                      <a:srgbClr val="EAF2F8"/>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92.82</a:t>
                      </a:r>
                    </a:p>
                  </a:txBody>
                  <a:tcPr marL="13716" marR="13716" marT="4572" marB="4572" anchor="ctr">
                    <a:solidFill>
                      <a:srgbClr val="EAF2F8"/>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a:t>
                      </a:r>
                    </a:p>
                  </a:txBody>
                  <a:tcPr marL="13716" marR="13716" marT="4572" marB="4572" anchor="ctr">
                    <a:solidFill>
                      <a:srgbClr val="EAF2F8"/>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a:t>
                      </a:r>
                    </a:p>
                  </a:txBody>
                  <a:tcPr marL="13716" marR="13716" marT="4572" marB="4572" anchor="ctr">
                    <a:solidFill>
                      <a:srgbClr val="EAF2F8"/>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a:t>
                      </a:r>
                    </a:p>
                  </a:txBody>
                  <a:tcPr marL="13716" marR="13716" marT="4572" marB="4572" anchor="ctr">
                    <a:solidFill>
                      <a:srgbClr val="EAF2F8"/>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a:t>
                      </a:r>
                    </a:p>
                  </a:txBody>
                  <a:tcPr marL="13716" marR="13716" marT="4572" marB="4572" anchor="ctr">
                    <a:solidFill>
                      <a:srgbClr val="EAF2F8"/>
                    </a:solidFill>
                  </a:tcPr>
                </a:tc>
                <a:extLst>
                  <a:ext uri="{0D108BD9-81ED-4DB2-BD59-A6C34878D82A}">
                    <a16:rowId xmlns:a16="http://schemas.microsoft.com/office/drawing/2014/main" val="10008"/>
                  </a:ext>
                </a:extLst>
              </a:tr>
              <a:tr h="591342">
                <a:tc vMerge="1">
                  <a:txBody>
                    <a:bodyPr/>
                    <a:lstStyle/>
                    <a:p>
                      <a:pPr algn="ctr">
                        <a:lnSpc>
                          <a:spcPct val="100000"/>
                        </a:lnSpc>
                        <a:spcBef>
                          <a:spcPts val="0"/>
                        </a:spcBef>
                        <a:spcAft>
                          <a:spcPts val="0"/>
                        </a:spcAft>
                        <a:defRPr sz="1300">
                          <a:latin typeface="微软雅黑"/>
                        </a:defRPr>
                      </a:pPr>
                      <a:endParaRPr/>
                    </a:p>
                  </a:txBody>
                  <a:tcPr marL="13716" marR="13716" marT="4572" marB="4572" anchor="ctr">
                    <a:solidFill>
                      <a:srgbClr val="D9EAF7"/>
                    </a:solidFill>
                  </a:tcPr>
                </a:tc>
                <a:tc>
                  <a:txBody>
                    <a:bodyPr/>
                    <a:lstStyle/>
                    <a:p>
                      <a:pPr algn="ctr">
                        <a:lnSpc>
                          <a:spcPct val="100000"/>
                        </a:lnSpc>
                        <a:spcBef>
                          <a:spcPts val="0"/>
                        </a:spcBef>
                        <a:spcAft>
                          <a:spcPts val="0"/>
                        </a:spcAft>
                        <a:defRPr sz="1300">
                          <a:latin typeface="微软雅黑"/>
                        </a:defRPr>
                      </a:pPr>
                      <a:r>
                        <a:rPr sz="1000" b="0">
                          <a:solidFill>
                            <a:srgbClr val="000000"/>
                          </a:solidFill>
                          <a:latin typeface="微软雅黑"/>
                          <a:ea typeface="微软雅黑"/>
                        </a:rPr>
                        <a:t>工信部通报</a:t>
                      </a:r>
                    </a:p>
                  </a:txBody>
                  <a:tcPr marL="13716" marR="13716" marT="4572" marB="4572" anchor="ctr">
                    <a:solidFill>
                      <a:srgbClr val="D9EA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通报项目数，扣分</a:t>
                      </a:r>
                    </a:p>
                  </a:txBody>
                  <a:tcPr marL="13716" marR="13716" marT="4572" marB="4572" anchor="ctr">
                    <a:solidFill>
                      <a:srgbClr val="D9EA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0</a:t>
                      </a:r>
                    </a:p>
                  </a:txBody>
                  <a:tcPr marL="13716" marR="13716" marT="4572" marB="4572" anchor="ctr">
                    <a:solidFill>
                      <a:srgbClr val="D9EA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0</a:t>
                      </a:r>
                    </a:p>
                  </a:txBody>
                  <a:tcPr marL="13716" marR="13716" marT="4572" marB="4572" anchor="ctr">
                    <a:solidFill>
                      <a:srgbClr val="D9EA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0</a:t>
                      </a:r>
                    </a:p>
                  </a:txBody>
                  <a:tcPr marL="13716" marR="13716" marT="4572" marB="4572" anchor="ctr">
                    <a:solidFill>
                      <a:srgbClr val="D9EA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0</a:t>
                      </a:r>
                    </a:p>
                  </a:txBody>
                  <a:tcPr marL="13716" marR="13716" marT="4572" marB="4572" anchor="ctr">
                    <a:solidFill>
                      <a:srgbClr val="D9EA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0</a:t>
                      </a:r>
                    </a:p>
                  </a:txBody>
                  <a:tcPr marL="13716" marR="13716" marT="4572" marB="4572" anchor="ctr">
                    <a:solidFill>
                      <a:srgbClr val="D9EA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0</a:t>
                      </a:r>
                    </a:p>
                  </a:txBody>
                  <a:tcPr marL="13716" marR="13716" marT="4572" marB="4572" anchor="ctr">
                    <a:solidFill>
                      <a:srgbClr val="D9EA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0</a:t>
                      </a:r>
                    </a:p>
                  </a:txBody>
                  <a:tcPr marL="13716" marR="13716" marT="4572" marB="4572" anchor="ctr">
                    <a:solidFill>
                      <a:srgbClr val="D9EAF7"/>
                    </a:solidFill>
                  </a:tcPr>
                </a:tc>
                <a:tc>
                  <a:txBody>
                    <a:bodyPr/>
                    <a:lstStyle/>
                    <a:p>
                      <a:pPr algn="l">
                        <a:lnSpc>
                          <a:spcPct val="100000"/>
                        </a:lnSpc>
                        <a:spcBef>
                          <a:spcPts val="0"/>
                        </a:spcBef>
                        <a:spcAft>
                          <a:spcPts val="0"/>
                        </a:spcAft>
                        <a:defRPr sz="1300">
                          <a:latin typeface="微软雅黑"/>
                        </a:defRPr>
                      </a:pPr>
                      <a:r>
                        <a:rPr sz="1000" b="1">
                          <a:solidFill>
                            <a:srgbClr val="C00000"/>
                          </a:solidFill>
                          <a:latin typeface="微软雅黑"/>
                          <a:ea typeface="微软雅黑"/>
                        </a:rPr>
                        <a:t>-1</a:t>
                      </a:r>
                    </a:p>
                  </a:txBody>
                  <a:tcPr marL="13716" marR="13716" marT="4572" marB="4572" anchor="ctr">
                    <a:solidFill>
                      <a:srgbClr val="D9EA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0</a:t>
                      </a:r>
                    </a:p>
                  </a:txBody>
                  <a:tcPr marL="13716" marR="13716" marT="4572" marB="4572" anchor="ctr">
                    <a:solidFill>
                      <a:srgbClr val="D9EA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0</a:t>
                      </a:r>
                    </a:p>
                  </a:txBody>
                  <a:tcPr marL="13716" marR="13716" marT="4572" marB="4572" anchor="ctr">
                    <a:solidFill>
                      <a:srgbClr val="D9EA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a:t>
                      </a:r>
                    </a:p>
                  </a:txBody>
                  <a:tcPr marL="13716" marR="13716" marT="4572" marB="4572" anchor="ctr">
                    <a:solidFill>
                      <a:srgbClr val="D9EA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a:t>
                      </a:r>
                    </a:p>
                  </a:txBody>
                  <a:tcPr marL="13716" marR="13716" marT="4572" marB="4572" anchor="ctr">
                    <a:solidFill>
                      <a:srgbClr val="D9EAF7"/>
                    </a:solidFill>
                  </a:tcPr>
                </a:tc>
                <a:extLst>
                  <a:ext uri="{0D108BD9-81ED-4DB2-BD59-A6C34878D82A}">
                    <a16:rowId xmlns:a16="http://schemas.microsoft.com/office/drawing/2014/main" val="10009"/>
                  </a:ext>
                </a:extLst>
              </a:tr>
            </a:tbl>
          </a:graphicData>
        </a:graphic>
      </p:graphicFrame>
      <p:sp>
        <p:nvSpPr>
          <p:cNvPr id="5" name="TextBox 4"/>
          <p:cNvSpPr txBox="1"/>
          <p:nvPr/>
        </p:nvSpPr>
        <p:spPr>
          <a:xfrm>
            <a:off x="11338560" y="6565392"/>
            <a:ext cx="502920" cy="182880"/>
          </a:xfrm>
          <a:prstGeom prst="rect">
            <a:avLst/>
          </a:prstGeom>
          <a:noFill/>
        </p:spPr>
        <p:txBody>
          <a:bodyPr wrap="square" lIns="0" tIns="0" rIns="0" bIns="0" anchor="ctr">
            <a:spAutoFit/>
          </a:bodyPr>
          <a:lstStyle/>
          <a:p>
            <a:pPr algn="ctr">
              <a:lnSpc>
                <a:spcPct val="130000"/>
              </a:lnSpc>
              <a:spcBef>
                <a:spcPts val="0"/>
              </a:spcBef>
              <a:spcAft>
                <a:spcPts val="0"/>
              </a:spcAft>
              <a:defRPr sz="1300" b="0">
                <a:solidFill>
                  <a:srgbClr val="666666"/>
                </a:solidFill>
                <a:latin typeface="微软雅黑"/>
              </a:defRPr>
            </a:pPr>
            <a:r>
              <a:rPr sz="1000" b="0">
                <a:solidFill>
                  <a:srgbClr val="666666"/>
                </a:solidFill>
                <a:latin typeface="微软雅黑"/>
                <a:ea typeface="微软雅黑"/>
              </a:rPr>
              <a:t>3</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1480" y="274320"/>
            <a:ext cx="1280160" cy="658368"/>
          </a:xfrm>
          <a:prstGeom prst="rect">
            <a:avLst/>
          </a:prstGeom>
          <a:noFill/>
        </p:spPr>
        <p:txBody>
          <a:bodyPr wrap="square" lIns="36576" tIns="36576" rIns="36576" bIns="36576" anchor="t">
            <a:spAutoFit/>
          </a:bodyPr>
          <a:lstStyle/>
          <a:p>
            <a:pPr algn="l">
              <a:lnSpc>
                <a:spcPct val="100000"/>
              </a:lnSpc>
              <a:spcBef>
                <a:spcPts val="0"/>
              </a:spcBef>
              <a:spcAft>
                <a:spcPts val="0"/>
              </a:spcAft>
              <a:defRPr sz="3400" b="1">
                <a:solidFill>
                  <a:srgbClr val="003E9E"/>
                </a:solidFill>
                <a:latin typeface="微软雅黑"/>
              </a:defRPr>
            </a:pPr>
            <a:r>
              <a:rPr sz="3400" b="1" i="0">
                <a:solidFill>
                  <a:srgbClr val="003E9E"/>
                </a:solidFill>
                <a:latin typeface="微软雅黑"/>
                <a:ea typeface="微软雅黑"/>
              </a:rPr>
              <a:t>目录</a:t>
            </a:r>
          </a:p>
        </p:txBody>
      </p:sp>
      <p:sp>
        <p:nvSpPr>
          <p:cNvPr id="3" name="TextBox 2"/>
          <p:cNvSpPr txBox="1"/>
          <p:nvPr/>
        </p:nvSpPr>
        <p:spPr>
          <a:xfrm>
            <a:off x="2971800" y="1965960"/>
            <a:ext cx="502920" cy="384048"/>
          </a:xfrm>
          <a:prstGeom prst="rect">
            <a:avLst/>
          </a:prstGeom>
          <a:noFill/>
        </p:spPr>
        <p:txBody>
          <a:bodyPr wrap="square" lIns="36576" tIns="36576" rIns="36576" bIns="36576" anchor="ctr">
            <a:normAutofit/>
          </a:bodyPr>
          <a:lstStyle/>
          <a:p>
            <a:pPr algn="ctr">
              <a:lnSpc>
                <a:spcPct val="100000"/>
              </a:lnSpc>
              <a:spcBef>
                <a:spcPts val="0"/>
              </a:spcBef>
              <a:spcAft>
                <a:spcPts val="0"/>
              </a:spcAft>
              <a:defRPr sz="2000" b="0">
                <a:solidFill>
                  <a:srgbClr val="666666"/>
                </a:solidFill>
                <a:latin typeface="微软雅黑"/>
              </a:defRPr>
            </a:pPr>
            <a:r>
              <a:rPr sz="2000" b="0" i="0">
                <a:solidFill>
                  <a:srgbClr val="666666"/>
                </a:solidFill>
                <a:latin typeface="微软雅黑"/>
                <a:ea typeface="微软雅黑"/>
              </a:rPr>
              <a:t>1</a:t>
            </a:r>
          </a:p>
        </p:txBody>
      </p:sp>
      <p:sp>
        <p:nvSpPr>
          <p:cNvPr id="4" name="TextBox 3"/>
          <p:cNvSpPr txBox="1"/>
          <p:nvPr/>
        </p:nvSpPr>
        <p:spPr>
          <a:xfrm>
            <a:off x="3703320" y="1965960"/>
            <a:ext cx="6126480" cy="384048"/>
          </a:xfrm>
          <a:prstGeom prst="rect">
            <a:avLst/>
          </a:prstGeom>
          <a:noFill/>
        </p:spPr>
        <p:txBody>
          <a:bodyPr wrap="square" lIns="36576" tIns="36576" rIns="36576" bIns="36576" anchor="ctr">
            <a:normAutofit/>
          </a:bodyPr>
          <a:lstStyle/>
          <a:p>
            <a:pPr algn="l">
              <a:lnSpc>
                <a:spcPct val="100000"/>
              </a:lnSpc>
              <a:spcBef>
                <a:spcPts val="0"/>
              </a:spcBef>
              <a:spcAft>
                <a:spcPts val="0"/>
              </a:spcAft>
              <a:defRPr sz="2000" b="0">
                <a:solidFill>
                  <a:srgbClr val="666666"/>
                </a:solidFill>
                <a:latin typeface="微软雅黑"/>
              </a:defRPr>
            </a:pPr>
            <a:r>
              <a:rPr sz="2000" b="0" i="0">
                <a:solidFill>
                  <a:srgbClr val="666666"/>
                </a:solidFill>
                <a:latin typeface="微软雅黑"/>
                <a:ea typeface="微软雅黑"/>
              </a:rPr>
              <a:t>技术指标情况</a:t>
            </a:r>
          </a:p>
        </p:txBody>
      </p:sp>
      <p:sp>
        <p:nvSpPr>
          <p:cNvPr id="5" name="TextBox 4"/>
          <p:cNvSpPr txBox="1"/>
          <p:nvPr/>
        </p:nvSpPr>
        <p:spPr>
          <a:xfrm>
            <a:off x="2971800" y="2624328"/>
            <a:ext cx="502920" cy="384048"/>
          </a:xfrm>
          <a:prstGeom prst="rect">
            <a:avLst/>
          </a:prstGeom>
          <a:noFill/>
        </p:spPr>
        <p:txBody>
          <a:bodyPr wrap="square" lIns="36576" tIns="36576" rIns="36576" bIns="36576" anchor="ctr">
            <a:normAutofit/>
          </a:bodyPr>
          <a:lstStyle/>
          <a:p>
            <a:pPr algn="ctr">
              <a:lnSpc>
                <a:spcPct val="100000"/>
              </a:lnSpc>
              <a:spcBef>
                <a:spcPts val="0"/>
              </a:spcBef>
              <a:spcAft>
                <a:spcPts val="0"/>
              </a:spcAft>
              <a:defRPr sz="2000" b="1">
                <a:solidFill>
                  <a:srgbClr val="111111"/>
                </a:solidFill>
                <a:latin typeface="微软雅黑"/>
              </a:defRPr>
            </a:pPr>
            <a:r>
              <a:rPr sz="2000" b="1" i="0">
                <a:solidFill>
                  <a:srgbClr val="111111"/>
                </a:solidFill>
                <a:latin typeface="微软雅黑"/>
                <a:ea typeface="微软雅黑"/>
              </a:rPr>
              <a:t>2</a:t>
            </a:r>
          </a:p>
        </p:txBody>
      </p:sp>
      <p:sp>
        <p:nvSpPr>
          <p:cNvPr id="6" name="TextBox 5"/>
          <p:cNvSpPr txBox="1"/>
          <p:nvPr/>
        </p:nvSpPr>
        <p:spPr>
          <a:xfrm>
            <a:off x="3703320" y="2624328"/>
            <a:ext cx="6126480" cy="384048"/>
          </a:xfrm>
          <a:prstGeom prst="rect">
            <a:avLst/>
          </a:prstGeom>
          <a:noFill/>
        </p:spPr>
        <p:txBody>
          <a:bodyPr wrap="square" lIns="36576" tIns="36576" rIns="36576" bIns="36576" anchor="ctr">
            <a:normAutofit/>
          </a:bodyPr>
          <a:lstStyle/>
          <a:p>
            <a:pPr algn="l">
              <a:lnSpc>
                <a:spcPct val="100000"/>
              </a:lnSpc>
              <a:spcBef>
                <a:spcPts val="0"/>
              </a:spcBef>
              <a:spcAft>
                <a:spcPts val="0"/>
              </a:spcAft>
              <a:defRPr sz="2000" b="1">
                <a:solidFill>
                  <a:srgbClr val="111111"/>
                </a:solidFill>
                <a:latin typeface="微软雅黑"/>
              </a:defRPr>
            </a:pPr>
            <a:r>
              <a:rPr sz="2000" b="1" i="0">
                <a:solidFill>
                  <a:srgbClr val="111111"/>
                </a:solidFill>
                <a:latin typeface="微软雅黑"/>
                <a:ea typeface="微软雅黑"/>
              </a:rPr>
              <a:t>总师支撑效果</a:t>
            </a:r>
          </a:p>
        </p:txBody>
      </p:sp>
      <p:sp>
        <p:nvSpPr>
          <p:cNvPr id="7" name="TextBox 6"/>
          <p:cNvSpPr txBox="1"/>
          <p:nvPr/>
        </p:nvSpPr>
        <p:spPr>
          <a:xfrm>
            <a:off x="2971800" y="3282696"/>
            <a:ext cx="502920" cy="384048"/>
          </a:xfrm>
          <a:prstGeom prst="rect">
            <a:avLst/>
          </a:prstGeom>
          <a:noFill/>
        </p:spPr>
        <p:txBody>
          <a:bodyPr wrap="square" lIns="36576" tIns="36576" rIns="36576" bIns="36576" anchor="ctr">
            <a:normAutofit/>
          </a:bodyPr>
          <a:lstStyle/>
          <a:p>
            <a:pPr algn="ctr">
              <a:lnSpc>
                <a:spcPct val="100000"/>
              </a:lnSpc>
              <a:spcBef>
                <a:spcPts val="0"/>
              </a:spcBef>
              <a:spcAft>
                <a:spcPts val="0"/>
              </a:spcAft>
              <a:defRPr sz="2000" b="0">
                <a:solidFill>
                  <a:srgbClr val="666666"/>
                </a:solidFill>
                <a:latin typeface="微软雅黑"/>
              </a:defRPr>
            </a:pPr>
            <a:r>
              <a:rPr sz="2000" b="0" i="0">
                <a:solidFill>
                  <a:srgbClr val="666666"/>
                </a:solidFill>
                <a:latin typeface="微软雅黑"/>
                <a:ea typeface="微软雅黑"/>
              </a:rPr>
              <a:t>3</a:t>
            </a:r>
          </a:p>
        </p:txBody>
      </p:sp>
      <p:sp>
        <p:nvSpPr>
          <p:cNvPr id="8" name="TextBox 7"/>
          <p:cNvSpPr txBox="1"/>
          <p:nvPr/>
        </p:nvSpPr>
        <p:spPr>
          <a:xfrm>
            <a:off x="3703320" y="3282696"/>
            <a:ext cx="6126480" cy="384048"/>
          </a:xfrm>
          <a:prstGeom prst="rect">
            <a:avLst/>
          </a:prstGeom>
          <a:noFill/>
        </p:spPr>
        <p:txBody>
          <a:bodyPr wrap="square" lIns="36576" tIns="36576" rIns="36576" bIns="36576" anchor="ctr">
            <a:normAutofit/>
          </a:bodyPr>
          <a:lstStyle/>
          <a:p>
            <a:pPr algn="l">
              <a:lnSpc>
                <a:spcPct val="100000"/>
              </a:lnSpc>
              <a:spcBef>
                <a:spcPts val="0"/>
              </a:spcBef>
              <a:spcAft>
                <a:spcPts val="0"/>
              </a:spcAft>
              <a:defRPr sz="2000" b="0">
                <a:solidFill>
                  <a:srgbClr val="666666"/>
                </a:solidFill>
                <a:latin typeface="微软雅黑"/>
              </a:defRPr>
            </a:pPr>
            <a:r>
              <a:rPr sz="2000" b="0" i="0">
                <a:solidFill>
                  <a:srgbClr val="666666"/>
                </a:solidFill>
                <a:latin typeface="微软雅黑"/>
                <a:ea typeface="微软雅黑"/>
              </a:rPr>
              <a:t>科创能力打造</a:t>
            </a:r>
          </a:p>
        </p:txBody>
      </p:sp>
      <p:sp>
        <p:nvSpPr>
          <p:cNvPr id="9" name="TextBox 8"/>
          <p:cNvSpPr txBox="1"/>
          <p:nvPr/>
        </p:nvSpPr>
        <p:spPr>
          <a:xfrm>
            <a:off x="2971800" y="3941064"/>
            <a:ext cx="502920" cy="384048"/>
          </a:xfrm>
          <a:prstGeom prst="rect">
            <a:avLst/>
          </a:prstGeom>
          <a:noFill/>
        </p:spPr>
        <p:txBody>
          <a:bodyPr wrap="square" lIns="36576" tIns="36576" rIns="36576" bIns="36576" anchor="ctr">
            <a:normAutofit/>
          </a:bodyPr>
          <a:lstStyle/>
          <a:p>
            <a:pPr algn="ctr">
              <a:lnSpc>
                <a:spcPct val="100000"/>
              </a:lnSpc>
              <a:spcBef>
                <a:spcPts val="0"/>
              </a:spcBef>
              <a:spcAft>
                <a:spcPts val="0"/>
              </a:spcAft>
              <a:defRPr sz="2000" b="0">
                <a:solidFill>
                  <a:srgbClr val="666666"/>
                </a:solidFill>
                <a:latin typeface="微软雅黑"/>
              </a:defRPr>
            </a:pPr>
            <a:r>
              <a:rPr sz="2000" b="0" i="0">
                <a:solidFill>
                  <a:srgbClr val="666666"/>
                </a:solidFill>
                <a:latin typeface="微软雅黑"/>
                <a:ea typeface="微软雅黑"/>
              </a:rPr>
              <a:t>4</a:t>
            </a:r>
          </a:p>
        </p:txBody>
      </p:sp>
      <p:sp>
        <p:nvSpPr>
          <p:cNvPr id="10" name="TextBox 9"/>
          <p:cNvSpPr txBox="1"/>
          <p:nvPr/>
        </p:nvSpPr>
        <p:spPr>
          <a:xfrm>
            <a:off x="3703320" y="3941064"/>
            <a:ext cx="6126480" cy="384048"/>
          </a:xfrm>
          <a:prstGeom prst="rect">
            <a:avLst/>
          </a:prstGeom>
          <a:noFill/>
        </p:spPr>
        <p:txBody>
          <a:bodyPr wrap="square" lIns="36576" tIns="36576" rIns="36576" bIns="36576" anchor="ctr">
            <a:normAutofit/>
          </a:bodyPr>
          <a:lstStyle/>
          <a:p>
            <a:pPr algn="l">
              <a:lnSpc>
                <a:spcPct val="100000"/>
              </a:lnSpc>
              <a:spcBef>
                <a:spcPts val="0"/>
              </a:spcBef>
              <a:spcAft>
                <a:spcPts val="0"/>
              </a:spcAft>
              <a:defRPr sz="2000" b="0">
                <a:solidFill>
                  <a:srgbClr val="666666"/>
                </a:solidFill>
                <a:latin typeface="微软雅黑"/>
              </a:defRPr>
            </a:pPr>
            <a:r>
              <a:rPr sz="2000" b="0" i="0">
                <a:solidFill>
                  <a:srgbClr val="666666"/>
                </a:solidFill>
                <a:latin typeface="微软雅黑"/>
                <a:ea typeface="微软雅黑"/>
              </a:rPr>
              <a:t>设计质量与人才梯队</a:t>
            </a:r>
          </a:p>
        </p:txBody>
      </p:sp>
      <p:sp>
        <p:nvSpPr>
          <p:cNvPr id="11" name="TextBox 10"/>
          <p:cNvSpPr txBox="1"/>
          <p:nvPr/>
        </p:nvSpPr>
        <p:spPr>
          <a:xfrm>
            <a:off x="2971800" y="4599431"/>
            <a:ext cx="502920" cy="384048"/>
          </a:xfrm>
          <a:prstGeom prst="rect">
            <a:avLst/>
          </a:prstGeom>
          <a:noFill/>
        </p:spPr>
        <p:txBody>
          <a:bodyPr wrap="square" lIns="36576" tIns="36576" rIns="36576" bIns="36576" anchor="ctr">
            <a:normAutofit/>
          </a:bodyPr>
          <a:lstStyle/>
          <a:p>
            <a:pPr algn="ctr">
              <a:lnSpc>
                <a:spcPct val="100000"/>
              </a:lnSpc>
              <a:spcBef>
                <a:spcPts val="0"/>
              </a:spcBef>
              <a:spcAft>
                <a:spcPts val="0"/>
              </a:spcAft>
              <a:defRPr sz="2000" b="0">
                <a:solidFill>
                  <a:srgbClr val="666666"/>
                </a:solidFill>
                <a:latin typeface="微软雅黑"/>
              </a:defRPr>
            </a:pPr>
            <a:r>
              <a:rPr sz="2000" b="0" i="0">
                <a:solidFill>
                  <a:srgbClr val="666666"/>
                </a:solidFill>
                <a:latin typeface="微软雅黑"/>
                <a:ea typeface="微软雅黑"/>
              </a:rPr>
              <a:t>5</a:t>
            </a:r>
          </a:p>
        </p:txBody>
      </p:sp>
      <p:sp>
        <p:nvSpPr>
          <p:cNvPr id="12" name="TextBox 11"/>
          <p:cNvSpPr txBox="1"/>
          <p:nvPr/>
        </p:nvSpPr>
        <p:spPr>
          <a:xfrm>
            <a:off x="3703320" y="4599431"/>
            <a:ext cx="6126480" cy="384048"/>
          </a:xfrm>
          <a:prstGeom prst="rect">
            <a:avLst/>
          </a:prstGeom>
          <a:noFill/>
        </p:spPr>
        <p:txBody>
          <a:bodyPr wrap="square" lIns="36576" tIns="36576" rIns="36576" bIns="36576" anchor="ctr">
            <a:normAutofit/>
          </a:bodyPr>
          <a:lstStyle/>
          <a:p>
            <a:pPr algn="l">
              <a:lnSpc>
                <a:spcPct val="100000"/>
              </a:lnSpc>
              <a:spcBef>
                <a:spcPts val="0"/>
              </a:spcBef>
              <a:spcAft>
                <a:spcPts val="0"/>
              </a:spcAft>
              <a:defRPr sz="2000" b="0">
                <a:solidFill>
                  <a:srgbClr val="666666"/>
                </a:solidFill>
                <a:latin typeface="微软雅黑"/>
              </a:defRPr>
            </a:pPr>
            <a:r>
              <a:rPr sz="2000" b="0" i="0">
                <a:solidFill>
                  <a:srgbClr val="666666"/>
                </a:solidFill>
                <a:latin typeface="微软雅黑"/>
                <a:ea typeface="微软雅黑"/>
              </a:rPr>
              <a:t>下一步工作计划</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19456"/>
            <a:ext cx="9738360" cy="621792"/>
          </a:xfrm>
          <a:prstGeom prst="rect">
            <a:avLst/>
          </a:prstGeom>
          <a:noFill/>
        </p:spPr>
        <p:txBody>
          <a:bodyPr wrap="square" lIns="0" tIns="0" rIns="0" bIns="0" anchor="ctr">
            <a:normAutofit/>
          </a:bodyPr>
          <a:lstStyle/>
          <a:p>
            <a:pPr algn="l">
              <a:lnSpc>
                <a:spcPct val="100000"/>
              </a:lnSpc>
              <a:spcBef>
                <a:spcPts val="0"/>
              </a:spcBef>
              <a:spcAft>
                <a:spcPts val="0"/>
              </a:spcAft>
              <a:defRPr sz="1300" b="1">
                <a:solidFill>
                  <a:srgbClr val="111111"/>
                </a:solidFill>
                <a:latin typeface="微软雅黑"/>
              </a:defRPr>
            </a:pPr>
            <a:r>
              <a:rPr sz="3400" b="1" i="0">
                <a:solidFill>
                  <a:srgbClr val="111111"/>
                </a:solidFill>
                <a:latin typeface="微软雅黑"/>
                <a:ea typeface="微软雅黑"/>
              </a:rPr>
              <a:t>重点支撑工作各总体组进展</a:t>
            </a:r>
          </a:p>
        </p:txBody>
      </p:sp>
      <p:graphicFrame>
        <p:nvGraphicFramePr>
          <p:cNvPr id="8" name="Table 7"/>
          <p:cNvGraphicFramePr>
            <a:graphicFrameLocks noGrp="1"/>
          </p:cNvGraphicFramePr>
          <p:nvPr/>
        </p:nvGraphicFramePr>
        <p:xfrm>
          <a:off x="347472" y="1929384"/>
          <a:ext cx="5623556" cy="2469675"/>
        </p:xfrm>
        <a:graphic>
          <a:graphicData uri="http://schemas.openxmlformats.org/drawingml/2006/table">
            <a:tbl>
              <a:tblPr>
                <a:tableStyleId>{5C22544A-7EE6-4342-B048-85BDC9FD1C3A}</a:tableStyleId>
              </a:tblPr>
              <a:tblGrid>
                <a:gridCol w="907025">
                  <a:extLst>
                    <a:ext uri="{9D8B030D-6E8A-4147-A177-3AD203B41FA5}">
                      <a16:colId xmlns:a16="http://schemas.microsoft.com/office/drawing/2014/main" val="20000"/>
                    </a:ext>
                  </a:extLst>
                </a:gridCol>
                <a:gridCol w="589566">
                  <a:extLst>
                    <a:ext uri="{9D8B030D-6E8A-4147-A177-3AD203B41FA5}">
                      <a16:colId xmlns:a16="http://schemas.microsoft.com/office/drawing/2014/main" val="20001"/>
                    </a:ext>
                  </a:extLst>
                </a:gridCol>
                <a:gridCol w="634918">
                  <a:extLst>
                    <a:ext uri="{9D8B030D-6E8A-4147-A177-3AD203B41FA5}">
                      <a16:colId xmlns:a16="http://schemas.microsoft.com/office/drawing/2014/main" val="20002"/>
                    </a:ext>
                  </a:extLst>
                </a:gridCol>
                <a:gridCol w="680269">
                  <a:extLst>
                    <a:ext uri="{9D8B030D-6E8A-4147-A177-3AD203B41FA5}">
                      <a16:colId xmlns:a16="http://schemas.microsoft.com/office/drawing/2014/main" val="20003"/>
                    </a:ext>
                  </a:extLst>
                </a:gridCol>
                <a:gridCol w="634918">
                  <a:extLst>
                    <a:ext uri="{9D8B030D-6E8A-4147-A177-3AD203B41FA5}">
                      <a16:colId xmlns:a16="http://schemas.microsoft.com/office/drawing/2014/main" val="20004"/>
                    </a:ext>
                  </a:extLst>
                </a:gridCol>
                <a:gridCol w="725620">
                  <a:extLst>
                    <a:ext uri="{9D8B030D-6E8A-4147-A177-3AD203B41FA5}">
                      <a16:colId xmlns:a16="http://schemas.microsoft.com/office/drawing/2014/main" val="20005"/>
                    </a:ext>
                  </a:extLst>
                </a:gridCol>
                <a:gridCol w="770971">
                  <a:extLst>
                    <a:ext uri="{9D8B030D-6E8A-4147-A177-3AD203B41FA5}">
                      <a16:colId xmlns:a16="http://schemas.microsoft.com/office/drawing/2014/main" val="20006"/>
                    </a:ext>
                  </a:extLst>
                </a:gridCol>
                <a:gridCol w="680269">
                  <a:extLst>
                    <a:ext uri="{9D8B030D-6E8A-4147-A177-3AD203B41FA5}">
                      <a16:colId xmlns:a16="http://schemas.microsoft.com/office/drawing/2014/main" val="20007"/>
                    </a:ext>
                  </a:extLst>
                </a:gridCol>
              </a:tblGrid>
              <a:tr h="219973">
                <a:tc rowSpan="2">
                  <a:txBody>
                    <a:bodyPr/>
                    <a:lstStyle/>
                    <a:p>
                      <a:pPr algn="ctr">
                        <a:lnSpc>
                          <a:spcPct val="100000"/>
                        </a:lnSpc>
                        <a:spcBef>
                          <a:spcPts val="0"/>
                        </a:spcBef>
                        <a:spcAft>
                          <a:spcPts val="0"/>
                        </a:spcAft>
                        <a:defRPr sz="1300" b="1">
                          <a:latin typeface="微软雅黑"/>
                        </a:defRPr>
                      </a:pPr>
                      <a:r>
                        <a:rPr sz="1000" b="1">
                          <a:solidFill>
                            <a:srgbClr val="FFFFFF"/>
                          </a:solidFill>
                          <a:latin typeface="微软雅黑"/>
                          <a:ea typeface="微软雅黑"/>
                        </a:rPr>
                        <a:t>专业</a:t>
                      </a:r>
                    </a:p>
                  </a:txBody>
                  <a:tcPr marL="13716" marR="13716" marT="4572" marB="4572" anchor="ctr">
                    <a:solidFill>
                      <a:srgbClr val="4472C4"/>
                    </a:solidFill>
                  </a:tcPr>
                </a:tc>
                <a:tc gridSpan="3">
                  <a:txBody>
                    <a:bodyPr/>
                    <a:lstStyle/>
                    <a:p>
                      <a:pPr algn="ctr">
                        <a:lnSpc>
                          <a:spcPct val="100000"/>
                        </a:lnSpc>
                        <a:spcBef>
                          <a:spcPts val="0"/>
                        </a:spcBef>
                        <a:spcAft>
                          <a:spcPts val="0"/>
                        </a:spcAft>
                        <a:defRPr sz="1300" b="1">
                          <a:latin typeface="微软雅黑"/>
                        </a:defRPr>
                      </a:pPr>
                      <a:r>
                        <a:rPr sz="1000" b="1">
                          <a:solidFill>
                            <a:srgbClr val="FFFFFF"/>
                          </a:solidFill>
                          <a:latin typeface="微软雅黑"/>
                          <a:ea typeface="微软雅黑"/>
                        </a:rPr>
                        <a:t>订单数量</a:t>
                      </a:r>
                    </a:p>
                  </a:txBody>
                  <a:tcPr marL="13716" marR="13716" marT="4572" marB="4572" anchor="ctr">
                    <a:solidFill>
                      <a:srgbClr val="4472C4"/>
                    </a:solidFill>
                  </a:tcPr>
                </a:tc>
                <a:tc hMerge="1">
                  <a:txBody>
                    <a:bodyPr/>
                    <a:lstStyle/>
                    <a:p>
                      <a:pPr algn="ctr">
                        <a:lnSpc>
                          <a:spcPct val="100000"/>
                        </a:lnSpc>
                        <a:spcBef>
                          <a:spcPts val="0"/>
                        </a:spcBef>
                        <a:spcAft>
                          <a:spcPts val="0"/>
                        </a:spcAft>
                        <a:defRPr sz="1300" b="1">
                          <a:latin typeface="微软雅黑"/>
                        </a:defRPr>
                      </a:pPr>
                      <a:endParaRPr/>
                    </a:p>
                  </a:txBody>
                  <a:tcPr marL="13716" marR="13716" marT="4572" marB="4572" anchor="ctr">
                    <a:solidFill>
                      <a:srgbClr val="4472C4"/>
                    </a:solidFill>
                  </a:tcPr>
                </a:tc>
                <a:tc hMerge="1">
                  <a:txBody>
                    <a:bodyPr/>
                    <a:lstStyle/>
                    <a:p>
                      <a:pPr algn="ctr">
                        <a:lnSpc>
                          <a:spcPct val="100000"/>
                        </a:lnSpc>
                        <a:spcBef>
                          <a:spcPts val="0"/>
                        </a:spcBef>
                        <a:spcAft>
                          <a:spcPts val="0"/>
                        </a:spcAft>
                        <a:defRPr sz="1300" b="1">
                          <a:latin typeface="微软雅黑"/>
                        </a:defRPr>
                      </a:pPr>
                      <a:endParaRPr/>
                    </a:p>
                  </a:txBody>
                  <a:tcPr marL="13716" marR="13716" marT="4572" marB="4572" anchor="ctr">
                    <a:solidFill>
                      <a:srgbClr val="4472C4"/>
                    </a:solidFill>
                  </a:tcPr>
                </a:tc>
                <a:tc gridSpan="3">
                  <a:txBody>
                    <a:bodyPr/>
                    <a:lstStyle/>
                    <a:p>
                      <a:pPr algn="ctr">
                        <a:lnSpc>
                          <a:spcPct val="100000"/>
                        </a:lnSpc>
                        <a:spcBef>
                          <a:spcPts val="0"/>
                        </a:spcBef>
                        <a:spcAft>
                          <a:spcPts val="0"/>
                        </a:spcAft>
                        <a:defRPr sz="1300" b="1">
                          <a:latin typeface="微软雅黑"/>
                        </a:defRPr>
                      </a:pPr>
                      <a:r>
                        <a:rPr sz="1000" b="1">
                          <a:solidFill>
                            <a:srgbClr val="FFFFFF"/>
                          </a:solidFill>
                          <a:latin typeface="微软雅黑"/>
                          <a:ea typeface="微软雅黑"/>
                        </a:rPr>
                        <a:t>支撑原子订单数量</a:t>
                      </a:r>
                    </a:p>
                  </a:txBody>
                  <a:tcPr marL="13716" marR="13716" marT="4572" marB="4572" anchor="ctr">
                    <a:solidFill>
                      <a:srgbClr val="4472C4"/>
                    </a:solidFill>
                  </a:tcPr>
                </a:tc>
                <a:tc hMerge="1">
                  <a:txBody>
                    <a:bodyPr/>
                    <a:lstStyle/>
                    <a:p>
                      <a:pPr algn="ctr">
                        <a:lnSpc>
                          <a:spcPct val="100000"/>
                        </a:lnSpc>
                        <a:spcBef>
                          <a:spcPts val="0"/>
                        </a:spcBef>
                        <a:spcAft>
                          <a:spcPts val="0"/>
                        </a:spcAft>
                        <a:defRPr sz="1300" b="1">
                          <a:latin typeface="微软雅黑"/>
                        </a:defRPr>
                      </a:pPr>
                      <a:endParaRPr/>
                    </a:p>
                  </a:txBody>
                  <a:tcPr marL="13716" marR="13716" marT="4572" marB="4572" anchor="ctr">
                    <a:solidFill>
                      <a:srgbClr val="4472C4"/>
                    </a:solidFill>
                  </a:tcPr>
                </a:tc>
                <a:tc hMerge="1">
                  <a:txBody>
                    <a:bodyPr/>
                    <a:lstStyle/>
                    <a:p>
                      <a:pPr algn="ctr">
                        <a:lnSpc>
                          <a:spcPct val="100000"/>
                        </a:lnSpc>
                        <a:spcBef>
                          <a:spcPts val="0"/>
                        </a:spcBef>
                        <a:spcAft>
                          <a:spcPts val="0"/>
                        </a:spcAft>
                        <a:defRPr sz="1300" b="1">
                          <a:latin typeface="微软雅黑"/>
                        </a:defRPr>
                      </a:pPr>
                      <a:endParaRPr/>
                    </a:p>
                  </a:txBody>
                  <a:tcPr marL="13716" marR="13716" marT="4572" marB="4572" anchor="ctr">
                    <a:solidFill>
                      <a:srgbClr val="4472C4"/>
                    </a:solidFill>
                  </a:tcPr>
                </a:tc>
                <a:tc rowSpan="2">
                  <a:txBody>
                    <a:bodyPr/>
                    <a:lstStyle/>
                    <a:p>
                      <a:pPr algn="ctr">
                        <a:lnSpc>
                          <a:spcPct val="100000"/>
                        </a:lnSpc>
                        <a:spcBef>
                          <a:spcPts val="0"/>
                        </a:spcBef>
                        <a:spcAft>
                          <a:spcPts val="0"/>
                        </a:spcAft>
                        <a:defRPr sz="1300" b="1">
                          <a:latin typeface="微软雅黑"/>
                        </a:defRPr>
                      </a:pPr>
                      <a:r>
                        <a:rPr sz="1000" b="1">
                          <a:solidFill>
                            <a:srgbClr val="FFFFFF"/>
                          </a:solidFill>
                          <a:latin typeface="微软雅黑"/>
                          <a:ea typeface="微软雅黑"/>
                        </a:rPr>
                        <a:t>当前整体工作进展</a:t>
                      </a:r>
                    </a:p>
                  </a:txBody>
                  <a:tcPr marL="13716" marR="13716" marT="4572" marB="4572" anchor="ctr">
                    <a:solidFill>
                      <a:srgbClr val="4472C4"/>
                    </a:solidFill>
                  </a:tcPr>
                </a:tc>
                <a:extLst>
                  <a:ext uri="{0D108BD9-81ED-4DB2-BD59-A6C34878D82A}">
                    <a16:rowId xmlns:a16="http://schemas.microsoft.com/office/drawing/2014/main" val="10000"/>
                  </a:ext>
                </a:extLst>
              </a:tr>
              <a:tr h="175978">
                <a:tc vMerge="1">
                  <a:txBody>
                    <a:bodyPr/>
                    <a:lstStyle/>
                    <a:p>
                      <a:pPr algn="l">
                        <a:lnSpc>
                          <a:spcPct val="100000"/>
                        </a:lnSpc>
                        <a:spcBef>
                          <a:spcPts val="0"/>
                        </a:spcBef>
                        <a:spcAft>
                          <a:spcPts val="0"/>
                        </a:spcAft>
                        <a:defRPr sz="1300">
                          <a:latin typeface="微软雅黑"/>
                        </a:defRPr>
                      </a:pPr>
                      <a:endParaRPr/>
                    </a:p>
                  </a:txBody>
                  <a:tcPr marL="13716" marR="13716" marT="4572" marB="4572" anchor="ctr">
                    <a:solidFill>
                      <a:srgbClr val="4472C4"/>
                    </a:solidFill>
                  </a:tcPr>
                </a:tc>
                <a:tc>
                  <a:txBody>
                    <a:bodyPr/>
                    <a:lstStyle/>
                    <a:p>
                      <a:pPr algn="l">
                        <a:lnSpc>
                          <a:spcPct val="100000"/>
                        </a:lnSpc>
                        <a:spcBef>
                          <a:spcPts val="0"/>
                        </a:spcBef>
                        <a:spcAft>
                          <a:spcPts val="0"/>
                        </a:spcAft>
                        <a:defRPr sz="1300">
                          <a:latin typeface="微软雅黑"/>
                        </a:defRPr>
                      </a:pPr>
                      <a:r>
                        <a:rPr sz="1000" b="1">
                          <a:solidFill>
                            <a:srgbClr val="FFFFFF"/>
                          </a:solidFill>
                          <a:latin typeface="微软雅黑"/>
                          <a:ea typeface="微软雅黑"/>
                        </a:rPr>
                        <a:t>整体</a:t>
                      </a:r>
                    </a:p>
                  </a:txBody>
                  <a:tcPr marL="13716" marR="13716" marT="4572" marB="4572" anchor="ctr">
                    <a:solidFill>
                      <a:srgbClr val="4472C4"/>
                    </a:solidFill>
                  </a:tcPr>
                </a:tc>
                <a:tc>
                  <a:txBody>
                    <a:bodyPr/>
                    <a:lstStyle/>
                    <a:p>
                      <a:pPr algn="l">
                        <a:lnSpc>
                          <a:spcPct val="100000"/>
                        </a:lnSpc>
                        <a:spcBef>
                          <a:spcPts val="0"/>
                        </a:spcBef>
                        <a:spcAft>
                          <a:spcPts val="0"/>
                        </a:spcAft>
                        <a:defRPr sz="1300">
                          <a:latin typeface="微软雅黑"/>
                        </a:defRPr>
                      </a:pPr>
                      <a:r>
                        <a:rPr sz="1000" b="1">
                          <a:solidFill>
                            <a:srgbClr val="FFFFFF"/>
                          </a:solidFill>
                          <a:latin typeface="微软雅黑"/>
                          <a:ea typeface="微软雅黑"/>
                        </a:rPr>
                        <a:t>网络规划</a:t>
                      </a:r>
                    </a:p>
                  </a:txBody>
                  <a:tcPr marL="13716" marR="13716" marT="4572" marB="4572" anchor="ctr">
                    <a:solidFill>
                      <a:srgbClr val="4472C4"/>
                    </a:solidFill>
                  </a:tcPr>
                </a:tc>
                <a:tc>
                  <a:txBody>
                    <a:bodyPr/>
                    <a:lstStyle/>
                    <a:p>
                      <a:pPr algn="l">
                        <a:lnSpc>
                          <a:spcPct val="100000"/>
                        </a:lnSpc>
                        <a:spcBef>
                          <a:spcPts val="0"/>
                        </a:spcBef>
                        <a:spcAft>
                          <a:spcPts val="0"/>
                        </a:spcAft>
                        <a:defRPr sz="1300">
                          <a:latin typeface="微软雅黑"/>
                        </a:defRPr>
                      </a:pPr>
                      <a:r>
                        <a:rPr sz="1000" b="1">
                          <a:solidFill>
                            <a:srgbClr val="FFFFFF"/>
                          </a:solidFill>
                          <a:latin typeface="微软雅黑"/>
                          <a:ea typeface="微软雅黑"/>
                        </a:rPr>
                        <a:t>技术支撑</a:t>
                      </a:r>
                    </a:p>
                  </a:txBody>
                  <a:tcPr marL="13716" marR="13716" marT="4572" marB="4572" anchor="ctr">
                    <a:solidFill>
                      <a:srgbClr val="4472C4"/>
                    </a:solidFill>
                  </a:tcPr>
                </a:tc>
                <a:tc>
                  <a:txBody>
                    <a:bodyPr/>
                    <a:lstStyle/>
                    <a:p>
                      <a:pPr algn="l">
                        <a:lnSpc>
                          <a:spcPct val="100000"/>
                        </a:lnSpc>
                        <a:spcBef>
                          <a:spcPts val="0"/>
                        </a:spcBef>
                        <a:spcAft>
                          <a:spcPts val="0"/>
                        </a:spcAft>
                        <a:defRPr sz="1300">
                          <a:latin typeface="微软雅黑"/>
                        </a:defRPr>
                      </a:pPr>
                      <a:r>
                        <a:rPr sz="1000" b="1">
                          <a:solidFill>
                            <a:srgbClr val="FFFFFF"/>
                          </a:solidFill>
                          <a:latin typeface="微软雅黑"/>
                          <a:ea typeface="微软雅黑"/>
                        </a:rPr>
                        <a:t>总数</a:t>
                      </a:r>
                    </a:p>
                  </a:txBody>
                  <a:tcPr marL="13716" marR="13716" marT="4572" marB="4572" anchor="ctr">
                    <a:solidFill>
                      <a:srgbClr val="4472C4"/>
                    </a:solidFill>
                  </a:tcPr>
                </a:tc>
                <a:tc>
                  <a:txBody>
                    <a:bodyPr/>
                    <a:lstStyle/>
                    <a:p>
                      <a:pPr algn="l">
                        <a:lnSpc>
                          <a:spcPct val="100000"/>
                        </a:lnSpc>
                        <a:spcBef>
                          <a:spcPts val="0"/>
                        </a:spcBef>
                        <a:spcAft>
                          <a:spcPts val="0"/>
                        </a:spcAft>
                        <a:defRPr sz="1300">
                          <a:latin typeface="微软雅黑"/>
                        </a:defRPr>
                      </a:pPr>
                      <a:r>
                        <a:rPr sz="1000" b="1">
                          <a:solidFill>
                            <a:srgbClr val="FFFFFF"/>
                          </a:solidFill>
                          <a:latin typeface="微软雅黑"/>
                          <a:ea typeface="微软雅黑"/>
                        </a:rPr>
                        <a:t>其中：总体组</a:t>
                      </a:r>
                    </a:p>
                  </a:txBody>
                  <a:tcPr marL="13716" marR="13716" marT="4572" marB="4572" anchor="ctr">
                    <a:solidFill>
                      <a:srgbClr val="4472C4"/>
                    </a:solidFill>
                  </a:tcPr>
                </a:tc>
                <a:tc>
                  <a:txBody>
                    <a:bodyPr/>
                    <a:lstStyle/>
                    <a:p>
                      <a:pPr algn="l">
                        <a:lnSpc>
                          <a:spcPct val="100000"/>
                        </a:lnSpc>
                        <a:spcBef>
                          <a:spcPts val="0"/>
                        </a:spcBef>
                        <a:spcAft>
                          <a:spcPts val="0"/>
                        </a:spcAft>
                        <a:defRPr sz="1300">
                          <a:latin typeface="微软雅黑"/>
                        </a:defRPr>
                      </a:pPr>
                      <a:r>
                        <a:rPr sz="1000" b="1">
                          <a:solidFill>
                            <a:srgbClr val="FFFFFF"/>
                          </a:solidFill>
                          <a:latin typeface="微软雅黑"/>
                          <a:ea typeface="微软雅黑"/>
                        </a:rPr>
                        <a:t>其中：省分团队</a:t>
                      </a:r>
                    </a:p>
                  </a:txBody>
                  <a:tcPr marL="13716" marR="13716" marT="4572" marB="4572" anchor="ctr">
                    <a:solidFill>
                      <a:srgbClr val="4472C4"/>
                    </a:solidFill>
                  </a:tcPr>
                </a:tc>
                <a:tc vMerge="1">
                  <a:txBody>
                    <a:bodyPr/>
                    <a:lstStyle/>
                    <a:p>
                      <a:pPr algn="l">
                        <a:lnSpc>
                          <a:spcPct val="100000"/>
                        </a:lnSpc>
                        <a:spcBef>
                          <a:spcPts val="0"/>
                        </a:spcBef>
                        <a:spcAft>
                          <a:spcPts val="0"/>
                        </a:spcAft>
                        <a:defRPr sz="1300">
                          <a:latin typeface="微软雅黑"/>
                        </a:defRPr>
                      </a:pPr>
                      <a:endParaRPr/>
                    </a:p>
                  </a:txBody>
                  <a:tcPr marL="13716" marR="13716" marT="4572" marB="4572" anchor="ctr">
                    <a:solidFill>
                      <a:srgbClr val="4472C4"/>
                    </a:solidFill>
                  </a:tcPr>
                </a:tc>
                <a:extLst>
                  <a:ext uri="{0D108BD9-81ED-4DB2-BD59-A6C34878D82A}">
                    <a16:rowId xmlns:a16="http://schemas.microsoft.com/office/drawing/2014/main" val="10001"/>
                  </a:ext>
                </a:extLst>
              </a:tr>
              <a:tr h="175978">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无线网</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17</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5</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12</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198</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12</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186</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40%</a:t>
                      </a:r>
                    </a:p>
                  </a:txBody>
                  <a:tcPr marL="13716" marR="13716" marT="4572" marB="4572" anchor="ctr">
                    <a:solidFill>
                      <a:srgbClr val="EAEFF7"/>
                    </a:solidFill>
                  </a:tcPr>
                </a:tc>
                <a:extLst>
                  <a:ext uri="{0D108BD9-81ED-4DB2-BD59-A6C34878D82A}">
                    <a16:rowId xmlns:a16="http://schemas.microsoft.com/office/drawing/2014/main" val="10002"/>
                  </a:ext>
                </a:extLst>
              </a:tr>
              <a:tr h="175978">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本地承载网</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45</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5</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40</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388</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18</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370</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30%</a:t>
                      </a:r>
                    </a:p>
                  </a:txBody>
                  <a:tcPr marL="13716" marR="13716" marT="4572" marB="4572" anchor="ctr">
                    <a:solidFill>
                      <a:srgbClr val="EAEFF7"/>
                    </a:solidFill>
                  </a:tcPr>
                </a:tc>
                <a:extLst>
                  <a:ext uri="{0D108BD9-81ED-4DB2-BD59-A6C34878D82A}">
                    <a16:rowId xmlns:a16="http://schemas.microsoft.com/office/drawing/2014/main" val="10003"/>
                  </a:ext>
                </a:extLst>
              </a:tr>
              <a:tr h="175978">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宽带接入网</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19</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3</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16</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468</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16</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451</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34%</a:t>
                      </a:r>
                    </a:p>
                  </a:txBody>
                  <a:tcPr marL="13716" marR="13716" marT="4572" marB="4572" anchor="ctr">
                    <a:solidFill>
                      <a:srgbClr val="EAEFF7"/>
                    </a:solidFill>
                  </a:tcPr>
                </a:tc>
                <a:extLst>
                  <a:ext uri="{0D108BD9-81ED-4DB2-BD59-A6C34878D82A}">
                    <a16:rowId xmlns:a16="http://schemas.microsoft.com/office/drawing/2014/main" val="10004"/>
                  </a:ext>
                </a:extLst>
              </a:tr>
              <a:tr h="175978">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云核心网</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14</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3</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11</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11</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11</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0</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49%</a:t>
                      </a:r>
                    </a:p>
                  </a:txBody>
                  <a:tcPr marL="13716" marR="13716" marT="4572" marB="4572" anchor="ctr">
                    <a:solidFill>
                      <a:srgbClr val="EAEFF7"/>
                    </a:solidFill>
                  </a:tcPr>
                </a:tc>
                <a:extLst>
                  <a:ext uri="{0D108BD9-81ED-4DB2-BD59-A6C34878D82A}">
                    <a16:rowId xmlns:a16="http://schemas.microsoft.com/office/drawing/2014/main" val="10005"/>
                  </a:ext>
                </a:extLst>
              </a:tr>
              <a:tr h="175978">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云资源池</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9</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1</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8</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39</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8</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31</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48%</a:t>
                      </a:r>
                    </a:p>
                  </a:txBody>
                  <a:tcPr marL="13716" marR="13716" marT="4572" marB="4572" anchor="ctr">
                    <a:solidFill>
                      <a:srgbClr val="EAEFF7"/>
                    </a:solidFill>
                  </a:tcPr>
                </a:tc>
                <a:extLst>
                  <a:ext uri="{0D108BD9-81ED-4DB2-BD59-A6C34878D82A}">
                    <a16:rowId xmlns:a16="http://schemas.microsoft.com/office/drawing/2014/main" val="10006"/>
                  </a:ext>
                </a:extLst>
              </a:tr>
              <a:tr h="175978">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骨干传送网</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9</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2</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7</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57</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5</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52</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41%</a:t>
                      </a:r>
                    </a:p>
                  </a:txBody>
                  <a:tcPr marL="13716" marR="13716" marT="4572" marB="4572" anchor="ctr">
                    <a:solidFill>
                      <a:srgbClr val="EAEFF7"/>
                    </a:solidFill>
                  </a:tcPr>
                </a:tc>
                <a:extLst>
                  <a:ext uri="{0D108BD9-81ED-4DB2-BD59-A6C34878D82A}">
                    <a16:rowId xmlns:a16="http://schemas.microsoft.com/office/drawing/2014/main" val="10007"/>
                  </a:ext>
                </a:extLst>
              </a:tr>
              <a:tr h="175978">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骨干数据网</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10</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3</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7</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7</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7</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0</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31%</a:t>
                      </a:r>
                    </a:p>
                  </a:txBody>
                  <a:tcPr marL="13716" marR="13716" marT="4572" marB="4572" anchor="ctr">
                    <a:solidFill>
                      <a:srgbClr val="EAEFF7"/>
                    </a:solidFill>
                  </a:tcPr>
                </a:tc>
                <a:extLst>
                  <a:ext uri="{0D108BD9-81ED-4DB2-BD59-A6C34878D82A}">
                    <a16:rowId xmlns:a16="http://schemas.microsoft.com/office/drawing/2014/main" val="10008"/>
                  </a:ext>
                </a:extLst>
              </a:tr>
              <a:tr h="175978">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基础设施</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47</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4</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43</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43</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12</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31</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42%</a:t>
                      </a:r>
                    </a:p>
                  </a:txBody>
                  <a:tcPr marL="13716" marR="13716" marT="4572" marB="4572" anchor="ctr">
                    <a:solidFill>
                      <a:srgbClr val="EAEFF7"/>
                    </a:solidFill>
                  </a:tcPr>
                </a:tc>
                <a:extLst>
                  <a:ext uri="{0D108BD9-81ED-4DB2-BD59-A6C34878D82A}">
                    <a16:rowId xmlns:a16="http://schemas.microsoft.com/office/drawing/2014/main" val="10009"/>
                  </a:ext>
                </a:extLst>
              </a:tr>
              <a:tr h="175978">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投资财务</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7</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0</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7</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17</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6</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11</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40%</a:t>
                      </a:r>
                    </a:p>
                  </a:txBody>
                  <a:tcPr marL="13716" marR="13716" marT="4572" marB="4572" anchor="ctr">
                    <a:solidFill>
                      <a:srgbClr val="EAEFF7"/>
                    </a:solidFill>
                  </a:tcPr>
                </a:tc>
                <a:extLst>
                  <a:ext uri="{0D108BD9-81ED-4DB2-BD59-A6C34878D82A}">
                    <a16:rowId xmlns:a16="http://schemas.microsoft.com/office/drawing/2014/main" val="10010"/>
                  </a:ext>
                </a:extLst>
              </a:tr>
              <a:tr h="175978">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建设管理</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4</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0</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4</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4</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4</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0</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40%</a:t>
                      </a:r>
                    </a:p>
                  </a:txBody>
                  <a:tcPr marL="13716" marR="13716" marT="4572" marB="4572" anchor="ctr">
                    <a:solidFill>
                      <a:srgbClr val="EAEFF7"/>
                    </a:solidFill>
                  </a:tcPr>
                </a:tc>
                <a:extLst>
                  <a:ext uri="{0D108BD9-81ED-4DB2-BD59-A6C34878D82A}">
                    <a16:rowId xmlns:a16="http://schemas.microsoft.com/office/drawing/2014/main" val="10011"/>
                  </a:ext>
                </a:extLst>
              </a:tr>
              <a:tr h="175978">
                <a:tc>
                  <a:txBody>
                    <a:bodyPr/>
                    <a:lstStyle/>
                    <a:p>
                      <a:pPr algn="l">
                        <a:lnSpc>
                          <a:spcPct val="100000"/>
                        </a:lnSpc>
                        <a:spcBef>
                          <a:spcPts val="0"/>
                        </a:spcBef>
                        <a:spcAft>
                          <a:spcPts val="0"/>
                        </a:spcAft>
                        <a:defRPr sz="1300">
                          <a:latin typeface="微软雅黑"/>
                        </a:defRPr>
                      </a:pPr>
                      <a:r>
                        <a:rPr sz="1000" b="1">
                          <a:solidFill>
                            <a:srgbClr val="000000"/>
                          </a:solidFill>
                          <a:latin typeface="微软雅黑"/>
                          <a:ea typeface="微软雅黑"/>
                        </a:rPr>
                        <a:t>小计</a:t>
                      </a:r>
                    </a:p>
                  </a:txBody>
                  <a:tcPr marL="13716" marR="13716" marT="4572" marB="4572" anchor="ctr">
                    <a:solidFill>
                      <a:srgbClr val="B4C6E7"/>
                    </a:solidFill>
                  </a:tcPr>
                </a:tc>
                <a:tc>
                  <a:txBody>
                    <a:bodyPr/>
                    <a:lstStyle/>
                    <a:p>
                      <a:pPr algn="l">
                        <a:lnSpc>
                          <a:spcPct val="100000"/>
                        </a:lnSpc>
                        <a:spcBef>
                          <a:spcPts val="0"/>
                        </a:spcBef>
                        <a:spcAft>
                          <a:spcPts val="0"/>
                        </a:spcAft>
                        <a:defRPr sz="1300">
                          <a:latin typeface="微软雅黑"/>
                        </a:defRPr>
                      </a:pPr>
                      <a:r>
                        <a:rPr sz="1000" b="1">
                          <a:solidFill>
                            <a:srgbClr val="000000"/>
                          </a:solidFill>
                          <a:latin typeface="微软雅黑"/>
                          <a:ea typeface="微软雅黑"/>
                        </a:rPr>
                        <a:t>222</a:t>
                      </a:r>
                    </a:p>
                  </a:txBody>
                  <a:tcPr marL="13716" marR="13716" marT="4572" marB="4572" anchor="ctr">
                    <a:solidFill>
                      <a:srgbClr val="B4C6E7"/>
                    </a:solidFill>
                  </a:tcPr>
                </a:tc>
                <a:tc>
                  <a:txBody>
                    <a:bodyPr/>
                    <a:lstStyle/>
                    <a:p>
                      <a:pPr algn="l">
                        <a:lnSpc>
                          <a:spcPct val="100000"/>
                        </a:lnSpc>
                        <a:spcBef>
                          <a:spcPts val="0"/>
                        </a:spcBef>
                        <a:spcAft>
                          <a:spcPts val="0"/>
                        </a:spcAft>
                        <a:defRPr sz="1300">
                          <a:latin typeface="微软雅黑"/>
                        </a:defRPr>
                      </a:pPr>
                      <a:r>
                        <a:rPr sz="1000" b="1">
                          <a:solidFill>
                            <a:srgbClr val="000000"/>
                          </a:solidFill>
                          <a:latin typeface="微软雅黑"/>
                          <a:ea typeface="微软雅黑"/>
                        </a:rPr>
                        <a:t>67</a:t>
                      </a:r>
                    </a:p>
                  </a:txBody>
                  <a:tcPr marL="13716" marR="13716" marT="4572" marB="4572" anchor="ctr">
                    <a:solidFill>
                      <a:srgbClr val="B4C6E7"/>
                    </a:solidFill>
                  </a:tcPr>
                </a:tc>
                <a:tc>
                  <a:txBody>
                    <a:bodyPr/>
                    <a:lstStyle/>
                    <a:p>
                      <a:pPr algn="l">
                        <a:lnSpc>
                          <a:spcPct val="100000"/>
                        </a:lnSpc>
                        <a:spcBef>
                          <a:spcPts val="0"/>
                        </a:spcBef>
                        <a:spcAft>
                          <a:spcPts val="0"/>
                        </a:spcAft>
                        <a:defRPr sz="1300">
                          <a:latin typeface="微软雅黑"/>
                        </a:defRPr>
                      </a:pPr>
                      <a:r>
                        <a:rPr sz="1000" b="1">
                          <a:solidFill>
                            <a:srgbClr val="000000"/>
                          </a:solidFill>
                          <a:latin typeface="微软雅黑"/>
                          <a:ea typeface="微软雅黑"/>
                        </a:rPr>
                        <a:t>155</a:t>
                      </a:r>
                    </a:p>
                  </a:txBody>
                  <a:tcPr marL="13716" marR="13716" marT="4572" marB="4572" anchor="ctr">
                    <a:solidFill>
                      <a:srgbClr val="B4C6E7"/>
                    </a:solidFill>
                  </a:tcPr>
                </a:tc>
                <a:tc>
                  <a:txBody>
                    <a:bodyPr/>
                    <a:lstStyle/>
                    <a:p>
                      <a:pPr algn="l">
                        <a:lnSpc>
                          <a:spcPct val="100000"/>
                        </a:lnSpc>
                        <a:spcBef>
                          <a:spcPts val="0"/>
                        </a:spcBef>
                        <a:spcAft>
                          <a:spcPts val="0"/>
                        </a:spcAft>
                        <a:defRPr sz="1300">
                          <a:latin typeface="微软雅黑"/>
                        </a:defRPr>
                      </a:pPr>
                      <a:r>
                        <a:rPr sz="1000" b="1">
                          <a:solidFill>
                            <a:srgbClr val="000000"/>
                          </a:solidFill>
                          <a:latin typeface="微软雅黑"/>
                          <a:ea typeface="微软雅黑"/>
                        </a:rPr>
                        <a:t>1231</a:t>
                      </a:r>
                    </a:p>
                  </a:txBody>
                  <a:tcPr marL="13716" marR="13716" marT="4572" marB="4572" anchor="ctr">
                    <a:solidFill>
                      <a:srgbClr val="B4C6E7"/>
                    </a:solidFill>
                  </a:tcPr>
                </a:tc>
                <a:tc>
                  <a:txBody>
                    <a:bodyPr/>
                    <a:lstStyle/>
                    <a:p>
                      <a:pPr algn="l">
                        <a:lnSpc>
                          <a:spcPct val="100000"/>
                        </a:lnSpc>
                        <a:spcBef>
                          <a:spcPts val="0"/>
                        </a:spcBef>
                        <a:spcAft>
                          <a:spcPts val="0"/>
                        </a:spcAft>
                        <a:defRPr sz="1300">
                          <a:latin typeface="微软雅黑"/>
                        </a:defRPr>
                      </a:pPr>
                      <a:r>
                        <a:rPr sz="1000" b="1">
                          <a:solidFill>
                            <a:srgbClr val="000000"/>
                          </a:solidFill>
                          <a:latin typeface="微软雅黑"/>
                          <a:ea typeface="微软雅黑"/>
                        </a:rPr>
                        <a:t>99</a:t>
                      </a:r>
                    </a:p>
                  </a:txBody>
                  <a:tcPr marL="13716" marR="13716" marT="4572" marB="4572" anchor="ctr">
                    <a:solidFill>
                      <a:srgbClr val="B4C6E7"/>
                    </a:solidFill>
                  </a:tcPr>
                </a:tc>
                <a:tc>
                  <a:txBody>
                    <a:bodyPr/>
                    <a:lstStyle/>
                    <a:p>
                      <a:pPr algn="l">
                        <a:lnSpc>
                          <a:spcPct val="100000"/>
                        </a:lnSpc>
                        <a:spcBef>
                          <a:spcPts val="0"/>
                        </a:spcBef>
                        <a:spcAft>
                          <a:spcPts val="0"/>
                        </a:spcAft>
                        <a:defRPr sz="1300">
                          <a:latin typeface="微软雅黑"/>
                        </a:defRPr>
                      </a:pPr>
                      <a:r>
                        <a:rPr sz="1000" b="1">
                          <a:solidFill>
                            <a:srgbClr val="000000"/>
                          </a:solidFill>
                          <a:latin typeface="微软雅黑"/>
                          <a:ea typeface="微软雅黑"/>
                        </a:rPr>
                        <a:t>1133</a:t>
                      </a:r>
                    </a:p>
                  </a:txBody>
                  <a:tcPr marL="13716" marR="13716" marT="4572" marB="4572" anchor="ctr">
                    <a:solidFill>
                      <a:srgbClr val="B4C6E7"/>
                    </a:solidFill>
                  </a:tcPr>
                </a:tc>
                <a:tc>
                  <a:txBody>
                    <a:bodyPr/>
                    <a:lstStyle/>
                    <a:p>
                      <a:pPr algn="l">
                        <a:lnSpc>
                          <a:spcPct val="100000"/>
                        </a:lnSpc>
                        <a:spcBef>
                          <a:spcPts val="0"/>
                        </a:spcBef>
                        <a:spcAft>
                          <a:spcPts val="0"/>
                        </a:spcAft>
                        <a:defRPr sz="1300">
                          <a:latin typeface="微软雅黑"/>
                        </a:defRPr>
                      </a:pPr>
                      <a:r>
                        <a:rPr sz="1000" b="1">
                          <a:solidFill>
                            <a:srgbClr val="000000"/>
                          </a:solidFill>
                          <a:latin typeface="微软雅黑"/>
                          <a:ea typeface="微软雅黑"/>
                        </a:rPr>
                        <a:t>36%</a:t>
                      </a:r>
                    </a:p>
                  </a:txBody>
                  <a:tcPr marL="13716" marR="13716" marT="4572" marB="4572" anchor="ctr">
                    <a:solidFill>
                      <a:srgbClr val="B4C6E7"/>
                    </a:solidFill>
                  </a:tcPr>
                </a:tc>
                <a:extLst>
                  <a:ext uri="{0D108BD9-81ED-4DB2-BD59-A6C34878D82A}">
                    <a16:rowId xmlns:a16="http://schemas.microsoft.com/office/drawing/2014/main" val="10012"/>
                  </a:ext>
                </a:extLst>
              </a:tr>
            </a:tbl>
          </a:graphicData>
        </a:graphic>
      </p:graphicFrame>
      <p:graphicFrame>
        <p:nvGraphicFramePr>
          <p:cNvPr id="19" name="Table 18"/>
          <p:cNvGraphicFramePr>
            <a:graphicFrameLocks noGrp="1"/>
          </p:cNvGraphicFramePr>
          <p:nvPr/>
        </p:nvGraphicFramePr>
        <p:xfrm>
          <a:off x="6199632" y="4297680"/>
          <a:ext cx="5623558" cy="658368"/>
        </p:xfrm>
        <a:graphic>
          <a:graphicData uri="http://schemas.openxmlformats.org/drawingml/2006/table">
            <a:tbl>
              <a:tblPr>
                <a:tableStyleId>{5C22544A-7EE6-4342-B048-85BDC9FD1C3A}</a:tableStyleId>
              </a:tblPr>
              <a:tblGrid>
                <a:gridCol w="501109">
                  <a:extLst>
                    <a:ext uri="{9D8B030D-6E8A-4147-A177-3AD203B41FA5}">
                      <a16:colId xmlns:a16="http://schemas.microsoft.com/office/drawing/2014/main" val="20000"/>
                    </a:ext>
                  </a:extLst>
                </a:gridCol>
                <a:gridCol w="1169255">
                  <a:extLst>
                    <a:ext uri="{9D8B030D-6E8A-4147-A177-3AD203B41FA5}">
                      <a16:colId xmlns:a16="http://schemas.microsoft.com/office/drawing/2014/main" val="20001"/>
                    </a:ext>
                  </a:extLst>
                </a:gridCol>
                <a:gridCol w="890860">
                  <a:extLst>
                    <a:ext uri="{9D8B030D-6E8A-4147-A177-3AD203B41FA5}">
                      <a16:colId xmlns:a16="http://schemas.microsoft.com/office/drawing/2014/main" val="20002"/>
                    </a:ext>
                  </a:extLst>
                </a:gridCol>
                <a:gridCol w="3062334">
                  <a:extLst>
                    <a:ext uri="{9D8B030D-6E8A-4147-A177-3AD203B41FA5}">
                      <a16:colId xmlns:a16="http://schemas.microsoft.com/office/drawing/2014/main" val="20003"/>
                    </a:ext>
                  </a:extLst>
                </a:gridCol>
              </a:tblGrid>
              <a:tr h="329184">
                <a:tc>
                  <a:txBody>
                    <a:bodyPr/>
                    <a:lstStyle/>
                    <a:p>
                      <a:pPr algn="ctr">
                        <a:lnSpc>
                          <a:spcPct val="100000"/>
                        </a:lnSpc>
                        <a:spcBef>
                          <a:spcPts val="0"/>
                        </a:spcBef>
                        <a:spcAft>
                          <a:spcPts val="0"/>
                        </a:spcAft>
                        <a:defRPr sz="1300" b="1">
                          <a:latin typeface="微软雅黑"/>
                        </a:defRPr>
                      </a:pPr>
                      <a:r>
                        <a:rPr sz="1000" b="1">
                          <a:solidFill>
                            <a:srgbClr val="FFFFFF"/>
                          </a:solidFill>
                          <a:latin typeface="微软雅黑"/>
                          <a:ea typeface="微软雅黑"/>
                        </a:rPr>
                        <a:t>序号</a:t>
                      </a:r>
                    </a:p>
                  </a:txBody>
                  <a:tcPr marL="13716" marR="13716" marT="4572" marB="4572" anchor="ctr">
                    <a:solidFill>
                      <a:srgbClr val="4472C4"/>
                    </a:solidFill>
                  </a:tcPr>
                </a:tc>
                <a:tc>
                  <a:txBody>
                    <a:bodyPr/>
                    <a:lstStyle/>
                    <a:p>
                      <a:pPr algn="ctr">
                        <a:lnSpc>
                          <a:spcPct val="100000"/>
                        </a:lnSpc>
                        <a:spcBef>
                          <a:spcPts val="0"/>
                        </a:spcBef>
                        <a:spcAft>
                          <a:spcPts val="0"/>
                        </a:spcAft>
                        <a:defRPr sz="1300" b="1">
                          <a:latin typeface="微软雅黑"/>
                        </a:defRPr>
                      </a:pPr>
                      <a:r>
                        <a:rPr sz="1000" b="1">
                          <a:solidFill>
                            <a:srgbClr val="FFFFFF"/>
                          </a:solidFill>
                          <a:latin typeface="微软雅黑"/>
                          <a:ea typeface="微软雅黑"/>
                        </a:rPr>
                        <a:t>总师团队</a:t>
                      </a:r>
                    </a:p>
                  </a:txBody>
                  <a:tcPr marL="13716" marR="13716" marT="4572" marB="4572" anchor="ctr">
                    <a:solidFill>
                      <a:srgbClr val="4472C4"/>
                    </a:solidFill>
                  </a:tcPr>
                </a:tc>
                <a:tc>
                  <a:txBody>
                    <a:bodyPr/>
                    <a:lstStyle/>
                    <a:p>
                      <a:pPr algn="ctr">
                        <a:lnSpc>
                          <a:spcPct val="100000"/>
                        </a:lnSpc>
                        <a:spcBef>
                          <a:spcPts val="0"/>
                        </a:spcBef>
                        <a:spcAft>
                          <a:spcPts val="0"/>
                        </a:spcAft>
                        <a:defRPr sz="1300" b="1">
                          <a:latin typeface="微软雅黑"/>
                        </a:defRPr>
                      </a:pPr>
                      <a:r>
                        <a:rPr sz="1000" b="1">
                          <a:solidFill>
                            <a:srgbClr val="FFFFFF"/>
                          </a:solidFill>
                          <a:latin typeface="微软雅黑"/>
                          <a:ea typeface="微软雅黑"/>
                        </a:rPr>
                        <a:t>类别</a:t>
                      </a:r>
                    </a:p>
                  </a:txBody>
                  <a:tcPr marL="13716" marR="13716" marT="4572" marB="4572" anchor="ctr">
                    <a:solidFill>
                      <a:srgbClr val="4472C4"/>
                    </a:solidFill>
                  </a:tcPr>
                </a:tc>
                <a:tc>
                  <a:txBody>
                    <a:bodyPr/>
                    <a:lstStyle/>
                    <a:p>
                      <a:pPr algn="ctr">
                        <a:lnSpc>
                          <a:spcPct val="100000"/>
                        </a:lnSpc>
                        <a:spcBef>
                          <a:spcPts val="0"/>
                        </a:spcBef>
                        <a:spcAft>
                          <a:spcPts val="0"/>
                        </a:spcAft>
                        <a:defRPr sz="1300" b="1">
                          <a:latin typeface="微软雅黑"/>
                        </a:defRPr>
                      </a:pPr>
                      <a:r>
                        <a:rPr sz="1000" b="1">
                          <a:solidFill>
                            <a:srgbClr val="FFFFFF"/>
                          </a:solidFill>
                          <a:latin typeface="微软雅黑"/>
                          <a:ea typeface="微软雅黑"/>
                        </a:rPr>
                        <a:t>专题</a:t>
                      </a:r>
                    </a:p>
                  </a:txBody>
                  <a:tcPr marL="13716" marR="13716" marT="4572" marB="4572" anchor="ctr">
                    <a:solidFill>
                      <a:srgbClr val="4472C4"/>
                    </a:solidFill>
                  </a:tcPr>
                </a:tc>
                <a:extLst>
                  <a:ext uri="{0D108BD9-81ED-4DB2-BD59-A6C34878D82A}">
                    <a16:rowId xmlns:a16="http://schemas.microsoft.com/office/drawing/2014/main" val="10000"/>
                  </a:ext>
                </a:extLst>
              </a:tr>
              <a:tr h="329184">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1</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宽带及政企</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决策参考</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关于开展“宽带提质”专项行动的建议</a:t>
                      </a:r>
                    </a:p>
                  </a:txBody>
                  <a:tcPr marL="13716" marR="13716" marT="4572" marB="4572" anchor="ctr">
                    <a:solidFill>
                      <a:srgbClr val="EAEFF7"/>
                    </a:solidFill>
                  </a:tcPr>
                </a:tc>
                <a:extLst>
                  <a:ext uri="{0D108BD9-81ED-4DB2-BD59-A6C34878D82A}">
                    <a16:rowId xmlns:a16="http://schemas.microsoft.com/office/drawing/2014/main" val="10001"/>
                  </a:ext>
                </a:extLst>
              </a:tr>
            </a:tbl>
          </a:graphicData>
        </a:graphic>
      </p:graphicFrame>
      <p:graphicFrame>
        <p:nvGraphicFramePr>
          <p:cNvPr id="24" name="Table 23"/>
          <p:cNvGraphicFramePr>
            <a:graphicFrameLocks noGrp="1"/>
          </p:cNvGraphicFramePr>
          <p:nvPr/>
        </p:nvGraphicFramePr>
        <p:xfrm>
          <a:off x="347472" y="5285232"/>
          <a:ext cx="5623557" cy="1276642"/>
        </p:xfrm>
        <a:graphic>
          <a:graphicData uri="http://schemas.openxmlformats.org/drawingml/2006/table">
            <a:tbl>
              <a:tblPr>
                <a:tableStyleId>{5C22544A-7EE6-4342-B048-85BDC9FD1C3A}</a:tableStyleId>
              </a:tblPr>
              <a:tblGrid>
                <a:gridCol w="325329">
                  <a:extLst>
                    <a:ext uri="{9D8B030D-6E8A-4147-A177-3AD203B41FA5}">
                      <a16:colId xmlns:a16="http://schemas.microsoft.com/office/drawing/2014/main" val="20000"/>
                    </a:ext>
                  </a:extLst>
                </a:gridCol>
                <a:gridCol w="1719600">
                  <a:extLst>
                    <a:ext uri="{9D8B030D-6E8A-4147-A177-3AD203B41FA5}">
                      <a16:colId xmlns:a16="http://schemas.microsoft.com/office/drawing/2014/main" val="20001"/>
                    </a:ext>
                  </a:extLst>
                </a:gridCol>
                <a:gridCol w="743611">
                  <a:extLst>
                    <a:ext uri="{9D8B030D-6E8A-4147-A177-3AD203B41FA5}">
                      <a16:colId xmlns:a16="http://schemas.microsoft.com/office/drawing/2014/main" val="20002"/>
                    </a:ext>
                  </a:extLst>
                </a:gridCol>
                <a:gridCol w="743611">
                  <a:extLst>
                    <a:ext uri="{9D8B030D-6E8A-4147-A177-3AD203B41FA5}">
                      <a16:colId xmlns:a16="http://schemas.microsoft.com/office/drawing/2014/main" val="20003"/>
                    </a:ext>
                  </a:extLst>
                </a:gridCol>
                <a:gridCol w="2091406">
                  <a:extLst>
                    <a:ext uri="{9D8B030D-6E8A-4147-A177-3AD203B41FA5}">
                      <a16:colId xmlns:a16="http://schemas.microsoft.com/office/drawing/2014/main" val="20004"/>
                    </a:ext>
                  </a:extLst>
                </a:gridCol>
              </a:tblGrid>
              <a:tr h="450166">
                <a:tc>
                  <a:txBody>
                    <a:bodyPr/>
                    <a:lstStyle/>
                    <a:p>
                      <a:pPr algn="ctr">
                        <a:lnSpc>
                          <a:spcPct val="100000"/>
                        </a:lnSpc>
                        <a:spcBef>
                          <a:spcPts val="0"/>
                        </a:spcBef>
                        <a:spcAft>
                          <a:spcPts val="0"/>
                        </a:spcAft>
                        <a:defRPr sz="1300" b="1">
                          <a:latin typeface="微软雅黑"/>
                        </a:defRPr>
                      </a:pPr>
                      <a:r>
                        <a:rPr sz="1000" b="1">
                          <a:solidFill>
                            <a:srgbClr val="FFFFFF"/>
                          </a:solidFill>
                          <a:latin typeface="微软雅黑"/>
                          <a:ea typeface="微软雅黑"/>
                        </a:rPr>
                        <a:t>序号</a:t>
                      </a:r>
                    </a:p>
                  </a:txBody>
                  <a:tcPr marL="13716" marR="13716" marT="4572" marB="4572" anchor="ctr">
                    <a:solidFill>
                      <a:srgbClr val="4472C4"/>
                    </a:solidFill>
                  </a:tcPr>
                </a:tc>
                <a:tc>
                  <a:txBody>
                    <a:bodyPr/>
                    <a:lstStyle/>
                    <a:p>
                      <a:pPr algn="ctr">
                        <a:lnSpc>
                          <a:spcPct val="100000"/>
                        </a:lnSpc>
                        <a:spcBef>
                          <a:spcPts val="0"/>
                        </a:spcBef>
                        <a:spcAft>
                          <a:spcPts val="0"/>
                        </a:spcAft>
                        <a:defRPr sz="1300" b="1">
                          <a:latin typeface="微软雅黑"/>
                        </a:defRPr>
                      </a:pPr>
                      <a:r>
                        <a:rPr sz="1000" b="1">
                          <a:solidFill>
                            <a:srgbClr val="FFFFFF"/>
                          </a:solidFill>
                          <a:latin typeface="微软雅黑"/>
                          <a:ea typeface="微软雅黑"/>
                        </a:rPr>
                        <a:t>专项攻坚工作名称</a:t>
                      </a:r>
                    </a:p>
                  </a:txBody>
                  <a:tcPr marL="13716" marR="13716" marT="4572" marB="4572" anchor="ctr">
                    <a:solidFill>
                      <a:srgbClr val="4472C4"/>
                    </a:solidFill>
                  </a:tcPr>
                </a:tc>
                <a:tc>
                  <a:txBody>
                    <a:bodyPr/>
                    <a:lstStyle/>
                    <a:p>
                      <a:pPr algn="ctr">
                        <a:lnSpc>
                          <a:spcPct val="100000"/>
                        </a:lnSpc>
                        <a:spcBef>
                          <a:spcPts val="0"/>
                        </a:spcBef>
                        <a:spcAft>
                          <a:spcPts val="0"/>
                        </a:spcAft>
                        <a:defRPr sz="1300" b="1">
                          <a:latin typeface="微软雅黑"/>
                        </a:defRPr>
                      </a:pPr>
                      <a:r>
                        <a:rPr sz="1000" b="1">
                          <a:solidFill>
                            <a:srgbClr val="FFFFFF"/>
                          </a:solidFill>
                          <a:latin typeface="微软雅黑"/>
                          <a:ea typeface="微软雅黑"/>
                        </a:rPr>
                        <a:t>团队</a:t>
                      </a:r>
                    </a:p>
                  </a:txBody>
                  <a:tcPr marL="13716" marR="13716" marT="4572" marB="4572" anchor="ctr">
                    <a:solidFill>
                      <a:srgbClr val="4472C4"/>
                    </a:solidFill>
                  </a:tcPr>
                </a:tc>
                <a:tc>
                  <a:txBody>
                    <a:bodyPr/>
                    <a:lstStyle/>
                    <a:p>
                      <a:pPr algn="ctr">
                        <a:lnSpc>
                          <a:spcPct val="100000"/>
                        </a:lnSpc>
                        <a:spcBef>
                          <a:spcPts val="0"/>
                        </a:spcBef>
                        <a:spcAft>
                          <a:spcPts val="0"/>
                        </a:spcAft>
                        <a:defRPr sz="1300" b="1">
                          <a:latin typeface="微软雅黑"/>
                        </a:defRPr>
                      </a:pPr>
                      <a:r>
                        <a:rPr sz="1000" b="1">
                          <a:solidFill>
                            <a:srgbClr val="FFFFFF"/>
                          </a:solidFill>
                          <a:latin typeface="微软雅黑"/>
                          <a:ea typeface="微软雅黑"/>
                        </a:rPr>
                        <a:t>负责人</a:t>
                      </a:r>
                    </a:p>
                  </a:txBody>
                  <a:tcPr marL="13716" marR="13716" marT="4572" marB="4572" anchor="ctr">
                    <a:solidFill>
                      <a:srgbClr val="4472C4"/>
                    </a:solidFill>
                  </a:tcPr>
                </a:tc>
                <a:tc>
                  <a:txBody>
                    <a:bodyPr/>
                    <a:lstStyle/>
                    <a:p>
                      <a:pPr algn="ctr">
                        <a:lnSpc>
                          <a:spcPct val="100000"/>
                        </a:lnSpc>
                        <a:spcBef>
                          <a:spcPts val="0"/>
                        </a:spcBef>
                        <a:spcAft>
                          <a:spcPts val="0"/>
                        </a:spcAft>
                        <a:defRPr sz="1300" b="1">
                          <a:latin typeface="微软雅黑"/>
                        </a:defRPr>
                      </a:pPr>
                      <a:r>
                        <a:rPr sz="1000" b="1">
                          <a:solidFill>
                            <a:srgbClr val="FFFFFF"/>
                          </a:solidFill>
                          <a:latin typeface="微软雅黑"/>
                          <a:ea typeface="微软雅黑"/>
                        </a:rPr>
                        <a:t>5月工作进展</a:t>
                      </a:r>
                    </a:p>
                  </a:txBody>
                  <a:tcPr marL="13716" marR="13716" marT="4572" marB="4572" anchor="ctr">
                    <a:solidFill>
                      <a:srgbClr val="4472C4"/>
                    </a:solidFill>
                  </a:tcPr>
                </a:tc>
                <a:extLst>
                  <a:ext uri="{0D108BD9-81ED-4DB2-BD59-A6C34878D82A}">
                    <a16:rowId xmlns:a16="http://schemas.microsoft.com/office/drawing/2014/main" val="10000"/>
                  </a:ext>
                </a:extLst>
              </a:tr>
              <a:tr h="360132">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1</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政企双线接入项目投资及建设管理分析</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宽带及政企</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周梦凡</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向集团赵静宜总做专题汇报；制定《关于政企双线接入项目规范性管理的通知》。</a:t>
                      </a:r>
                    </a:p>
                  </a:txBody>
                  <a:tcPr marL="13716" marR="13716" marT="4572" marB="4572" anchor="ctr">
                    <a:solidFill>
                      <a:srgbClr val="EAEFF7"/>
                    </a:solidFill>
                  </a:tcPr>
                </a:tc>
                <a:extLst>
                  <a:ext uri="{0D108BD9-81ED-4DB2-BD59-A6C34878D82A}">
                    <a16:rowId xmlns:a16="http://schemas.microsoft.com/office/drawing/2014/main" val="10001"/>
                  </a:ext>
                </a:extLst>
              </a:tr>
              <a:tr h="360132">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2</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BNC全流程精准建设支撑</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宽带及政企</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与智网院协同</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修订验收测试大纲、编制测试验收报告</a:t>
                      </a:r>
                    </a:p>
                  </a:txBody>
                  <a:tcPr marL="13716" marR="13716" marT="4572" marB="4572" anchor="ctr">
                    <a:solidFill>
                      <a:srgbClr val="EAEFF7"/>
                    </a:solidFill>
                  </a:tcPr>
                </a:tc>
                <a:extLst>
                  <a:ext uri="{0D108BD9-81ED-4DB2-BD59-A6C34878D82A}">
                    <a16:rowId xmlns:a16="http://schemas.microsoft.com/office/drawing/2014/main" val="10002"/>
                  </a:ext>
                </a:extLst>
              </a:tr>
            </a:tbl>
          </a:graphicData>
        </a:graphic>
      </p:graphicFrame>
      <p:graphicFrame>
        <p:nvGraphicFramePr>
          <p:cNvPr id="29" name="Table 28"/>
          <p:cNvGraphicFramePr>
            <a:graphicFrameLocks noGrp="1"/>
          </p:cNvGraphicFramePr>
          <p:nvPr/>
        </p:nvGraphicFramePr>
        <p:xfrm>
          <a:off x="6199632" y="1929384"/>
          <a:ext cx="5623557" cy="1505275"/>
        </p:xfrm>
        <a:graphic>
          <a:graphicData uri="http://schemas.openxmlformats.org/drawingml/2006/table">
            <a:tbl>
              <a:tblPr>
                <a:tableStyleId>{5C22544A-7EE6-4342-B048-85BDC9FD1C3A}</a:tableStyleId>
              </a:tblPr>
              <a:tblGrid>
                <a:gridCol w="309959">
                  <a:extLst>
                    <a:ext uri="{9D8B030D-6E8A-4147-A177-3AD203B41FA5}">
                      <a16:colId xmlns:a16="http://schemas.microsoft.com/office/drawing/2014/main" val="20000"/>
                    </a:ext>
                  </a:extLst>
                </a:gridCol>
                <a:gridCol w="2081161">
                  <a:extLst>
                    <a:ext uri="{9D8B030D-6E8A-4147-A177-3AD203B41FA5}">
                      <a16:colId xmlns:a16="http://schemas.microsoft.com/office/drawing/2014/main" val="20001"/>
                    </a:ext>
                  </a:extLst>
                </a:gridCol>
                <a:gridCol w="708479">
                  <a:extLst>
                    <a:ext uri="{9D8B030D-6E8A-4147-A177-3AD203B41FA5}">
                      <a16:colId xmlns:a16="http://schemas.microsoft.com/office/drawing/2014/main" val="20002"/>
                    </a:ext>
                  </a:extLst>
                </a:gridCol>
                <a:gridCol w="708479">
                  <a:extLst>
                    <a:ext uri="{9D8B030D-6E8A-4147-A177-3AD203B41FA5}">
                      <a16:colId xmlns:a16="http://schemas.microsoft.com/office/drawing/2014/main" val="20003"/>
                    </a:ext>
                  </a:extLst>
                </a:gridCol>
                <a:gridCol w="637631">
                  <a:extLst>
                    <a:ext uri="{9D8B030D-6E8A-4147-A177-3AD203B41FA5}">
                      <a16:colId xmlns:a16="http://schemas.microsoft.com/office/drawing/2014/main" val="20004"/>
                    </a:ext>
                  </a:extLst>
                </a:gridCol>
                <a:gridCol w="1177848">
                  <a:extLst>
                    <a:ext uri="{9D8B030D-6E8A-4147-A177-3AD203B41FA5}">
                      <a16:colId xmlns:a16="http://schemas.microsoft.com/office/drawing/2014/main" val="20005"/>
                    </a:ext>
                  </a:extLst>
                </a:gridCol>
              </a:tblGrid>
              <a:tr h="337457">
                <a:tc>
                  <a:txBody>
                    <a:bodyPr/>
                    <a:lstStyle/>
                    <a:p>
                      <a:pPr algn="ctr">
                        <a:lnSpc>
                          <a:spcPct val="100000"/>
                        </a:lnSpc>
                        <a:spcBef>
                          <a:spcPts val="0"/>
                        </a:spcBef>
                        <a:spcAft>
                          <a:spcPts val="0"/>
                        </a:spcAft>
                        <a:defRPr sz="1300" b="1">
                          <a:latin typeface="微软雅黑"/>
                        </a:defRPr>
                      </a:pPr>
                      <a:r>
                        <a:rPr sz="1000" b="1">
                          <a:solidFill>
                            <a:srgbClr val="FFFFFF"/>
                          </a:solidFill>
                          <a:latin typeface="微软雅黑"/>
                          <a:ea typeface="微软雅黑"/>
                        </a:rPr>
                        <a:t>序号</a:t>
                      </a:r>
                    </a:p>
                  </a:txBody>
                  <a:tcPr marL="13716" marR="13716" marT="4572" marB="4572" anchor="ctr">
                    <a:solidFill>
                      <a:srgbClr val="4472C4"/>
                    </a:solidFill>
                  </a:tcPr>
                </a:tc>
                <a:tc>
                  <a:txBody>
                    <a:bodyPr/>
                    <a:lstStyle/>
                    <a:p>
                      <a:pPr algn="ctr">
                        <a:lnSpc>
                          <a:spcPct val="100000"/>
                        </a:lnSpc>
                        <a:spcBef>
                          <a:spcPts val="0"/>
                        </a:spcBef>
                        <a:spcAft>
                          <a:spcPts val="0"/>
                        </a:spcAft>
                        <a:defRPr sz="1300" b="1">
                          <a:latin typeface="微软雅黑"/>
                        </a:defRPr>
                      </a:pPr>
                      <a:r>
                        <a:rPr sz="1000" b="1">
                          <a:solidFill>
                            <a:srgbClr val="FFFFFF"/>
                          </a:solidFill>
                          <a:latin typeface="微软雅黑"/>
                          <a:ea typeface="微软雅黑"/>
                        </a:rPr>
                        <a:t>前沿题目</a:t>
                      </a:r>
                    </a:p>
                  </a:txBody>
                  <a:tcPr marL="13716" marR="13716" marT="4572" marB="4572" anchor="ctr">
                    <a:solidFill>
                      <a:srgbClr val="4472C4"/>
                    </a:solidFill>
                  </a:tcPr>
                </a:tc>
                <a:tc>
                  <a:txBody>
                    <a:bodyPr/>
                    <a:lstStyle/>
                    <a:p>
                      <a:pPr algn="ctr">
                        <a:lnSpc>
                          <a:spcPct val="100000"/>
                        </a:lnSpc>
                        <a:spcBef>
                          <a:spcPts val="0"/>
                        </a:spcBef>
                        <a:spcAft>
                          <a:spcPts val="0"/>
                        </a:spcAft>
                        <a:defRPr sz="1300" b="1">
                          <a:latin typeface="微软雅黑"/>
                        </a:defRPr>
                      </a:pPr>
                      <a:r>
                        <a:rPr sz="1000" b="1">
                          <a:solidFill>
                            <a:srgbClr val="FFFFFF"/>
                          </a:solidFill>
                          <a:latin typeface="微软雅黑"/>
                          <a:ea typeface="微软雅黑"/>
                        </a:rPr>
                        <a:t>团队</a:t>
                      </a:r>
                    </a:p>
                  </a:txBody>
                  <a:tcPr marL="13716" marR="13716" marT="4572" marB="4572" anchor="ctr">
                    <a:solidFill>
                      <a:srgbClr val="4472C4"/>
                    </a:solidFill>
                  </a:tcPr>
                </a:tc>
                <a:tc>
                  <a:txBody>
                    <a:bodyPr/>
                    <a:lstStyle/>
                    <a:p>
                      <a:pPr algn="ctr">
                        <a:lnSpc>
                          <a:spcPct val="100000"/>
                        </a:lnSpc>
                        <a:spcBef>
                          <a:spcPts val="0"/>
                        </a:spcBef>
                        <a:spcAft>
                          <a:spcPts val="0"/>
                        </a:spcAft>
                        <a:defRPr sz="1300" b="1">
                          <a:latin typeface="微软雅黑"/>
                        </a:defRPr>
                      </a:pPr>
                      <a:r>
                        <a:rPr sz="1000" b="1">
                          <a:solidFill>
                            <a:srgbClr val="FFFFFF"/>
                          </a:solidFill>
                          <a:latin typeface="微软雅黑"/>
                          <a:ea typeface="微软雅黑"/>
                        </a:rPr>
                        <a:t>负责人</a:t>
                      </a:r>
                    </a:p>
                  </a:txBody>
                  <a:tcPr marL="13716" marR="13716" marT="4572" marB="4572" anchor="ctr">
                    <a:solidFill>
                      <a:srgbClr val="4472C4"/>
                    </a:solidFill>
                  </a:tcPr>
                </a:tc>
                <a:tc>
                  <a:txBody>
                    <a:bodyPr/>
                    <a:lstStyle/>
                    <a:p>
                      <a:pPr algn="ctr">
                        <a:lnSpc>
                          <a:spcPct val="100000"/>
                        </a:lnSpc>
                        <a:spcBef>
                          <a:spcPts val="0"/>
                        </a:spcBef>
                        <a:spcAft>
                          <a:spcPts val="0"/>
                        </a:spcAft>
                        <a:defRPr sz="1300" b="1">
                          <a:latin typeface="微软雅黑"/>
                        </a:defRPr>
                      </a:pPr>
                      <a:r>
                        <a:rPr sz="1000" b="1">
                          <a:solidFill>
                            <a:srgbClr val="FFFFFF"/>
                          </a:solidFill>
                          <a:latin typeface="微软雅黑"/>
                          <a:ea typeface="微软雅黑"/>
                        </a:rPr>
                        <a:t>计划提交时间</a:t>
                      </a:r>
                    </a:p>
                  </a:txBody>
                  <a:tcPr marL="13716" marR="13716" marT="4572" marB="4572" anchor="ctr">
                    <a:solidFill>
                      <a:srgbClr val="4472C4"/>
                    </a:solidFill>
                  </a:tcPr>
                </a:tc>
                <a:tc>
                  <a:txBody>
                    <a:bodyPr/>
                    <a:lstStyle/>
                    <a:p>
                      <a:pPr algn="ctr">
                        <a:lnSpc>
                          <a:spcPct val="100000"/>
                        </a:lnSpc>
                        <a:spcBef>
                          <a:spcPts val="0"/>
                        </a:spcBef>
                        <a:spcAft>
                          <a:spcPts val="0"/>
                        </a:spcAft>
                        <a:defRPr sz="1300" b="1">
                          <a:latin typeface="微软雅黑"/>
                        </a:defRPr>
                      </a:pPr>
                      <a:r>
                        <a:rPr sz="1000" b="1">
                          <a:solidFill>
                            <a:srgbClr val="FFFFFF"/>
                          </a:solidFill>
                          <a:latin typeface="微软雅黑"/>
                          <a:ea typeface="微软雅黑"/>
                        </a:rPr>
                        <a:t>5月工作进展</a:t>
                      </a:r>
                    </a:p>
                  </a:txBody>
                  <a:tcPr marL="13716" marR="13716" marT="4572" marB="4572" anchor="ctr">
                    <a:solidFill>
                      <a:srgbClr val="4472C4"/>
                    </a:solidFill>
                  </a:tcPr>
                </a:tc>
                <a:extLst>
                  <a:ext uri="{0D108BD9-81ED-4DB2-BD59-A6C34878D82A}">
                    <a16:rowId xmlns:a16="http://schemas.microsoft.com/office/drawing/2014/main" val="10000"/>
                  </a:ext>
                </a:extLst>
              </a:tr>
              <a:tr h="269965">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1</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宽带网络技术发展趋势及行业洞察</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宽带总体组</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张叶卓</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按季度</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1季度完成1期</a:t>
                      </a:r>
                    </a:p>
                  </a:txBody>
                  <a:tcPr marL="13716" marR="13716" marT="4572" marB="4572" anchor="ctr">
                    <a:solidFill>
                      <a:srgbClr val="EAEFF7"/>
                    </a:solidFill>
                  </a:tcPr>
                </a:tc>
                <a:extLst>
                  <a:ext uri="{0D108BD9-81ED-4DB2-BD59-A6C34878D82A}">
                    <a16:rowId xmlns:a16="http://schemas.microsoft.com/office/drawing/2014/main" val="10001"/>
                  </a:ext>
                </a:extLst>
              </a:tr>
              <a:tr h="269965">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2</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2026年国内外主流运营商财报分析及投资决策参考报告</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投资财务总体组</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马凤、李锐昌</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按季度</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4月完成1期</a:t>
                      </a:r>
                    </a:p>
                  </a:txBody>
                  <a:tcPr marL="13716" marR="13716" marT="4572" marB="4572" anchor="ctr">
                    <a:solidFill>
                      <a:srgbClr val="EAEFF7"/>
                    </a:solidFill>
                  </a:tcPr>
                </a:tc>
                <a:extLst>
                  <a:ext uri="{0D108BD9-81ED-4DB2-BD59-A6C34878D82A}">
                    <a16:rowId xmlns:a16="http://schemas.microsoft.com/office/drawing/2014/main" val="10002"/>
                  </a:ext>
                </a:extLst>
              </a:tr>
              <a:tr h="269965">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3</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低空经济行业洞察报告</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北京团队</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胡雅静</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3月</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1季度完成1期</a:t>
                      </a:r>
                    </a:p>
                  </a:txBody>
                  <a:tcPr marL="13716" marR="13716" marT="4572" marB="4572" anchor="ctr">
                    <a:solidFill>
                      <a:srgbClr val="EAEFF7"/>
                    </a:solidFill>
                  </a:tcPr>
                </a:tc>
                <a:extLst>
                  <a:ext uri="{0D108BD9-81ED-4DB2-BD59-A6C34878D82A}">
                    <a16:rowId xmlns:a16="http://schemas.microsoft.com/office/drawing/2014/main" val="10003"/>
                  </a:ext>
                </a:extLst>
              </a:tr>
              <a:tr h="269965">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4</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Combo PON口闲置GPON资源盘活研究</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宽带总体组</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车维崧</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6月</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已完成初稿</a:t>
                      </a:r>
                    </a:p>
                  </a:txBody>
                  <a:tcPr marL="13716" marR="13716" marT="4572" marB="4572" anchor="ctr">
                    <a:solidFill>
                      <a:srgbClr val="EAEFF7"/>
                    </a:solidFill>
                  </a:tcPr>
                </a:tc>
                <a:extLst>
                  <a:ext uri="{0D108BD9-81ED-4DB2-BD59-A6C34878D82A}">
                    <a16:rowId xmlns:a16="http://schemas.microsoft.com/office/drawing/2014/main" val="10004"/>
                  </a:ext>
                </a:extLst>
              </a:tr>
            </a:tbl>
          </a:graphicData>
        </a:graphic>
      </p:graphicFrame>
      <p:sp>
        <p:nvSpPr>
          <p:cNvPr id="30" name="Rectangle 29"/>
          <p:cNvSpPr/>
          <p:nvPr/>
        </p:nvSpPr>
        <p:spPr>
          <a:xfrm>
            <a:off x="347472" y="1143000"/>
            <a:ext cx="5623560" cy="347472"/>
          </a:xfrm>
          <a:prstGeom prst="rect">
            <a:avLst/>
          </a:prstGeom>
          <a:solidFill>
            <a:srgbClr val="003E9E"/>
          </a:solidFill>
          <a:ln w="10160">
            <a:solidFill>
              <a:srgbClr val="003E9E"/>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spcBef>
                <a:spcPts val="0"/>
              </a:spcBef>
              <a:spcAft>
                <a:spcPts val="0"/>
              </a:spcAft>
            </a:pPr>
            <a:endParaRPr/>
          </a:p>
        </p:txBody>
      </p:sp>
      <p:sp>
        <p:nvSpPr>
          <p:cNvPr id="31" name="TextBox 30"/>
          <p:cNvSpPr txBox="1"/>
          <p:nvPr/>
        </p:nvSpPr>
        <p:spPr>
          <a:xfrm>
            <a:off x="347472" y="1143000"/>
            <a:ext cx="5623560" cy="347472"/>
          </a:xfrm>
          <a:prstGeom prst="rect">
            <a:avLst/>
          </a:prstGeom>
          <a:noFill/>
        </p:spPr>
        <p:txBody>
          <a:bodyPr wrap="square" lIns="0" tIns="0" rIns="0" bIns="0" anchor="ctr">
            <a:spAutoFit/>
          </a:bodyPr>
          <a:lstStyle/>
          <a:p>
            <a:pPr algn="ctr">
              <a:lnSpc>
                <a:spcPct val="100000"/>
              </a:lnSpc>
              <a:spcBef>
                <a:spcPts val="0"/>
              </a:spcBef>
              <a:spcAft>
                <a:spcPts val="0"/>
              </a:spcAft>
              <a:defRPr sz="2000" b="1">
                <a:solidFill>
                  <a:srgbClr val="FFFFFF"/>
                </a:solidFill>
                <a:latin typeface="微软雅黑"/>
              </a:defRPr>
            </a:pPr>
            <a:r>
              <a:rPr sz="1200" b="1">
                <a:solidFill>
                  <a:srgbClr val="FFFFFF"/>
                </a:solidFill>
                <a:latin typeface="微软雅黑"/>
                <a:ea typeface="微软雅黑"/>
              </a:rPr>
              <a:t>订单</a:t>
            </a:r>
          </a:p>
        </p:txBody>
      </p:sp>
      <p:sp>
        <p:nvSpPr>
          <p:cNvPr id="32" name="Rectangle 31"/>
          <p:cNvSpPr/>
          <p:nvPr/>
        </p:nvSpPr>
        <p:spPr>
          <a:xfrm>
            <a:off x="347472" y="1490472"/>
            <a:ext cx="5623560" cy="438912"/>
          </a:xfrm>
          <a:prstGeom prst="rect">
            <a:avLst/>
          </a:prstGeom>
          <a:solidFill>
            <a:srgbClr val="F4F7FB"/>
          </a:solidFill>
          <a:ln w="10160">
            <a:solidFill>
              <a:srgbClr val="B7C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spcBef>
                <a:spcPts val="0"/>
              </a:spcBef>
              <a:spcAft>
                <a:spcPts val="0"/>
              </a:spcAft>
            </a:pPr>
            <a:endParaRPr/>
          </a:p>
        </p:txBody>
      </p:sp>
      <p:sp>
        <p:nvSpPr>
          <p:cNvPr id="33" name="TextBox 32"/>
          <p:cNvSpPr txBox="1"/>
          <p:nvPr/>
        </p:nvSpPr>
        <p:spPr>
          <a:xfrm>
            <a:off x="347472" y="1490472"/>
            <a:ext cx="5623560" cy="438912"/>
          </a:xfrm>
          <a:prstGeom prst="rect">
            <a:avLst/>
          </a:prstGeom>
          <a:noFill/>
        </p:spPr>
        <p:txBody>
          <a:bodyPr wrap="square" lIns="64008" tIns="64008" rIns="64008" bIns="64008" anchor="ctr">
            <a:spAutoFit/>
          </a:bodyPr>
          <a:lstStyle/>
          <a:p>
            <a:pPr algn="l">
              <a:lnSpc>
                <a:spcPct val="130000"/>
              </a:lnSpc>
              <a:spcBef>
                <a:spcPts val="0"/>
              </a:spcBef>
              <a:spcAft>
                <a:spcPts val="0"/>
              </a:spcAft>
              <a:defRPr sz="1300" b="1">
                <a:solidFill>
                  <a:srgbClr val="111111"/>
                </a:solidFill>
                <a:latin typeface="微软雅黑"/>
              </a:defRPr>
            </a:pPr>
            <a:r>
              <a:rPr sz="1200" b="1">
                <a:solidFill>
                  <a:srgbClr val="111111"/>
                </a:solidFill>
                <a:latin typeface="微软雅黑"/>
                <a:ea typeface="微软雅黑"/>
              </a:rPr>
              <a:t>222项订单、1231项支撑原子订单全面铺开，当前整体进度36%</a:t>
            </a:r>
          </a:p>
        </p:txBody>
      </p:sp>
      <p:sp>
        <p:nvSpPr>
          <p:cNvPr id="34" name="Rectangle 33"/>
          <p:cNvSpPr/>
          <p:nvPr/>
        </p:nvSpPr>
        <p:spPr>
          <a:xfrm>
            <a:off x="347472" y="4590288"/>
            <a:ext cx="5623560" cy="292608"/>
          </a:xfrm>
          <a:prstGeom prst="rect">
            <a:avLst/>
          </a:prstGeom>
          <a:solidFill>
            <a:srgbClr val="003E9E"/>
          </a:solidFill>
          <a:ln w="10160">
            <a:solidFill>
              <a:srgbClr val="003E9E"/>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spcBef>
                <a:spcPts val="0"/>
              </a:spcBef>
              <a:spcAft>
                <a:spcPts val="0"/>
              </a:spcAft>
            </a:pPr>
            <a:endParaRPr/>
          </a:p>
        </p:txBody>
      </p:sp>
      <p:sp>
        <p:nvSpPr>
          <p:cNvPr id="36" name="Rectangle 35"/>
          <p:cNvSpPr/>
          <p:nvPr/>
        </p:nvSpPr>
        <p:spPr>
          <a:xfrm>
            <a:off x="347472" y="4882896"/>
            <a:ext cx="5623560" cy="347472"/>
          </a:xfrm>
          <a:prstGeom prst="rect">
            <a:avLst/>
          </a:prstGeom>
          <a:solidFill>
            <a:srgbClr val="F4F7FB"/>
          </a:solidFill>
          <a:ln w="10160">
            <a:solidFill>
              <a:srgbClr val="B7C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spcBef>
                <a:spcPts val="0"/>
              </a:spcBef>
              <a:spcAft>
                <a:spcPts val="0"/>
              </a:spcAft>
            </a:pPr>
            <a:endParaRPr/>
          </a:p>
        </p:txBody>
      </p:sp>
      <p:sp>
        <p:nvSpPr>
          <p:cNvPr id="38" name="Rectangle 37"/>
          <p:cNvSpPr/>
          <p:nvPr/>
        </p:nvSpPr>
        <p:spPr>
          <a:xfrm>
            <a:off x="6199632" y="1143000"/>
            <a:ext cx="5623560" cy="347472"/>
          </a:xfrm>
          <a:prstGeom prst="rect">
            <a:avLst/>
          </a:prstGeom>
          <a:solidFill>
            <a:srgbClr val="003E9E"/>
          </a:solidFill>
          <a:ln w="10160">
            <a:solidFill>
              <a:srgbClr val="003E9E"/>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spcBef>
                <a:spcPts val="0"/>
              </a:spcBef>
              <a:spcAft>
                <a:spcPts val="0"/>
              </a:spcAft>
            </a:pPr>
            <a:endParaRPr/>
          </a:p>
        </p:txBody>
      </p:sp>
      <p:sp>
        <p:nvSpPr>
          <p:cNvPr id="39" name="TextBox 38"/>
          <p:cNvSpPr txBox="1"/>
          <p:nvPr/>
        </p:nvSpPr>
        <p:spPr>
          <a:xfrm>
            <a:off x="6199632" y="1143000"/>
            <a:ext cx="5623560" cy="347472"/>
          </a:xfrm>
          <a:prstGeom prst="rect">
            <a:avLst/>
          </a:prstGeom>
          <a:noFill/>
        </p:spPr>
        <p:txBody>
          <a:bodyPr wrap="square" lIns="0" tIns="0" rIns="0" bIns="0" anchor="ctr">
            <a:spAutoFit/>
          </a:bodyPr>
          <a:lstStyle/>
          <a:p>
            <a:pPr algn="ctr">
              <a:lnSpc>
                <a:spcPct val="100000"/>
              </a:lnSpc>
              <a:spcBef>
                <a:spcPts val="0"/>
              </a:spcBef>
              <a:spcAft>
                <a:spcPts val="0"/>
              </a:spcAft>
              <a:defRPr sz="2000" b="1">
                <a:solidFill>
                  <a:srgbClr val="FFFFFF"/>
                </a:solidFill>
                <a:latin typeface="微软雅黑"/>
              </a:defRPr>
            </a:pPr>
            <a:r>
              <a:rPr sz="1200" b="1">
                <a:solidFill>
                  <a:srgbClr val="FFFFFF"/>
                </a:solidFill>
                <a:latin typeface="微软雅黑"/>
                <a:ea typeface="微软雅黑"/>
              </a:rPr>
              <a:t>前沿清单</a:t>
            </a:r>
          </a:p>
        </p:txBody>
      </p:sp>
      <p:sp>
        <p:nvSpPr>
          <p:cNvPr id="40" name="Rectangle 39"/>
          <p:cNvSpPr/>
          <p:nvPr/>
        </p:nvSpPr>
        <p:spPr>
          <a:xfrm>
            <a:off x="6199632" y="1490472"/>
            <a:ext cx="5623560" cy="438912"/>
          </a:xfrm>
          <a:prstGeom prst="rect">
            <a:avLst/>
          </a:prstGeom>
          <a:solidFill>
            <a:srgbClr val="F4F7FB"/>
          </a:solidFill>
          <a:ln w="10160">
            <a:solidFill>
              <a:srgbClr val="B7C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spcBef>
                <a:spcPts val="0"/>
              </a:spcBef>
              <a:spcAft>
                <a:spcPts val="0"/>
              </a:spcAft>
            </a:pPr>
            <a:endParaRPr/>
          </a:p>
        </p:txBody>
      </p:sp>
      <p:sp>
        <p:nvSpPr>
          <p:cNvPr id="41" name="TextBox 40"/>
          <p:cNvSpPr txBox="1"/>
          <p:nvPr/>
        </p:nvSpPr>
        <p:spPr>
          <a:xfrm>
            <a:off x="6199632" y="1490472"/>
            <a:ext cx="5623560" cy="438912"/>
          </a:xfrm>
          <a:prstGeom prst="rect">
            <a:avLst/>
          </a:prstGeom>
          <a:noFill/>
        </p:spPr>
        <p:txBody>
          <a:bodyPr wrap="square" lIns="64008" tIns="64008" rIns="64008" bIns="64008" anchor="ctr">
            <a:spAutoFit/>
          </a:bodyPr>
          <a:lstStyle/>
          <a:p>
            <a:pPr algn="l">
              <a:lnSpc>
                <a:spcPct val="130000"/>
              </a:lnSpc>
              <a:spcBef>
                <a:spcPts val="0"/>
              </a:spcBef>
              <a:spcAft>
                <a:spcPts val="0"/>
              </a:spcAft>
              <a:defRPr sz="1300" b="1">
                <a:solidFill>
                  <a:srgbClr val="111111"/>
                </a:solidFill>
                <a:latin typeface="微软雅黑"/>
              </a:defRPr>
            </a:pPr>
            <a:r>
              <a:rPr sz="1200" b="1">
                <a:solidFill>
                  <a:srgbClr val="111111"/>
                </a:solidFill>
                <a:latin typeface="微软雅黑"/>
                <a:ea typeface="微软雅黑"/>
              </a:rPr>
              <a:t>4项前沿研究按计划推进，Combo PON资源盘活研究已完成初稿</a:t>
            </a:r>
          </a:p>
        </p:txBody>
      </p:sp>
      <p:sp>
        <p:nvSpPr>
          <p:cNvPr id="42" name="Rectangle 41"/>
          <p:cNvSpPr/>
          <p:nvPr/>
        </p:nvSpPr>
        <p:spPr>
          <a:xfrm>
            <a:off x="6199632" y="3584448"/>
            <a:ext cx="5623560" cy="292608"/>
          </a:xfrm>
          <a:prstGeom prst="rect">
            <a:avLst/>
          </a:prstGeom>
          <a:solidFill>
            <a:srgbClr val="003E9E"/>
          </a:solidFill>
          <a:ln w="10160">
            <a:solidFill>
              <a:srgbClr val="003E9E"/>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spcBef>
                <a:spcPts val="0"/>
              </a:spcBef>
              <a:spcAft>
                <a:spcPts val="0"/>
              </a:spcAft>
            </a:pPr>
            <a:endParaRPr/>
          </a:p>
        </p:txBody>
      </p:sp>
      <p:sp>
        <p:nvSpPr>
          <p:cNvPr id="44" name="Rectangle 43"/>
          <p:cNvSpPr/>
          <p:nvPr/>
        </p:nvSpPr>
        <p:spPr>
          <a:xfrm>
            <a:off x="6199632" y="3877056"/>
            <a:ext cx="5623560" cy="329184"/>
          </a:xfrm>
          <a:prstGeom prst="rect">
            <a:avLst/>
          </a:prstGeom>
          <a:solidFill>
            <a:srgbClr val="F4F7FB"/>
          </a:solidFill>
          <a:ln w="10160">
            <a:solidFill>
              <a:srgbClr val="B7C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spcBef>
                <a:spcPts val="0"/>
              </a:spcBef>
              <a:spcAft>
                <a:spcPts val="0"/>
              </a:spcAft>
            </a:pPr>
            <a:endParaRPr/>
          </a:p>
        </p:txBody>
      </p:sp>
      <p:sp>
        <p:nvSpPr>
          <p:cNvPr id="46" name="Rectangle 45"/>
          <p:cNvSpPr/>
          <p:nvPr/>
        </p:nvSpPr>
        <p:spPr>
          <a:xfrm>
            <a:off x="6199632" y="5084064"/>
            <a:ext cx="5623560" cy="292608"/>
          </a:xfrm>
          <a:prstGeom prst="rect">
            <a:avLst/>
          </a:prstGeom>
          <a:solidFill>
            <a:srgbClr val="003E9E"/>
          </a:solidFill>
          <a:ln w="10160">
            <a:solidFill>
              <a:srgbClr val="003E9E"/>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spcBef>
                <a:spcPts val="0"/>
              </a:spcBef>
              <a:spcAft>
                <a:spcPts val="0"/>
              </a:spcAft>
            </a:pPr>
            <a:endParaRPr/>
          </a:p>
        </p:txBody>
      </p:sp>
      <p:sp>
        <p:nvSpPr>
          <p:cNvPr id="48" name="Rectangle 47"/>
          <p:cNvSpPr/>
          <p:nvPr/>
        </p:nvSpPr>
        <p:spPr>
          <a:xfrm>
            <a:off x="6199632" y="5376672"/>
            <a:ext cx="5623560" cy="310896"/>
          </a:xfrm>
          <a:prstGeom prst="rect">
            <a:avLst/>
          </a:prstGeom>
          <a:solidFill>
            <a:srgbClr val="F4F7FB"/>
          </a:solidFill>
          <a:ln w="10160">
            <a:solidFill>
              <a:srgbClr val="B7C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spcBef>
                <a:spcPts val="0"/>
              </a:spcBef>
              <a:spcAft>
                <a:spcPts val="0"/>
              </a:spcAft>
            </a:pPr>
            <a:endParaRPr/>
          </a:p>
        </p:txBody>
      </p:sp>
      <p:sp>
        <p:nvSpPr>
          <p:cNvPr id="50" name="Rectangle 49"/>
          <p:cNvSpPr/>
          <p:nvPr/>
        </p:nvSpPr>
        <p:spPr>
          <a:xfrm>
            <a:off x="6199632" y="5715000"/>
            <a:ext cx="5623560" cy="704088"/>
          </a:xfrm>
          <a:prstGeom prst="rect">
            <a:avLst/>
          </a:prstGeom>
          <a:solidFill>
            <a:srgbClr val="FFFFFF"/>
          </a:solidFill>
          <a:ln w="10160">
            <a:solidFill>
              <a:srgbClr val="B7C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spcBef>
                <a:spcPts val="0"/>
              </a:spcBef>
              <a:spcAft>
                <a:spcPts val="0"/>
              </a:spcAft>
            </a:pPr>
            <a:endParaRPr/>
          </a:p>
        </p:txBody>
      </p:sp>
      <p:pic>
        <p:nvPicPr>
          <p:cNvPr id="14" name="Picture 13" descr="image2.png"/>
          <p:cNvPicPr>
            <a:picLocks noChangeAspect="1"/>
          </p:cNvPicPr>
          <p:nvPr/>
        </p:nvPicPr>
        <p:blipFill>
          <a:blip r:embed="rId2"/>
          <a:stretch>
            <a:fillRect/>
          </a:stretch>
        </p:blipFill>
        <p:spPr>
          <a:xfrm>
            <a:off x="8032746" y="5760720"/>
            <a:ext cx="1957331" cy="612648"/>
          </a:xfrm>
          <a:prstGeom prst="rect">
            <a:avLst/>
          </a:prstGeom>
        </p:spPr>
      </p:pic>
      <p:sp>
        <p:nvSpPr>
          <p:cNvPr id="51" name="TextBox 50"/>
          <p:cNvSpPr txBox="1"/>
          <p:nvPr/>
        </p:nvSpPr>
        <p:spPr>
          <a:xfrm>
            <a:off x="11338560" y="6565392"/>
            <a:ext cx="502920" cy="219456"/>
          </a:xfrm>
          <a:prstGeom prst="rect">
            <a:avLst/>
          </a:prstGeom>
          <a:noFill/>
        </p:spPr>
        <p:txBody>
          <a:bodyPr wrap="square" lIns="0" tIns="0" rIns="0" bIns="0" anchor="ctr">
            <a:spAutoFit/>
          </a:bodyPr>
          <a:lstStyle/>
          <a:p>
            <a:pPr algn="ctr">
              <a:lnSpc>
                <a:spcPct val="130000"/>
              </a:lnSpc>
              <a:spcBef>
                <a:spcPts val="0"/>
              </a:spcBef>
              <a:spcAft>
                <a:spcPts val="0"/>
              </a:spcAft>
              <a:defRPr sz="1300" b="0">
                <a:solidFill>
                  <a:srgbClr val="111111"/>
                </a:solidFill>
                <a:latin typeface="微软雅黑"/>
              </a:defRPr>
            </a:pPr>
            <a:r>
              <a:rPr sz="1000" b="0">
                <a:solidFill>
                  <a:srgbClr val="111111"/>
                </a:solidFill>
                <a:latin typeface="微软雅黑"/>
                <a:ea typeface="微软雅黑"/>
              </a:rPr>
              <a:t>5</a:t>
            </a:r>
          </a:p>
        </p:txBody>
      </p:sp>
      <p:sp>
        <p:nvSpPr>
          <p:cNvPr id="35" name="TextBox 34"/>
          <p:cNvSpPr txBox="1"/>
          <p:nvPr/>
        </p:nvSpPr>
        <p:spPr>
          <a:xfrm>
            <a:off x="347472" y="4590288"/>
            <a:ext cx="5623560" cy="292608"/>
          </a:xfrm>
          <a:prstGeom prst="rect">
            <a:avLst/>
          </a:prstGeom>
          <a:noFill/>
        </p:spPr>
        <p:txBody>
          <a:bodyPr wrap="square" lIns="0" tIns="0" rIns="0" bIns="0" anchor="ctr">
            <a:spAutoFit/>
          </a:bodyPr>
          <a:lstStyle/>
          <a:p>
            <a:pPr algn="ctr">
              <a:lnSpc>
                <a:spcPct val="100000"/>
              </a:lnSpc>
              <a:spcBef>
                <a:spcPts val="0"/>
              </a:spcBef>
              <a:spcAft>
                <a:spcPts val="0"/>
              </a:spcAft>
              <a:defRPr sz="2000" b="1">
                <a:solidFill>
                  <a:srgbClr val="FFFFFF"/>
                </a:solidFill>
                <a:latin typeface="微软雅黑"/>
              </a:defRPr>
            </a:pPr>
            <a:r>
              <a:rPr sz="1200" b="1">
                <a:solidFill>
                  <a:srgbClr val="FFFFFF"/>
                </a:solidFill>
                <a:latin typeface="微软雅黑"/>
                <a:ea typeface="微软雅黑"/>
              </a:rPr>
              <a:t>攻坚清单</a:t>
            </a:r>
          </a:p>
        </p:txBody>
      </p:sp>
      <p:sp>
        <p:nvSpPr>
          <p:cNvPr id="37" name="TextBox 36"/>
          <p:cNvSpPr txBox="1"/>
          <p:nvPr/>
        </p:nvSpPr>
        <p:spPr>
          <a:xfrm>
            <a:off x="347472" y="4882896"/>
            <a:ext cx="5623560" cy="347472"/>
          </a:xfrm>
          <a:prstGeom prst="rect">
            <a:avLst/>
          </a:prstGeom>
          <a:noFill/>
        </p:spPr>
        <p:txBody>
          <a:bodyPr wrap="square" lIns="64008" tIns="64008" rIns="64008" bIns="64008" anchor="ctr">
            <a:spAutoFit/>
          </a:bodyPr>
          <a:lstStyle/>
          <a:p>
            <a:pPr algn="l">
              <a:lnSpc>
                <a:spcPct val="130000"/>
              </a:lnSpc>
              <a:spcBef>
                <a:spcPts val="0"/>
              </a:spcBef>
              <a:spcAft>
                <a:spcPts val="0"/>
              </a:spcAft>
              <a:defRPr sz="1300" b="1">
                <a:solidFill>
                  <a:srgbClr val="111111"/>
                </a:solidFill>
                <a:latin typeface="微软雅黑"/>
              </a:defRPr>
            </a:pPr>
            <a:r>
              <a:rPr sz="1200" b="1">
                <a:solidFill>
                  <a:srgbClr val="111111"/>
                </a:solidFill>
                <a:latin typeface="微软雅黑"/>
                <a:ea typeface="微软雅黑"/>
              </a:rPr>
              <a:t>政企双线接入分析完成专题汇报并形成规范管理通知</a:t>
            </a:r>
          </a:p>
        </p:txBody>
      </p:sp>
      <p:sp>
        <p:nvSpPr>
          <p:cNvPr id="43" name="TextBox 42"/>
          <p:cNvSpPr txBox="1"/>
          <p:nvPr/>
        </p:nvSpPr>
        <p:spPr>
          <a:xfrm>
            <a:off x="6199632" y="3584448"/>
            <a:ext cx="5623560" cy="292608"/>
          </a:xfrm>
          <a:prstGeom prst="rect">
            <a:avLst/>
          </a:prstGeom>
          <a:noFill/>
        </p:spPr>
        <p:txBody>
          <a:bodyPr wrap="square" lIns="0" tIns="0" rIns="0" bIns="0" anchor="ctr">
            <a:spAutoFit/>
          </a:bodyPr>
          <a:lstStyle/>
          <a:p>
            <a:pPr algn="ctr">
              <a:lnSpc>
                <a:spcPct val="100000"/>
              </a:lnSpc>
              <a:spcBef>
                <a:spcPts val="0"/>
              </a:spcBef>
              <a:spcAft>
                <a:spcPts val="0"/>
              </a:spcAft>
              <a:defRPr sz="2000" b="1">
                <a:solidFill>
                  <a:srgbClr val="FFFFFF"/>
                </a:solidFill>
                <a:latin typeface="微软雅黑"/>
              </a:defRPr>
            </a:pPr>
            <a:r>
              <a:rPr sz="1200" b="1">
                <a:solidFill>
                  <a:srgbClr val="FFFFFF"/>
                </a:solidFill>
                <a:latin typeface="微软雅黑"/>
                <a:ea typeface="微软雅黑"/>
              </a:rPr>
              <a:t>提交集团重大技术方案</a:t>
            </a:r>
          </a:p>
        </p:txBody>
      </p:sp>
      <p:sp>
        <p:nvSpPr>
          <p:cNvPr id="45" name="TextBox 44"/>
          <p:cNvSpPr txBox="1"/>
          <p:nvPr/>
        </p:nvSpPr>
        <p:spPr>
          <a:xfrm>
            <a:off x="6199632" y="3877056"/>
            <a:ext cx="5623560" cy="329184"/>
          </a:xfrm>
          <a:prstGeom prst="rect">
            <a:avLst/>
          </a:prstGeom>
          <a:noFill/>
        </p:spPr>
        <p:txBody>
          <a:bodyPr wrap="square" lIns="64008" tIns="64008" rIns="64008" bIns="64008" anchor="ctr">
            <a:spAutoFit/>
          </a:bodyPr>
          <a:lstStyle/>
          <a:p>
            <a:pPr algn="l">
              <a:lnSpc>
                <a:spcPct val="130000"/>
              </a:lnSpc>
              <a:spcBef>
                <a:spcPts val="0"/>
              </a:spcBef>
              <a:spcAft>
                <a:spcPts val="0"/>
              </a:spcAft>
              <a:defRPr sz="1300" b="1">
                <a:solidFill>
                  <a:srgbClr val="111111"/>
                </a:solidFill>
                <a:latin typeface="微软雅黑"/>
              </a:defRPr>
            </a:pPr>
            <a:r>
              <a:rPr sz="1200" b="1">
                <a:solidFill>
                  <a:srgbClr val="111111"/>
                </a:solidFill>
                <a:latin typeface="微软雅黑"/>
                <a:ea typeface="微软雅黑"/>
              </a:rPr>
              <a:t>宽带及政企形成1项集团决策参考</a:t>
            </a:r>
          </a:p>
        </p:txBody>
      </p:sp>
      <p:sp>
        <p:nvSpPr>
          <p:cNvPr id="47" name="TextBox 46"/>
          <p:cNvSpPr txBox="1"/>
          <p:nvPr/>
        </p:nvSpPr>
        <p:spPr>
          <a:xfrm>
            <a:off x="6199632" y="5084064"/>
            <a:ext cx="5623560" cy="292608"/>
          </a:xfrm>
          <a:prstGeom prst="rect">
            <a:avLst/>
          </a:prstGeom>
          <a:noFill/>
        </p:spPr>
        <p:txBody>
          <a:bodyPr wrap="square" lIns="0" tIns="0" rIns="0" bIns="0" anchor="ctr">
            <a:spAutoFit/>
          </a:bodyPr>
          <a:lstStyle/>
          <a:p>
            <a:pPr algn="ctr">
              <a:lnSpc>
                <a:spcPct val="100000"/>
              </a:lnSpc>
              <a:spcBef>
                <a:spcPts val="0"/>
              </a:spcBef>
              <a:spcAft>
                <a:spcPts val="0"/>
              </a:spcAft>
              <a:defRPr sz="2000" b="1">
                <a:solidFill>
                  <a:srgbClr val="FFFFFF"/>
                </a:solidFill>
                <a:latin typeface="微软雅黑"/>
              </a:defRPr>
            </a:pPr>
            <a:r>
              <a:rPr sz="1200" b="1">
                <a:solidFill>
                  <a:srgbClr val="FFFFFF"/>
                </a:solidFill>
                <a:latin typeface="微软雅黑"/>
                <a:ea typeface="微软雅黑"/>
              </a:rPr>
              <a:t>重大技术方案对比</a:t>
            </a:r>
          </a:p>
        </p:txBody>
      </p:sp>
      <p:sp>
        <p:nvSpPr>
          <p:cNvPr id="49" name="TextBox 48"/>
          <p:cNvSpPr txBox="1"/>
          <p:nvPr/>
        </p:nvSpPr>
        <p:spPr>
          <a:xfrm>
            <a:off x="6199632" y="5376672"/>
            <a:ext cx="5623560" cy="310896"/>
          </a:xfrm>
          <a:prstGeom prst="rect">
            <a:avLst/>
          </a:prstGeom>
          <a:noFill/>
        </p:spPr>
        <p:txBody>
          <a:bodyPr wrap="square" lIns="64008" tIns="64008" rIns="64008" bIns="64008" anchor="ctr">
            <a:spAutoFit/>
          </a:bodyPr>
          <a:lstStyle/>
          <a:p>
            <a:pPr algn="l">
              <a:lnSpc>
                <a:spcPct val="130000"/>
              </a:lnSpc>
              <a:spcBef>
                <a:spcPts val="0"/>
              </a:spcBef>
              <a:spcAft>
                <a:spcPts val="0"/>
              </a:spcAft>
              <a:defRPr sz="1300" b="1">
                <a:solidFill>
                  <a:srgbClr val="111111"/>
                </a:solidFill>
                <a:latin typeface="微软雅黑"/>
              </a:defRPr>
            </a:pPr>
            <a:r>
              <a:rPr sz="1200" b="1">
                <a:solidFill>
                  <a:srgbClr val="111111"/>
                </a:solidFill>
                <a:latin typeface="微软雅黑"/>
                <a:ea typeface="微软雅黑"/>
              </a:rPr>
              <a:t>总体组方案与决策参考持续输出，但不同团队间产出存在差异</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19456"/>
            <a:ext cx="9738360" cy="621792"/>
          </a:xfrm>
          <a:prstGeom prst="rect">
            <a:avLst/>
          </a:prstGeom>
          <a:noFill/>
        </p:spPr>
        <p:txBody>
          <a:bodyPr wrap="square" lIns="0" tIns="0" rIns="0" bIns="0" anchor="ctr">
            <a:normAutofit/>
          </a:bodyPr>
          <a:lstStyle/>
          <a:p>
            <a:pPr algn="l">
              <a:lnSpc>
                <a:spcPct val="100000"/>
              </a:lnSpc>
              <a:spcBef>
                <a:spcPts val="0"/>
              </a:spcBef>
              <a:spcAft>
                <a:spcPts val="0"/>
              </a:spcAft>
              <a:defRPr sz="1300" b="1">
                <a:solidFill>
                  <a:srgbClr val="111111"/>
                </a:solidFill>
                <a:latin typeface="微软雅黑"/>
              </a:defRPr>
            </a:pPr>
            <a:r>
              <a:rPr sz="3400" b="1" i="0">
                <a:solidFill>
                  <a:srgbClr val="111111"/>
                </a:solidFill>
                <a:latin typeface="微软雅黑"/>
                <a:ea typeface="微软雅黑"/>
              </a:rPr>
              <a:t>重点支撑工作省分进展</a:t>
            </a:r>
          </a:p>
        </p:txBody>
      </p:sp>
      <p:sp>
        <p:nvSpPr>
          <p:cNvPr id="28" name="Rectangle 27"/>
          <p:cNvSpPr/>
          <p:nvPr/>
        </p:nvSpPr>
        <p:spPr>
          <a:xfrm>
            <a:off x="438912" y="1097280"/>
            <a:ext cx="11292840" cy="402336"/>
          </a:xfrm>
          <a:prstGeom prst="rect">
            <a:avLst/>
          </a:prstGeom>
          <a:solidFill>
            <a:srgbClr val="F4F7FB"/>
          </a:solidFill>
          <a:ln w="10160">
            <a:solidFill>
              <a:srgbClr val="B7C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spcBef>
                <a:spcPts val="0"/>
              </a:spcBef>
              <a:spcAft>
                <a:spcPts val="0"/>
              </a:spcAft>
            </a:pPr>
            <a:endParaRPr/>
          </a:p>
        </p:txBody>
      </p:sp>
      <p:sp>
        <p:nvSpPr>
          <p:cNvPr id="29" name="TextBox 28"/>
          <p:cNvSpPr txBox="1"/>
          <p:nvPr/>
        </p:nvSpPr>
        <p:spPr>
          <a:xfrm>
            <a:off x="438912" y="1078992"/>
            <a:ext cx="11018520" cy="384048"/>
          </a:xfrm>
          <a:prstGeom prst="rect">
            <a:avLst/>
          </a:prstGeom>
          <a:noFill/>
        </p:spPr>
        <p:txBody>
          <a:bodyPr wrap="square" tIns="91440" bIns="91440" anchor="ctr">
            <a:spAutoFit/>
          </a:bodyPr>
          <a:lstStyle/>
          <a:p>
            <a:pPr algn="l">
              <a:lnSpc>
                <a:spcPct val="130000"/>
              </a:lnSpc>
              <a:spcBef>
                <a:spcPts val="0"/>
              </a:spcBef>
              <a:spcAft>
                <a:spcPts val="0"/>
              </a:spcAft>
              <a:defRPr sz="1300" b="1">
                <a:solidFill>
                  <a:srgbClr val="111111"/>
                </a:solidFill>
                <a:latin typeface="微软雅黑"/>
              </a:defRPr>
            </a:pPr>
            <a:r>
              <a:rPr sz="1200" b="1">
                <a:solidFill>
                  <a:srgbClr val="232D37"/>
                </a:solidFill>
                <a:latin typeface="微软雅黑"/>
                <a:ea typeface="微软雅黑"/>
              </a:rPr>
              <a:t>6月3日已完成8个专题初稿阶段评审，北京形成省分出题、示范基地和管理层成果三层输出</a:t>
            </a:r>
          </a:p>
        </p:txBody>
      </p:sp>
      <p:sp>
        <p:nvSpPr>
          <p:cNvPr id="30" name="Rectangle 29"/>
          <p:cNvSpPr/>
          <p:nvPr/>
        </p:nvSpPr>
        <p:spPr>
          <a:xfrm>
            <a:off x="347472" y="1572768"/>
            <a:ext cx="4480560" cy="292608"/>
          </a:xfrm>
          <a:prstGeom prst="rect">
            <a:avLst/>
          </a:prstGeom>
          <a:solidFill>
            <a:srgbClr val="003E9E"/>
          </a:solidFill>
          <a:ln w="10160">
            <a:solidFill>
              <a:srgbClr val="003E9E"/>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spcBef>
                <a:spcPts val="0"/>
              </a:spcBef>
              <a:spcAft>
                <a:spcPts val="0"/>
              </a:spcAft>
            </a:pPr>
            <a:endParaRPr/>
          </a:p>
        </p:txBody>
      </p:sp>
      <p:sp>
        <p:nvSpPr>
          <p:cNvPr id="32" name="Rectangle 31"/>
          <p:cNvSpPr/>
          <p:nvPr/>
        </p:nvSpPr>
        <p:spPr>
          <a:xfrm>
            <a:off x="347472" y="1865376"/>
            <a:ext cx="4480560" cy="329184"/>
          </a:xfrm>
          <a:prstGeom prst="rect">
            <a:avLst/>
          </a:prstGeom>
          <a:solidFill>
            <a:srgbClr val="F4F7FB"/>
          </a:solidFill>
          <a:ln w="10160">
            <a:solidFill>
              <a:srgbClr val="B7C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spcBef>
                <a:spcPts val="0"/>
              </a:spcBef>
              <a:spcAft>
                <a:spcPts val="0"/>
              </a:spcAft>
            </a:pPr>
            <a:endParaRPr/>
          </a:p>
        </p:txBody>
      </p:sp>
      <p:sp>
        <p:nvSpPr>
          <p:cNvPr id="34" name="Rectangle 33"/>
          <p:cNvSpPr/>
          <p:nvPr/>
        </p:nvSpPr>
        <p:spPr>
          <a:xfrm>
            <a:off x="4937760" y="1572768"/>
            <a:ext cx="6885432" cy="292608"/>
          </a:xfrm>
          <a:prstGeom prst="rect">
            <a:avLst/>
          </a:prstGeom>
          <a:solidFill>
            <a:srgbClr val="003E9E"/>
          </a:solidFill>
          <a:ln w="10160">
            <a:solidFill>
              <a:srgbClr val="003E9E"/>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spcBef>
                <a:spcPts val="0"/>
              </a:spcBef>
              <a:spcAft>
                <a:spcPts val="0"/>
              </a:spcAft>
            </a:pPr>
            <a:endParaRPr/>
          </a:p>
        </p:txBody>
      </p:sp>
      <p:sp>
        <p:nvSpPr>
          <p:cNvPr id="36" name="Rectangle 35"/>
          <p:cNvSpPr/>
          <p:nvPr/>
        </p:nvSpPr>
        <p:spPr>
          <a:xfrm>
            <a:off x="4937760" y="1865376"/>
            <a:ext cx="6885432" cy="329184"/>
          </a:xfrm>
          <a:prstGeom prst="rect">
            <a:avLst/>
          </a:prstGeom>
          <a:solidFill>
            <a:srgbClr val="F4F7FB"/>
          </a:solidFill>
          <a:ln w="10160">
            <a:solidFill>
              <a:srgbClr val="B7C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spcBef>
                <a:spcPts val="0"/>
              </a:spcBef>
              <a:spcAft>
                <a:spcPts val="0"/>
              </a:spcAft>
            </a:pPr>
            <a:endParaRPr/>
          </a:p>
        </p:txBody>
      </p:sp>
      <p:sp>
        <p:nvSpPr>
          <p:cNvPr id="38" name="Rectangle 37"/>
          <p:cNvSpPr/>
          <p:nvPr/>
        </p:nvSpPr>
        <p:spPr>
          <a:xfrm>
            <a:off x="347472" y="3931920"/>
            <a:ext cx="7498079" cy="292608"/>
          </a:xfrm>
          <a:prstGeom prst="rect">
            <a:avLst/>
          </a:prstGeom>
          <a:solidFill>
            <a:srgbClr val="003E9E"/>
          </a:solidFill>
          <a:ln w="10160">
            <a:solidFill>
              <a:srgbClr val="003E9E"/>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spcBef>
                <a:spcPts val="0"/>
              </a:spcBef>
              <a:spcAft>
                <a:spcPts val="0"/>
              </a:spcAft>
            </a:pPr>
            <a:endParaRPr/>
          </a:p>
        </p:txBody>
      </p:sp>
      <p:sp>
        <p:nvSpPr>
          <p:cNvPr id="40" name="Rectangle 39"/>
          <p:cNvSpPr/>
          <p:nvPr/>
        </p:nvSpPr>
        <p:spPr>
          <a:xfrm>
            <a:off x="347472" y="4224528"/>
            <a:ext cx="7498079" cy="329184"/>
          </a:xfrm>
          <a:prstGeom prst="rect">
            <a:avLst/>
          </a:prstGeom>
          <a:solidFill>
            <a:srgbClr val="F4F7FB"/>
          </a:solidFill>
          <a:ln w="10160">
            <a:solidFill>
              <a:srgbClr val="B7C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spcBef>
                <a:spcPts val="0"/>
              </a:spcBef>
              <a:spcAft>
                <a:spcPts val="0"/>
              </a:spcAft>
            </a:pPr>
            <a:endParaRPr/>
          </a:p>
        </p:txBody>
      </p:sp>
      <p:sp>
        <p:nvSpPr>
          <p:cNvPr id="42" name="Rectangle 41"/>
          <p:cNvSpPr/>
          <p:nvPr/>
        </p:nvSpPr>
        <p:spPr>
          <a:xfrm>
            <a:off x="7955279" y="3931920"/>
            <a:ext cx="3867912" cy="292608"/>
          </a:xfrm>
          <a:prstGeom prst="rect">
            <a:avLst/>
          </a:prstGeom>
          <a:solidFill>
            <a:srgbClr val="003E9E"/>
          </a:solidFill>
          <a:ln w="10160">
            <a:solidFill>
              <a:srgbClr val="003E9E"/>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spcBef>
                <a:spcPts val="0"/>
              </a:spcBef>
              <a:spcAft>
                <a:spcPts val="0"/>
              </a:spcAft>
            </a:pPr>
            <a:endParaRPr/>
          </a:p>
        </p:txBody>
      </p:sp>
      <p:sp>
        <p:nvSpPr>
          <p:cNvPr id="44" name="Rectangle 43"/>
          <p:cNvSpPr/>
          <p:nvPr/>
        </p:nvSpPr>
        <p:spPr>
          <a:xfrm>
            <a:off x="7955279" y="4224528"/>
            <a:ext cx="3867912" cy="329184"/>
          </a:xfrm>
          <a:prstGeom prst="rect">
            <a:avLst/>
          </a:prstGeom>
          <a:solidFill>
            <a:srgbClr val="F4F7FB"/>
          </a:solidFill>
          <a:ln w="10160">
            <a:solidFill>
              <a:srgbClr val="B7C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spcBef>
                <a:spcPts val="0"/>
              </a:spcBef>
              <a:spcAft>
                <a:spcPts val="0"/>
              </a:spcAft>
            </a:pPr>
            <a:endParaRPr/>
          </a:p>
        </p:txBody>
      </p:sp>
      <p:sp>
        <p:nvSpPr>
          <p:cNvPr id="46" name="Rectangle 45"/>
          <p:cNvSpPr/>
          <p:nvPr/>
        </p:nvSpPr>
        <p:spPr>
          <a:xfrm>
            <a:off x="7955279" y="4590288"/>
            <a:ext cx="3867912" cy="1856231"/>
          </a:xfrm>
          <a:prstGeom prst="rect">
            <a:avLst/>
          </a:prstGeom>
          <a:solidFill>
            <a:srgbClr val="FFFFFF"/>
          </a:solidFill>
          <a:ln w="10160">
            <a:solidFill>
              <a:srgbClr val="B7C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spcBef>
                <a:spcPts val="0"/>
              </a:spcBef>
              <a:spcAft>
                <a:spcPts val="0"/>
              </a:spcAft>
            </a:pPr>
            <a:endParaRPr/>
          </a:p>
        </p:txBody>
      </p:sp>
      <p:pic>
        <p:nvPicPr>
          <p:cNvPr id="27" name="Picture 26" descr="image3.png"/>
          <p:cNvPicPr>
            <a:picLocks noChangeAspect="1"/>
          </p:cNvPicPr>
          <p:nvPr/>
        </p:nvPicPr>
        <p:blipFill>
          <a:blip r:embed="rId2"/>
          <a:stretch>
            <a:fillRect/>
          </a:stretch>
        </p:blipFill>
        <p:spPr>
          <a:xfrm>
            <a:off x="8331186" y="4700016"/>
            <a:ext cx="3116098" cy="1627632"/>
          </a:xfrm>
          <a:prstGeom prst="rect">
            <a:avLst/>
          </a:prstGeom>
        </p:spPr>
      </p:pic>
      <p:sp>
        <p:nvSpPr>
          <p:cNvPr id="47" name="TextBox 46"/>
          <p:cNvSpPr txBox="1"/>
          <p:nvPr/>
        </p:nvSpPr>
        <p:spPr>
          <a:xfrm>
            <a:off x="11338560" y="6565392"/>
            <a:ext cx="502920" cy="219456"/>
          </a:xfrm>
          <a:prstGeom prst="rect">
            <a:avLst/>
          </a:prstGeom>
          <a:noFill/>
        </p:spPr>
        <p:txBody>
          <a:bodyPr wrap="square" lIns="0" tIns="0" rIns="0" bIns="0" anchor="ctr">
            <a:spAutoFit/>
          </a:bodyPr>
          <a:lstStyle/>
          <a:p>
            <a:pPr algn="ctr">
              <a:lnSpc>
                <a:spcPct val="130000"/>
              </a:lnSpc>
              <a:spcBef>
                <a:spcPts val="0"/>
              </a:spcBef>
              <a:spcAft>
                <a:spcPts val="0"/>
              </a:spcAft>
              <a:defRPr sz="1300" b="0">
                <a:solidFill>
                  <a:srgbClr val="111111"/>
                </a:solidFill>
                <a:latin typeface="微软雅黑"/>
              </a:defRPr>
            </a:pPr>
            <a:r>
              <a:rPr sz="1000" b="0">
                <a:solidFill>
                  <a:srgbClr val="111111"/>
                </a:solidFill>
                <a:latin typeface="微软雅黑"/>
                <a:ea typeface="微软雅黑"/>
              </a:rPr>
              <a:t>6</a:t>
            </a:r>
          </a:p>
        </p:txBody>
      </p:sp>
      <p:sp>
        <p:nvSpPr>
          <p:cNvPr id="31" name="TextBox 30"/>
          <p:cNvSpPr txBox="1"/>
          <p:nvPr/>
        </p:nvSpPr>
        <p:spPr>
          <a:xfrm>
            <a:off x="347472" y="1572768"/>
            <a:ext cx="4480560" cy="292608"/>
          </a:xfrm>
          <a:prstGeom prst="rect">
            <a:avLst/>
          </a:prstGeom>
          <a:noFill/>
        </p:spPr>
        <p:txBody>
          <a:bodyPr wrap="square" lIns="0" tIns="0" rIns="0" bIns="0" anchor="ctr">
            <a:spAutoFit/>
          </a:bodyPr>
          <a:lstStyle/>
          <a:p>
            <a:pPr algn="ctr">
              <a:lnSpc>
                <a:spcPct val="100000"/>
              </a:lnSpc>
              <a:spcBef>
                <a:spcPts val="0"/>
              </a:spcBef>
              <a:spcAft>
                <a:spcPts val="0"/>
              </a:spcAft>
              <a:defRPr sz="2000" b="1">
                <a:solidFill>
                  <a:srgbClr val="FFFFFF"/>
                </a:solidFill>
                <a:latin typeface="微软雅黑"/>
              </a:defRPr>
            </a:pPr>
            <a:r>
              <a:rPr sz="1200" b="1">
                <a:solidFill>
                  <a:srgbClr val="FFFFFF"/>
                </a:solidFill>
                <a:latin typeface="微软雅黑"/>
                <a:ea typeface="微软雅黑"/>
              </a:rPr>
              <a:t>省分出题</a:t>
            </a:r>
          </a:p>
        </p:txBody>
      </p:sp>
      <p:sp>
        <p:nvSpPr>
          <p:cNvPr id="33" name="TextBox 32"/>
          <p:cNvSpPr txBox="1"/>
          <p:nvPr/>
        </p:nvSpPr>
        <p:spPr>
          <a:xfrm>
            <a:off x="347472" y="1865376"/>
            <a:ext cx="4480560" cy="329184"/>
          </a:xfrm>
          <a:prstGeom prst="rect">
            <a:avLst/>
          </a:prstGeom>
          <a:noFill/>
        </p:spPr>
        <p:txBody>
          <a:bodyPr wrap="square" lIns="64008" tIns="64008" rIns="64008" bIns="64008" anchor="ctr">
            <a:spAutoFit/>
          </a:bodyPr>
          <a:lstStyle/>
          <a:p>
            <a:pPr algn="l">
              <a:lnSpc>
                <a:spcPct val="130000"/>
              </a:lnSpc>
              <a:spcBef>
                <a:spcPts val="0"/>
              </a:spcBef>
              <a:spcAft>
                <a:spcPts val="0"/>
              </a:spcAft>
              <a:defRPr sz="1300" b="1">
                <a:solidFill>
                  <a:srgbClr val="111111"/>
                </a:solidFill>
                <a:latin typeface="微软雅黑"/>
              </a:defRPr>
            </a:pPr>
            <a:r>
              <a:rPr sz="1200" b="1">
                <a:solidFill>
                  <a:srgbClr val="111111"/>
                </a:solidFill>
                <a:latin typeface="微软雅黑"/>
                <a:ea typeface="微软雅黑"/>
              </a:rPr>
              <a:t>北京确认2个选题，均已形成5月阶段成果</a:t>
            </a:r>
          </a:p>
        </p:txBody>
      </p:sp>
      <p:sp>
        <p:nvSpPr>
          <p:cNvPr id="35" name="TextBox 34"/>
          <p:cNvSpPr txBox="1"/>
          <p:nvPr/>
        </p:nvSpPr>
        <p:spPr>
          <a:xfrm>
            <a:off x="4937760" y="1572768"/>
            <a:ext cx="6885432" cy="292608"/>
          </a:xfrm>
          <a:prstGeom prst="rect">
            <a:avLst/>
          </a:prstGeom>
          <a:noFill/>
        </p:spPr>
        <p:txBody>
          <a:bodyPr wrap="square" lIns="0" tIns="0" rIns="0" bIns="0" anchor="ctr">
            <a:spAutoFit/>
          </a:bodyPr>
          <a:lstStyle/>
          <a:p>
            <a:pPr algn="ctr">
              <a:lnSpc>
                <a:spcPct val="100000"/>
              </a:lnSpc>
              <a:spcBef>
                <a:spcPts val="0"/>
              </a:spcBef>
              <a:spcAft>
                <a:spcPts val="0"/>
              </a:spcAft>
              <a:defRPr sz="2000" b="1">
                <a:solidFill>
                  <a:srgbClr val="FFFFFF"/>
                </a:solidFill>
                <a:latin typeface="微软雅黑"/>
              </a:defRPr>
            </a:pPr>
            <a:r>
              <a:rPr sz="1200" b="1">
                <a:solidFill>
                  <a:srgbClr val="FFFFFF"/>
                </a:solidFill>
                <a:latin typeface="微软雅黑"/>
                <a:ea typeface="微软雅黑"/>
              </a:rPr>
              <a:t>省分示范基地</a:t>
            </a:r>
          </a:p>
        </p:txBody>
      </p:sp>
      <p:sp>
        <p:nvSpPr>
          <p:cNvPr id="37" name="TextBox 36"/>
          <p:cNvSpPr txBox="1"/>
          <p:nvPr/>
        </p:nvSpPr>
        <p:spPr>
          <a:xfrm>
            <a:off x="4937760" y="1865376"/>
            <a:ext cx="6885432" cy="329184"/>
          </a:xfrm>
          <a:prstGeom prst="rect">
            <a:avLst/>
          </a:prstGeom>
          <a:noFill/>
        </p:spPr>
        <p:txBody>
          <a:bodyPr wrap="square" lIns="64008" tIns="64008" rIns="64008" bIns="64008" anchor="ctr">
            <a:spAutoFit/>
          </a:bodyPr>
          <a:lstStyle/>
          <a:p>
            <a:pPr algn="l">
              <a:lnSpc>
                <a:spcPct val="130000"/>
              </a:lnSpc>
              <a:spcBef>
                <a:spcPts val="0"/>
              </a:spcBef>
              <a:spcAft>
                <a:spcPts val="0"/>
              </a:spcAft>
              <a:defRPr sz="1300" b="1">
                <a:solidFill>
                  <a:srgbClr val="111111"/>
                </a:solidFill>
                <a:latin typeface="微软雅黑"/>
              </a:defRPr>
            </a:pPr>
            <a:r>
              <a:rPr sz="1200" b="1">
                <a:solidFill>
                  <a:srgbClr val="111111"/>
                </a:solidFill>
                <a:latin typeface="微软雅黑"/>
                <a:ea typeface="微软雅黑"/>
              </a:rPr>
              <a:t>6个专业专题均形成阶段成果，多项成果通过技术评审或完成宣讲</a:t>
            </a:r>
          </a:p>
        </p:txBody>
      </p:sp>
      <p:graphicFrame>
        <p:nvGraphicFramePr>
          <p:cNvPr id="52" name="Table 51"/>
          <p:cNvGraphicFramePr>
            <a:graphicFrameLocks noGrp="1"/>
          </p:cNvGraphicFramePr>
          <p:nvPr/>
        </p:nvGraphicFramePr>
        <p:xfrm>
          <a:off x="347472" y="2231136"/>
          <a:ext cx="4480560" cy="1537410"/>
        </p:xfrm>
        <a:graphic>
          <a:graphicData uri="http://schemas.openxmlformats.org/drawingml/2006/table">
            <a:tbl>
              <a:tblPr firstRow="1" bandRow="1">
                <a:tableStyleId>{5C22544A-7EE6-4342-B048-85BDC9FD1C3A}</a:tableStyleId>
              </a:tblPr>
              <a:tblGrid>
                <a:gridCol w="256032">
                  <a:extLst>
                    <a:ext uri="{9D8B030D-6E8A-4147-A177-3AD203B41FA5}">
                      <a16:colId xmlns:a16="http://schemas.microsoft.com/office/drawing/2014/main" val="20000"/>
                    </a:ext>
                  </a:extLst>
                </a:gridCol>
                <a:gridCol w="1353312">
                  <a:extLst>
                    <a:ext uri="{9D8B030D-6E8A-4147-A177-3AD203B41FA5}">
                      <a16:colId xmlns:a16="http://schemas.microsoft.com/office/drawing/2014/main" val="20001"/>
                    </a:ext>
                  </a:extLst>
                </a:gridCol>
                <a:gridCol w="566928">
                  <a:extLst>
                    <a:ext uri="{9D8B030D-6E8A-4147-A177-3AD203B41FA5}">
                      <a16:colId xmlns:a16="http://schemas.microsoft.com/office/drawing/2014/main" val="20002"/>
                    </a:ext>
                  </a:extLst>
                </a:gridCol>
                <a:gridCol w="2304288">
                  <a:extLst>
                    <a:ext uri="{9D8B030D-6E8A-4147-A177-3AD203B41FA5}">
                      <a16:colId xmlns:a16="http://schemas.microsoft.com/office/drawing/2014/main" val="20003"/>
                    </a:ext>
                  </a:extLst>
                </a:gridCol>
              </a:tblGrid>
              <a:tr h="256032">
                <a:tc>
                  <a:txBody>
                    <a:bodyPr/>
                    <a:lstStyle/>
                    <a:p>
                      <a:pPr algn="ctr">
                        <a:lnSpc>
                          <a:spcPct val="100000"/>
                        </a:lnSpc>
                        <a:spcBef>
                          <a:spcPts val="0"/>
                        </a:spcBef>
                        <a:spcAft>
                          <a:spcPts val="0"/>
                        </a:spcAft>
                      </a:pPr>
                      <a:r>
                        <a:rPr sz="1000" b="1">
                          <a:solidFill>
                            <a:srgbClr val="FFFFFF"/>
                          </a:solidFill>
                          <a:latin typeface="微软雅黑"/>
                          <a:ea typeface="微软雅黑"/>
                        </a:rPr>
                        <a:t>序号</a:t>
                      </a:r>
                    </a:p>
                  </a:txBody>
                  <a:tcPr marL="16459" marR="16459" marT="3657" marB="3657" anchor="ctr">
                    <a:solidFill>
                      <a:srgbClr val="0047A0"/>
                    </a:solidFill>
                  </a:tcPr>
                </a:tc>
                <a:tc>
                  <a:txBody>
                    <a:bodyPr/>
                    <a:lstStyle/>
                    <a:p>
                      <a:pPr algn="ctr">
                        <a:lnSpc>
                          <a:spcPct val="100000"/>
                        </a:lnSpc>
                        <a:spcBef>
                          <a:spcPts val="0"/>
                        </a:spcBef>
                        <a:spcAft>
                          <a:spcPts val="0"/>
                        </a:spcAft>
                      </a:pPr>
                      <a:r>
                        <a:rPr sz="1000" b="1">
                          <a:solidFill>
                            <a:srgbClr val="FFFFFF"/>
                          </a:solidFill>
                          <a:latin typeface="微软雅黑"/>
                          <a:ea typeface="微软雅黑"/>
                        </a:rPr>
                        <a:t>题目</a:t>
                      </a:r>
                    </a:p>
                  </a:txBody>
                  <a:tcPr marL="16459" marR="16459" marT="3657" marB="3657" anchor="ctr">
                    <a:solidFill>
                      <a:srgbClr val="0047A0"/>
                    </a:solidFill>
                  </a:tcPr>
                </a:tc>
                <a:tc>
                  <a:txBody>
                    <a:bodyPr/>
                    <a:lstStyle/>
                    <a:p>
                      <a:pPr algn="ctr">
                        <a:lnSpc>
                          <a:spcPct val="100000"/>
                        </a:lnSpc>
                        <a:spcBef>
                          <a:spcPts val="0"/>
                        </a:spcBef>
                        <a:spcAft>
                          <a:spcPts val="0"/>
                        </a:spcAft>
                      </a:pPr>
                      <a:r>
                        <a:rPr sz="1000" b="1">
                          <a:solidFill>
                            <a:srgbClr val="FFFFFF"/>
                          </a:solidFill>
                          <a:latin typeface="微软雅黑"/>
                          <a:ea typeface="微软雅黑"/>
                        </a:rPr>
                        <a:t>省分团队</a:t>
                      </a:r>
                    </a:p>
                  </a:txBody>
                  <a:tcPr marL="16459" marR="16459" marT="3657" marB="3657" anchor="ctr">
                    <a:solidFill>
                      <a:srgbClr val="0047A0"/>
                    </a:solidFill>
                  </a:tcPr>
                </a:tc>
                <a:tc>
                  <a:txBody>
                    <a:bodyPr/>
                    <a:lstStyle/>
                    <a:p>
                      <a:pPr algn="ctr">
                        <a:lnSpc>
                          <a:spcPct val="100000"/>
                        </a:lnSpc>
                        <a:spcBef>
                          <a:spcPts val="0"/>
                        </a:spcBef>
                        <a:spcAft>
                          <a:spcPts val="0"/>
                        </a:spcAft>
                      </a:pPr>
                      <a:r>
                        <a:rPr sz="1000" b="1">
                          <a:solidFill>
                            <a:srgbClr val="FFFFFF"/>
                          </a:solidFill>
                          <a:latin typeface="微软雅黑"/>
                          <a:ea typeface="微软雅黑"/>
                        </a:rPr>
                        <a:t>5月工作成果</a:t>
                      </a:r>
                    </a:p>
                  </a:txBody>
                  <a:tcPr marL="16459" marR="16459" marT="3657" marB="3657" anchor="ctr">
                    <a:solidFill>
                      <a:srgbClr val="0047A0"/>
                    </a:solidFill>
                  </a:tcPr>
                </a:tc>
                <a:extLst>
                  <a:ext uri="{0D108BD9-81ED-4DB2-BD59-A6C34878D82A}">
                    <a16:rowId xmlns:a16="http://schemas.microsoft.com/office/drawing/2014/main" val="10000"/>
                  </a:ext>
                </a:extLst>
              </a:tr>
              <a:tr h="612648">
                <a:tc>
                  <a:txBody>
                    <a:bodyPr/>
                    <a:lstStyle/>
                    <a:p>
                      <a:pPr algn="ctr">
                        <a:lnSpc>
                          <a:spcPct val="100000"/>
                        </a:lnSpc>
                        <a:spcBef>
                          <a:spcPts val="0"/>
                        </a:spcBef>
                        <a:spcAft>
                          <a:spcPts val="0"/>
                        </a:spcAft>
                      </a:pPr>
                      <a:r>
                        <a:rPr sz="1000" b="0">
                          <a:solidFill>
                            <a:srgbClr val="232D37"/>
                          </a:solidFill>
                          <a:latin typeface="微软雅黑"/>
                          <a:ea typeface="微软雅黑"/>
                        </a:rPr>
                        <a:t>1</a:t>
                      </a:r>
                    </a:p>
                  </a:txBody>
                  <a:tcPr marL="16459" marR="16459" marT="3657" marB="3657" anchor="ctr">
                    <a:solidFill>
                      <a:srgbClr val="FFFFFF"/>
                    </a:solidFill>
                  </a:tcPr>
                </a:tc>
                <a:tc>
                  <a:txBody>
                    <a:bodyPr/>
                    <a:lstStyle/>
                    <a:p>
                      <a:pPr algn="ctr">
                        <a:lnSpc>
                          <a:spcPct val="100000"/>
                        </a:lnSpc>
                        <a:spcBef>
                          <a:spcPts val="0"/>
                        </a:spcBef>
                        <a:spcAft>
                          <a:spcPts val="0"/>
                        </a:spcAft>
                      </a:pPr>
                      <a:r>
                        <a:rPr sz="1000" b="0">
                          <a:solidFill>
                            <a:srgbClr val="232D37"/>
                          </a:solidFill>
                          <a:latin typeface="微软雅黑"/>
                          <a:ea typeface="微软雅黑"/>
                        </a:rPr>
                        <a:t>北京联通无线网络AI FOR NET应用</a:t>
                      </a:r>
                    </a:p>
                  </a:txBody>
                  <a:tcPr marL="16459" marR="16459" marT="3657" marB="3657" anchor="ctr">
                    <a:solidFill>
                      <a:srgbClr val="FFFFFF"/>
                    </a:solidFill>
                  </a:tcPr>
                </a:tc>
                <a:tc>
                  <a:txBody>
                    <a:bodyPr/>
                    <a:lstStyle/>
                    <a:p>
                      <a:pPr algn="ctr">
                        <a:lnSpc>
                          <a:spcPct val="100000"/>
                        </a:lnSpc>
                        <a:spcBef>
                          <a:spcPts val="0"/>
                        </a:spcBef>
                        <a:spcAft>
                          <a:spcPts val="0"/>
                        </a:spcAft>
                      </a:pPr>
                      <a:r>
                        <a:rPr sz="1000" b="0">
                          <a:solidFill>
                            <a:srgbClr val="232D37"/>
                          </a:solidFill>
                          <a:latin typeface="微软雅黑"/>
                          <a:ea typeface="微软雅黑"/>
                        </a:rPr>
                        <a:t>北京</a:t>
                      </a:r>
                    </a:p>
                  </a:txBody>
                  <a:tcPr marL="16459" marR="16459" marT="3657" marB="3657" anchor="ctr">
                    <a:solidFill>
                      <a:srgbClr val="FFFFFF"/>
                    </a:solidFill>
                  </a:tcPr>
                </a:tc>
                <a:tc>
                  <a:txBody>
                    <a:bodyPr/>
                    <a:lstStyle/>
                    <a:p>
                      <a:pPr algn="ctr">
                        <a:lnSpc>
                          <a:spcPct val="100000"/>
                        </a:lnSpc>
                        <a:spcBef>
                          <a:spcPts val="0"/>
                        </a:spcBef>
                        <a:spcAft>
                          <a:spcPts val="0"/>
                        </a:spcAft>
                      </a:pPr>
                      <a:r>
                        <a:rPr sz="1000" b="0">
                          <a:solidFill>
                            <a:srgbClr val="232D37"/>
                          </a:solidFill>
                          <a:latin typeface="微软雅黑"/>
                          <a:ea typeface="微软雅黑"/>
                        </a:rPr>
                        <a:t>开展试点数据梳理以及AI融网初步分析工作，启动网络需求试点方案框架搭建，专属网络应用方案编制工作。</a:t>
                      </a:r>
                    </a:p>
                  </a:txBody>
                  <a:tcPr marL="16459" marR="16459" marT="3657" marB="3657" anchor="ctr">
                    <a:solidFill>
                      <a:srgbClr val="FFFFFF"/>
                    </a:solidFill>
                  </a:tcPr>
                </a:tc>
                <a:extLst>
                  <a:ext uri="{0D108BD9-81ED-4DB2-BD59-A6C34878D82A}">
                    <a16:rowId xmlns:a16="http://schemas.microsoft.com/office/drawing/2014/main" val="10001"/>
                  </a:ext>
                </a:extLst>
              </a:tr>
              <a:tr h="612648">
                <a:tc>
                  <a:txBody>
                    <a:bodyPr/>
                    <a:lstStyle/>
                    <a:p>
                      <a:pPr algn="ctr">
                        <a:lnSpc>
                          <a:spcPct val="100000"/>
                        </a:lnSpc>
                        <a:spcBef>
                          <a:spcPts val="0"/>
                        </a:spcBef>
                        <a:spcAft>
                          <a:spcPts val="0"/>
                        </a:spcAft>
                      </a:pPr>
                      <a:r>
                        <a:rPr sz="1000" b="0">
                          <a:solidFill>
                            <a:srgbClr val="232D37"/>
                          </a:solidFill>
                          <a:latin typeface="微软雅黑"/>
                          <a:ea typeface="微软雅黑"/>
                        </a:rPr>
                        <a:t>2</a:t>
                      </a:r>
                    </a:p>
                  </a:txBody>
                  <a:tcPr marL="16459" marR="16459" marT="3657" marB="3657" anchor="ctr">
                    <a:solidFill>
                      <a:srgbClr val="F6F9FC"/>
                    </a:solidFill>
                  </a:tcPr>
                </a:tc>
                <a:tc>
                  <a:txBody>
                    <a:bodyPr/>
                    <a:lstStyle/>
                    <a:p>
                      <a:pPr algn="ctr">
                        <a:lnSpc>
                          <a:spcPct val="100000"/>
                        </a:lnSpc>
                        <a:spcBef>
                          <a:spcPts val="0"/>
                        </a:spcBef>
                        <a:spcAft>
                          <a:spcPts val="0"/>
                        </a:spcAft>
                      </a:pPr>
                      <a:r>
                        <a:rPr sz="1000" b="0">
                          <a:solidFill>
                            <a:srgbClr val="232D37"/>
                          </a:solidFill>
                          <a:latin typeface="微软雅黑"/>
                          <a:ea typeface="微软雅黑"/>
                        </a:rPr>
                        <a:t>北京算力承载网络健壮提升及布局优化</a:t>
                      </a:r>
                    </a:p>
                  </a:txBody>
                  <a:tcPr marL="16459" marR="16459" marT="3657" marB="3657" anchor="ctr">
                    <a:solidFill>
                      <a:srgbClr val="F6F9FC"/>
                    </a:solidFill>
                  </a:tcPr>
                </a:tc>
                <a:tc>
                  <a:txBody>
                    <a:bodyPr/>
                    <a:lstStyle/>
                    <a:p>
                      <a:pPr algn="ctr">
                        <a:lnSpc>
                          <a:spcPct val="100000"/>
                        </a:lnSpc>
                        <a:spcBef>
                          <a:spcPts val="0"/>
                        </a:spcBef>
                        <a:spcAft>
                          <a:spcPts val="0"/>
                        </a:spcAft>
                      </a:pPr>
                      <a:r>
                        <a:rPr sz="1000" b="0">
                          <a:solidFill>
                            <a:srgbClr val="232D37"/>
                          </a:solidFill>
                          <a:latin typeface="微软雅黑"/>
                          <a:ea typeface="微软雅黑"/>
                        </a:rPr>
                        <a:t>北京</a:t>
                      </a:r>
                    </a:p>
                  </a:txBody>
                  <a:tcPr marL="16459" marR="16459" marT="3657" marB="3657" anchor="ctr">
                    <a:solidFill>
                      <a:srgbClr val="F6F9FC"/>
                    </a:solidFill>
                  </a:tcPr>
                </a:tc>
                <a:tc>
                  <a:txBody>
                    <a:bodyPr/>
                    <a:lstStyle/>
                    <a:p>
                      <a:pPr algn="ctr">
                        <a:lnSpc>
                          <a:spcPct val="100000"/>
                        </a:lnSpc>
                        <a:spcBef>
                          <a:spcPts val="0"/>
                        </a:spcBef>
                        <a:spcAft>
                          <a:spcPts val="0"/>
                        </a:spcAft>
                      </a:pPr>
                      <a:r>
                        <a:rPr sz="1000" b="0">
                          <a:solidFill>
                            <a:srgbClr val="232D37"/>
                          </a:solidFill>
                          <a:latin typeface="微软雅黑"/>
                          <a:ea typeface="微软雅黑"/>
                        </a:rPr>
                        <a:t>完成北京算力网基础设施资源协同保障方案</a:t>
                      </a:r>
                    </a:p>
                  </a:txBody>
                  <a:tcPr marL="16459" marR="16459" marT="3657" marB="3657" anchor="ctr">
                    <a:solidFill>
                      <a:srgbClr val="F6F9FC"/>
                    </a:solidFill>
                  </a:tcPr>
                </a:tc>
                <a:extLst>
                  <a:ext uri="{0D108BD9-81ED-4DB2-BD59-A6C34878D82A}">
                    <a16:rowId xmlns:a16="http://schemas.microsoft.com/office/drawing/2014/main" val="10002"/>
                  </a:ext>
                </a:extLst>
              </a:tr>
            </a:tbl>
          </a:graphicData>
        </a:graphic>
      </p:graphicFrame>
      <p:graphicFrame>
        <p:nvGraphicFramePr>
          <p:cNvPr id="53" name="Table 52"/>
          <p:cNvGraphicFramePr>
            <a:graphicFrameLocks noGrp="1"/>
          </p:cNvGraphicFramePr>
          <p:nvPr/>
        </p:nvGraphicFramePr>
        <p:xfrm>
          <a:off x="4937760" y="2231136"/>
          <a:ext cx="3387852" cy="1593492"/>
        </p:xfrm>
        <a:graphic>
          <a:graphicData uri="http://schemas.openxmlformats.org/drawingml/2006/table">
            <a:tbl>
              <a:tblPr firstRow="1" bandRow="1">
                <a:tableStyleId>{5C22544A-7EE6-4342-B048-85BDC9FD1C3A}</a:tableStyleId>
              </a:tblPr>
              <a:tblGrid>
                <a:gridCol w="254088">
                  <a:extLst>
                    <a:ext uri="{9D8B030D-6E8A-4147-A177-3AD203B41FA5}">
                      <a16:colId xmlns:a16="http://schemas.microsoft.com/office/drawing/2014/main" val="20000"/>
                    </a:ext>
                  </a:extLst>
                </a:gridCol>
                <a:gridCol w="508177">
                  <a:extLst>
                    <a:ext uri="{9D8B030D-6E8A-4147-A177-3AD203B41FA5}">
                      <a16:colId xmlns:a16="http://schemas.microsoft.com/office/drawing/2014/main" val="20001"/>
                    </a:ext>
                  </a:extLst>
                </a:gridCol>
                <a:gridCol w="1016355">
                  <a:extLst>
                    <a:ext uri="{9D8B030D-6E8A-4147-A177-3AD203B41FA5}">
                      <a16:colId xmlns:a16="http://schemas.microsoft.com/office/drawing/2014/main" val="20002"/>
                    </a:ext>
                  </a:extLst>
                </a:gridCol>
                <a:gridCol w="1609232">
                  <a:extLst>
                    <a:ext uri="{9D8B030D-6E8A-4147-A177-3AD203B41FA5}">
                      <a16:colId xmlns:a16="http://schemas.microsoft.com/office/drawing/2014/main" val="20003"/>
                    </a:ext>
                  </a:extLst>
                </a:gridCol>
              </a:tblGrid>
              <a:tr h="256032">
                <a:tc>
                  <a:txBody>
                    <a:bodyPr/>
                    <a:lstStyle/>
                    <a:p>
                      <a:pPr algn="ctr">
                        <a:lnSpc>
                          <a:spcPct val="100000"/>
                        </a:lnSpc>
                        <a:spcBef>
                          <a:spcPts val="0"/>
                        </a:spcBef>
                        <a:spcAft>
                          <a:spcPts val="0"/>
                        </a:spcAft>
                      </a:pPr>
                      <a:r>
                        <a:rPr sz="1000" b="1">
                          <a:solidFill>
                            <a:srgbClr val="FFFFFF"/>
                          </a:solidFill>
                          <a:latin typeface="微软雅黑"/>
                          <a:ea typeface="微软雅黑"/>
                        </a:rPr>
                        <a:t>序号</a:t>
                      </a:r>
                    </a:p>
                  </a:txBody>
                  <a:tcPr marL="16459" marR="16459" marT="3657" marB="3657" anchor="ctr">
                    <a:solidFill>
                      <a:srgbClr val="0047A0"/>
                    </a:solidFill>
                  </a:tcPr>
                </a:tc>
                <a:tc>
                  <a:txBody>
                    <a:bodyPr/>
                    <a:lstStyle/>
                    <a:p>
                      <a:pPr algn="ctr">
                        <a:lnSpc>
                          <a:spcPct val="100000"/>
                        </a:lnSpc>
                        <a:spcBef>
                          <a:spcPts val="0"/>
                        </a:spcBef>
                        <a:spcAft>
                          <a:spcPts val="0"/>
                        </a:spcAft>
                      </a:pPr>
                      <a:r>
                        <a:rPr sz="1000" b="1">
                          <a:solidFill>
                            <a:srgbClr val="FFFFFF"/>
                          </a:solidFill>
                          <a:latin typeface="微软雅黑"/>
                          <a:ea typeface="微软雅黑"/>
                        </a:rPr>
                        <a:t>专业</a:t>
                      </a:r>
                    </a:p>
                  </a:txBody>
                  <a:tcPr marL="16459" marR="16459" marT="3657" marB="3657" anchor="ctr">
                    <a:solidFill>
                      <a:srgbClr val="0047A0"/>
                    </a:solidFill>
                  </a:tcPr>
                </a:tc>
                <a:tc>
                  <a:txBody>
                    <a:bodyPr/>
                    <a:lstStyle/>
                    <a:p>
                      <a:pPr algn="ctr">
                        <a:lnSpc>
                          <a:spcPct val="100000"/>
                        </a:lnSpc>
                        <a:spcBef>
                          <a:spcPts val="0"/>
                        </a:spcBef>
                        <a:spcAft>
                          <a:spcPts val="0"/>
                        </a:spcAft>
                      </a:pPr>
                      <a:r>
                        <a:rPr sz="1000" b="1">
                          <a:solidFill>
                            <a:srgbClr val="FFFFFF"/>
                          </a:solidFill>
                          <a:latin typeface="微软雅黑"/>
                          <a:ea typeface="微软雅黑"/>
                        </a:rPr>
                        <a:t>选题</a:t>
                      </a:r>
                    </a:p>
                  </a:txBody>
                  <a:tcPr marL="16459" marR="16459" marT="3657" marB="3657" anchor="ctr">
                    <a:solidFill>
                      <a:srgbClr val="0047A0"/>
                    </a:solidFill>
                  </a:tcPr>
                </a:tc>
                <a:tc>
                  <a:txBody>
                    <a:bodyPr/>
                    <a:lstStyle/>
                    <a:p>
                      <a:pPr algn="ctr">
                        <a:lnSpc>
                          <a:spcPct val="100000"/>
                        </a:lnSpc>
                        <a:spcBef>
                          <a:spcPts val="0"/>
                        </a:spcBef>
                        <a:spcAft>
                          <a:spcPts val="0"/>
                        </a:spcAft>
                      </a:pPr>
                      <a:r>
                        <a:rPr sz="1000" b="1">
                          <a:solidFill>
                            <a:srgbClr val="FFFFFF"/>
                          </a:solidFill>
                          <a:latin typeface="微软雅黑"/>
                          <a:ea typeface="微软雅黑"/>
                        </a:rPr>
                        <a:t>5月完成成果</a:t>
                      </a:r>
                    </a:p>
                  </a:txBody>
                  <a:tcPr marL="16459" marR="16459" marT="3657" marB="3657" anchor="ctr">
                    <a:solidFill>
                      <a:srgbClr val="0047A0"/>
                    </a:solidFill>
                  </a:tcPr>
                </a:tc>
                <a:extLst>
                  <a:ext uri="{0D108BD9-81ED-4DB2-BD59-A6C34878D82A}">
                    <a16:rowId xmlns:a16="http://schemas.microsoft.com/office/drawing/2014/main" val="10000"/>
                  </a:ext>
                </a:extLst>
              </a:tr>
              <a:tr h="408432">
                <a:tc>
                  <a:txBody>
                    <a:bodyPr/>
                    <a:lstStyle/>
                    <a:p>
                      <a:pPr algn="ctr">
                        <a:lnSpc>
                          <a:spcPct val="100000"/>
                        </a:lnSpc>
                        <a:spcBef>
                          <a:spcPts val="0"/>
                        </a:spcBef>
                        <a:spcAft>
                          <a:spcPts val="0"/>
                        </a:spcAft>
                      </a:pPr>
                      <a:r>
                        <a:rPr sz="1000" b="0">
                          <a:solidFill>
                            <a:srgbClr val="232D37"/>
                          </a:solidFill>
                          <a:latin typeface="微软雅黑"/>
                          <a:ea typeface="微软雅黑"/>
                        </a:rPr>
                        <a:t>1</a:t>
                      </a:r>
                    </a:p>
                  </a:txBody>
                  <a:tcPr marL="16459" marR="16459" marT="3657" marB="3657" anchor="ctr">
                    <a:solidFill>
                      <a:srgbClr val="FFFFFF"/>
                    </a:solidFill>
                  </a:tcPr>
                </a:tc>
                <a:tc>
                  <a:txBody>
                    <a:bodyPr/>
                    <a:lstStyle/>
                    <a:p>
                      <a:pPr algn="ctr">
                        <a:lnSpc>
                          <a:spcPct val="100000"/>
                        </a:lnSpc>
                        <a:spcBef>
                          <a:spcPts val="0"/>
                        </a:spcBef>
                        <a:spcAft>
                          <a:spcPts val="0"/>
                        </a:spcAft>
                      </a:pPr>
                      <a:r>
                        <a:rPr sz="1000" b="0">
                          <a:solidFill>
                            <a:srgbClr val="232D37"/>
                          </a:solidFill>
                          <a:latin typeface="微软雅黑"/>
                          <a:ea typeface="微软雅黑"/>
                        </a:rPr>
                        <a:t>宽带及政企</a:t>
                      </a:r>
                    </a:p>
                  </a:txBody>
                  <a:tcPr marL="16459" marR="16459" marT="3657" marB="3657" anchor="ctr">
                    <a:solidFill>
                      <a:srgbClr val="FFFFFF"/>
                    </a:solidFill>
                  </a:tcPr>
                </a:tc>
                <a:tc>
                  <a:txBody>
                    <a:bodyPr/>
                    <a:lstStyle/>
                    <a:p>
                      <a:pPr algn="ctr">
                        <a:lnSpc>
                          <a:spcPct val="100000"/>
                        </a:lnSpc>
                        <a:spcBef>
                          <a:spcPts val="0"/>
                        </a:spcBef>
                        <a:spcAft>
                          <a:spcPts val="0"/>
                        </a:spcAft>
                      </a:pPr>
                      <a:r>
                        <a:rPr sz="1000" b="0">
                          <a:solidFill>
                            <a:srgbClr val="232D37"/>
                          </a:solidFill>
                          <a:latin typeface="微软雅黑"/>
                          <a:ea typeface="微软雅黑"/>
                        </a:rPr>
                        <a:t>北京万兆光网演进及部署方案</a:t>
                      </a:r>
                    </a:p>
                  </a:txBody>
                  <a:tcPr marL="16459" marR="16459" marT="3657" marB="3657" anchor="ctr">
                    <a:solidFill>
                      <a:srgbClr val="FFFFFF"/>
                    </a:solidFill>
                  </a:tcPr>
                </a:tc>
                <a:tc>
                  <a:txBody>
                    <a:bodyPr/>
                    <a:lstStyle/>
                    <a:p>
                      <a:pPr algn="ctr">
                        <a:lnSpc>
                          <a:spcPct val="100000"/>
                        </a:lnSpc>
                        <a:spcBef>
                          <a:spcPts val="0"/>
                        </a:spcBef>
                        <a:spcAft>
                          <a:spcPts val="0"/>
                        </a:spcAft>
                      </a:pPr>
                      <a:r>
                        <a:rPr sz="1000" b="0">
                          <a:solidFill>
                            <a:srgbClr val="232D37"/>
                          </a:solidFill>
                          <a:latin typeface="微软雅黑"/>
                          <a:ea typeface="微软雅黑"/>
                        </a:rPr>
                        <a:t>制定试点割接方案</a:t>
                      </a:r>
                    </a:p>
                  </a:txBody>
                  <a:tcPr marL="16459" marR="16459" marT="3657" marB="3657" anchor="ctr">
                    <a:solidFill>
                      <a:srgbClr val="FFFFFF"/>
                    </a:solidFill>
                  </a:tcPr>
                </a:tc>
                <a:extLst>
                  <a:ext uri="{0D108BD9-81ED-4DB2-BD59-A6C34878D82A}">
                    <a16:rowId xmlns:a16="http://schemas.microsoft.com/office/drawing/2014/main" val="10001"/>
                  </a:ext>
                </a:extLst>
              </a:tr>
              <a:tr h="408432">
                <a:tc>
                  <a:txBody>
                    <a:bodyPr/>
                    <a:lstStyle/>
                    <a:p>
                      <a:pPr algn="ctr">
                        <a:lnSpc>
                          <a:spcPct val="100000"/>
                        </a:lnSpc>
                        <a:spcBef>
                          <a:spcPts val="0"/>
                        </a:spcBef>
                        <a:spcAft>
                          <a:spcPts val="0"/>
                        </a:spcAft>
                      </a:pPr>
                      <a:r>
                        <a:rPr sz="1000" b="0">
                          <a:solidFill>
                            <a:srgbClr val="232D37"/>
                          </a:solidFill>
                          <a:latin typeface="微软雅黑"/>
                          <a:ea typeface="微软雅黑"/>
                        </a:rPr>
                        <a:t>2</a:t>
                      </a:r>
                    </a:p>
                  </a:txBody>
                  <a:tcPr marL="16459" marR="16459" marT="3657" marB="3657" anchor="ctr">
                    <a:solidFill>
                      <a:srgbClr val="F6F9FC"/>
                    </a:solidFill>
                  </a:tcPr>
                </a:tc>
                <a:tc>
                  <a:txBody>
                    <a:bodyPr/>
                    <a:lstStyle/>
                    <a:p>
                      <a:pPr algn="ctr">
                        <a:lnSpc>
                          <a:spcPct val="100000"/>
                        </a:lnSpc>
                        <a:spcBef>
                          <a:spcPts val="0"/>
                        </a:spcBef>
                        <a:spcAft>
                          <a:spcPts val="0"/>
                        </a:spcAft>
                      </a:pPr>
                      <a:r>
                        <a:rPr sz="1000" b="0">
                          <a:solidFill>
                            <a:srgbClr val="232D37"/>
                          </a:solidFill>
                          <a:latin typeface="微软雅黑"/>
                          <a:ea typeface="微软雅黑"/>
                        </a:rPr>
                        <a:t>基础设施</a:t>
                      </a:r>
                    </a:p>
                  </a:txBody>
                  <a:tcPr marL="16459" marR="16459" marT="3657" marB="3657" anchor="ctr">
                    <a:solidFill>
                      <a:srgbClr val="F6F9FC"/>
                    </a:solidFill>
                  </a:tcPr>
                </a:tc>
                <a:tc>
                  <a:txBody>
                    <a:bodyPr/>
                    <a:lstStyle/>
                    <a:p>
                      <a:pPr algn="ctr">
                        <a:lnSpc>
                          <a:spcPct val="100000"/>
                        </a:lnSpc>
                        <a:spcBef>
                          <a:spcPts val="0"/>
                        </a:spcBef>
                        <a:spcAft>
                          <a:spcPts val="0"/>
                        </a:spcAft>
                      </a:pPr>
                      <a:r>
                        <a:rPr sz="1000" b="0">
                          <a:solidFill>
                            <a:srgbClr val="232D37"/>
                          </a:solidFill>
                          <a:latin typeface="微软雅黑"/>
                          <a:ea typeface="微软雅黑"/>
                        </a:rPr>
                        <a:t>基础设施智能化运营优化方案</a:t>
                      </a:r>
                    </a:p>
                  </a:txBody>
                  <a:tcPr marL="16459" marR="16459" marT="3657" marB="3657" anchor="ctr">
                    <a:solidFill>
                      <a:srgbClr val="F6F9FC"/>
                    </a:solidFill>
                  </a:tcPr>
                </a:tc>
                <a:tc>
                  <a:txBody>
                    <a:bodyPr/>
                    <a:lstStyle/>
                    <a:p>
                      <a:pPr algn="ctr">
                        <a:lnSpc>
                          <a:spcPct val="100000"/>
                        </a:lnSpc>
                        <a:spcBef>
                          <a:spcPts val="0"/>
                        </a:spcBef>
                        <a:spcAft>
                          <a:spcPts val="0"/>
                        </a:spcAft>
                      </a:pPr>
                      <a:r>
                        <a:rPr sz="1000" b="0">
                          <a:solidFill>
                            <a:srgbClr val="232D37"/>
                          </a:solidFill>
                          <a:latin typeface="微软雅黑"/>
                          <a:ea typeface="微软雅黑"/>
                        </a:rPr>
                        <a:t>更新投资优化策略，5月在2026年中国联通基础设施建设发展培训班宣讲</a:t>
                      </a:r>
                    </a:p>
                  </a:txBody>
                  <a:tcPr marL="16459" marR="16459" marT="3657" marB="3657" anchor="ctr">
                    <a:solidFill>
                      <a:srgbClr val="F6F9FC"/>
                    </a:solidFill>
                  </a:tcPr>
                </a:tc>
                <a:extLst>
                  <a:ext uri="{0D108BD9-81ED-4DB2-BD59-A6C34878D82A}">
                    <a16:rowId xmlns:a16="http://schemas.microsoft.com/office/drawing/2014/main" val="10002"/>
                  </a:ext>
                </a:extLst>
              </a:tr>
              <a:tr h="408432">
                <a:tc>
                  <a:txBody>
                    <a:bodyPr/>
                    <a:lstStyle/>
                    <a:p>
                      <a:pPr algn="ctr">
                        <a:lnSpc>
                          <a:spcPct val="100000"/>
                        </a:lnSpc>
                        <a:spcBef>
                          <a:spcPts val="0"/>
                        </a:spcBef>
                        <a:spcAft>
                          <a:spcPts val="0"/>
                        </a:spcAft>
                      </a:pPr>
                      <a:r>
                        <a:rPr sz="1000" b="0">
                          <a:solidFill>
                            <a:srgbClr val="232D37"/>
                          </a:solidFill>
                          <a:latin typeface="微软雅黑"/>
                          <a:ea typeface="微软雅黑"/>
                        </a:rPr>
                        <a:t>3</a:t>
                      </a:r>
                    </a:p>
                  </a:txBody>
                  <a:tcPr marL="16459" marR="16459" marT="3657" marB="3657" anchor="ctr">
                    <a:solidFill>
                      <a:srgbClr val="FFFFFF"/>
                    </a:solidFill>
                  </a:tcPr>
                </a:tc>
                <a:tc>
                  <a:txBody>
                    <a:bodyPr/>
                    <a:lstStyle/>
                    <a:p>
                      <a:pPr algn="ctr">
                        <a:lnSpc>
                          <a:spcPct val="100000"/>
                        </a:lnSpc>
                        <a:spcBef>
                          <a:spcPts val="0"/>
                        </a:spcBef>
                        <a:spcAft>
                          <a:spcPts val="0"/>
                        </a:spcAft>
                      </a:pPr>
                      <a:r>
                        <a:rPr sz="1000" b="0">
                          <a:solidFill>
                            <a:srgbClr val="232D37"/>
                          </a:solidFill>
                          <a:latin typeface="微软雅黑"/>
                          <a:ea typeface="微软雅黑"/>
                        </a:rPr>
                        <a:t>云资源池</a:t>
                      </a:r>
                    </a:p>
                  </a:txBody>
                  <a:tcPr marL="16459" marR="16459" marT="3657" marB="3657" anchor="ctr">
                    <a:solidFill>
                      <a:srgbClr val="FFFFFF"/>
                    </a:solidFill>
                  </a:tcPr>
                </a:tc>
                <a:tc>
                  <a:txBody>
                    <a:bodyPr/>
                    <a:lstStyle/>
                    <a:p>
                      <a:pPr algn="ctr">
                        <a:lnSpc>
                          <a:spcPct val="100000"/>
                        </a:lnSpc>
                        <a:spcBef>
                          <a:spcPts val="0"/>
                        </a:spcBef>
                        <a:spcAft>
                          <a:spcPts val="0"/>
                        </a:spcAft>
                      </a:pPr>
                      <a:r>
                        <a:rPr sz="1000" b="0">
                          <a:solidFill>
                            <a:srgbClr val="232D37"/>
                          </a:solidFill>
                          <a:latin typeface="微软雅黑"/>
                          <a:ea typeface="微软雅黑"/>
                        </a:rPr>
                        <a:t>北京联通智算演进发展</a:t>
                      </a:r>
                    </a:p>
                  </a:txBody>
                  <a:tcPr marL="16459" marR="16459" marT="3657" marB="3657" anchor="ctr">
                    <a:solidFill>
                      <a:srgbClr val="FFFFFF"/>
                    </a:solidFill>
                  </a:tcPr>
                </a:tc>
                <a:tc>
                  <a:txBody>
                    <a:bodyPr/>
                    <a:lstStyle/>
                    <a:p>
                      <a:pPr algn="ctr">
                        <a:lnSpc>
                          <a:spcPct val="100000"/>
                        </a:lnSpc>
                        <a:spcBef>
                          <a:spcPts val="0"/>
                        </a:spcBef>
                        <a:spcAft>
                          <a:spcPts val="0"/>
                        </a:spcAft>
                      </a:pPr>
                      <a:r>
                        <a:rPr sz="1000" b="0">
                          <a:solidFill>
                            <a:srgbClr val="232D37"/>
                          </a:solidFill>
                          <a:latin typeface="微软雅黑"/>
                          <a:ea typeface="微软雅黑"/>
                        </a:rPr>
                        <a:t>完成调研原始记录归档与初步分类</a:t>
                      </a:r>
                    </a:p>
                  </a:txBody>
                  <a:tcPr marL="16459" marR="16459" marT="3657" marB="3657" anchor="ctr">
                    <a:solidFill>
                      <a:srgbClr val="FFFFFF"/>
                    </a:solidFill>
                  </a:tcPr>
                </a:tc>
                <a:extLst>
                  <a:ext uri="{0D108BD9-81ED-4DB2-BD59-A6C34878D82A}">
                    <a16:rowId xmlns:a16="http://schemas.microsoft.com/office/drawing/2014/main" val="10003"/>
                  </a:ext>
                </a:extLst>
              </a:tr>
            </a:tbl>
          </a:graphicData>
        </a:graphic>
      </p:graphicFrame>
      <p:graphicFrame>
        <p:nvGraphicFramePr>
          <p:cNvPr id="54" name="Table 53"/>
          <p:cNvGraphicFramePr>
            <a:graphicFrameLocks noGrp="1"/>
          </p:cNvGraphicFramePr>
          <p:nvPr/>
        </p:nvGraphicFramePr>
        <p:xfrm>
          <a:off x="8435340" y="2231136"/>
          <a:ext cx="3387852" cy="1649574"/>
        </p:xfrm>
        <a:graphic>
          <a:graphicData uri="http://schemas.openxmlformats.org/drawingml/2006/table">
            <a:tbl>
              <a:tblPr firstRow="1" bandRow="1">
                <a:tableStyleId>{5C22544A-7EE6-4342-B048-85BDC9FD1C3A}</a:tableStyleId>
              </a:tblPr>
              <a:tblGrid>
                <a:gridCol w="254088">
                  <a:extLst>
                    <a:ext uri="{9D8B030D-6E8A-4147-A177-3AD203B41FA5}">
                      <a16:colId xmlns:a16="http://schemas.microsoft.com/office/drawing/2014/main" val="20000"/>
                    </a:ext>
                  </a:extLst>
                </a:gridCol>
                <a:gridCol w="508177">
                  <a:extLst>
                    <a:ext uri="{9D8B030D-6E8A-4147-A177-3AD203B41FA5}">
                      <a16:colId xmlns:a16="http://schemas.microsoft.com/office/drawing/2014/main" val="20001"/>
                    </a:ext>
                  </a:extLst>
                </a:gridCol>
                <a:gridCol w="1016355">
                  <a:extLst>
                    <a:ext uri="{9D8B030D-6E8A-4147-A177-3AD203B41FA5}">
                      <a16:colId xmlns:a16="http://schemas.microsoft.com/office/drawing/2014/main" val="20002"/>
                    </a:ext>
                  </a:extLst>
                </a:gridCol>
                <a:gridCol w="1609232">
                  <a:extLst>
                    <a:ext uri="{9D8B030D-6E8A-4147-A177-3AD203B41FA5}">
                      <a16:colId xmlns:a16="http://schemas.microsoft.com/office/drawing/2014/main" val="20003"/>
                    </a:ext>
                  </a:extLst>
                </a:gridCol>
              </a:tblGrid>
              <a:tr h="256032">
                <a:tc>
                  <a:txBody>
                    <a:bodyPr/>
                    <a:lstStyle/>
                    <a:p>
                      <a:pPr algn="ctr">
                        <a:lnSpc>
                          <a:spcPct val="100000"/>
                        </a:lnSpc>
                        <a:spcBef>
                          <a:spcPts val="0"/>
                        </a:spcBef>
                        <a:spcAft>
                          <a:spcPts val="0"/>
                        </a:spcAft>
                      </a:pPr>
                      <a:r>
                        <a:rPr sz="1000" b="1">
                          <a:solidFill>
                            <a:srgbClr val="FFFFFF"/>
                          </a:solidFill>
                          <a:latin typeface="微软雅黑"/>
                          <a:ea typeface="微软雅黑"/>
                        </a:rPr>
                        <a:t>序号</a:t>
                      </a:r>
                    </a:p>
                  </a:txBody>
                  <a:tcPr marL="16459" marR="16459" marT="3657" marB="3657" anchor="ctr">
                    <a:solidFill>
                      <a:srgbClr val="0047A0"/>
                    </a:solidFill>
                  </a:tcPr>
                </a:tc>
                <a:tc>
                  <a:txBody>
                    <a:bodyPr/>
                    <a:lstStyle/>
                    <a:p>
                      <a:pPr algn="ctr">
                        <a:lnSpc>
                          <a:spcPct val="100000"/>
                        </a:lnSpc>
                        <a:spcBef>
                          <a:spcPts val="0"/>
                        </a:spcBef>
                        <a:spcAft>
                          <a:spcPts val="0"/>
                        </a:spcAft>
                      </a:pPr>
                      <a:r>
                        <a:rPr sz="1000" b="1">
                          <a:solidFill>
                            <a:srgbClr val="FFFFFF"/>
                          </a:solidFill>
                          <a:latin typeface="微软雅黑"/>
                          <a:ea typeface="微软雅黑"/>
                        </a:rPr>
                        <a:t>专业</a:t>
                      </a:r>
                    </a:p>
                  </a:txBody>
                  <a:tcPr marL="16459" marR="16459" marT="3657" marB="3657" anchor="ctr">
                    <a:solidFill>
                      <a:srgbClr val="0047A0"/>
                    </a:solidFill>
                  </a:tcPr>
                </a:tc>
                <a:tc>
                  <a:txBody>
                    <a:bodyPr/>
                    <a:lstStyle/>
                    <a:p>
                      <a:pPr algn="ctr">
                        <a:lnSpc>
                          <a:spcPct val="100000"/>
                        </a:lnSpc>
                        <a:spcBef>
                          <a:spcPts val="0"/>
                        </a:spcBef>
                        <a:spcAft>
                          <a:spcPts val="0"/>
                        </a:spcAft>
                      </a:pPr>
                      <a:r>
                        <a:rPr sz="1000" b="1">
                          <a:solidFill>
                            <a:srgbClr val="FFFFFF"/>
                          </a:solidFill>
                          <a:latin typeface="微软雅黑"/>
                          <a:ea typeface="微软雅黑"/>
                        </a:rPr>
                        <a:t>选题</a:t>
                      </a:r>
                    </a:p>
                  </a:txBody>
                  <a:tcPr marL="16459" marR="16459" marT="3657" marB="3657" anchor="ctr">
                    <a:solidFill>
                      <a:srgbClr val="0047A0"/>
                    </a:solidFill>
                  </a:tcPr>
                </a:tc>
                <a:tc>
                  <a:txBody>
                    <a:bodyPr/>
                    <a:lstStyle/>
                    <a:p>
                      <a:pPr algn="ctr">
                        <a:lnSpc>
                          <a:spcPct val="100000"/>
                        </a:lnSpc>
                        <a:spcBef>
                          <a:spcPts val="0"/>
                        </a:spcBef>
                        <a:spcAft>
                          <a:spcPts val="0"/>
                        </a:spcAft>
                      </a:pPr>
                      <a:r>
                        <a:rPr sz="1000" b="1">
                          <a:solidFill>
                            <a:srgbClr val="FFFFFF"/>
                          </a:solidFill>
                          <a:latin typeface="微软雅黑"/>
                          <a:ea typeface="微软雅黑"/>
                        </a:rPr>
                        <a:t>5月完成成果</a:t>
                      </a:r>
                    </a:p>
                  </a:txBody>
                  <a:tcPr marL="16459" marR="16459" marT="3657" marB="3657" anchor="ctr">
                    <a:solidFill>
                      <a:srgbClr val="0047A0"/>
                    </a:solidFill>
                  </a:tcPr>
                </a:tc>
                <a:extLst>
                  <a:ext uri="{0D108BD9-81ED-4DB2-BD59-A6C34878D82A}">
                    <a16:rowId xmlns:a16="http://schemas.microsoft.com/office/drawing/2014/main" val="10000"/>
                  </a:ext>
                </a:extLst>
              </a:tr>
              <a:tr h="408432">
                <a:tc>
                  <a:txBody>
                    <a:bodyPr/>
                    <a:lstStyle/>
                    <a:p>
                      <a:pPr algn="ctr">
                        <a:lnSpc>
                          <a:spcPct val="100000"/>
                        </a:lnSpc>
                        <a:spcBef>
                          <a:spcPts val="0"/>
                        </a:spcBef>
                        <a:spcAft>
                          <a:spcPts val="0"/>
                        </a:spcAft>
                      </a:pPr>
                      <a:r>
                        <a:rPr sz="1000" b="0">
                          <a:solidFill>
                            <a:srgbClr val="232D37"/>
                          </a:solidFill>
                          <a:latin typeface="微软雅黑"/>
                          <a:ea typeface="微软雅黑"/>
                        </a:rPr>
                        <a:t>4</a:t>
                      </a:r>
                    </a:p>
                  </a:txBody>
                  <a:tcPr marL="16459" marR="16459" marT="3657" marB="3657" anchor="ctr">
                    <a:solidFill>
                      <a:srgbClr val="FFFFFF"/>
                    </a:solidFill>
                  </a:tcPr>
                </a:tc>
                <a:tc>
                  <a:txBody>
                    <a:bodyPr/>
                    <a:lstStyle/>
                    <a:p>
                      <a:pPr algn="ctr">
                        <a:lnSpc>
                          <a:spcPct val="100000"/>
                        </a:lnSpc>
                        <a:spcBef>
                          <a:spcPts val="0"/>
                        </a:spcBef>
                        <a:spcAft>
                          <a:spcPts val="0"/>
                        </a:spcAft>
                      </a:pPr>
                      <a:r>
                        <a:rPr sz="1000" b="0">
                          <a:solidFill>
                            <a:srgbClr val="232D37"/>
                          </a:solidFill>
                          <a:latin typeface="微软雅黑"/>
                          <a:ea typeface="微软雅黑"/>
                        </a:rPr>
                        <a:t>承载</a:t>
                      </a:r>
                    </a:p>
                  </a:txBody>
                  <a:tcPr marL="16459" marR="16459" marT="3657" marB="3657" anchor="ctr">
                    <a:solidFill>
                      <a:srgbClr val="FFFFFF"/>
                    </a:solidFill>
                  </a:tcPr>
                </a:tc>
                <a:tc>
                  <a:txBody>
                    <a:bodyPr/>
                    <a:lstStyle/>
                    <a:p>
                      <a:pPr algn="ctr">
                        <a:lnSpc>
                          <a:spcPct val="100000"/>
                        </a:lnSpc>
                        <a:spcBef>
                          <a:spcPts val="0"/>
                        </a:spcBef>
                        <a:spcAft>
                          <a:spcPts val="0"/>
                        </a:spcAft>
                      </a:pPr>
                      <a:r>
                        <a:rPr sz="1000" b="0">
                          <a:solidFill>
                            <a:srgbClr val="232D37"/>
                          </a:solidFill>
                          <a:latin typeface="微软雅黑"/>
                          <a:ea typeface="微软雅黑"/>
                        </a:rPr>
                        <a:t>OTN系统健壮性提升方案</a:t>
                      </a:r>
                    </a:p>
                  </a:txBody>
                  <a:tcPr marL="16459" marR="16459" marT="3657" marB="3657" anchor="ctr">
                    <a:solidFill>
                      <a:srgbClr val="FFFFFF"/>
                    </a:solidFill>
                  </a:tcPr>
                </a:tc>
                <a:tc>
                  <a:txBody>
                    <a:bodyPr/>
                    <a:lstStyle/>
                    <a:p>
                      <a:pPr algn="ctr">
                        <a:lnSpc>
                          <a:spcPct val="100000"/>
                        </a:lnSpc>
                        <a:spcBef>
                          <a:spcPts val="0"/>
                        </a:spcBef>
                        <a:spcAft>
                          <a:spcPts val="0"/>
                        </a:spcAft>
                      </a:pPr>
                      <a:r>
                        <a:rPr sz="1000" b="0">
                          <a:solidFill>
                            <a:srgbClr val="232D37"/>
                          </a:solidFill>
                          <a:latin typeface="微软雅黑"/>
                          <a:ea typeface="微软雅黑"/>
                        </a:rPr>
                        <a:t>昌平和延庆区内OTN建设方案和怀柔优化方案通过北京公司技术评审</a:t>
                      </a:r>
                    </a:p>
                  </a:txBody>
                  <a:tcPr marL="16459" marR="16459" marT="3657" marB="3657" anchor="ctr">
                    <a:solidFill>
                      <a:srgbClr val="FFFFFF"/>
                    </a:solidFill>
                  </a:tcPr>
                </a:tc>
                <a:extLst>
                  <a:ext uri="{0D108BD9-81ED-4DB2-BD59-A6C34878D82A}">
                    <a16:rowId xmlns:a16="http://schemas.microsoft.com/office/drawing/2014/main" val="10001"/>
                  </a:ext>
                </a:extLst>
              </a:tr>
              <a:tr h="408432">
                <a:tc>
                  <a:txBody>
                    <a:bodyPr/>
                    <a:lstStyle/>
                    <a:p>
                      <a:pPr algn="ctr">
                        <a:lnSpc>
                          <a:spcPct val="100000"/>
                        </a:lnSpc>
                        <a:spcBef>
                          <a:spcPts val="0"/>
                        </a:spcBef>
                        <a:spcAft>
                          <a:spcPts val="0"/>
                        </a:spcAft>
                      </a:pPr>
                      <a:r>
                        <a:rPr sz="1000" b="0">
                          <a:solidFill>
                            <a:srgbClr val="232D37"/>
                          </a:solidFill>
                          <a:latin typeface="微软雅黑"/>
                          <a:ea typeface="微软雅黑"/>
                        </a:rPr>
                        <a:t>5</a:t>
                      </a:r>
                    </a:p>
                  </a:txBody>
                  <a:tcPr marL="16459" marR="16459" marT="3657" marB="3657" anchor="ctr">
                    <a:solidFill>
                      <a:srgbClr val="F6F9FC"/>
                    </a:solidFill>
                  </a:tcPr>
                </a:tc>
                <a:tc>
                  <a:txBody>
                    <a:bodyPr/>
                    <a:lstStyle/>
                    <a:p>
                      <a:pPr algn="ctr">
                        <a:lnSpc>
                          <a:spcPct val="100000"/>
                        </a:lnSpc>
                        <a:spcBef>
                          <a:spcPts val="0"/>
                        </a:spcBef>
                        <a:spcAft>
                          <a:spcPts val="0"/>
                        </a:spcAft>
                      </a:pPr>
                      <a:r>
                        <a:rPr sz="1000" b="0">
                          <a:solidFill>
                            <a:srgbClr val="232D37"/>
                          </a:solidFill>
                          <a:latin typeface="微软雅黑"/>
                          <a:ea typeface="微软雅黑"/>
                        </a:rPr>
                        <a:t>无线网</a:t>
                      </a:r>
                    </a:p>
                  </a:txBody>
                  <a:tcPr marL="16459" marR="16459" marT="3657" marB="3657" anchor="ctr">
                    <a:solidFill>
                      <a:srgbClr val="F6F9FC"/>
                    </a:solidFill>
                  </a:tcPr>
                </a:tc>
                <a:tc>
                  <a:txBody>
                    <a:bodyPr/>
                    <a:lstStyle/>
                    <a:p>
                      <a:pPr algn="ctr">
                        <a:lnSpc>
                          <a:spcPct val="100000"/>
                        </a:lnSpc>
                        <a:spcBef>
                          <a:spcPts val="0"/>
                        </a:spcBef>
                        <a:spcAft>
                          <a:spcPts val="0"/>
                        </a:spcAft>
                      </a:pPr>
                      <a:r>
                        <a:rPr sz="1000" b="0">
                          <a:solidFill>
                            <a:srgbClr val="232D37"/>
                          </a:solidFill>
                          <a:latin typeface="微软雅黑"/>
                          <a:ea typeface="微软雅黑"/>
                        </a:rPr>
                        <a:t>北京5G-A端网业协同洞察分析</a:t>
                      </a:r>
                    </a:p>
                  </a:txBody>
                  <a:tcPr marL="16459" marR="16459" marT="3657" marB="3657" anchor="ctr">
                    <a:solidFill>
                      <a:srgbClr val="F6F9FC"/>
                    </a:solidFill>
                  </a:tcPr>
                </a:tc>
                <a:tc>
                  <a:txBody>
                    <a:bodyPr/>
                    <a:lstStyle/>
                    <a:p>
                      <a:pPr algn="ctr">
                        <a:lnSpc>
                          <a:spcPct val="100000"/>
                        </a:lnSpc>
                        <a:spcBef>
                          <a:spcPts val="0"/>
                        </a:spcBef>
                        <a:spcAft>
                          <a:spcPts val="0"/>
                        </a:spcAft>
                      </a:pPr>
                      <a:r>
                        <a:rPr sz="1000" b="0">
                          <a:solidFill>
                            <a:srgbClr val="232D37"/>
                          </a:solidFill>
                          <a:latin typeface="微软雅黑"/>
                          <a:ea typeface="微软雅黑"/>
                        </a:rPr>
                        <a:t>依托SEQ平台进行端网协同分析工作</a:t>
                      </a:r>
                    </a:p>
                  </a:txBody>
                  <a:tcPr marL="16459" marR="16459" marT="3657" marB="3657" anchor="ctr">
                    <a:solidFill>
                      <a:srgbClr val="F6F9FC"/>
                    </a:solidFill>
                  </a:tcPr>
                </a:tc>
                <a:extLst>
                  <a:ext uri="{0D108BD9-81ED-4DB2-BD59-A6C34878D82A}">
                    <a16:rowId xmlns:a16="http://schemas.microsoft.com/office/drawing/2014/main" val="10002"/>
                  </a:ext>
                </a:extLst>
              </a:tr>
              <a:tr h="408432">
                <a:tc>
                  <a:txBody>
                    <a:bodyPr/>
                    <a:lstStyle/>
                    <a:p>
                      <a:pPr algn="ctr">
                        <a:lnSpc>
                          <a:spcPct val="100000"/>
                        </a:lnSpc>
                        <a:spcBef>
                          <a:spcPts val="0"/>
                        </a:spcBef>
                        <a:spcAft>
                          <a:spcPts val="0"/>
                        </a:spcAft>
                      </a:pPr>
                      <a:r>
                        <a:rPr sz="1000" b="0">
                          <a:solidFill>
                            <a:srgbClr val="232D37"/>
                          </a:solidFill>
                          <a:latin typeface="微软雅黑"/>
                          <a:ea typeface="微软雅黑"/>
                        </a:rPr>
                        <a:t>6</a:t>
                      </a:r>
                    </a:p>
                  </a:txBody>
                  <a:tcPr marL="16459" marR="16459" marT="3657" marB="3657" anchor="ctr">
                    <a:solidFill>
                      <a:srgbClr val="FFFFFF"/>
                    </a:solidFill>
                  </a:tcPr>
                </a:tc>
                <a:tc>
                  <a:txBody>
                    <a:bodyPr/>
                    <a:lstStyle/>
                    <a:p>
                      <a:pPr algn="ctr">
                        <a:lnSpc>
                          <a:spcPct val="100000"/>
                        </a:lnSpc>
                        <a:spcBef>
                          <a:spcPts val="0"/>
                        </a:spcBef>
                        <a:spcAft>
                          <a:spcPts val="0"/>
                        </a:spcAft>
                      </a:pPr>
                      <a:r>
                        <a:rPr sz="1000" b="0">
                          <a:solidFill>
                            <a:srgbClr val="232D37"/>
                          </a:solidFill>
                          <a:latin typeface="微软雅黑"/>
                          <a:ea typeface="微软雅黑"/>
                        </a:rPr>
                        <a:t>宽带及政企</a:t>
                      </a:r>
                    </a:p>
                  </a:txBody>
                  <a:tcPr marL="16459" marR="16459" marT="3657" marB="3657" anchor="ctr">
                    <a:solidFill>
                      <a:srgbClr val="FFFFFF"/>
                    </a:solidFill>
                  </a:tcPr>
                </a:tc>
                <a:tc>
                  <a:txBody>
                    <a:bodyPr/>
                    <a:lstStyle/>
                    <a:p>
                      <a:pPr algn="ctr">
                        <a:lnSpc>
                          <a:spcPct val="100000"/>
                        </a:lnSpc>
                        <a:spcBef>
                          <a:spcPts val="0"/>
                        </a:spcBef>
                        <a:spcAft>
                          <a:spcPts val="0"/>
                        </a:spcAft>
                      </a:pPr>
                      <a:r>
                        <a:rPr sz="1000" b="0">
                          <a:solidFill>
                            <a:srgbClr val="232D37"/>
                          </a:solidFill>
                          <a:latin typeface="微软雅黑"/>
                          <a:ea typeface="微软雅黑"/>
                        </a:rPr>
                        <a:t>BNC网络及创新业务协同发展分析</a:t>
                      </a:r>
                    </a:p>
                  </a:txBody>
                  <a:tcPr marL="16459" marR="16459" marT="3657" marB="3657" anchor="ctr">
                    <a:solidFill>
                      <a:srgbClr val="FFFFFF"/>
                    </a:solidFill>
                  </a:tcPr>
                </a:tc>
                <a:tc>
                  <a:txBody>
                    <a:bodyPr/>
                    <a:lstStyle/>
                    <a:p>
                      <a:pPr algn="ctr">
                        <a:lnSpc>
                          <a:spcPct val="100000"/>
                        </a:lnSpc>
                        <a:spcBef>
                          <a:spcPts val="0"/>
                        </a:spcBef>
                        <a:spcAft>
                          <a:spcPts val="0"/>
                        </a:spcAft>
                      </a:pPr>
                      <a:r>
                        <a:rPr sz="1000" b="0">
                          <a:solidFill>
                            <a:srgbClr val="232D37"/>
                          </a:solidFill>
                          <a:latin typeface="微软雅黑"/>
                          <a:ea typeface="微软雅黑"/>
                        </a:rPr>
                        <a:t>完成BNC汇聚设备选型方案，北京联通已组织评审</a:t>
                      </a:r>
                    </a:p>
                  </a:txBody>
                  <a:tcPr marL="16459" marR="16459" marT="3657" marB="3657" anchor="ctr">
                    <a:solidFill>
                      <a:srgbClr val="FFFFFF"/>
                    </a:solidFill>
                  </a:tcPr>
                </a:tc>
                <a:extLst>
                  <a:ext uri="{0D108BD9-81ED-4DB2-BD59-A6C34878D82A}">
                    <a16:rowId xmlns:a16="http://schemas.microsoft.com/office/drawing/2014/main" val="10003"/>
                  </a:ext>
                </a:extLst>
              </a:tr>
            </a:tbl>
          </a:graphicData>
        </a:graphic>
      </p:graphicFrame>
      <p:sp>
        <p:nvSpPr>
          <p:cNvPr id="39" name="TextBox 38"/>
          <p:cNvSpPr txBox="1"/>
          <p:nvPr/>
        </p:nvSpPr>
        <p:spPr>
          <a:xfrm>
            <a:off x="347472" y="3931920"/>
            <a:ext cx="7498079" cy="292608"/>
          </a:xfrm>
          <a:prstGeom prst="rect">
            <a:avLst/>
          </a:prstGeom>
          <a:noFill/>
        </p:spPr>
        <p:txBody>
          <a:bodyPr wrap="square" lIns="0" tIns="0" rIns="0" bIns="0" anchor="ctr">
            <a:spAutoFit/>
          </a:bodyPr>
          <a:lstStyle/>
          <a:p>
            <a:pPr algn="ctr">
              <a:lnSpc>
                <a:spcPct val="100000"/>
              </a:lnSpc>
              <a:spcBef>
                <a:spcPts val="0"/>
              </a:spcBef>
              <a:spcAft>
                <a:spcPts val="0"/>
              </a:spcAft>
              <a:defRPr sz="2000" b="1">
                <a:solidFill>
                  <a:srgbClr val="FFFFFF"/>
                </a:solidFill>
                <a:latin typeface="微软雅黑"/>
              </a:defRPr>
            </a:pPr>
            <a:r>
              <a:rPr sz="1200" b="1">
                <a:solidFill>
                  <a:srgbClr val="FFFFFF"/>
                </a:solidFill>
                <a:latin typeface="微软雅黑"/>
                <a:ea typeface="微软雅黑"/>
              </a:rPr>
              <a:t>提交省分管理层重大成果</a:t>
            </a:r>
          </a:p>
        </p:txBody>
      </p:sp>
      <p:sp>
        <p:nvSpPr>
          <p:cNvPr id="41" name="TextBox 40"/>
          <p:cNvSpPr txBox="1"/>
          <p:nvPr/>
        </p:nvSpPr>
        <p:spPr>
          <a:xfrm>
            <a:off x="347472" y="4224528"/>
            <a:ext cx="7498079" cy="329184"/>
          </a:xfrm>
          <a:prstGeom prst="rect">
            <a:avLst/>
          </a:prstGeom>
          <a:noFill/>
        </p:spPr>
        <p:txBody>
          <a:bodyPr wrap="square" lIns="64008" tIns="64008" rIns="64008" bIns="64008" anchor="ctr">
            <a:spAutoFit/>
          </a:bodyPr>
          <a:lstStyle/>
          <a:p>
            <a:pPr algn="l">
              <a:lnSpc>
                <a:spcPct val="130000"/>
              </a:lnSpc>
              <a:spcBef>
                <a:spcPts val="0"/>
              </a:spcBef>
              <a:spcAft>
                <a:spcPts val="0"/>
              </a:spcAft>
              <a:defRPr sz="1300" b="1">
                <a:solidFill>
                  <a:srgbClr val="111111"/>
                </a:solidFill>
                <a:latin typeface="微软雅黑"/>
              </a:defRPr>
            </a:pPr>
            <a:r>
              <a:rPr sz="1200" b="1">
                <a:solidFill>
                  <a:srgbClr val="111111"/>
                </a:solidFill>
                <a:latin typeface="微软雅黑"/>
                <a:ea typeface="微软雅黑"/>
              </a:rPr>
              <a:t>北京团队已提交12项重大成果，覆盖多专业</a:t>
            </a:r>
          </a:p>
        </p:txBody>
      </p:sp>
      <p:sp>
        <p:nvSpPr>
          <p:cNvPr id="51" name="TextBox 50"/>
          <p:cNvSpPr txBox="1"/>
          <p:nvPr/>
        </p:nvSpPr>
        <p:spPr>
          <a:xfrm>
            <a:off x="7955279" y="3931920"/>
            <a:ext cx="3867912" cy="292608"/>
          </a:xfrm>
          <a:prstGeom prst="rect">
            <a:avLst/>
          </a:prstGeom>
          <a:solidFill>
            <a:srgbClr val="0047A0"/>
          </a:solidFill>
          <a:ln>
            <a:noFill/>
          </a:ln>
        </p:spPr>
        <p:txBody>
          <a:bodyPr wrap="none" lIns="27432" tIns="9144" rIns="27432" bIns="9144" anchor="ctr">
            <a:spAutoFit/>
          </a:bodyPr>
          <a:lstStyle/>
          <a:p>
            <a:pPr algn="ctr">
              <a:lnSpc>
                <a:spcPct val="100000"/>
              </a:lnSpc>
              <a:spcBef>
                <a:spcPts val="0"/>
              </a:spcBef>
              <a:spcAft>
                <a:spcPts val="0"/>
              </a:spcAft>
            </a:pPr>
            <a:r>
              <a:rPr sz="1200" b="1">
                <a:solidFill>
                  <a:srgbClr val="FFFFFF"/>
                </a:solidFill>
                <a:latin typeface="微软雅黑"/>
                <a:ea typeface="微软雅黑"/>
              </a:rPr>
              <a:t>省分团队成果对比</a:t>
            </a:r>
          </a:p>
        </p:txBody>
      </p:sp>
      <p:sp>
        <p:nvSpPr>
          <p:cNvPr id="45" name="TextBox 44"/>
          <p:cNvSpPr txBox="1"/>
          <p:nvPr/>
        </p:nvSpPr>
        <p:spPr>
          <a:xfrm>
            <a:off x="7955279" y="4224528"/>
            <a:ext cx="3867912" cy="329184"/>
          </a:xfrm>
          <a:prstGeom prst="rect">
            <a:avLst/>
          </a:prstGeom>
          <a:noFill/>
        </p:spPr>
        <p:txBody>
          <a:bodyPr wrap="square" lIns="64008" tIns="64008" rIns="64008" bIns="64008" anchor="ctr">
            <a:spAutoFit/>
          </a:bodyPr>
          <a:lstStyle/>
          <a:p>
            <a:pPr algn="l">
              <a:lnSpc>
                <a:spcPct val="130000"/>
              </a:lnSpc>
              <a:spcBef>
                <a:spcPts val="0"/>
              </a:spcBef>
              <a:spcAft>
                <a:spcPts val="0"/>
              </a:spcAft>
              <a:defRPr sz="1300" b="1">
                <a:solidFill>
                  <a:srgbClr val="111111"/>
                </a:solidFill>
                <a:latin typeface="微软雅黑"/>
              </a:defRPr>
            </a:pPr>
            <a:r>
              <a:rPr sz="1200" b="1">
                <a:solidFill>
                  <a:srgbClr val="111111"/>
                </a:solidFill>
                <a:latin typeface="微软雅黑"/>
                <a:ea typeface="微软雅黑"/>
              </a:rPr>
              <a:t>北京提交12项重大成果，数量领先其他省分团队</a:t>
            </a:r>
          </a:p>
        </p:txBody>
      </p:sp>
      <p:graphicFrame>
        <p:nvGraphicFramePr>
          <p:cNvPr id="55" name="Table 54"/>
          <p:cNvGraphicFramePr>
            <a:graphicFrameLocks noGrp="1"/>
          </p:cNvGraphicFramePr>
          <p:nvPr/>
        </p:nvGraphicFramePr>
        <p:xfrm>
          <a:off x="347472" y="4590288"/>
          <a:ext cx="3694176" cy="2172002"/>
        </p:xfrm>
        <a:graphic>
          <a:graphicData uri="http://schemas.openxmlformats.org/drawingml/2006/table">
            <a:tbl>
              <a:tblPr firstRow="1" bandRow="1">
                <a:tableStyleId>{5C22544A-7EE6-4342-B048-85BDC9FD1C3A}</a:tableStyleId>
              </a:tblPr>
              <a:tblGrid>
                <a:gridCol w="325683">
                  <a:extLst>
                    <a:ext uri="{9D8B030D-6E8A-4147-A177-3AD203B41FA5}">
                      <a16:colId xmlns:a16="http://schemas.microsoft.com/office/drawing/2014/main" val="20000"/>
                    </a:ext>
                  </a:extLst>
                </a:gridCol>
                <a:gridCol w="576924">
                  <a:extLst>
                    <a:ext uri="{9D8B030D-6E8A-4147-A177-3AD203B41FA5}">
                      <a16:colId xmlns:a16="http://schemas.microsoft.com/office/drawing/2014/main" val="20001"/>
                    </a:ext>
                  </a:extLst>
                </a:gridCol>
                <a:gridCol w="2344917">
                  <a:extLst>
                    <a:ext uri="{9D8B030D-6E8A-4147-A177-3AD203B41FA5}">
                      <a16:colId xmlns:a16="http://schemas.microsoft.com/office/drawing/2014/main" val="20002"/>
                    </a:ext>
                  </a:extLst>
                </a:gridCol>
                <a:gridCol w="446652">
                  <a:extLst>
                    <a:ext uri="{9D8B030D-6E8A-4147-A177-3AD203B41FA5}">
                      <a16:colId xmlns:a16="http://schemas.microsoft.com/office/drawing/2014/main" val="20003"/>
                    </a:ext>
                  </a:extLst>
                </a:gridCol>
              </a:tblGrid>
              <a:tr h="265175">
                <a:tc>
                  <a:txBody>
                    <a:bodyPr/>
                    <a:lstStyle/>
                    <a:p>
                      <a:pPr algn="ctr">
                        <a:lnSpc>
                          <a:spcPct val="100000"/>
                        </a:lnSpc>
                        <a:spcBef>
                          <a:spcPts val="0"/>
                        </a:spcBef>
                        <a:spcAft>
                          <a:spcPts val="0"/>
                        </a:spcAft>
                      </a:pPr>
                      <a:r>
                        <a:rPr sz="1000" b="1">
                          <a:solidFill>
                            <a:srgbClr val="FFFFFF"/>
                          </a:solidFill>
                          <a:latin typeface="微软雅黑"/>
                          <a:ea typeface="微软雅黑"/>
                        </a:rPr>
                        <a:t>省分团队</a:t>
                      </a:r>
                    </a:p>
                  </a:txBody>
                  <a:tcPr marL="13716" marR="13716" marT="2743" marB="2743" anchor="ctr">
                    <a:solidFill>
                      <a:srgbClr val="0047A0"/>
                    </a:solidFill>
                  </a:tcPr>
                </a:tc>
                <a:tc>
                  <a:txBody>
                    <a:bodyPr/>
                    <a:lstStyle/>
                    <a:p>
                      <a:pPr algn="ctr">
                        <a:lnSpc>
                          <a:spcPct val="100000"/>
                        </a:lnSpc>
                        <a:spcBef>
                          <a:spcPts val="0"/>
                        </a:spcBef>
                        <a:spcAft>
                          <a:spcPts val="0"/>
                        </a:spcAft>
                      </a:pPr>
                      <a:r>
                        <a:rPr sz="1000" b="1">
                          <a:solidFill>
                            <a:srgbClr val="FFFFFF"/>
                          </a:solidFill>
                          <a:latin typeface="微软雅黑"/>
                          <a:ea typeface="微软雅黑"/>
                        </a:rPr>
                        <a:t>牵头专业</a:t>
                      </a:r>
                    </a:p>
                  </a:txBody>
                  <a:tcPr marL="13716" marR="13716" marT="2743" marB="2743" anchor="ctr">
                    <a:solidFill>
                      <a:srgbClr val="0047A0"/>
                    </a:solidFill>
                  </a:tcPr>
                </a:tc>
                <a:tc>
                  <a:txBody>
                    <a:bodyPr/>
                    <a:lstStyle/>
                    <a:p>
                      <a:pPr algn="ctr">
                        <a:lnSpc>
                          <a:spcPct val="100000"/>
                        </a:lnSpc>
                        <a:spcBef>
                          <a:spcPts val="0"/>
                        </a:spcBef>
                        <a:spcAft>
                          <a:spcPts val="0"/>
                        </a:spcAft>
                      </a:pPr>
                      <a:r>
                        <a:rPr sz="1000" b="1">
                          <a:solidFill>
                            <a:srgbClr val="FFFFFF"/>
                          </a:solidFill>
                          <a:latin typeface="微软雅黑"/>
                          <a:ea typeface="微软雅黑"/>
                        </a:rPr>
                        <a:t>成果名称</a:t>
                      </a:r>
                    </a:p>
                  </a:txBody>
                  <a:tcPr marL="13716" marR="13716" marT="2743" marB="2743" anchor="ctr">
                    <a:solidFill>
                      <a:srgbClr val="0047A0"/>
                    </a:solidFill>
                  </a:tcPr>
                </a:tc>
                <a:tc>
                  <a:txBody>
                    <a:bodyPr/>
                    <a:lstStyle/>
                    <a:p>
                      <a:pPr algn="ctr">
                        <a:lnSpc>
                          <a:spcPct val="100000"/>
                        </a:lnSpc>
                        <a:spcBef>
                          <a:spcPts val="0"/>
                        </a:spcBef>
                        <a:spcAft>
                          <a:spcPts val="0"/>
                        </a:spcAft>
                      </a:pPr>
                      <a:r>
                        <a:rPr sz="1000" b="1">
                          <a:solidFill>
                            <a:srgbClr val="FFFFFF"/>
                          </a:solidFill>
                          <a:latin typeface="微软雅黑"/>
                          <a:ea typeface="微软雅黑"/>
                        </a:rPr>
                        <a:t>提交时间</a:t>
                      </a:r>
                    </a:p>
                  </a:txBody>
                  <a:tcPr marL="13716" marR="13716" marT="2743" marB="2743" anchor="ctr">
                    <a:solidFill>
                      <a:srgbClr val="0047A0"/>
                    </a:solidFill>
                  </a:tcPr>
                </a:tc>
                <a:extLst>
                  <a:ext uri="{0D108BD9-81ED-4DB2-BD59-A6C34878D82A}">
                    <a16:rowId xmlns:a16="http://schemas.microsoft.com/office/drawing/2014/main" val="10000"/>
                  </a:ext>
                </a:extLst>
              </a:tr>
              <a:tr h="265175">
                <a:tc>
                  <a:txBody>
                    <a:bodyPr/>
                    <a:lstStyle/>
                    <a:p>
                      <a:pPr algn="ctr">
                        <a:lnSpc>
                          <a:spcPct val="100000"/>
                        </a:lnSpc>
                        <a:spcBef>
                          <a:spcPts val="0"/>
                        </a:spcBef>
                        <a:spcAft>
                          <a:spcPts val="0"/>
                        </a:spcAft>
                      </a:pPr>
                      <a:r>
                        <a:rPr sz="1000" b="0">
                          <a:solidFill>
                            <a:srgbClr val="232D37"/>
                          </a:solidFill>
                          <a:latin typeface="微软雅黑"/>
                          <a:ea typeface="微软雅黑"/>
                        </a:rPr>
                        <a:t>北京</a:t>
                      </a:r>
                    </a:p>
                  </a:txBody>
                  <a:tcPr marL="13716" marR="13716" marT="2743" marB="2743" anchor="ctr">
                    <a:solidFill>
                      <a:srgbClr val="FFFFFF"/>
                    </a:solidFill>
                  </a:tcPr>
                </a:tc>
                <a:tc>
                  <a:txBody>
                    <a:bodyPr/>
                    <a:lstStyle/>
                    <a:p>
                      <a:pPr algn="ctr">
                        <a:lnSpc>
                          <a:spcPct val="100000"/>
                        </a:lnSpc>
                        <a:spcBef>
                          <a:spcPts val="0"/>
                        </a:spcBef>
                        <a:spcAft>
                          <a:spcPts val="0"/>
                        </a:spcAft>
                      </a:pPr>
                      <a:r>
                        <a:rPr sz="1000" b="0">
                          <a:solidFill>
                            <a:srgbClr val="232D37"/>
                          </a:solidFill>
                          <a:latin typeface="微软雅黑"/>
                          <a:ea typeface="微软雅黑"/>
                        </a:rPr>
                        <a:t>本地承载网</a:t>
                      </a:r>
                    </a:p>
                  </a:txBody>
                  <a:tcPr marL="13716" marR="13716" marT="2743" marB="2743" anchor="ctr">
                    <a:solidFill>
                      <a:srgbClr val="FFFFFF"/>
                    </a:solidFill>
                  </a:tcPr>
                </a:tc>
                <a:tc>
                  <a:txBody>
                    <a:bodyPr/>
                    <a:lstStyle/>
                    <a:p>
                      <a:pPr algn="l">
                        <a:lnSpc>
                          <a:spcPct val="100000"/>
                        </a:lnSpc>
                        <a:spcBef>
                          <a:spcPts val="0"/>
                        </a:spcBef>
                        <a:spcAft>
                          <a:spcPts val="0"/>
                        </a:spcAft>
                      </a:pPr>
                      <a:r>
                        <a:rPr sz="1000" b="0">
                          <a:solidFill>
                            <a:srgbClr val="232D37"/>
                          </a:solidFill>
                          <a:latin typeface="微软雅黑"/>
                          <a:ea typeface="微软雅黑"/>
                        </a:rPr>
                        <a:t>坚守"极简网络"专项行动方案</a:t>
                      </a:r>
                    </a:p>
                  </a:txBody>
                  <a:tcPr marL="13716" marR="13716" marT="2743" marB="2743" anchor="ctr">
                    <a:solidFill>
                      <a:srgbClr val="FFFFFF"/>
                    </a:solidFill>
                  </a:tcPr>
                </a:tc>
                <a:tc>
                  <a:txBody>
                    <a:bodyPr/>
                    <a:lstStyle/>
                    <a:p>
                      <a:pPr algn="ctr">
                        <a:lnSpc>
                          <a:spcPct val="100000"/>
                        </a:lnSpc>
                        <a:spcBef>
                          <a:spcPts val="0"/>
                        </a:spcBef>
                        <a:spcAft>
                          <a:spcPts val="0"/>
                        </a:spcAft>
                      </a:pPr>
                      <a:r>
                        <a:rPr sz="1000" b="0">
                          <a:solidFill>
                            <a:srgbClr val="232D37"/>
                          </a:solidFill>
                          <a:latin typeface="微软雅黑"/>
                          <a:ea typeface="微软雅黑"/>
                        </a:rPr>
                        <a:t>2026年2月</a:t>
                      </a:r>
                    </a:p>
                  </a:txBody>
                  <a:tcPr marL="13716" marR="13716" marT="2743" marB="2743" anchor="ctr">
                    <a:solidFill>
                      <a:srgbClr val="FFFFFF"/>
                    </a:solidFill>
                  </a:tcPr>
                </a:tc>
                <a:extLst>
                  <a:ext uri="{0D108BD9-81ED-4DB2-BD59-A6C34878D82A}">
                    <a16:rowId xmlns:a16="http://schemas.microsoft.com/office/drawing/2014/main" val="10001"/>
                  </a:ext>
                </a:extLst>
              </a:tr>
              <a:tr h="265175">
                <a:tc>
                  <a:txBody>
                    <a:bodyPr/>
                    <a:lstStyle/>
                    <a:p>
                      <a:pPr algn="ctr">
                        <a:lnSpc>
                          <a:spcPct val="100000"/>
                        </a:lnSpc>
                        <a:spcBef>
                          <a:spcPts val="0"/>
                        </a:spcBef>
                        <a:spcAft>
                          <a:spcPts val="0"/>
                        </a:spcAft>
                      </a:pPr>
                      <a:r>
                        <a:rPr sz="1000" b="0">
                          <a:solidFill>
                            <a:srgbClr val="232D37"/>
                          </a:solidFill>
                          <a:latin typeface="微软雅黑"/>
                          <a:ea typeface="微软雅黑"/>
                        </a:rPr>
                        <a:t>北京</a:t>
                      </a:r>
                    </a:p>
                  </a:txBody>
                  <a:tcPr marL="13716" marR="13716" marT="2743" marB="2743" anchor="ctr">
                    <a:solidFill>
                      <a:srgbClr val="F6F9FC"/>
                    </a:solidFill>
                  </a:tcPr>
                </a:tc>
                <a:tc>
                  <a:txBody>
                    <a:bodyPr/>
                    <a:lstStyle/>
                    <a:p>
                      <a:pPr algn="ctr">
                        <a:lnSpc>
                          <a:spcPct val="100000"/>
                        </a:lnSpc>
                        <a:spcBef>
                          <a:spcPts val="0"/>
                        </a:spcBef>
                        <a:spcAft>
                          <a:spcPts val="0"/>
                        </a:spcAft>
                      </a:pPr>
                      <a:r>
                        <a:rPr sz="1000" b="0">
                          <a:solidFill>
                            <a:srgbClr val="232D37"/>
                          </a:solidFill>
                          <a:latin typeface="微软雅黑"/>
                          <a:ea typeface="微软雅黑"/>
                        </a:rPr>
                        <a:t>云资源池</a:t>
                      </a:r>
                    </a:p>
                  </a:txBody>
                  <a:tcPr marL="13716" marR="13716" marT="2743" marB="2743" anchor="ctr">
                    <a:solidFill>
                      <a:srgbClr val="F6F9FC"/>
                    </a:solidFill>
                  </a:tcPr>
                </a:tc>
                <a:tc>
                  <a:txBody>
                    <a:bodyPr/>
                    <a:lstStyle/>
                    <a:p>
                      <a:pPr algn="l">
                        <a:lnSpc>
                          <a:spcPct val="100000"/>
                        </a:lnSpc>
                        <a:spcBef>
                          <a:spcPts val="0"/>
                        </a:spcBef>
                        <a:spcAft>
                          <a:spcPts val="0"/>
                        </a:spcAft>
                      </a:pPr>
                      <a:r>
                        <a:rPr sz="1000" b="0">
                          <a:solidFill>
                            <a:srgbClr val="232D37"/>
                          </a:solidFill>
                          <a:latin typeface="微软雅黑"/>
                          <a:ea typeface="微软雅黑"/>
                        </a:rPr>
                        <a:t>北京联通智算布局与算力供给方案</a:t>
                      </a:r>
                    </a:p>
                  </a:txBody>
                  <a:tcPr marL="13716" marR="13716" marT="2743" marB="2743" anchor="ctr">
                    <a:solidFill>
                      <a:srgbClr val="F6F9FC"/>
                    </a:solidFill>
                  </a:tcPr>
                </a:tc>
                <a:tc>
                  <a:txBody>
                    <a:bodyPr/>
                    <a:lstStyle/>
                    <a:p>
                      <a:pPr algn="ctr">
                        <a:lnSpc>
                          <a:spcPct val="100000"/>
                        </a:lnSpc>
                        <a:spcBef>
                          <a:spcPts val="0"/>
                        </a:spcBef>
                        <a:spcAft>
                          <a:spcPts val="0"/>
                        </a:spcAft>
                      </a:pPr>
                      <a:r>
                        <a:rPr sz="1000" b="0">
                          <a:solidFill>
                            <a:srgbClr val="232D37"/>
                          </a:solidFill>
                          <a:latin typeface="微软雅黑"/>
                          <a:ea typeface="微软雅黑"/>
                        </a:rPr>
                        <a:t>2026年2月</a:t>
                      </a:r>
                    </a:p>
                  </a:txBody>
                  <a:tcPr marL="13716" marR="13716" marT="2743" marB="2743" anchor="ctr">
                    <a:solidFill>
                      <a:srgbClr val="F6F9FC"/>
                    </a:solidFill>
                  </a:tcPr>
                </a:tc>
                <a:extLst>
                  <a:ext uri="{0D108BD9-81ED-4DB2-BD59-A6C34878D82A}">
                    <a16:rowId xmlns:a16="http://schemas.microsoft.com/office/drawing/2014/main" val="10002"/>
                  </a:ext>
                </a:extLst>
              </a:tr>
              <a:tr h="265175">
                <a:tc>
                  <a:txBody>
                    <a:bodyPr/>
                    <a:lstStyle/>
                    <a:p>
                      <a:pPr algn="ctr">
                        <a:lnSpc>
                          <a:spcPct val="100000"/>
                        </a:lnSpc>
                        <a:spcBef>
                          <a:spcPts val="0"/>
                        </a:spcBef>
                        <a:spcAft>
                          <a:spcPts val="0"/>
                        </a:spcAft>
                      </a:pPr>
                      <a:r>
                        <a:rPr sz="1000" b="0">
                          <a:solidFill>
                            <a:srgbClr val="232D37"/>
                          </a:solidFill>
                          <a:latin typeface="微软雅黑"/>
                          <a:ea typeface="微软雅黑"/>
                        </a:rPr>
                        <a:t>北京</a:t>
                      </a:r>
                    </a:p>
                  </a:txBody>
                  <a:tcPr marL="13716" marR="13716" marT="2743" marB="2743" anchor="ctr">
                    <a:solidFill>
                      <a:srgbClr val="FFFFFF"/>
                    </a:solidFill>
                  </a:tcPr>
                </a:tc>
                <a:tc>
                  <a:txBody>
                    <a:bodyPr/>
                    <a:lstStyle/>
                    <a:p>
                      <a:pPr algn="ctr">
                        <a:lnSpc>
                          <a:spcPct val="100000"/>
                        </a:lnSpc>
                        <a:spcBef>
                          <a:spcPts val="0"/>
                        </a:spcBef>
                        <a:spcAft>
                          <a:spcPts val="0"/>
                        </a:spcAft>
                      </a:pPr>
                      <a:r>
                        <a:rPr sz="1000" b="0">
                          <a:solidFill>
                            <a:srgbClr val="232D37"/>
                          </a:solidFill>
                          <a:latin typeface="微软雅黑"/>
                          <a:ea typeface="微软雅黑"/>
                        </a:rPr>
                        <a:t>投资财务</a:t>
                      </a:r>
                    </a:p>
                  </a:txBody>
                  <a:tcPr marL="13716" marR="13716" marT="2743" marB="2743" anchor="ctr">
                    <a:solidFill>
                      <a:srgbClr val="FFFFFF"/>
                    </a:solidFill>
                  </a:tcPr>
                </a:tc>
                <a:tc>
                  <a:txBody>
                    <a:bodyPr/>
                    <a:lstStyle/>
                    <a:p>
                      <a:pPr algn="l">
                        <a:lnSpc>
                          <a:spcPct val="100000"/>
                        </a:lnSpc>
                        <a:spcBef>
                          <a:spcPts val="0"/>
                        </a:spcBef>
                        <a:spcAft>
                          <a:spcPts val="0"/>
                        </a:spcAft>
                      </a:pPr>
                      <a:r>
                        <a:rPr sz="1000" b="0">
                          <a:solidFill>
                            <a:srgbClr val="232D37"/>
                          </a:solidFill>
                          <a:latin typeface="微软雅黑"/>
                          <a:ea typeface="微软雅黑"/>
                        </a:rPr>
                        <a:t>北京联通年度工作及规划方案</a:t>
                      </a:r>
                    </a:p>
                  </a:txBody>
                  <a:tcPr marL="13716" marR="13716" marT="2743" marB="2743" anchor="ctr">
                    <a:solidFill>
                      <a:srgbClr val="FFFFFF"/>
                    </a:solidFill>
                  </a:tcPr>
                </a:tc>
                <a:tc>
                  <a:txBody>
                    <a:bodyPr/>
                    <a:lstStyle/>
                    <a:p>
                      <a:pPr algn="ctr">
                        <a:lnSpc>
                          <a:spcPct val="100000"/>
                        </a:lnSpc>
                        <a:spcBef>
                          <a:spcPts val="0"/>
                        </a:spcBef>
                        <a:spcAft>
                          <a:spcPts val="0"/>
                        </a:spcAft>
                      </a:pPr>
                      <a:r>
                        <a:rPr sz="1000" b="0">
                          <a:solidFill>
                            <a:srgbClr val="232D37"/>
                          </a:solidFill>
                          <a:latin typeface="微软雅黑"/>
                          <a:ea typeface="微软雅黑"/>
                        </a:rPr>
                        <a:t>2026年1月</a:t>
                      </a:r>
                    </a:p>
                  </a:txBody>
                  <a:tcPr marL="13716" marR="13716" marT="2743" marB="2743" anchor="ctr">
                    <a:solidFill>
                      <a:srgbClr val="FFFFFF"/>
                    </a:solidFill>
                  </a:tcPr>
                </a:tc>
                <a:extLst>
                  <a:ext uri="{0D108BD9-81ED-4DB2-BD59-A6C34878D82A}">
                    <a16:rowId xmlns:a16="http://schemas.microsoft.com/office/drawing/2014/main" val="10003"/>
                  </a:ext>
                </a:extLst>
              </a:tr>
              <a:tr h="265175">
                <a:tc>
                  <a:txBody>
                    <a:bodyPr/>
                    <a:lstStyle/>
                    <a:p>
                      <a:pPr algn="ctr">
                        <a:lnSpc>
                          <a:spcPct val="100000"/>
                        </a:lnSpc>
                        <a:spcBef>
                          <a:spcPts val="0"/>
                        </a:spcBef>
                        <a:spcAft>
                          <a:spcPts val="0"/>
                        </a:spcAft>
                      </a:pPr>
                      <a:r>
                        <a:rPr sz="1000" b="0">
                          <a:solidFill>
                            <a:srgbClr val="232D37"/>
                          </a:solidFill>
                          <a:latin typeface="微软雅黑"/>
                          <a:ea typeface="微软雅黑"/>
                        </a:rPr>
                        <a:t>北京</a:t>
                      </a:r>
                    </a:p>
                  </a:txBody>
                  <a:tcPr marL="13716" marR="13716" marT="2743" marB="2743" anchor="ctr">
                    <a:solidFill>
                      <a:srgbClr val="F6F9FC"/>
                    </a:solidFill>
                  </a:tcPr>
                </a:tc>
                <a:tc>
                  <a:txBody>
                    <a:bodyPr/>
                    <a:lstStyle/>
                    <a:p>
                      <a:pPr algn="ctr">
                        <a:lnSpc>
                          <a:spcPct val="100000"/>
                        </a:lnSpc>
                        <a:spcBef>
                          <a:spcPts val="0"/>
                        </a:spcBef>
                        <a:spcAft>
                          <a:spcPts val="0"/>
                        </a:spcAft>
                      </a:pPr>
                      <a:r>
                        <a:rPr sz="1000" b="0">
                          <a:solidFill>
                            <a:srgbClr val="232D37"/>
                          </a:solidFill>
                          <a:latin typeface="微软雅黑"/>
                          <a:ea typeface="微软雅黑"/>
                        </a:rPr>
                        <a:t>无线网</a:t>
                      </a:r>
                    </a:p>
                  </a:txBody>
                  <a:tcPr marL="13716" marR="13716" marT="2743" marB="2743" anchor="ctr">
                    <a:solidFill>
                      <a:srgbClr val="F6F9FC"/>
                    </a:solidFill>
                  </a:tcPr>
                </a:tc>
                <a:tc>
                  <a:txBody>
                    <a:bodyPr/>
                    <a:lstStyle/>
                    <a:p>
                      <a:pPr algn="l">
                        <a:lnSpc>
                          <a:spcPct val="100000"/>
                        </a:lnSpc>
                        <a:spcBef>
                          <a:spcPts val="0"/>
                        </a:spcBef>
                        <a:spcAft>
                          <a:spcPts val="0"/>
                        </a:spcAft>
                      </a:pPr>
                      <a:r>
                        <a:rPr sz="1000" b="0">
                          <a:solidFill>
                            <a:srgbClr val="232D37"/>
                          </a:solidFill>
                          <a:latin typeface="微软雅黑"/>
                          <a:ea typeface="微软雅黑"/>
                        </a:rPr>
                        <a:t>北京联通AI智能化应用评估</a:t>
                      </a:r>
                    </a:p>
                  </a:txBody>
                  <a:tcPr marL="13716" marR="13716" marT="2743" marB="2743" anchor="ctr">
                    <a:solidFill>
                      <a:srgbClr val="F6F9FC"/>
                    </a:solidFill>
                  </a:tcPr>
                </a:tc>
                <a:tc>
                  <a:txBody>
                    <a:bodyPr/>
                    <a:lstStyle/>
                    <a:p>
                      <a:pPr algn="ctr">
                        <a:lnSpc>
                          <a:spcPct val="100000"/>
                        </a:lnSpc>
                        <a:spcBef>
                          <a:spcPts val="0"/>
                        </a:spcBef>
                        <a:spcAft>
                          <a:spcPts val="0"/>
                        </a:spcAft>
                      </a:pPr>
                      <a:r>
                        <a:rPr sz="1000" b="0">
                          <a:solidFill>
                            <a:srgbClr val="232D37"/>
                          </a:solidFill>
                          <a:latin typeface="微软雅黑"/>
                          <a:ea typeface="微软雅黑"/>
                        </a:rPr>
                        <a:t>2026年1月</a:t>
                      </a:r>
                    </a:p>
                  </a:txBody>
                  <a:tcPr marL="13716" marR="13716" marT="2743" marB="2743" anchor="ctr">
                    <a:solidFill>
                      <a:srgbClr val="F6F9FC"/>
                    </a:solidFill>
                  </a:tcPr>
                </a:tc>
                <a:extLst>
                  <a:ext uri="{0D108BD9-81ED-4DB2-BD59-A6C34878D82A}">
                    <a16:rowId xmlns:a16="http://schemas.microsoft.com/office/drawing/2014/main" val="10004"/>
                  </a:ext>
                </a:extLst>
              </a:tr>
              <a:tr h="265175">
                <a:tc>
                  <a:txBody>
                    <a:bodyPr/>
                    <a:lstStyle/>
                    <a:p>
                      <a:pPr algn="ctr">
                        <a:lnSpc>
                          <a:spcPct val="100000"/>
                        </a:lnSpc>
                        <a:spcBef>
                          <a:spcPts val="0"/>
                        </a:spcBef>
                        <a:spcAft>
                          <a:spcPts val="0"/>
                        </a:spcAft>
                      </a:pPr>
                      <a:r>
                        <a:rPr sz="1000" b="0">
                          <a:solidFill>
                            <a:srgbClr val="232D37"/>
                          </a:solidFill>
                          <a:latin typeface="微软雅黑"/>
                          <a:ea typeface="微软雅黑"/>
                        </a:rPr>
                        <a:t>北京</a:t>
                      </a:r>
                    </a:p>
                  </a:txBody>
                  <a:tcPr marL="13716" marR="13716" marT="2743" marB="2743" anchor="ctr">
                    <a:solidFill>
                      <a:srgbClr val="FFFFFF"/>
                    </a:solidFill>
                  </a:tcPr>
                </a:tc>
                <a:tc>
                  <a:txBody>
                    <a:bodyPr/>
                    <a:lstStyle/>
                    <a:p>
                      <a:pPr algn="ctr">
                        <a:lnSpc>
                          <a:spcPct val="100000"/>
                        </a:lnSpc>
                        <a:spcBef>
                          <a:spcPts val="0"/>
                        </a:spcBef>
                        <a:spcAft>
                          <a:spcPts val="0"/>
                        </a:spcAft>
                      </a:pPr>
                      <a:r>
                        <a:rPr sz="1000" b="0">
                          <a:solidFill>
                            <a:srgbClr val="232D37"/>
                          </a:solidFill>
                          <a:latin typeface="微软雅黑"/>
                          <a:ea typeface="微软雅黑"/>
                        </a:rPr>
                        <a:t>本地承载网</a:t>
                      </a:r>
                    </a:p>
                  </a:txBody>
                  <a:tcPr marL="13716" marR="13716" marT="2743" marB="2743" anchor="ctr">
                    <a:solidFill>
                      <a:srgbClr val="FFFFFF"/>
                    </a:solidFill>
                  </a:tcPr>
                </a:tc>
                <a:tc>
                  <a:txBody>
                    <a:bodyPr/>
                    <a:lstStyle/>
                    <a:p>
                      <a:pPr algn="l">
                        <a:lnSpc>
                          <a:spcPct val="100000"/>
                        </a:lnSpc>
                        <a:spcBef>
                          <a:spcPts val="0"/>
                        </a:spcBef>
                        <a:spcAft>
                          <a:spcPts val="0"/>
                        </a:spcAft>
                      </a:pPr>
                      <a:r>
                        <a:rPr sz="1000" b="0">
                          <a:solidFill>
                            <a:srgbClr val="232D37"/>
                          </a:solidFill>
                          <a:latin typeface="微软雅黑"/>
                          <a:ea typeface="微软雅黑"/>
                        </a:rPr>
                        <a:t>北京联通极简网络收官方案</a:t>
                      </a:r>
                    </a:p>
                  </a:txBody>
                  <a:tcPr marL="13716" marR="13716" marT="2743" marB="2743" anchor="ctr">
                    <a:solidFill>
                      <a:srgbClr val="FFFFFF"/>
                    </a:solidFill>
                  </a:tcPr>
                </a:tc>
                <a:tc>
                  <a:txBody>
                    <a:bodyPr/>
                    <a:lstStyle/>
                    <a:p>
                      <a:pPr algn="ctr">
                        <a:lnSpc>
                          <a:spcPct val="100000"/>
                        </a:lnSpc>
                        <a:spcBef>
                          <a:spcPts val="0"/>
                        </a:spcBef>
                        <a:spcAft>
                          <a:spcPts val="0"/>
                        </a:spcAft>
                      </a:pPr>
                      <a:r>
                        <a:rPr sz="1000" b="0">
                          <a:solidFill>
                            <a:srgbClr val="232D37"/>
                          </a:solidFill>
                          <a:latin typeface="微软雅黑"/>
                          <a:ea typeface="微软雅黑"/>
                        </a:rPr>
                        <a:t>2026年1月</a:t>
                      </a:r>
                    </a:p>
                  </a:txBody>
                  <a:tcPr marL="13716" marR="13716" marT="2743" marB="2743" anchor="ctr">
                    <a:solidFill>
                      <a:srgbClr val="FFFFFF"/>
                    </a:solidFill>
                  </a:tcPr>
                </a:tc>
                <a:extLst>
                  <a:ext uri="{0D108BD9-81ED-4DB2-BD59-A6C34878D82A}">
                    <a16:rowId xmlns:a16="http://schemas.microsoft.com/office/drawing/2014/main" val="10005"/>
                  </a:ext>
                </a:extLst>
              </a:tr>
              <a:tr h="265181">
                <a:tc>
                  <a:txBody>
                    <a:bodyPr/>
                    <a:lstStyle/>
                    <a:p>
                      <a:pPr algn="ctr">
                        <a:lnSpc>
                          <a:spcPct val="100000"/>
                        </a:lnSpc>
                        <a:spcBef>
                          <a:spcPts val="0"/>
                        </a:spcBef>
                        <a:spcAft>
                          <a:spcPts val="0"/>
                        </a:spcAft>
                      </a:pPr>
                      <a:r>
                        <a:rPr sz="1000" b="0">
                          <a:solidFill>
                            <a:srgbClr val="232D37"/>
                          </a:solidFill>
                          <a:latin typeface="微软雅黑"/>
                          <a:ea typeface="微软雅黑"/>
                        </a:rPr>
                        <a:t>北京</a:t>
                      </a:r>
                    </a:p>
                  </a:txBody>
                  <a:tcPr marL="13716" marR="13716" marT="2743" marB="2743" anchor="ctr">
                    <a:solidFill>
                      <a:srgbClr val="F6F9FC"/>
                    </a:solidFill>
                  </a:tcPr>
                </a:tc>
                <a:tc>
                  <a:txBody>
                    <a:bodyPr/>
                    <a:lstStyle/>
                    <a:p>
                      <a:pPr algn="ctr">
                        <a:lnSpc>
                          <a:spcPct val="100000"/>
                        </a:lnSpc>
                        <a:spcBef>
                          <a:spcPts val="0"/>
                        </a:spcBef>
                        <a:spcAft>
                          <a:spcPts val="0"/>
                        </a:spcAft>
                      </a:pPr>
                      <a:r>
                        <a:rPr sz="1000" b="0">
                          <a:solidFill>
                            <a:srgbClr val="232D37"/>
                          </a:solidFill>
                          <a:latin typeface="微软雅黑"/>
                          <a:ea typeface="微软雅黑"/>
                        </a:rPr>
                        <a:t>本地承载网</a:t>
                      </a:r>
                    </a:p>
                  </a:txBody>
                  <a:tcPr marL="13716" marR="13716" marT="2743" marB="2743" anchor="ctr">
                    <a:solidFill>
                      <a:srgbClr val="F6F9FC"/>
                    </a:solidFill>
                  </a:tcPr>
                </a:tc>
                <a:tc>
                  <a:txBody>
                    <a:bodyPr/>
                    <a:lstStyle/>
                    <a:p>
                      <a:pPr algn="l">
                        <a:lnSpc>
                          <a:spcPct val="100000"/>
                        </a:lnSpc>
                        <a:spcBef>
                          <a:spcPts val="0"/>
                        </a:spcBef>
                        <a:spcAft>
                          <a:spcPts val="0"/>
                        </a:spcAft>
                      </a:pPr>
                      <a:r>
                        <a:rPr sz="1000" b="0">
                          <a:solidFill>
                            <a:srgbClr val="232D37"/>
                          </a:solidFill>
                          <a:latin typeface="微软雅黑"/>
                          <a:ea typeface="微软雅黑"/>
                        </a:rPr>
                        <a:t>北京联通未来网络技术演进方案</a:t>
                      </a:r>
                    </a:p>
                  </a:txBody>
                  <a:tcPr marL="13716" marR="13716" marT="2743" marB="2743" anchor="ctr">
                    <a:solidFill>
                      <a:srgbClr val="F6F9FC"/>
                    </a:solidFill>
                  </a:tcPr>
                </a:tc>
                <a:tc>
                  <a:txBody>
                    <a:bodyPr/>
                    <a:lstStyle/>
                    <a:p>
                      <a:pPr algn="ctr">
                        <a:lnSpc>
                          <a:spcPct val="100000"/>
                        </a:lnSpc>
                        <a:spcBef>
                          <a:spcPts val="0"/>
                        </a:spcBef>
                        <a:spcAft>
                          <a:spcPts val="0"/>
                        </a:spcAft>
                      </a:pPr>
                      <a:r>
                        <a:rPr sz="1000" b="0">
                          <a:solidFill>
                            <a:srgbClr val="232D37"/>
                          </a:solidFill>
                          <a:latin typeface="微软雅黑"/>
                          <a:ea typeface="微软雅黑"/>
                        </a:rPr>
                        <a:t>2026年1月</a:t>
                      </a:r>
                    </a:p>
                  </a:txBody>
                  <a:tcPr marL="13716" marR="13716" marT="2743" marB="2743" anchor="ctr">
                    <a:solidFill>
                      <a:srgbClr val="F6F9FC"/>
                    </a:solidFill>
                  </a:tcPr>
                </a:tc>
                <a:extLst>
                  <a:ext uri="{0D108BD9-81ED-4DB2-BD59-A6C34878D82A}">
                    <a16:rowId xmlns:a16="http://schemas.microsoft.com/office/drawing/2014/main" val="10006"/>
                  </a:ext>
                </a:extLst>
              </a:tr>
            </a:tbl>
          </a:graphicData>
        </a:graphic>
      </p:graphicFrame>
      <p:graphicFrame>
        <p:nvGraphicFramePr>
          <p:cNvPr id="56" name="Table 55"/>
          <p:cNvGraphicFramePr>
            <a:graphicFrameLocks noGrp="1"/>
          </p:cNvGraphicFramePr>
          <p:nvPr/>
        </p:nvGraphicFramePr>
        <p:xfrm>
          <a:off x="4151376" y="4590288"/>
          <a:ext cx="3694176" cy="2172002"/>
        </p:xfrm>
        <a:graphic>
          <a:graphicData uri="http://schemas.openxmlformats.org/drawingml/2006/table">
            <a:tbl>
              <a:tblPr firstRow="1" bandRow="1">
                <a:tableStyleId>{5C22544A-7EE6-4342-B048-85BDC9FD1C3A}</a:tableStyleId>
              </a:tblPr>
              <a:tblGrid>
                <a:gridCol w="325683">
                  <a:extLst>
                    <a:ext uri="{9D8B030D-6E8A-4147-A177-3AD203B41FA5}">
                      <a16:colId xmlns:a16="http://schemas.microsoft.com/office/drawing/2014/main" val="20000"/>
                    </a:ext>
                  </a:extLst>
                </a:gridCol>
                <a:gridCol w="576924">
                  <a:extLst>
                    <a:ext uri="{9D8B030D-6E8A-4147-A177-3AD203B41FA5}">
                      <a16:colId xmlns:a16="http://schemas.microsoft.com/office/drawing/2014/main" val="20001"/>
                    </a:ext>
                  </a:extLst>
                </a:gridCol>
                <a:gridCol w="2344917">
                  <a:extLst>
                    <a:ext uri="{9D8B030D-6E8A-4147-A177-3AD203B41FA5}">
                      <a16:colId xmlns:a16="http://schemas.microsoft.com/office/drawing/2014/main" val="20002"/>
                    </a:ext>
                  </a:extLst>
                </a:gridCol>
                <a:gridCol w="446652">
                  <a:extLst>
                    <a:ext uri="{9D8B030D-6E8A-4147-A177-3AD203B41FA5}">
                      <a16:colId xmlns:a16="http://schemas.microsoft.com/office/drawing/2014/main" val="20003"/>
                    </a:ext>
                  </a:extLst>
                </a:gridCol>
              </a:tblGrid>
              <a:tr h="265175">
                <a:tc>
                  <a:txBody>
                    <a:bodyPr/>
                    <a:lstStyle/>
                    <a:p>
                      <a:pPr algn="ctr">
                        <a:lnSpc>
                          <a:spcPct val="100000"/>
                        </a:lnSpc>
                        <a:spcBef>
                          <a:spcPts val="0"/>
                        </a:spcBef>
                        <a:spcAft>
                          <a:spcPts val="0"/>
                        </a:spcAft>
                      </a:pPr>
                      <a:r>
                        <a:rPr sz="1000" b="1">
                          <a:solidFill>
                            <a:srgbClr val="FFFFFF"/>
                          </a:solidFill>
                          <a:latin typeface="微软雅黑"/>
                          <a:ea typeface="微软雅黑"/>
                        </a:rPr>
                        <a:t>省分团队</a:t>
                      </a:r>
                    </a:p>
                  </a:txBody>
                  <a:tcPr marL="13716" marR="13716" marT="2743" marB="2743" anchor="ctr">
                    <a:solidFill>
                      <a:srgbClr val="0047A0"/>
                    </a:solidFill>
                  </a:tcPr>
                </a:tc>
                <a:tc>
                  <a:txBody>
                    <a:bodyPr/>
                    <a:lstStyle/>
                    <a:p>
                      <a:pPr algn="ctr">
                        <a:lnSpc>
                          <a:spcPct val="100000"/>
                        </a:lnSpc>
                        <a:spcBef>
                          <a:spcPts val="0"/>
                        </a:spcBef>
                        <a:spcAft>
                          <a:spcPts val="0"/>
                        </a:spcAft>
                      </a:pPr>
                      <a:r>
                        <a:rPr sz="1000" b="1">
                          <a:solidFill>
                            <a:srgbClr val="FFFFFF"/>
                          </a:solidFill>
                          <a:latin typeface="微软雅黑"/>
                          <a:ea typeface="微软雅黑"/>
                        </a:rPr>
                        <a:t>牵头专业</a:t>
                      </a:r>
                    </a:p>
                  </a:txBody>
                  <a:tcPr marL="13716" marR="13716" marT="2743" marB="2743" anchor="ctr">
                    <a:solidFill>
                      <a:srgbClr val="0047A0"/>
                    </a:solidFill>
                  </a:tcPr>
                </a:tc>
                <a:tc>
                  <a:txBody>
                    <a:bodyPr/>
                    <a:lstStyle/>
                    <a:p>
                      <a:pPr algn="ctr">
                        <a:lnSpc>
                          <a:spcPct val="100000"/>
                        </a:lnSpc>
                        <a:spcBef>
                          <a:spcPts val="0"/>
                        </a:spcBef>
                        <a:spcAft>
                          <a:spcPts val="0"/>
                        </a:spcAft>
                      </a:pPr>
                      <a:r>
                        <a:rPr sz="1000" b="1">
                          <a:solidFill>
                            <a:srgbClr val="FFFFFF"/>
                          </a:solidFill>
                          <a:latin typeface="微软雅黑"/>
                          <a:ea typeface="微软雅黑"/>
                        </a:rPr>
                        <a:t>成果名称</a:t>
                      </a:r>
                    </a:p>
                  </a:txBody>
                  <a:tcPr marL="13716" marR="13716" marT="2743" marB="2743" anchor="ctr">
                    <a:solidFill>
                      <a:srgbClr val="0047A0"/>
                    </a:solidFill>
                  </a:tcPr>
                </a:tc>
                <a:tc>
                  <a:txBody>
                    <a:bodyPr/>
                    <a:lstStyle/>
                    <a:p>
                      <a:pPr algn="ctr">
                        <a:lnSpc>
                          <a:spcPct val="100000"/>
                        </a:lnSpc>
                        <a:spcBef>
                          <a:spcPts val="0"/>
                        </a:spcBef>
                        <a:spcAft>
                          <a:spcPts val="0"/>
                        </a:spcAft>
                      </a:pPr>
                      <a:r>
                        <a:rPr sz="1000" b="1">
                          <a:solidFill>
                            <a:srgbClr val="FFFFFF"/>
                          </a:solidFill>
                          <a:latin typeface="微软雅黑"/>
                          <a:ea typeface="微软雅黑"/>
                        </a:rPr>
                        <a:t>提交时间</a:t>
                      </a:r>
                    </a:p>
                  </a:txBody>
                  <a:tcPr marL="13716" marR="13716" marT="2743" marB="2743" anchor="ctr">
                    <a:solidFill>
                      <a:srgbClr val="0047A0"/>
                    </a:solidFill>
                  </a:tcPr>
                </a:tc>
                <a:extLst>
                  <a:ext uri="{0D108BD9-81ED-4DB2-BD59-A6C34878D82A}">
                    <a16:rowId xmlns:a16="http://schemas.microsoft.com/office/drawing/2014/main" val="10000"/>
                  </a:ext>
                </a:extLst>
              </a:tr>
              <a:tr h="265175">
                <a:tc>
                  <a:txBody>
                    <a:bodyPr/>
                    <a:lstStyle/>
                    <a:p>
                      <a:pPr algn="ctr">
                        <a:lnSpc>
                          <a:spcPct val="100000"/>
                        </a:lnSpc>
                        <a:spcBef>
                          <a:spcPts val="0"/>
                        </a:spcBef>
                        <a:spcAft>
                          <a:spcPts val="0"/>
                        </a:spcAft>
                      </a:pPr>
                      <a:r>
                        <a:rPr sz="1000" b="0">
                          <a:solidFill>
                            <a:srgbClr val="232D37"/>
                          </a:solidFill>
                          <a:latin typeface="微软雅黑"/>
                          <a:ea typeface="微软雅黑"/>
                        </a:rPr>
                        <a:t>北京</a:t>
                      </a:r>
                    </a:p>
                  </a:txBody>
                  <a:tcPr marL="13716" marR="13716" marT="2743" marB="2743" anchor="ctr">
                    <a:solidFill>
                      <a:srgbClr val="FFFFFF"/>
                    </a:solidFill>
                  </a:tcPr>
                </a:tc>
                <a:tc>
                  <a:txBody>
                    <a:bodyPr/>
                    <a:lstStyle/>
                    <a:p>
                      <a:pPr algn="ctr">
                        <a:lnSpc>
                          <a:spcPct val="100000"/>
                        </a:lnSpc>
                        <a:spcBef>
                          <a:spcPts val="0"/>
                        </a:spcBef>
                        <a:spcAft>
                          <a:spcPts val="0"/>
                        </a:spcAft>
                      </a:pPr>
                      <a:r>
                        <a:rPr sz="1000" b="0">
                          <a:solidFill>
                            <a:srgbClr val="232D37"/>
                          </a:solidFill>
                          <a:latin typeface="微软雅黑"/>
                          <a:ea typeface="微软雅黑"/>
                        </a:rPr>
                        <a:t>投资财务</a:t>
                      </a:r>
                    </a:p>
                  </a:txBody>
                  <a:tcPr marL="13716" marR="13716" marT="2743" marB="2743" anchor="ctr">
                    <a:solidFill>
                      <a:srgbClr val="FFFFFF"/>
                    </a:solidFill>
                  </a:tcPr>
                </a:tc>
                <a:tc>
                  <a:txBody>
                    <a:bodyPr/>
                    <a:lstStyle/>
                    <a:p>
                      <a:pPr algn="l">
                        <a:lnSpc>
                          <a:spcPct val="100000"/>
                        </a:lnSpc>
                        <a:spcBef>
                          <a:spcPts val="0"/>
                        </a:spcBef>
                        <a:spcAft>
                          <a:spcPts val="0"/>
                        </a:spcAft>
                      </a:pPr>
                      <a:r>
                        <a:rPr sz="1000" b="0">
                          <a:solidFill>
                            <a:srgbClr val="232D37"/>
                          </a:solidFill>
                          <a:latin typeface="微软雅黑"/>
                          <a:ea typeface="微软雅黑"/>
                        </a:rPr>
                        <a:t>北京联通韧性城市评估报告</a:t>
                      </a:r>
                    </a:p>
                  </a:txBody>
                  <a:tcPr marL="13716" marR="13716" marT="2743" marB="2743" anchor="ctr">
                    <a:solidFill>
                      <a:srgbClr val="FFFFFF"/>
                    </a:solidFill>
                  </a:tcPr>
                </a:tc>
                <a:tc>
                  <a:txBody>
                    <a:bodyPr/>
                    <a:lstStyle/>
                    <a:p>
                      <a:pPr algn="ctr">
                        <a:lnSpc>
                          <a:spcPct val="100000"/>
                        </a:lnSpc>
                        <a:spcBef>
                          <a:spcPts val="0"/>
                        </a:spcBef>
                        <a:spcAft>
                          <a:spcPts val="0"/>
                        </a:spcAft>
                      </a:pPr>
                      <a:r>
                        <a:rPr sz="1000" b="0">
                          <a:solidFill>
                            <a:srgbClr val="232D37"/>
                          </a:solidFill>
                          <a:latin typeface="微软雅黑"/>
                          <a:ea typeface="微软雅黑"/>
                        </a:rPr>
                        <a:t>2026年3月</a:t>
                      </a:r>
                    </a:p>
                  </a:txBody>
                  <a:tcPr marL="13716" marR="13716" marT="2743" marB="2743" anchor="ctr">
                    <a:solidFill>
                      <a:srgbClr val="FFFFFF"/>
                    </a:solidFill>
                  </a:tcPr>
                </a:tc>
                <a:extLst>
                  <a:ext uri="{0D108BD9-81ED-4DB2-BD59-A6C34878D82A}">
                    <a16:rowId xmlns:a16="http://schemas.microsoft.com/office/drawing/2014/main" val="10001"/>
                  </a:ext>
                </a:extLst>
              </a:tr>
              <a:tr h="265175">
                <a:tc>
                  <a:txBody>
                    <a:bodyPr/>
                    <a:lstStyle/>
                    <a:p>
                      <a:pPr algn="ctr">
                        <a:lnSpc>
                          <a:spcPct val="100000"/>
                        </a:lnSpc>
                        <a:spcBef>
                          <a:spcPts val="0"/>
                        </a:spcBef>
                        <a:spcAft>
                          <a:spcPts val="0"/>
                        </a:spcAft>
                      </a:pPr>
                      <a:r>
                        <a:rPr sz="1000" b="0">
                          <a:solidFill>
                            <a:srgbClr val="232D37"/>
                          </a:solidFill>
                          <a:latin typeface="微软雅黑"/>
                          <a:ea typeface="微软雅黑"/>
                        </a:rPr>
                        <a:t>北京</a:t>
                      </a:r>
                    </a:p>
                  </a:txBody>
                  <a:tcPr marL="13716" marR="13716" marT="2743" marB="2743" anchor="ctr">
                    <a:solidFill>
                      <a:srgbClr val="F6F9FC"/>
                    </a:solidFill>
                  </a:tcPr>
                </a:tc>
                <a:tc>
                  <a:txBody>
                    <a:bodyPr/>
                    <a:lstStyle/>
                    <a:p>
                      <a:pPr algn="ctr">
                        <a:lnSpc>
                          <a:spcPct val="100000"/>
                        </a:lnSpc>
                        <a:spcBef>
                          <a:spcPts val="0"/>
                        </a:spcBef>
                        <a:spcAft>
                          <a:spcPts val="0"/>
                        </a:spcAft>
                      </a:pPr>
                      <a:r>
                        <a:rPr sz="1000" b="0">
                          <a:solidFill>
                            <a:srgbClr val="232D37"/>
                          </a:solidFill>
                          <a:latin typeface="微软雅黑"/>
                          <a:ea typeface="微软雅黑"/>
                        </a:rPr>
                        <a:t>无线网</a:t>
                      </a:r>
                    </a:p>
                  </a:txBody>
                  <a:tcPr marL="13716" marR="13716" marT="2743" marB="2743" anchor="ctr">
                    <a:solidFill>
                      <a:srgbClr val="F6F9FC"/>
                    </a:solidFill>
                  </a:tcPr>
                </a:tc>
                <a:tc>
                  <a:txBody>
                    <a:bodyPr/>
                    <a:lstStyle/>
                    <a:p>
                      <a:pPr algn="l">
                        <a:lnSpc>
                          <a:spcPct val="100000"/>
                        </a:lnSpc>
                        <a:spcBef>
                          <a:spcPts val="0"/>
                        </a:spcBef>
                        <a:spcAft>
                          <a:spcPts val="0"/>
                        </a:spcAft>
                      </a:pPr>
                      <a:r>
                        <a:rPr sz="1000" b="0">
                          <a:solidFill>
                            <a:srgbClr val="232D37"/>
                          </a:solidFill>
                          <a:latin typeface="微软雅黑"/>
                          <a:ea typeface="微软雅黑"/>
                        </a:rPr>
                        <a:t>北京联通2026年2.1G重耕方案</a:t>
                      </a:r>
                    </a:p>
                  </a:txBody>
                  <a:tcPr marL="13716" marR="13716" marT="2743" marB="2743" anchor="ctr">
                    <a:solidFill>
                      <a:srgbClr val="F6F9FC"/>
                    </a:solidFill>
                  </a:tcPr>
                </a:tc>
                <a:tc>
                  <a:txBody>
                    <a:bodyPr/>
                    <a:lstStyle/>
                    <a:p>
                      <a:pPr algn="ctr">
                        <a:lnSpc>
                          <a:spcPct val="100000"/>
                        </a:lnSpc>
                        <a:spcBef>
                          <a:spcPts val="0"/>
                        </a:spcBef>
                        <a:spcAft>
                          <a:spcPts val="0"/>
                        </a:spcAft>
                      </a:pPr>
                      <a:r>
                        <a:rPr sz="1000" b="0">
                          <a:solidFill>
                            <a:srgbClr val="232D37"/>
                          </a:solidFill>
                          <a:latin typeface="微软雅黑"/>
                          <a:ea typeface="微软雅黑"/>
                        </a:rPr>
                        <a:t>2026年3月</a:t>
                      </a:r>
                    </a:p>
                  </a:txBody>
                  <a:tcPr marL="13716" marR="13716" marT="2743" marB="2743" anchor="ctr">
                    <a:solidFill>
                      <a:srgbClr val="F6F9FC"/>
                    </a:solidFill>
                  </a:tcPr>
                </a:tc>
                <a:extLst>
                  <a:ext uri="{0D108BD9-81ED-4DB2-BD59-A6C34878D82A}">
                    <a16:rowId xmlns:a16="http://schemas.microsoft.com/office/drawing/2014/main" val="10002"/>
                  </a:ext>
                </a:extLst>
              </a:tr>
              <a:tr h="265175">
                <a:tc>
                  <a:txBody>
                    <a:bodyPr/>
                    <a:lstStyle/>
                    <a:p>
                      <a:pPr algn="ctr">
                        <a:lnSpc>
                          <a:spcPct val="100000"/>
                        </a:lnSpc>
                        <a:spcBef>
                          <a:spcPts val="0"/>
                        </a:spcBef>
                        <a:spcAft>
                          <a:spcPts val="0"/>
                        </a:spcAft>
                      </a:pPr>
                      <a:r>
                        <a:rPr sz="1000" b="0">
                          <a:solidFill>
                            <a:srgbClr val="232D37"/>
                          </a:solidFill>
                          <a:latin typeface="微软雅黑"/>
                          <a:ea typeface="微软雅黑"/>
                        </a:rPr>
                        <a:t>北京</a:t>
                      </a:r>
                    </a:p>
                  </a:txBody>
                  <a:tcPr marL="13716" marR="13716" marT="2743" marB="2743" anchor="ctr">
                    <a:solidFill>
                      <a:srgbClr val="FFFFFF"/>
                    </a:solidFill>
                  </a:tcPr>
                </a:tc>
                <a:tc>
                  <a:txBody>
                    <a:bodyPr/>
                    <a:lstStyle/>
                    <a:p>
                      <a:pPr algn="ctr">
                        <a:lnSpc>
                          <a:spcPct val="100000"/>
                        </a:lnSpc>
                        <a:spcBef>
                          <a:spcPts val="0"/>
                        </a:spcBef>
                        <a:spcAft>
                          <a:spcPts val="0"/>
                        </a:spcAft>
                      </a:pPr>
                      <a:r>
                        <a:rPr sz="1000" b="0">
                          <a:solidFill>
                            <a:srgbClr val="232D37"/>
                          </a:solidFill>
                          <a:latin typeface="微软雅黑"/>
                          <a:ea typeface="微软雅黑"/>
                        </a:rPr>
                        <a:t>基础设施</a:t>
                      </a:r>
                    </a:p>
                  </a:txBody>
                  <a:tcPr marL="13716" marR="13716" marT="2743" marB="2743" anchor="ctr">
                    <a:solidFill>
                      <a:srgbClr val="FFFFFF"/>
                    </a:solidFill>
                  </a:tcPr>
                </a:tc>
                <a:tc>
                  <a:txBody>
                    <a:bodyPr/>
                    <a:lstStyle/>
                    <a:p>
                      <a:pPr algn="l">
                        <a:lnSpc>
                          <a:spcPct val="100000"/>
                        </a:lnSpc>
                        <a:spcBef>
                          <a:spcPts val="0"/>
                        </a:spcBef>
                        <a:spcAft>
                          <a:spcPts val="0"/>
                        </a:spcAft>
                      </a:pPr>
                      <a:r>
                        <a:rPr sz="1000" b="0">
                          <a:solidFill>
                            <a:srgbClr val="232D37"/>
                          </a:solidFill>
                          <a:latin typeface="微软雅黑"/>
                          <a:ea typeface="微软雅黑"/>
                        </a:rPr>
                        <a:t>北京联通智算超级节点建设方案</a:t>
                      </a:r>
                    </a:p>
                  </a:txBody>
                  <a:tcPr marL="13716" marR="13716" marT="2743" marB="2743" anchor="ctr">
                    <a:solidFill>
                      <a:srgbClr val="FFFFFF"/>
                    </a:solidFill>
                  </a:tcPr>
                </a:tc>
                <a:tc>
                  <a:txBody>
                    <a:bodyPr/>
                    <a:lstStyle/>
                    <a:p>
                      <a:pPr algn="ctr">
                        <a:lnSpc>
                          <a:spcPct val="100000"/>
                        </a:lnSpc>
                        <a:spcBef>
                          <a:spcPts val="0"/>
                        </a:spcBef>
                        <a:spcAft>
                          <a:spcPts val="0"/>
                        </a:spcAft>
                      </a:pPr>
                      <a:r>
                        <a:rPr sz="1000" b="0">
                          <a:solidFill>
                            <a:srgbClr val="232D37"/>
                          </a:solidFill>
                          <a:latin typeface="微软雅黑"/>
                          <a:ea typeface="微软雅黑"/>
                        </a:rPr>
                        <a:t>2026年3月</a:t>
                      </a:r>
                    </a:p>
                  </a:txBody>
                  <a:tcPr marL="13716" marR="13716" marT="2743" marB="2743" anchor="ctr">
                    <a:solidFill>
                      <a:srgbClr val="FFFFFF"/>
                    </a:solidFill>
                  </a:tcPr>
                </a:tc>
                <a:extLst>
                  <a:ext uri="{0D108BD9-81ED-4DB2-BD59-A6C34878D82A}">
                    <a16:rowId xmlns:a16="http://schemas.microsoft.com/office/drawing/2014/main" val="10003"/>
                  </a:ext>
                </a:extLst>
              </a:tr>
              <a:tr h="265175">
                <a:tc>
                  <a:txBody>
                    <a:bodyPr/>
                    <a:lstStyle/>
                    <a:p>
                      <a:pPr algn="ctr">
                        <a:lnSpc>
                          <a:spcPct val="100000"/>
                        </a:lnSpc>
                        <a:spcBef>
                          <a:spcPts val="0"/>
                        </a:spcBef>
                        <a:spcAft>
                          <a:spcPts val="0"/>
                        </a:spcAft>
                      </a:pPr>
                      <a:r>
                        <a:rPr sz="1000" b="0">
                          <a:solidFill>
                            <a:srgbClr val="232D37"/>
                          </a:solidFill>
                          <a:latin typeface="微软雅黑"/>
                          <a:ea typeface="微软雅黑"/>
                        </a:rPr>
                        <a:t>北京</a:t>
                      </a:r>
                    </a:p>
                  </a:txBody>
                  <a:tcPr marL="13716" marR="13716" marT="2743" marB="2743" anchor="ctr">
                    <a:solidFill>
                      <a:srgbClr val="F6F9FC"/>
                    </a:solidFill>
                  </a:tcPr>
                </a:tc>
                <a:tc>
                  <a:txBody>
                    <a:bodyPr/>
                    <a:lstStyle/>
                    <a:p>
                      <a:pPr algn="ctr">
                        <a:lnSpc>
                          <a:spcPct val="100000"/>
                        </a:lnSpc>
                        <a:spcBef>
                          <a:spcPts val="0"/>
                        </a:spcBef>
                        <a:spcAft>
                          <a:spcPts val="0"/>
                        </a:spcAft>
                      </a:pPr>
                      <a:r>
                        <a:rPr sz="1000" b="0">
                          <a:solidFill>
                            <a:srgbClr val="232D37"/>
                          </a:solidFill>
                          <a:latin typeface="微软雅黑"/>
                          <a:ea typeface="微软雅黑"/>
                        </a:rPr>
                        <a:t>无线网</a:t>
                      </a:r>
                    </a:p>
                  </a:txBody>
                  <a:tcPr marL="13716" marR="13716" marT="2743" marB="2743" anchor="ctr">
                    <a:solidFill>
                      <a:srgbClr val="F6F9FC"/>
                    </a:solidFill>
                  </a:tcPr>
                </a:tc>
                <a:tc>
                  <a:txBody>
                    <a:bodyPr/>
                    <a:lstStyle/>
                    <a:p>
                      <a:pPr algn="l">
                        <a:lnSpc>
                          <a:spcPct val="100000"/>
                        </a:lnSpc>
                        <a:spcBef>
                          <a:spcPts val="0"/>
                        </a:spcBef>
                        <a:spcAft>
                          <a:spcPts val="0"/>
                        </a:spcAft>
                      </a:pPr>
                      <a:r>
                        <a:rPr sz="1000" b="0">
                          <a:solidFill>
                            <a:srgbClr val="232D37"/>
                          </a:solidFill>
                          <a:latin typeface="微软雅黑"/>
                          <a:ea typeface="微软雅黑"/>
                        </a:rPr>
                        <a:t>北京低频部署方案</a:t>
                      </a:r>
                    </a:p>
                  </a:txBody>
                  <a:tcPr marL="13716" marR="13716" marT="2743" marB="2743" anchor="ctr">
                    <a:solidFill>
                      <a:srgbClr val="F6F9FC"/>
                    </a:solidFill>
                  </a:tcPr>
                </a:tc>
                <a:tc>
                  <a:txBody>
                    <a:bodyPr/>
                    <a:lstStyle/>
                    <a:p>
                      <a:pPr algn="ctr">
                        <a:lnSpc>
                          <a:spcPct val="100000"/>
                        </a:lnSpc>
                        <a:spcBef>
                          <a:spcPts val="0"/>
                        </a:spcBef>
                        <a:spcAft>
                          <a:spcPts val="0"/>
                        </a:spcAft>
                      </a:pPr>
                      <a:r>
                        <a:rPr sz="1000" b="0">
                          <a:solidFill>
                            <a:srgbClr val="232D37"/>
                          </a:solidFill>
                          <a:latin typeface="微软雅黑"/>
                          <a:ea typeface="微软雅黑"/>
                        </a:rPr>
                        <a:t>2026年4月</a:t>
                      </a:r>
                    </a:p>
                  </a:txBody>
                  <a:tcPr marL="13716" marR="13716" marT="2743" marB="2743" anchor="ctr">
                    <a:solidFill>
                      <a:srgbClr val="F6F9FC"/>
                    </a:solidFill>
                  </a:tcPr>
                </a:tc>
                <a:extLst>
                  <a:ext uri="{0D108BD9-81ED-4DB2-BD59-A6C34878D82A}">
                    <a16:rowId xmlns:a16="http://schemas.microsoft.com/office/drawing/2014/main" val="10004"/>
                  </a:ext>
                </a:extLst>
              </a:tr>
              <a:tr h="265175">
                <a:tc>
                  <a:txBody>
                    <a:bodyPr/>
                    <a:lstStyle/>
                    <a:p>
                      <a:pPr algn="ctr">
                        <a:lnSpc>
                          <a:spcPct val="100000"/>
                        </a:lnSpc>
                        <a:spcBef>
                          <a:spcPts val="0"/>
                        </a:spcBef>
                        <a:spcAft>
                          <a:spcPts val="0"/>
                        </a:spcAft>
                      </a:pPr>
                      <a:r>
                        <a:rPr sz="1000" b="0">
                          <a:solidFill>
                            <a:srgbClr val="232D37"/>
                          </a:solidFill>
                          <a:latin typeface="微软雅黑"/>
                          <a:ea typeface="微软雅黑"/>
                        </a:rPr>
                        <a:t>北京</a:t>
                      </a:r>
                    </a:p>
                  </a:txBody>
                  <a:tcPr marL="13716" marR="13716" marT="2743" marB="2743" anchor="ctr">
                    <a:solidFill>
                      <a:srgbClr val="FFFFFF"/>
                    </a:solidFill>
                  </a:tcPr>
                </a:tc>
                <a:tc>
                  <a:txBody>
                    <a:bodyPr/>
                    <a:lstStyle/>
                    <a:p>
                      <a:pPr algn="ctr">
                        <a:lnSpc>
                          <a:spcPct val="100000"/>
                        </a:lnSpc>
                        <a:spcBef>
                          <a:spcPts val="0"/>
                        </a:spcBef>
                        <a:spcAft>
                          <a:spcPts val="0"/>
                        </a:spcAft>
                      </a:pPr>
                      <a:r>
                        <a:rPr sz="1000" b="0">
                          <a:solidFill>
                            <a:srgbClr val="232D37"/>
                          </a:solidFill>
                          <a:latin typeface="微软雅黑"/>
                          <a:ea typeface="微软雅黑"/>
                        </a:rPr>
                        <a:t>本地承载网</a:t>
                      </a:r>
                    </a:p>
                  </a:txBody>
                  <a:tcPr marL="13716" marR="13716" marT="2743" marB="2743" anchor="ctr">
                    <a:solidFill>
                      <a:srgbClr val="FFFFFF"/>
                    </a:solidFill>
                  </a:tcPr>
                </a:tc>
                <a:tc>
                  <a:txBody>
                    <a:bodyPr/>
                    <a:lstStyle/>
                    <a:p>
                      <a:pPr algn="l">
                        <a:lnSpc>
                          <a:spcPct val="100000"/>
                        </a:lnSpc>
                        <a:spcBef>
                          <a:spcPts val="0"/>
                        </a:spcBef>
                        <a:spcAft>
                          <a:spcPts val="0"/>
                        </a:spcAft>
                      </a:pPr>
                      <a:r>
                        <a:rPr sz="1000" b="0">
                          <a:solidFill>
                            <a:srgbClr val="232D37"/>
                          </a:solidFill>
                          <a:latin typeface="微软雅黑"/>
                          <a:ea typeface="微软雅黑"/>
                        </a:rPr>
                        <a:t>北京联通毫秒用算行动方案</a:t>
                      </a:r>
                    </a:p>
                  </a:txBody>
                  <a:tcPr marL="13716" marR="13716" marT="2743" marB="2743" anchor="ctr">
                    <a:solidFill>
                      <a:srgbClr val="FFFFFF"/>
                    </a:solidFill>
                  </a:tcPr>
                </a:tc>
                <a:tc>
                  <a:txBody>
                    <a:bodyPr/>
                    <a:lstStyle/>
                    <a:p>
                      <a:pPr algn="ctr">
                        <a:lnSpc>
                          <a:spcPct val="100000"/>
                        </a:lnSpc>
                        <a:spcBef>
                          <a:spcPts val="0"/>
                        </a:spcBef>
                        <a:spcAft>
                          <a:spcPts val="0"/>
                        </a:spcAft>
                      </a:pPr>
                      <a:r>
                        <a:rPr sz="1000" b="0">
                          <a:solidFill>
                            <a:srgbClr val="232D37"/>
                          </a:solidFill>
                          <a:latin typeface="微软雅黑"/>
                          <a:ea typeface="微软雅黑"/>
                        </a:rPr>
                        <a:t>2026年4月</a:t>
                      </a:r>
                    </a:p>
                  </a:txBody>
                  <a:tcPr marL="13716" marR="13716" marT="2743" marB="2743" anchor="ctr">
                    <a:solidFill>
                      <a:srgbClr val="FFFFFF"/>
                    </a:solidFill>
                  </a:tcPr>
                </a:tc>
                <a:extLst>
                  <a:ext uri="{0D108BD9-81ED-4DB2-BD59-A6C34878D82A}">
                    <a16:rowId xmlns:a16="http://schemas.microsoft.com/office/drawing/2014/main" val="10005"/>
                  </a:ext>
                </a:extLst>
              </a:tr>
              <a:tr h="265181">
                <a:tc>
                  <a:txBody>
                    <a:bodyPr/>
                    <a:lstStyle/>
                    <a:p>
                      <a:pPr algn="ctr">
                        <a:lnSpc>
                          <a:spcPct val="100000"/>
                        </a:lnSpc>
                        <a:spcBef>
                          <a:spcPts val="0"/>
                        </a:spcBef>
                        <a:spcAft>
                          <a:spcPts val="0"/>
                        </a:spcAft>
                      </a:pPr>
                      <a:r>
                        <a:rPr sz="1000" b="0">
                          <a:solidFill>
                            <a:srgbClr val="232D37"/>
                          </a:solidFill>
                          <a:latin typeface="微软雅黑"/>
                          <a:ea typeface="微软雅黑"/>
                        </a:rPr>
                        <a:t>北京</a:t>
                      </a:r>
                    </a:p>
                  </a:txBody>
                  <a:tcPr marL="13716" marR="13716" marT="2743" marB="2743" anchor="ctr">
                    <a:solidFill>
                      <a:srgbClr val="F6F9FC"/>
                    </a:solidFill>
                  </a:tcPr>
                </a:tc>
                <a:tc>
                  <a:txBody>
                    <a:bodyPr/>
                    <a:lstStyle/>
                    <a:p>
                      <a:pPr algn="ctr">
                        <a:lnSpc>
                          <a:spcPct val="100000"/>
                        </a:lnSpc>
                        <a:spcBef>
                          <a:spcPts val="0"/>
                        </a:spcBef>
                        <a:spcAft>
                          <a:spcPts val="0"/>
                        </a:spcAft>
                      </a:pPr>
                      <a:r>
                        <a:rPr sz="1000" b="0">
                          <a:solidFill>
                            <a:srgbClr val="232D37"/>
                          </a:solidFill>
                          <a:latin typeface="微软雅黑"/>
                          <a:ea typeface="微软雅黑"/>
                        </a:rPr>
                        <a:t>基础设施</a:t>
                      </a:r>
                    </a:p>
                  </a:txBody>
                  <a:tcPr marL="13716" marR="13716" marT="2743" marB="2743" anchor="ctr">
                    <a:solidFill>
                      <a:srgbClr val="F6F9FC"/>
                    </a:solidFill>
                  </a:tcPr>
                </a:tc>
                <a:tc>
                  <a:txBody>
                    <a:bodyPr/>
                    <a:lstStyle/>
                    <a:p>
                      <a:pPr algn="l">
                        <a:lnSpc>
                          <a:spcPct val="100000"/>
                        </a:lnSpc>
                        <a:spcBef>
                          <a:spcPts val="0"/>
                        </a:spcBef>
                        <a:spcAft>
                          <a:spcPts val="0"/>
                        </a:spcAft>
                      </a:pPr>
                      <a:r>
                        <a:rPr sz="1000" b="0">
                          <a:solidFill>
                            <a:srgbClr val="232D37"/>
                          </a:solidFill>
                          <a:latin typeface="微软雅黑"/>
                          <a:ea typeface="微软雅黑"/>
                        </a:rPr>
                        <a:t>北京联通AIDC资源保障工作方案</a:t>
                      </a:r>
                    </a:p>
                  </a:txBody>
                  <a:tcPr marL="13716" marR="13716" marT="2743" marB="2743" anchor="ctr">
                    <a:solidFill>
                      <a:srgbClr val="F6F9FC"/>
                    </a:solidFill>
                  </a:tcPr>
                </a:tc>
                <a:tc>
                  <a:txBody>
                    <a:bodyPr/>
                    <a:lstStyle/>
                    <a:p>
                      <a:pPr algn="ctr">
                        <a:lnSpc>
                          <a:spcPct val="100000"/>
                        </a:lnSpc>
                        <a:spcBef>
                          <a:spcPts val="0"/>
                        </a:spcBef>
                        <a:spcAft>
                          <a:spcPts val="0"/>
                        </a:spcAft>
                      </a:pPr>
                      <a:r>
                        <a:rPr sz="1000" b="0">
                          <a:solidFill>
                            <a:srgbClr val="232D37"/>
                          </a:solidFill>
                          <a:latin typeface="微软雅黑"/>
                          <a:ea typeface="微软雅黑"/>
                        </a:rPr>
                        <a:t>2026年4月</a:t>
                      </a:r>
                    </a:p>
                  </a:txBody>
                  <a:tcPr marL="13716" marR="13716" marT="2743" marB="2743" anchor="ctr">
                    <a:solidFill>
                      <a:srgbClr val="F6F9FC"/>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19456"/>
            <a:ext cx="9738360" cy="621792"/>
          </a:xfrm>
          <a:prstGeom prst="rect">
            <a:avLst/>
          </a:prstGeom>
          <a:noFill/>
        </p:spPr>
        <p:txBody>
          <a:bodyPr wrap="square" lIns="0" tIns="0" rIns="0" bIns="0" anchor="ctr">
            <a:normAutofit/>
          </a:bodyPr>
          <a:lstStyle/>
          <a:p>
            <a:pPr algn="l">
              <a:lnSpc>
                <a:spcPct val="100000"/>
              </a:lnSpc>
              <a:spcBef>
                <a:spcPts val="0"/>
              </a:spcBef>
              <a:spcAft>
                <a:spcPts val="0"/>
              </a:spcAft>
              <a:defRPr sz="1300" b="1">
                <a:solidFill>
                  <a:srgbClr val="111111"/>
                </a:solidFill>
                <a:latin typeface="微软雅黑"/>
              </a:defRPr>
            </a:pPr>
            <a:r>
              <a:rPr sz="3400" b="1" i="0">
                <a:solidFill>
                  <a:srgbClr val="111111"/>
                </a:solidFill>
                <a:latin typeface="微软雅黑"/>
                <a:ea typeface="微软雅黑"/>
              </a:rPr>
              <a:t>重点生产组织工作进展</a:t>
            </a:r>
          </a:p>
        </p:txBody>
      </p:sp>
      <p:sp>
        <p:nvSpPr>
          <p:cNvPr id="20" name="Rectangle 19"/>
          <p:cNvSpPr/>
          <p:nvPr/>
        </p:nvSpPr>
        <p:spPr>
          <a:xfrm>
            <a:off x="347472" y="1143000"/>
            <a:ext cx="6172200" cy="329184"/>
          </a:xfrm>
          <a:prstGeom prst="rect">
            <a:avLst/>
          </a:prstGeom>
          <a:solidFill>
            <a:srgbClr val="003E9E"/>
          </a:solidFill>
          <a:ln w="10160">
            <a:solidFill>
              <a:srgbClr val="003E9E"/>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spcBef>
                <a:spcPts val="0"/>
              </a:spcBef>
              <a:spcAft>
                <a:spcPts val="0"/>
              </a:spcAft>
            </a:pPr>
            <a:endParaRPr/>
          </a:p>
        </p:txBody>
      </p:sp>
      <p:sp>
        <p:nvSpPr>
          <p:cNvPr id="22" name="Rectangle 21"/>
          <p:cNvSpPr/>
          <p:nvPr/>
        </p:nvSpPr>
        <p:spPr>
          <a:xfrm>
            <a:off x="347472" y="1472184"/>
            <a:ext cx="6172200" cy="347472"/>
          </a:xfrm>
          <a:prstGeom prst="rect">
            <a:avLst/>
          </a:prstGeom>
          <a:solidFill>
            <a:srgbClr val="F4F7FB"/>
          </a:solidFill>
          <a:ln w="10160">
            <a:solidFill>
              <a:srgbClr val="B7C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spcBef>
                <a:spcPts val="0"/>
              </a:spcBef>
              <a:spcAft>
                <a:spcPts val="0"/>
              </a:spcAft>
            </a:pPr>
            <a:endParaRPr/>
          </a:p>
        </p:txBody>
      </p:sp>
      <p:sp>
        <p:nvSpPr>
          <p:cNvPr id="24" name="Rectangle 23"/>
          <p:cNvSpPr/>
          <p:nvPr/>
        </p:nvSpPr>
        <p:spPr>
          <a:xfrm>
            <a:off x="6629400" y="1143000"/>
            <a:ext cx="5193792" cy="329184"/>
          </a:xfrm>
          <a:prstGeom prst="rect">
            <a:avLst/>
          </a:prstGeom>
          <a:solidFill>
            <a:srgbClr val="003E9E"/>
          </a:solidFill>
          <a:ln w="10160">
            <a:solidFill>
              <a:srgbClr val="003E9E"/>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spcBef>
                <a:spcPts val="0"/>
              </a:spcBef>
              <a:spcAft>
                <a:spcPts val="0"/>
              </a:spcAft>
            </a:pPr>
            <a:endParaRPr/>
          </a:p>
        </p:txBody>
      </p:sp>
      <p:sp>
        <p:nvSpPr>
          <p:cNvPr id="26" name="Rectangle 25"/>
          <p:cNvSpPr/>
          <p:nvPr/>
        </p:nvSpPr>
        <p:spPr>
          <a:xfrm>
            <a:off x="6629400" y="1472184"/>
            <a:ext cx="5193792" cy="347472"/>
          </a:xfrm>
          <a:prstGeom prst="rect">
            <a:avLst/>
          </a:prstGeom>
          <a:solidFill>
            <a:srgbClr val="F4F7FB"/>
          </a:solidFill>
          <a:ln w="10160">
            <a:solidFill>
              <a:srgbClr val="B7C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spcBef>
                <a:spcPts val="0"/>
              </a:spcBef>
              <a:spcAft>
                <a:spcPts val="0"/>
              </a:spcAft>
            </a:pPr>
            <a:endParaRPr/>
          </a:p>
        </p:txBody>
      </p:sp>
      <p:sp>
        <p:nvSpPr>
          <p:cNvPr id="28" name="Rectangle 27"/>
          <p:cNvSpPr/>
          <p:nvPr/>
        </p:nvSpPr>
        <p:spPr>
          <a:xfrm>
            <a:off x="6629400" y="1865376"/>
            <a:ext cx="5193792" cy="850392"/>
          </a:xfrm>
          <a:prstGeom prst="rect">
            <a:avLst/>
          </a:prstGeom>
          <a:solidFill>
            <a:srgbClr val="FFFFFF"/>
          </a:solidFill>
          <a:ln w="10160">
            <a:solidFill>
              <a:srgbClr val="B7C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spcBef>
                <a:spcPts val="0"/>
              </a:spcBef>
              <a:spcAft>
                <a:spcPts val="0"/>
              </a:spcAft>
            </a:pPr>
            <a:endParaRPr/>
          </a:p>
        </p:txBody>
      </p:sp>
      <p:pic>
        <p:nvPicPr>
          <p:cNvPr id="14" name="Picture 13" descr="image4.png"/>
          <p:cNvPicPr>
            <a:picLocks noChangeAspect="1"/>
          </p:cNvPicPr>
          <p:nvPr/>
        </p:nvPicPr>
        <p:blipFill>
          <a:blip r:embed="rId2"/>
          <a:stretch>
            <a:fillRect/>
          </a:stretch>
        </p:blipFill>
        <p:spPr>
          <a:xfrm>
            <a:off x="7276437" y="1975104"/>
            <a:ext cx="3899717" cy="621792"/>
          </a:xfrm>
          <a:prstGeom prst="rect">
            <a:avLst/>
          </a:prstGeom>
        </p:spPr>
      </p:pic>
      <p:sp>
        <p:nvSpPr>
          <p:cNvPr id="29" name="Rectangle 28"/>
          <p:cNvSpPr/>
          <p:nvPr/>
        </p:nvSpPr>
        <p:spPr>
          <a:xfrm>
            <a:off x="347472" y="2862072"/>
            <a:ext cx="11475720" cy="292608"/>
          </a:xfrm>
          <a:prstGeom prst="rect">
            <a:avLst/>
          </a:prstGeom>
          <a:solidFill>
            <a:srgbClr val="003E9E"/>
          </a:solidFill>
          <a:ln w="10160">
            <a:solidFill>
              <a:srgbClr val="003E9E"/>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spcBef>
                <a:spcPts val="0"/>
              </a:spcBef>
              <a:spcAft>
                <a:spcPts val="0"/>
              </a:spcAft>
            </a:pPr>
            <a:endParaRPr/>
          </a:p>
        </p:txBody>
      </p:sp>
      <p:sp>
        <p:nvSpPr>
          <p:cNvPr id="31" name="Rectangle 30"/>
          <p:cNvSpPr/>
          <p:nvPr/>
        </p:nvSpPr>
        <p:spPr>
          <a:xfrm>
            <a:off x="347472" y="3154680"/>
            <a:ext cx="11475720" cy="329184"/>
          </a:xfrm>
          <a:prstGeom prst="rect">
            <a:avLst/>
          </a:prstGeom>
          <a:solidFill>
            <a:srgbClr val="F4F7FB"/>
          </a:solidFill>
          <a:ln w="10160">
            <a:solidFill>
              <a:srgbClr val="B7C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spcBef>
                <a:spcPts val="0"/>
              </a:spcBef>
              <a:spcAft>
                <a:spcPts val="0"/>
              </a:spcAft>
            </a:pPr>
            <a:endParaRPr/>
          </a:p>
        </p:txBody>
      </p:sp>
      <p:sp>
        <p:nvSpPr>
          <p:cNvPr id="33" name="TextBox 32"/>
          <p:cNvSpPr txBox="1"/>
          <p:nvPr/>
        </p:nvSpPr>
        <p:spPr>
          <a:xfrm>
            <a:off x="11338560" y="6565392"/>
            <a:ext cx="502920" cy="219456"/>
          </a:xfrm>
          <a:prstGeom prst="rect">
            <a:avLst/>
          </a:prstGeom>
          <a:noFill/>
        </p:spPr>
        <p:txBody>
          <a:bodyPr wrap="square" lIns="0" tIns="0" rIns="0" bIns="0" anchor="ctr">
            <a:spAutoFit/>
          </a:bodyPr>
          <a:lstStyle/>
          <a:p>
            <a:pPr algn="ctr">
              <a:lnSpc>
                <a:spcPct val="130000"/>
              </a:lnSpc>
              <a:spcBef>
                <a:spcPts val="0"/>
              </a:spcBef>
              <a:spcAft>
                <a:spcPts val="0"/>
              </a:spcAft>
              <a:defRPr sz="1300" b="0">
                <a:solidFill>
                  <a:srgbClr val="111111"/>
                </a:solidFill>
                <a:latin typeface="微软雅黑"/>
              </a:defRPr>
            </a:pPr>
            <a:r>
              <a:rPr sz="1000" b="0">
                <a:solidFill>
                  <a:srgbClr val="111111"/>
                </a:solidFill>
                <a:latin typeface="微软雅黑"/>
                <a:ea typeface="微软雅黑"/>
              </a:rPr>
              <a:t>7</a:t>
            </a:r>
          </a:p>
        </p:txBody>
      </p:sp>
      <p:sp>
        <p:nvSpPr>
          <p:cNvPr id="21" name="TextBox 20"/>
          <p:cNvSpPr txBox="1"/>
          <p:nvPr/>
        </p:nvSpPr>
        <p:spPr>
          <a:xfrm>
            <a:off x="347472" y="1143000"/>
            <a:ext cx="6172200" cy="329184"/>
          </a:xfrm>
          <a:prstGeom prst="rect">
            <a:avLst/>
          </a:prstGeom>
          <a:noFill/>
        </p:spPr>
        <p:txBody>
          <a:bodyPr wrap="square" lIns="0" tIns="0" rIns="0" bIns="0" anchor="ctr">
            <a:spAutoFit/>
          </a:bodyPr>
          <a:lstStyle/>
          <a:p>
            <a:pPr algn="ctr">
              <a:lnSpc>
                <a:spcPct val="100000"/>
              </a:lnSpc>
              <a:spcBef>
                <a:spcPts val="0"/>
              </a:spcBef>
              <a:spcAft>
                <a:spcPts val="0"/>
              </a:spcAft>
              <a:defRPr sz="2000" b="1">
                <a:solidFill>
                  <a:srgbClr val="FFFFFF"/>
                </a:solidFill>
                <a:latin typeface="微软雅黑"/>
              </a:defRPr>
            </a:pPr>
            <a:r>
              <a:rPr sz="1200" b="1">
                <a:solidFill>
                  <a:srgbClr val="FFFFFF"/>
                </a:solidFill>
                <a:latin typeface="微软雅黑"/>
                <a:ea typeface="微软雅黑"/>
              </a:rPr>
              <a:t>团队协同</a:t>
            </a:r>
          </a:p>
        </p:txBody>
      </p:sp>
      <p:sp>
        <p:nvSpPr>
          <p:cNvPr id="23" name="TextBox 22"/>
          <p:cNvSpPr txBox="1"/>
          <p:nvPr/>
        </p:nvSpPr>
        <p:spPr>
          <a:xfrm>
            <a:off x="347472" y="1472184"/>
            <a:ext cx="6172200" cy="347472"/>
          </a:xfrm>
          <a:prstGeom prst="rect">
            <a:avLst/>
          </a:prstGeom>
          <a:noFill/>
        </p:spPr>
        <p:txBody>
          <a:bodyPr wrap="square" lIns="64008" tIns="64008" rIns="64008" bIns="64008" anchor="ctr">
            <a:spAutoFit/>
          </a:bodyPr>
          <a:lstStyle/>
          <a:p>
            <a:pPr algn="l">
              <a:lnSpc>
                <a:spcPct val="130000"/>
              </a:lnSpc>
              <a:spcBef>
                <a:spcPts val="0"/>
              </a:spcBef>
              <a:spcAft>
                <a:spcPts val="0"/>
              </a:spcAft>
              <a:defRPr sz="1300" b="1">
                <a:solidFill>
                  <a:srgbClr val="111111"/>
                </a:solidFill>
                <a:latin typeface="微软雅黑"/>
              </a:defRPr>
            </a:pPr>
            <a:r>
              <a:rPr sz="1200" b="1">
                <a:solidFill>
                  <a:srgbClr val="111111"/>
                </a:solidFill>
                <a:latin typeface="微软雅黑"/>
                <a:ea typeface="微软雅黑"/>
              </a:rPr>
              <a:t>宽带总体组协同19次，5月完成5次，其中2次面向主业</a:t>
            </a:r>
          </a:p>
        </p:txBody>
      </p:sp>
      <p:sp>
        <p:nvSpPr>
          <p:cNvPr id="25" name="TextBox 24"/>
          <p:cNvSpPr txBox="1"/>
          <p:nvPr/>
        </p:nvSpPr>
        <p:spPr>
          <a:xfrm>
            <a:off x="6629400" y="1143000"/>
            <a:ext cx="5193792" cy="329184"/>
          </a:xfrm>
          <a:prstGeom prst="rect">
            <a:avLst/>
          </a:prstGeom>
          <a:noFill/>
        </p:spPr>
        <p:txBody>
          <a:bodyPr wrap="square" lIns="0" tIns="0" rIns="0" bIns="0" anchor="ctr">
            <a:spAutoFit/>
          </a:bodyPr>
          <a:lstStyle/>
          <a:p>
            <a:pPr algn="ctr">
              <a:lnSpc>
                <a:spcPct val="100000"/>
              </a:lnSpc>
              <a:spcBef>
                <a:spcPts val="0"/>
              </a:spcBef>
              <a:spcAft>
                <a:spcPts val="0"/>
              </a:spcAft>
              <a:defRPr sz="2000" b="1">
                <a:solidFill>
                  <a:srgbClr val="FFFFFF"/>
                </a:solidFill>
                <a:latin typeface="微软雅黑"/>
              </a:defRPr>
            </a:pPr>
            <a:r>
              <a:rPr sz="1200" b="1">
                <a:solidFill>
                  <a:srgbClr val="FFFFFF"/>
                </a:solidFill>
                <a:latin typeface="微软雅黑"/>
                <a:ea typeface="微软雅黑"/>
              </a:rPr>
              <a:t>订单成果上传情况</a:t>
            </a:r>
          </a:p>
        </p:txBody>
      </p:sp>
      <p:sp>
        <p:nvSpPr>
          <p:cNvPr id="27" name="TextBox 26"/>
          <p:cNvSpPr txBox="1"/>
          <p:nvPr/>
        </p:nvSpPr>
        <p:spPr>
          <a:xfrm>
            <a:off x="6629400" y="1472184"/>
            <a:ext cx="5193792" cy="347472"/>
          </a:xfrm>
          <a:prstGeom prst="rect">
            <a:avLst/>
          </a:prstGeom>
          <a:noFill/>
        </p:spPr>
        <p:txBody>
          <a:bodyPr wrap="square" lIns="64008" tIns="64008" rIns="64008" bIns="64008" anchor="ctr">
            <a:spAutoFit/>
          </a:bodyPr>
          <a:lstStyle/>
          <a:p>
            <a:pPr algn="l">
              <a:lnSpc>
                <a:spcPct val="130000"/>
              </a:lnSpc>
              <a:spcBef>
                <a:spcPts val="0"/>
              </a:spcBef>
              <a:spcAft>
                <a:spcPts val="0"/>
              </a:spcAft>
              <a:defRPr sz="1300" b="1">
                <a:solidFill>
                  <a:srgbClr val="111111"/>
                </a:solidFill>
                <a:latin typeface="微软雅黑"/>
              </a:defRPr>
            </a:pPr>
            <a:r>
              <a:rPr sz="1200" b="1">
                <a:solidFill>
                  <a:srgbClr val="111111"/>
                </a:solidFill>
                <a:latin typeface="微软雅黑"/>
                <a:ea typeface="微软雅黑"/>
              </a:rPr>
              <a:t>北京团队上传率31%，低于多数对标省份，6月需集中提升</a:t>
            </a:r>
          </a:p>
        </p:txBody>
      </p:sp>
      <p:graphicFrame>
        <p:nvGraphicFramePr>
          <p:cNvPr id="34" name="Table 33"/>
          <p:cNvGraphicFramePr>
            <a:graphicFrameLocks noGrp="1"/>
          </p:cNvGraphicFramePr>
          <p:nvPr/>
        </p:nvGraphicFramePr>
        <p:xfrm>
          <a:off x="347472" y="1901952"/>
          <a:ext cx="6172200" cy="804672"/>
        </p:xfrm>
        <a:graphic>
          <a:graphicData uri="http://schemas.openxmlformats.org/drawingml/2006/table">
            <a:tbl>
              <a:tblPr firstRow="1" bandRow="1">
                <a:tableStyleId>{5C22544A-7EE6-4342-B048-85BDC9FD1C3A}</a:tableStyleId>
              </a:tblPr>
              <a:tblGrid>
                <a:gridCol w="960120">
                  <a:extLst>
                    <a:ext uri="{9D8B030D-6E8A-4147-A177-3AD203B41FA5}">
                      <a16:colId xmlns:a16="http://schemas.microsoft.com/office/drawing/2014/main" val="20000"/>
                    </a:ext>
                  </a:extLst>
                </a:gridCol>
                <a:gridCol w="960120">
                  <a:extLst>
                    <a:ext uri="{9D8B030D-6E8A-4147-A177-3AD203B41FA5}">
                      <a16:colId xmlns:a16="http://schemas.microsoft.com/office/drawing/2014/main" val="20001"/>
                    </a:ext>
                  </a:extLst>
                </a:gridCol>
                <a:gridCol w="960120">
                  <a:extLst>
                    <a:ext uri="{9D8B030D-6E8A-4147-A177-3AD203B41FA5}">
                      <a16:colId xmlns:a16="http://schemas.microsoft.com/office/drawing/2014/main" val="20002"/>
                    </a:ext>
                  </a:extLst>
                </a:gridCol>
                <a:gridCol w="960120">
                  <a:extLst>
                    <a:ext uri="{9D8B030D-6E8A-4147-A177-3AD203B41FA5}">
                      <a16:colId xmlns:a16="http://schemas.microsoft.com/office/drawing/2014/main" val="20003"/>
                    </a:ext>
                  </a:extLst>
                </a:gridCol>
                <a:gridCol w="2331720">
                  <a:extLst>
                    <a:ext uri="{9D8B030D-6E8A-4147-A177-3AD203B41FA5}">
                      <a16:colId xmlns:a16="http://schemas.microsoft.com/office/drawing/2014/main" val="20004"/>
                    </a:ext>
                  </a:extLst>
                </a:gridCol>
              </a:tblGrid>
              <a:tr h="309489">
                <a:tc gridSpan="5">
                  <a:txBody>
                    <a:bodyPr/>
                    <a:lstStyle/>
                    <a:p>
                      <a:pPr algn="ctr">
                        <a:lnSpc>
                          <a:spcPct val="100000"/>
                        </a:lnSpc>
                        <a:spcBef>
                          <a:spcPts val="0"/>
                        </a:spcBef>
                        <a:spcAft>
                          <a:spcPts val="0"/>
                        </a:spcAft>
                      </a:pPr>
                      <a:r>
                        <a:rPr sz="1200" b="1">
                          <a:solidFill>
                            <a:srgbClr val="FFFFFF"/>
                          </a:solidFill>
                          <a:latin typeface="微软雅黑"/>
                          <a:ea typeface="微软雅黑"/>
                        </a:rPr>
                        <a:t>团队协同</a:t>
                      </a:r>
                    </a:p>
                  </a:txBody>
                  <a:tcPr marL="16459" marR="16459" marT="5486" marB="5486" anchor="ctr">
                    <a:solidFill>
                      <a:srgbClr val="0047A0"/>
                    </a:solidFill>
                  </a:tcPr>
                </a:tc>
                <a:tc hMerge="1">
                  <a:txBody>
                    <a:bodyPr/>
                    <a:lstStyle/>
                    <a:p>
                      <a:pPr algn="ctr">
                        <a:lnSpc>
                          <a:spcPct val="100000"/>
                        </a:lnSpc>
                        <a:spcBef>
                          <a:spcPts val="0"/>
                        </a:spcBef>
                        <a:spcAft>
                          <a:spcPts val="0"/>
                        </a:spcAft>
                      </a:pPr>
                      <a:endParaRPr/>
                    </a:p>
                  </a:txBody>
                  <a:tcPr marL="16459" marR="16459" marT="5486" marB="5486" anchor="ctr">
                    <a:solidFill>
                      <a:srgbClr val="004C97"/>
                    </a:solidFill>
                  </a:tcPr>
                </a:tc>
                <a:tc hMerge="1">
                  <a:txBody>
                    <a:bodyPr/>
                    <a:lstStyle/>
                    <a:p>
                      <a:pPr algn="ctr">
                        <a:lnSpc>
                          <a:spcPct val="100000"/>
                        </a:lnSpc>
                        <a:spcBef>
                          <a:spcPts val="0"/>
                        </a:spcBef>
                        <a:spcAft>
                          <a:spcPts val="0"/>
                        </a:spcAft>
                      </a:pPr>
                      <a:endParaRPr/>
                    </a:p>
                  </a:txBody>
                  <a:tcPr marL="16459" marR="16459" marT="5486" marB="5486" anchor="ctr">
                    <a:solidFill>
                      <a:srgbClr val="004C97"/>
                    </a:solidFill>
                  </a:tcPr>
                </a:tc>
                <a:tc hMerge="1">
                  <a:txBody>
                    <a:bodyPr/>
                    <a:lstStyle/>
                    <a:p>
                      <a:pPr algn="ctr">
                        <a:lnSpc>
                          <a:spcPct val="100000"/>
                        </a:lnSpc>
                        <a:spcBef>
                          <a:spcPts val="0"/>
                        </a:spcBef>
                        <a:spcAft>
                          <a:spcPts val="0"/>
                        </a:spcAft>
                      </a:pPr>
                      <a:endParaRPr/>
                    </a:p>
                  </a:txBody>
                  <a:tcPr marL="16459" marR="16459" marT="5486" marB="5486" anchor="ctr">
                    <a:solidFill>
                      <a:srgbClr val="004C97"/>
                    </a:solidFill>
                  </a:tcPr>
                </a:tc>
                <a:tc hMerge="1">
                  <a:txBody>
                    <a:bodyPr/>
                    <a:lstStyle/>
                    <a:p>
                      <a:pPr algn="ctr">
                        <a:lnSpc>
                          <a:spcPct val="100000"/>
                        </a:lnSpc>
                        <a:spcBef>
                          <a:spcPts val="0"/>
                        </a:spcBef>
                        <a:spcAft>
                          <a:spcPts val="0"/>
                        </a:spcAft>
                      </a:pPr>
                      <a:endParaRPr/>
                    </a:p>
                  </a:txBody>
                  <a:tcPr marL="16459" marR="16459" marT="5486" marB="5486" anchor="ctr">
                    <a:solidFill>
                      <a:srgbClr val="004C97"/>
                    </a:solidFill>
                  </a:tcPr>
                </a:tc>
                <a:extLst>
                  <a:ext uri="{0D108BD9-81ED-4DB2-BD59-A6C34878D82A}">
                    <a16:rowId xmlns:a16="http://schemas.microsoft.com/office/drawing/2014/main" val="10000"/>
                  </a:ext>
                </a:extLst>
              </a:tr>
              <a:tr h="247591">
                <a:tc rowSpan="2">
                  <a:txBody>
                    <a:bodyPr/>
                    <a:lstStyle/>
                    <a:p>
                      <a:pPr algn="ctr">
                        <a:lnSpc>
                          <a:spcPct val="100000"/>
                        </a:lnSpc>
                        <a:spcBef>
                          <a:spcPts val="0"/>
                        </a:spcBef>
                        <a:spcAft>
                          <a:spcPts val="0"/>
                        </a:spcAft>
                      </a:pPr>
                      <a:r>
                        <a:rPr sz="1000" b="1">
                          <a:solidFill>
                            <a:srgbClr val="FFFFFF"/>
                          </a:solidFill>
                          <a:latin typeface="微软雅黑"/>
                          <a:ea typeface="微软雅黑"/>
                        </a:rPr>
                        <a:t>宽带总体组</a:t>
                      </a:r>
                    </a:p>
                  </a:txBody>
                  <a:tcPr marL="16459" marR="16459" marT="5486" marB="5486" anchor="ctr">
                    <a:solidFill>
                      <a:srgbClr val="0047A0"/>
                    </a:solidFill>
                  </a:tcPr>
                </a:tc>
                <a:tc>
                  <a:txBody>
                    <a:bodyPr/>
                    <a:lstStyle/>
                    <a:p>
                      <a:pPr algn="ctr">
                        <a:lnSpc>
                          <a:spcPct val="100000"/>
                        </a:lnSpc>
                        <a:spcBef>
                          <a:spcPts val="0"/>
                        </a:spcBef>
                        <a:spcAft>
                          <a:spcPts val="0"/>
                        </a:spcAft>
                      </a:pPr>
                      <a:r>
                        <a:rPr sz="1000" b="1">
                          <a:solidFill>
                            <a:srgbClr val="232D37"/>
                          </a:solidFill>
                          <a:latin typeface="微软雅黑"/>
                          <a:ea typeface="微软雅黑"/>
                        </a:rPr>
                        <a:t>目标</a:t>
                      </a:r>
                    </a:p>
                  </a:txBody>
                  <a:tcPr marL="16459" marR="16459" marT="5486" marB="5486" anchor="ctr">
                    <a:solidFill>
                      <a:srgbClr val="FFFFFF"/>
                    </a:solidFill>
                  </a:tcPr>
                </a:tc>
                <a:tc>
                  <a:txBody>
                    <a:bodyPr/>
                    <a:lstStyle/>
                    <a:p>
                      <a:pPr algn="ctr">
                        <a:lnSpc>
                          <a:spcPct val="100000"/>
                        </a:lnSpc>
                        <a:spcBef>
                          <a:spcPts val="0"/>
                        </a:spcBef>
                        <a:spcAft>
                          <a:spcPts val="0"/>
                        </a:spcAft>
                      </a:pPr>
                      <a:r>
                        <a:rPr sz="1000" b="1">
                          <a:solidFill>
                            <a:srgbClr val="232D37"/>
                          </a:solidFill>
                          <a:latin typeface="微软雅黑"/>
                          <a:ea typeface="微软雅黑"/>
                        </a:rPr>
                        <a:t>已完</a:t>
                      </a:r>
                    </a:p>
                  </a:txBody>
                  <a:tcPr marL="16459" marR="16459" marT="5486" marB="5486" anchor="ctr">
                    <a:solidFill>
                      <a:srgbClr val="FFFFFF"/>
                    </a:solidFill>
                  </a:tcPr>
                </a:tc>
                <a:tc>
                  <a:txBody>
                    <a:bodyPr/>
                    <a:lstStyle/>
                    <a:p>
                      <a:pPr algn="ctr">
                        <a:lnSpc>
                          <a:spcPct val="100000"/>
                        </a:lnSpc>
                        <a:spcBef>
                          <a:spcPts val="0"/>
                        </a:spcBef>
                        <a:spcAft>
                          <a:spcPts val="0"/>
                        </a:spcAft>
                      </a:pPr>
                      <a:r>
                        <a:rPr sz="1000" b="1">
                          <a:solidFill>
                            <a:srgbClr val="232D37"/>
                          </a:solidFill>
                          <a:latin typeface="微软雅黑"/>
                          <a:ea typeface="微软雅黑"/>
                        </a:rPr>
                        <a:t>其中：5月</a:t>
                      </a:r>
                    </a:p>
                  </a:txBody>
                  <a:tcPr marL="16459" marR="16459" marT="5486" marB="5486" anchor="ctr">
                    <a:solidFill>
                      <a:srgbClr val="FFFFFF"/>
                    </a:solidFill>
                  </a:tcPr>
                </a:tc>
                <a:tc>
                  <a:txBody>
                    <a:bodyPr/>
                    <a:lstStyle/>
                    <a:p>
                      <a:pPr algn="ctr">
                        <a:lnSpc>
                          <a:spcPct val="100000"/>
                        </a:lnSpc>
                        <a:spcBef>
                          <a:spcPts val="0"/>
                        </a:spcBef>
                        <a:spcAft>
                          <a:spcPts val="0"/>
                        </a:spcAft>
                      </a:pPr>
                      <a:r>
                        <a:rPr sz="1000" b="1">
                          <a:solidFill>
                            <a:srgbClr val="232D37"/>
                          </a:solidFill>
                          <a:latin typeface="微软雅黑"/>
                          <a:ea typeface="微软雅黑"/>
                        </a:rPr>
                        <a:t>其中：面向主业</a:t>
                      </a:r>
                    </a:p>
                  </a:txBody>
                  <a:tcPr marL="16459" marR="16459" marT="5486" marB="5486" anchor="ctr">
                    <a:solidFill>
                      <a:srgbClr val="FFFFFF"/>
                    </a:solidFill>
                  </a:tcPr>
                </a:tc>
                <a:extLst>
                  <a:ext uri="{0D108BD9-81ED-4DB2-BD59-A6C34878D82A}">
                    <a16:rowId xmlns:a16="http://schemas.microsoft.com/office/drawing/2014/main" val="10001"/>
                  </a:ext>
                </a:extLst>
              </a:tr>
              <a:tr h="247592">
                <a:tc vMerge="1">
                  <a:txBody>
                    <a:bodyPr/>
                    <a:lstStyle/>
                    <a:p>
                      <a:pPr algn="ctr">
                        <a:lnSpc>
                          <a:spcPct val="100000"/>
                        </a:lnSpc>
                        <a:spcBef>
                          <a:spcPts val="0"/>
                        </a:spcBef>
                        <a:spcAft>
                          <a:spcPts val="0"/>
                        </a:spcAft>
                      </a:pPr>
                      <a:endParaRPr/>
                    </a:p>
                  </a:txBody>
                  <a:tcPr marL="16459" marR="16459" marT="5486" marB="5486" anchor="ctr">
                    <a:solidFill>
                      <a:srgbClr val="F5F9FC"/>
                    </a:solidFill>
                  </a:tcPr>
                </a:tc>
                <a:tc>
                  <a:txBody>
                    <a:bodyPr/>
                    <a:lstStyle/>
                    <a:p>
                      <a:pPr algn="ctr">
                        <a:lnSpc>
                          <a:spcPct val="100000"/>
                        </a:lnSpc>
                        <a:spcBef>
                          <a:spcPts val="0"/>
                        </a:spcBef>
                        <a:spcAft>
                          <a:spcPts val="0"/>
                        </a:spcAft>
                      </a:pPr>
                      <a:r>
                        <a:rPr sz="1000" b="0">
                          <a:solidFill>
                            <a:srgbClr val="232D37"/>
                          </a:solidFill>
                          <a:latin typeface="微软雅黑"/>
                          <a:ea typeface="微软雅黑"/>
                        </a:rPr>
                        <a:t>2次/月</a:t>
                      </a:r>
                    </a:p>
                  </a:txBody>
                  <a:tcPr marL="16459" marR="16459" marT="5486" marB="5486" anchor="ctr">
                    <a:solidFill>
                      <a:srgbClr val="F6F9FC"/>
                    </a:solidFill>
                  </a:tcPr>
                </a:tc>
                <a:tc>
                  <a:txBody>
                    <a:bodyPr/>
                    <a:lstStyle/>
                    <a:p>
                      <a:pPr algn="ctr">
                        <a:lnSpc>
                          <a:spcPct val="100000"/>
                        </a:lnSpc>
                        <a:spcBef>
                          <a:spcPts val="0"/>
                        </a:spcBef>
                        <a:spcAft>
                          <a:spcPts val="0"/>
                        </a:spcAft>
                      </a:pPr>
                      <a:r>
                        <a:rPr sz="1000" b="0">
                          <a:solidFill>
                            <a:srgbClr val="232D37"/>
                          </a:solidFill>
                          <a:latin typeface="微软雅黑"/>
                          <a:ea typeface="微软雅黑"/>
                        </a:rPr>
                        <a:t>19</a:t>
                      </a:r>
                    </a:p>
                  </a:txBody>
                  <a:tcPr marL="16459" marR="16459" marT="5486" marB="5486" anchor="ctr">
                    <a:solidFill>
                      <a:srgbClr val="F6F9FC"/>
                    </a:solidFill>
                  </a:tcPr>
                </a:tc>
                <a:tc>
                  <a:txBody>
                    <a:bodyPr/>
                    <a:lstStyle/>
                    <a:p>
                      <a:pPr algn="ctr">
                        <a:lnSpc>
                          <a:spcPct val="100000"/>
                        </a:lnSpc>
                        <a:spcBef>
                          <a:spcPts val="0"/>
                        </a:spcBef>
                        <a:spcAft>
                          <a:spcPts val="0"/>
                        </a:spcAft>
                      </a:pPr>
                      <a:r>
                        <a:rPr sz="1000" b="0">
                          <a:solidFill>
                            <a:srgbClr val="232D37"/>
                          </a:solidFill>
                          <a:latin typeface="微软雅黑"/>
                          <a:ea typeface="微软雅黑"/>
                        </a:rPr>
                        <a:t>5</a:t>
                      </a:r>
                    </a:p>
                  </a:txBody>
                  <a:tcPr marL="16459" marR="16459" marT="5486" marB="5486" anchor="ctr">
                    <a:solidFill>
                      <a:srgbClr val="F6F9FC"/>
                    </a:solidFill>
                  </a:tcPr>
                </a:tc>
                <a:tc>
                  <a:txBody>
                    <a:bodyPr/>
                    <a:lstStyle/>
                    <a:p>
                      <a:pPr algn="ctr">
                        <a:lnSpc>
                          <a:spcPct val="100000"/>
                        </a:lnSpc>
                        <a:spcBef>
                          <a:spcPts val="0"/>
                        </a:spcBef>
                        <a:spcAft>
                          <a:spcPts val="0"/>
                        </a:spcAft>
                      </a:pPr>
                      <a:r>
                        <a:rPr sz="1000" b="0">
                          <a:solidFill>
                            <a:srgbClr val="232D37"/>
                          </a:solidFill>
                          <a:latin typeface="微软雅黑"/>
                          <a:ea typeface="微软雅黑"/>
                        </a:rPr>
                        <a:t>2</a:t>
                      </a:r>
                    </a:p>
                  </a:txBody>
                  <a:tcPr marL="16459" marR="16459" marT="5486" marB="5486" anchor="ctr">
                    <a:solidFill>
                      <a:srgbClr val="F6F9FC"/>
                    </a:solidFill>
                  </a:tcPr>
                </a:tc>
                <a:extLst>
                  <a:ext uri="{0D108BD9-81ED-4DB2-BD59-A6C34878D82A}">
                    <a16:rowId xmlns:a16="http://schemas.microsoft.com/office/drawing/2014/main" val="10002"/>
                  </a:ext>
                </a:extLst>
              </a:tr>
            </a:tbl>
          </a:graphicData>
        </a:graphic>
      </p:graphicFrame>
      <p:graphicFrame>
        <p:nvGraphicFramePr>
          <p:cNvPr id="35" name="Table 34"/>
          <p:cNvGraphicFramePr>
            <a:graphicFrameLocks noGrp="1"/>
          </p:cNvGraphicFramePr>
          <p:nvPr/>
        </p:nvGraphicFramePr>
        <p:xfrm>
          <a:off x="347472" y="3575304"/>
          <a:ext cx="11475720" cy="3285909"/>
        </p:xfrm>
        <a:graphic>
          <a:graphicData uri="http://schemas.openxmlformats.org/drawingml/2006/table">
            <a:tbl>
              <a:tblPr firstRow="1" bandRow="1">
                <a:tableStyleId>{5C22544A-7EE6-4342-B048-85BDC9FD1C3A}</a:tableStyleId>
              </a:tblPr>
              <a:tblGrid>
                <a:gridCol w="292608">
                  <a:extLst>
                    <a:ext uri="{9D8B030D-6E8A-4147-A177-3AD203B41FA5}">
                      <a16:colId xmlns:a16="http://schemas.microsoft.com/office/drawing/2014/main" val="20000"/>
                    </a:ext>
                  </a:extLst>
                </a:gridCol>
                <a:gridCol w="749807">
                  <a:extLst>
                    <a:ext uri="{9D8B030D-6E8A-4147-A177-3AD203B41FA5}">
                      <a16:colId xmlns:a16="http://schemas.microsoft.com/office/drawing/2014/main" val="20001"/>
                    </a:ext>
                  </a:extLst>
                </a:gridCol>
                <a:gridCol w="804671">
                  <a:extLst>
                    <a:ext uri="{9D8B030D-6E8A-4147-A177-3AD203B41FA5}">
                      <a16:colId xmlns:a16="http://schemas.microsoft.com/office/drawing/2014/main" val="20002"/>
                    </a:ext>
                  </a:extLst>
                </a:gridCol>
                <a:gridCol w="2148840">
                  <a:extLst>
                    <a:ext uri="{9D8B030D-6E8A-4147-A177-3AD203B41FA5}">
                      <a16:colId xmlns:a16="http://schemas.microsoft.com/office/drawing/2014/main" val="20003"/>
                    </a:ext>
                  </a:extLst>
                </a:gridCol>
                <a:gridCol w="640080">
                  <a:extLst>
                    <a:ext uri="{9D8B030D-6E8A-4147-A177-3AD203B41FA5}">
                      <a16:colId xmlns:a16="http://schemas.microsoft.com/office/drawing/2014/main" val="20004"/>
                    </a:ext>
                  </a:extLst>
                </a:gridCol>
                <a:gridCol w="6839714">
                  <a:extLst>
                    <a:ext uri="{9D8B030D-6E8A-4147-A177-3AD203B41FA5}">
                      <a16:colId xmlns:a16="http://schemas.microsoft.com/office/drawing/2014/main" val="20005"/>
                    </a:ext>
                  </a:extLst>
                </a:gridCol>
              </a:tblGrid>
              <a:tr h="232731">
                <a:tc>
                  <a:txBody>
                    <a:bodyPr/>
                    <a:lstStyle/>
                    <a:p>
                      <a:pPr algn="ctr">
                        <a:lnSpc>
                          <a:spcPct val="100000"/>
                        </a:lnSpc>
                        <a:spcBef>
                          <a:spcPts val="0"/>
                        </a:spcBef>
                        <a:spcAft>
                          <a:spcPts val="0"/>
                        </a:spcAft>
                      </a:pPr>
                      <a:r>
                        <a:rPr sz="1000" b="1">
                          <a:solidFill>
                            <a:srgbClr val="FFFFFF"/>
                          </a:solidFill>
                          <a:latin typeface="微软雅黑"/>
                          <a:ea typeface="微软雅黑"/>
                        </a:rPr>
                        <a:t>序号</a:t>
                      </a:r>
                    </a:p>
                  </a:txBody>
                  <a:tcPr marL="16459" marR="16459" marT="5486" marB="5486" anchor="ctr">
                    <a:solidFill>
                      <a:srgbClr val="004C97"/>
                    </a:solidFill>
                  </a:tcPr>
                </a:tc>
                <a:tc>
                  <a:txBody>
                    <a:bodyPr/>
                    <a:lstStyle/>
                    <a:p>
                      <a:pPr algn="ctr">
                        <a:lnSpc>
                          <a:spcPct val="100000"/>
                        </a:lnSpc>
                        <a:spcBef>
                          <a:spcPts val="0"/>
                        </a:spcBef>
                        <a:spcAft>
                          <a:spcPts val="0"/>
                        </a:spcAft>
                      </a:pPr>
                      <a:r>
                        <a:rPr sz="1000" b="1">
                          <a:solidFill>
                            <a:srgbClr val="FFFFFF"/>
                          </a:solidFill>
                          <a:latin typeface="微软雅黑"/>
                          <a:ea typeface="微软雅黑"/>
                        </a:rPr>
                        <a:t>区域</a:t>
                      </a:r>
                    </a:p>
                  </a:txBody>
                  <a:tcPr marL="16459" marR="16459" marT="5486" marB="5486" anchor="ctr">
                    <a:solidFill>
                      <a:srgbClr val="004C97"/>
                    </a:solidFill>
                  </a:tcPr>
                </a:tc>
                <a:tc>
                  <a:txBody>
                    <a:bodyPr/>
                    <a:lstStyle/>
                    <a:p>
                      <a:pPr algn="ctr">
                        <a:lnSpc>
                          <a:spcPct val="100000"/>
                        </a:lnSpc>
                        <a:spcBef>
                          <a:spcPts val="0"/>
                        </a:spcBef>
                        <a:spcAft>
                          <a:spcPts val="0"/>
                        </a:spcAft>
                      </a:pPr>
                      <a:r>
                        <a:rPr sz="1000" b="1">
                          <a:solidFill>
                            <a:srgbClr val="FFFFFF"/>
                          </a:solidFill>
                          <a:latin typeface="微软雅黑"/>
                          <a:ea typeface="微软雅黑"/>
                        </a:rPr>
                        <a:t>专业</a:t>
                      </a:r>
                    </a:p>
                  </a:txBody>
                  <a:tcPr marL="16459" marR="16459" marT="5486" marB="5486" anchor="ctr">
                    <a:solidFill>
                      <a:srgbClr val="004C97"/>
                    </a:solidFill>
                  </a:tcPr>
                </a:tc>
                <a:tc>
                  <a:txBody>
                    <a:bodyPr/>
                    <a:lstStyle/>
                    <a:p>
                      <a:pPr algn="ctr">
                        <a:lnSpc>
                          <a:spcPct val="100000"/>
                        </a:lnSpc>
                        <a:spcBef>
                          <a:spcPts val="0"/>
                        </a:spcBef>
                        <a:spcAft>
                          <a:spcPts val="0"/>
                        </a:spcAft>
                      </a:pPr>
                      <a:r>
                        <a:rPr sz="1000" b="1">
                          <a:solidFill>
                            <a:srgbClr val="FFFFFF"/>
                          </a:solidFill>
                          <a:latin typeface="微软雅黑"/>
                          <a:ea typeface="微软雅黑"/>
                        </a:rPr>
                        <a:t>工作名称</a:t>
                      </a:r>
                    </a:p>
                  </a:txBody>
                  <a:tcPr marL="16459" marR="16459" marT="5486" marB="5486" anchor="ctr">
                    <a:solidFill>
                      <a:srgbClr val="004C97"/>
                    </a:solidFill>
                  </a:tcPr>
                </a:tc>
                <a:tc>
                  <a:txBody>
                    <a:bodyPr/>
                    <a:lstStyle/>
                    <a:p>
                      <a:pPr algn="ctr">
                        <a:lnSpc>
                          <a:spcPct val="100000"/>
                        </a:lnSpc>
                        <a:spcBef>
                          <a:spcPts val="0"/>
                        </a:spcBef>
                        <a:spcAft>
                          <a:spcPts val="0"/>
                        </a:spcAft>
                      </a:pPr>
                      <a:r>
                        <a:rPr sz="1000" b="1">
                          <a:solidFill>
                            <a:srgbClr val="FFFFFF"/>
                          </a:solidFill>
                          <a:latin typeface="微软雅黑"/>
                          <a:ea typeface="微软雅黑"/>
                        </a:rPr>
                        <a:t>区域总师</a:t>
                      </a:r>
                    </a:p>
                  </a:txBody>
                  <a:tcPr marL="16459" marR="16459" marT="5486" marB="5486" anchor="ctr">
                    <a:solidFill>
                      <a:srgbClr val="004C97"/>
                    </a:solidFill>
                  </a:tcPr>
                </a:tc>
                <a:tc>
                  <a:txBody>
                    <a:bodyPr/>
                    <a:lstStyle/>
                    <a:p>
                      <a:pPr algn="ctr">
                        <a:lnSpc>
                          <a:spcPct val="100000"/>
                        </a:lnSpc>
                        <a:spcBef>
                          <a:spcPts val="0"/>
                        </a:spcBef>
                        <a:spcAft>
                          <a:spcPts val="0"/>
                        </a:spcAft>
                      </a:pPr>
                      <a:r>
                        <a:rPr sz="1000" b="1">
                          <a:solidFill>
                            <a:srgbClr val="FFFFFF"/>
                          </a:solidFill>
                          <a:latin typeface="微软雅黑"/>
                          <a:ea typeface="微软雅黑"/>
                        </a:rPr>
                        <a:t>工作进展：5月</a:t>
                      </a:r>
                    </a:p>
                  </a:txBody>
                  <a:tcPr marL="16459" marR="16459" marT="5486" marB="5486" anchor="ctr">
                    <a:solidFill>
                      <a:srgbClr val="004C97"/>
                    </a:solidFill>
                  </a:tcPr>
                </a:tc>
                <a:extLst>
                  <a:ext uri="{0D108BD9-81ED-4DB2-BD59-A6C34878D82A}">
                    <a16:rowId xmlns:a16="http://schemas.microsoft.com/office/drawing/2014/main" val="10000"/>
                  </a:ext>
                </a:extLst>
              </a:tr>
              <a:tr h="381679">
                <a:tc>
                  <a:txBody>
                    <a:bodyPr/>
                    <a:lstStyle/>
                    <a:p>
                      <a:pPr algn="ctr">
                        <a:lnSpc>
                          <a:spcPct val="100000"/>
                        </a:lnSpc>
                        <a:spcBef>
                          <a:spcPts val="0"/>
                        </a:spcBef>
                        <a:spcAft>
                          <a:spcPts val="0"/>
                        </a:spcAft>
                      </a:pPr>
                      <a:r>
                        <a:rPr sz="1000" b="0">
                          <a:solidFill>
                            <a:srgbClr val="232D37"/>
                          </a:solidFill>
                          <a:latin typeface="微软雅黑"/>
                          <a:ea typeface="微软雅黑"/>
                        </a:rPr>
                        <a:t>1</a:t>
                      </a:r>
                    </a:p>
                  </a:txBody>
                  <a:tcPr marL="16459" marR="16459" marT="5486" marB="5486" anchor="ctr">
                    <a:solidFill>
                      <a:srgbClr val="FFFFFF"/>
                    </a:solidFill>
                  </a:tcPr>
                </a:tc>
                <a:tc>
                  <a:txBody>
                    <a:bodyPr/>
                    <a:lstStyle/>
                    <a:p>
                      <a:pPr algn="ctr">
                        <a:lnSpc>
                          <a:spcPct val="100000"/>
                        </a:lnSpc>
                        <a:spcBef>
                          <a:spcPts val="0"/>
                        </a:spcBef>
                        <a:spcAft>
                          <a:spcPts val="0"/>
                        </a:spcAft>
                      </a:pPr>
                      <a:r>
                        <a:rPr sz="1000" b="0">
                          <a:solidFill>
                            <a:srgbClr val="232D37"/>
                          </a:solidFill>
                          <a:latin typeface="微软雅黑"/>
                          <a:ea typeface="微软雅黑"/>
                        </a:rPr>
                        <a:t>华北区域</a:t>
                      </a:r>
                    </a:p>
                  </a:txBody>
                  <a:tcPr marL="16459" marR="16459" marT="5486" marB="5486" anchor="ctr">
                    <a:solidFill>
                      <a:srgbClr val="FFFFFF"/>
                    </a:solidFill>
                  </a:tcPr>
                </a:tc>
                <a:tc>
                  <a:txBody>
                    <a:bodyPr/>
                    <a:lstStyle/>
                    <a:p>
                      <a:pPr algn="ctr">
                        <a:lnSpc>
                          <a:spcPct val="100000"/>
                        </a:lnSpc>
                        <a:spcBef>
                          <a:spcPts val="0"/>
                        </a:spcBef>
                        <a:spcAft>
                          <a:spcPts val="0"/>
                        </a:spcAft>
                      </a:pPr>
                      <a:r>
                        <a:rPr sz="1000" b="0">
                          <a:solidFill>
                            <a:srgbClr val="232D37"/>
                          </a:solidFill>
                          <a:latin typeface="微软雅黑"/>
                          <a:ea typeface="微软雅黑"/>
                        </a:rPr>
                        <a:t>基础设施</a:t>
                      </a:r>
                    </a:p>
                  </a:txBody>
                  <a:tcPr marL="16459" marR="16459" marT="5486" marB="5486" anchor="ctr">
                    <a:solidFill>
                      <a:srgbClr val="FFFFFF"/>
                    </a:solidFill>
                  </a:tcPr>
                </a:tc>
                <a:tc>
                  <a:txBody>
                    <a:bodyPr/>
                    <a:lstStyle/>
                    <a:p>
                      <a:pPr algn="ctr">
                        <a:lnSpc>
                          <a:spcPct val="100000"/>
                        </a:lnSpc>
                        <a:spcBef>
                          <a:spcPts val="0"/>
                        </a:spcBef>
                        <a:spcAft>
                          <a:spcPts val="0"/>
                        </a:spcAft>
                      </a:pPr>
                      <a:r>
                        <a:rPr sz="1000" b="0">
                          <a:solidFill>
                            <a:srgbClr val="232D37"/>
                          </a:solidFill>
                          <a:latin typeface="微软雅黑"/>
                          <a:ea typeface="微软雅黑"/>
                        </a:rPr>
                        <a:t>核心局优化升级</a:t>
                      </a:r>
                    </a:p>
                  </a:txBody>
                  <a:tcPr marL="16459" marR="16459" marT="5486" marB="5486" anchor="ctr">
                    <a:solidFill>
                      <a:srgbClr val="FFFFFF"/>
                    </a:solidFill>
                  </a:tcPr>
                </a:tc>
                <a:tc>
                  <a:txBody>
                    <a:bodyPr/>
                    <a:lstStyle/>
                    <a:p>
                      <a:pPr algn="ctr">
                        <a:lnSpc>
                          <a:spcPct val="100000"/>
                        </a:lnSpc>
                        <a:spcBef>
                          <a:spcPts val="0"/>
                        </a:spcBef>
                        <a:spcAft>
                          <a:spcPts val="0"/>
                        </a:spcAft>
                      </a:pPr>
                      <a:r>
                        <a:rPr sz="1000" b="0">
                          <a:solidFill>
                            <a:srgbClr val="232D37"/>
                          </a:solidFill>
                          <a:latin typeface="微软雅黑"/>
                          <a:ea typeface="微软雅黑"/>
                        </a:rPr>
                        <a:t>魏华</a:t>
                      </a:r>
                    </a:p>
                  </a:txBody>
                  <a:tcPr marL="16459" marR="16459" marT="5486" marB="5486" anchor="ctr">
                    <a:solidFill>
                      <a:srgbClr val="FFFFFF"/>
                    </a:solidFill>
                  </a:tcPr>
                </a:tc>
                <a:tc>
                  <a:txBody>
                    <a:bodyPr/>
                    <a:lstStyle/>
                    <a:p>
                      <a:pPr algn="l">
                        <a:lnSpc>
                          <a:spcPct val="100000"/>
                        </a:lnSpc>
                        <a:spcBef>
                          <a:spcPts val="0"/>
                        </a:spcBef>
                        <a:spcAft>
                          <a:spcPts val="0"/>
                        </a:spcAft>
                      </a:pPr>
                      <a:r>
                        <a:rPr sz="1000" b="0">
                          <a:solidFill>
                            <a:srgbClr val="232D37"/>
                          </a:solidFill>
                          <a:latin typeface="微软雅黑"/>
                          <a:ea typeface="微软雅黑"/>
                        </a:rPr>
                        <a:t>组织月度区域协同例会，对齐工作标准口径。依托区域协同机制，扎实推进核心局优化升级；借鉴优秀试点建设方案，提前梳理工作要点、做好前期筹备，及时答疑纾解省分个性化难题，统筹抓实区域落地执行，稳步提升工作质效。</a:t>
                      </a:r>
                    </a:p>
                  </a:txBody>
                  <a:tcPr marL="16459" marR="16459" marT="5486" marB="5486" anchor="ctr">
                    <a:solidFill>
                      <a:srgbClr val="FFFFFF"/>
                    </a:solidFill>
                  </a:tcPr>
                </a:tc>
                <a:extLst>
                  <a:ext uri="{0D108BD9-81ED-4DB2-BD59-A6C34878D82A}">
                    <a16:rowId xmlns:a16="http://schemas.microsoft.com/office/drawing/2014/main" val="10001"/>
                  </a:ext>
                </a:extLst>
              </a:tr>
              <a:tr h="288586">
                <a:tc>
                  <a:txBody>
                    <a:bodyPr/>
                    <a:lstStyle/>
                    <a:p>
                      <a:pPr algn="ctr">
                        <a:lnSpc>
                          <a:spcPct val="100000"/>
                        </a:lnSpc>
                        <a:spcBef>
                          <a:spcPts val="0"/>
                        </a:spcBef>
                        <a:spcAft>
                          <a:spcPts val="0"/>
                        </a:spcAft>
                      </a:pPr>
                      <a:r>
                        <a:rPr sz="1000" b="0">
                          <a:solidFill>
                            <a:srgbClr val="232D37"/>
                          </a:solidFill>
                          <a:latin typeface="微软雅黑"/>
                          <a:ea typeface="微软雅黑"/>
                        </a:rPr>
                        <a:t>2</a:t>
                      </a:r>
                    </a:p>
                  </a:txBody>
                  <a:tcPr marL="16459" marR="16459" marT="5486" marB="5486" anchor="ctr">
                    <a:solidFill>
                      <a:srgbClr val="F5F9FC"/>
                    </a:solidFill>
                  </a:tcPr>
                </a:tc>
                <a:tc>
                  <a:txBody>
                    <a:bodyPr/>
                    <a:lstStyle/>
                    <a:p>
                      <a:pPr algn="ctr">
                        <a:lnSpc>
                          <a:spcPct val="100000"/>
                        </a:lnSpc>
                        <a:spcBef>
                          <a:spcPts val="0"/>
                        </a:spcBef>
                        <a:spcAft>
                          <a:spcPts val="0"/>
                        </a:spcAft>
                      </a:pPr>
                      <a:r>
                        <a:rPr sz="1000" b="0">
                          <a:solidFill>
                            <a:srgbClr val="232D37"/>
                          </a:solidFill>
                          <a:latin typeface="微软雅黑"/>
                          <a:ea typeface="微软雅黑"/>
                        </a:rPr>
                        <a:t>华北区域</a:t>
                      </a:r>
                    </a:p>
                  </a:txBody>
                  <a:tcPr marL="16459" marR="16459" marT="5486" marB="5486" anchor="ctr">
                    <a:solidFill>
                      <a:srgbClr val="F5F9FC"/>
                    </a:solidFill>
                  </a:tcPr>
                </a:tc>
                <a:tc>
                  <a:txBody>
                    <a:bodyPr/>
                    <a:lstStyle/>
                    <a:p>
                      <a:pPr algn="ctr">
                        <a:lnSpc>
                          <a:spcPct val="100000"/>
                        </a:lnSpc>
                        <a:spcBef>
                          <a:spcPts val="0"/>
                        </a:spcBef>
                        <a:spcAft>
                          <a:spcPts val="0"/>
                        </a:spcAft>
                      </a:pPr>
                      <a:r>
                        <a:rPr sz="1000" b="0">
                          <a:solidFill>
                            <a:srgbClr val="232D37"/>
                          </a:solidFill>
                          <a:latin typeface="微软雅黑"/>
                          <a:ea typeface="微软雅黑"/>
                        </a:rPr>
                        <a:t>基础设施</a:t>
                      </a:r>
                    </a:p>
                  </a:txBody>
                  <a:tcPr marL="16459" marR="16459" marT="5486" marB="5486" anchor="ctr">
                    <a:solidFill>
                      <a:srgbClr val="F5F9FC"/>
                    </a:solidFill>
                  </a:tcPr>
                </a:tc>
                <a:tc>
                  <a:txBody>
                    <a:bodyPr/>
                    <a:lstStyle/>
                    <a:p>
                      <a:pPr algn="ctr">
                        <a:lnSpc>
                          <a:spcPct val="100000"/>
                        </a:lnSpc>
                        <a:spcBef>
                          <a:spcPts val="0"/>
                        </a:spcBef>
                        <a:spcAft>
                          <a:spcPts val="0"/>
                        </a:spcAft>
                      </a:pPr>
                      <a:r>
                        <a:rPr sz="1000" b="0">
                          <a:solidFill>
                            <a:srgbClr val="232D37"/>
                          </a:solidFill>
                          <a:latin typeface="微软雅黑"/>
                          <a:ea typeface="微软雅黑"/>
                        </a:rPr>
                        <a:t>不同客户在智算中心的需求及应用</a:t>
                      </a:r>
                    </a:p>
                  </a:txBody>
                  <a:tcPr marL="16459" marR="16459" marT="5486" marB="5486" anchor="ctr">
                    <a:solidFill>
                      <a:srgbClr val="F5F9FC"/>
                    </a:solidFill>
                  </a:tcPr>
                </a:tc>
                <a:tc>
                  <a:txBody>
                    <a:bodyPr/>
                    <a:lstStyle/>
                    <a:p>
                      <a:pPr algn="ctr">
                        <a:lnSpc>
                          <a:spcPct val="100000"/>
                        </a:lnSpc>
                        <a:spcBef>
                          <a:spcPts val="0"/>
                        </a:spcBef>
                        <a:spcAft>
                          <a:spcPts val="0"/>
                        </a:spcAft>
                      </a:pPr>
                      <a:r>
                        <a:rPr sz="1000" b="0">
                          <a:solidFill>
                            <a:srgbClr val="232D37"/>
                          </a:solidFill>
                          <a:latin typeface="微软雅黑"/>
                          <a:ea typeface="微软雅黑"/>
                        </a:rPr>
                        <a:t>魏华</a:t>
                      </a:r>
                    </a:p>
                  </a:txBody>
                  <a:tcPr marL="16459" marR="16459" marT="5486" marB="5486" anchor="ctr">
                    <a:solidFill>
                      <a:srgbClr val="F5F9FC"/>
                    </a:solidFill>
                  </a:tcPr>
                </a:tc>
                <a:tc>
                  <a:txBody>
                    <a:bodyPr/>
                    <a:lstStyle/>
                    <a:p>
                      <a:pPr algn="l">
                        <a:lnSpc>
                          <a:spcPct val="100000"/>
                        </a:lnSpc>
                        <a:spcBef>
                          <a:spcPts val="0"/>
                        </a:spcBef>
                        <a:spcAft>
                          <a:spcPts val="0"/>
                        </a:spcAft>
                      </a:pPr>
                      <a:r>
                        <a:rPr sz="1000" b="0">
                          <a:solidFill>
                            <a:srgbClr val="232D37"/>
                          </a:solidFill>
                          <a:latin typeface="微软雅黑"/>
                          <a:ea typeface="微软雅黑"/>
                        </a:rPr>
                        <a:t>组织月度区域协同例会，分享技术交流资料，京津冀地区依托节点项目，深入讨论字节、京东等客户的风冷、液冷的需求，智算中心建设的需求，以及落地情况。</a:t>
                      </a:r>
                    </a:p>
                  </a:txBody>
                  <a:tcPr marL="16459" marR="16459" marT="5486" marB="5486" anchor="ctr">
                    <a:solidFill>
                      <a:srgbClr val="F5F9FC"/>
                    </a:solidFill>
                  </a:tcPr>
                </a:tc>
                <a:extLst>
                  <a:ext uri="{0D108BD9-81ED-4DB2-BD59-A6C34878D82A}">
                    <a16:rowId xmlns:a16="http://schemas.microsoft.com/office/drawing/2014/main" val="10002"/>
                  </a:ext>
                </a:extLst>
              </a:tr>
              <a:tr h="288586">
                <a:tc>
                  <a:txBody>
                    <a:bodyPr/>
                    <a:lstStyle/>
                    <a:p>
                      <a:pPr algn="ctr">
                        <a:lnSpc>
                          <a:spcPct val="100000"/>
                        </a:lnSpc>
                        <a:spcBef>
                          <a:spcPts val="0"/>
                        </a:spcBef>
                        <a:spcAft>
                          <a:spcPts val="0"/>
                        </a:spcAft>
                      </a:pPr>
                      <a:r>
                        <a:rPr sz="1000" b="0">
                          <a:solidFill>
                            <a:srgbClr val="232D37"/>
                          </a:solidFill>
                          <a:latin typeface="微软雅黑"/>
                          <a:ea typeface="微软雅黑"/>
                        </a:rPr>
                        <a:t>3</a:t>
                      </a:r>
                    </a:p>
                  </a:txBody>
                  <a:tcPr marL="16459" marR="16459" marT="5486" marB="5486" anchor="ctr">
                    <a:solidFill>
                      <a:srgbClr val="FFFFFF"/>
                    </a:solidFill>
                  </a:tcPr>
                </a:tc>
                <a:tc>
                  <a:txBody>
                    <a:bodyPr/>
                    <a:lstStyle/>
                    <a:p>
                      <a:pPr algn="ctr">
                        <a:lnSpc>
                          <a:spcPct val="100000"/>
                        </a:lnSpc>
                        <a:spcBef>
                          <a:spcPts val="0"/>
                        </a:spcBef>
                        <a:spcAft>
                          <a:spcPts val="0"/>
                        </a:spcAft>
                      </a:pPr>
                      <a:r>
                        <a:rPr sz="1000" b="0">
                          <a:solidFill>
                            <a:srgbClr val="232D37"/>
                          </a:solidFill>
                          <a:latin typeface="微软雅黑"/>
                          <a:ea typeface="微软雅黑"/>
                        </a:rPr>
                        <a:t>华北区域</a:t>
                      </a:r>
                    </a:p>
                  </a:txBody>
                  <a:tcPr marL="16459" marR="16459" marT="5486" marB="5486" anchor="ctr">
                    <a:solidFill>
                      <a:srgbClr val="FFFFFF"/>
                    </a:solidFill>
                  </a:tcPr>
                </a:tc>
                <a:tc>
                  <a:txBody>
                    <a:bodyPr/>
                    <a:lstStyle/>
                    <a:p>
                      <a:pPr algn="ctr">
                        <a:lnSpc>
                          <a:spcPct val="100000"/>
                        </a:lnSpc>
                        <a:spcBef>
                          <a:spcPts val="0"/>
                        </a:spcBef>
                        <a:spcAft>
                          <a:spcPts val="0"/>
                        </a:spcAft>
                      </a:pPr>
                      <a:r>
                        <a:rPr sz="1000" b="0">
                          <a:solidFill>
                            <a:srgbClr val="232D37"/>
                          </a:solidFill>
                          <a:latin typeface="微软雅黑"/>
                          <a:ea typeface="微软雅黑"/>
                        </a:rPr>
                        <a:t>云资源池</a:t>
                      </a:r>
                    </a:p>
                  </a:txBody>
                  <a:tcPr marL="16459" marR="16459" marT="5486" marB="5486" anchor="ctr">
                    <a:solidFill>
                      <a:srgbClr val="FFFFFF"/>
                    </a:solidFill>
                  </a:tcPr>
                </a:tc>
                <a:tc>
                  <a:txBody>
                    <a:bodyPr/>
                    <a:lstStyle/>
                    <a:p>
                      <a:pPr algn="ctr">
                        <a:lnSpc>
                          <a:spcPct val="100000"/>
                        </a:lnSpc>
                        <a:spcBef>
                          <a:spcPts val="0"/>
                        </a:spcBef>
                        <a:spcAft>
                          <a:spcPts val="0"/>
                        </a:spcAft>
                      </a:pPr>
                      <a:r>
                        <a:rPr sz="1000" b="0">
                          <a:solidFill>
                            <a:srgbClr val="232D37"/>
                          </a:solidFill>
                          <a:latin typeface="微软雅黑"/>
                          <a:ea typeface="微软雅黑"/>
                        </a:rPr>
                        <a:t>云资源池政策研究和技术赋能</a:t>
                      </a:r>
                    </a:p>
                  </a:txBody>
                  <a:tcPr marL="16459" marR="16459" marT="5486" marB="5486" anchor="ctr">
                    <a:solidFill>
                      <a:srgbClr val="FFFFFF"/>
                    </a:solidFill>
                  </a:tcPr>
                </a:tc>
                <a:tc>
                  <a:txBody>
                    <a:bodyPr/>
                    <a:lstStyle/>
                    <a:p>
                      <a:pPr algn="ctr">
                        <a:lnSpc>
                          <a:spcPct val="100000"/>
                        </a:lnSpc>
                        <a:spcBef>
                          <a:spcPts val="0"/>
                        </a:spcBef>
                        <a:spcAft>
                          <a:spcPts val="0"/>
                        </a:spcAft>
                      </a:pPr>
                      <a:r>
                        <a:rPr sz="1000" b="0">
                          <a:solidFill>
                            <a:srgbClr val="232D37"/>
                          </a:solidFill>
                          <a:latin typeface="微软雅黑"/>
                          <a:ea typeface="微软雅黑"/>
                        </a:rPr>
                        <a:t>陈艳敏</a:t>
                      </a:r>
                    </a:p>
                  </a:txBody>
                  <a:tcPr marL="16459" marR="16459" marT="5486" marB="5486" anchor="ctr">
                    <a:solidFill>
                      <a:srgbClr val="FFFFFF"/>
                    </a:solidFill>
                  </a:tcPr>
                </a:tc>
                <a:tc>
                  <a:txBody>
                    <a:bodyPr/>
                    <a:lstStyle/>
                    <a:p>
                      <a:pPr algn="l">
                        <a:lnSpc>
                          <a:spcPct val="100000"/>
                        </a:lnSpc>
                        <a:spcBef>
                          <a:spcPts val="0"/>
                        </a:spcBef>
                        <a:spcAft>
                          <a:spcPts val="0"/>
                        </a:spcAft>
                      </a:pPr>
                      <a:r>
                        <a:rPr sz="1000" b="0">
                          <a:solidFill>
                            <a:srgbClr val="232D37"/>
                          </a:solidFill>
                          <a:latin typeface="微软雅黑"/>
                          <a:ea typeface="微软雅黑"/>
                        </a:rPr>
                        <a:t>协助编制京津冀通算及智算专业协同发展规划的重点工作事项，对2026年中国联通北京省级O域(OSS)资源池信创改造工程及酝酿上会材料进行评审，其他常态化开展工作。</a:t>
                      </a:r>
                    </a:p>
                  </a:txBody>
                  <a:tcPr marL="16459" marR="16459" marT="5486" marB="5486" anchor="ctr">
                    <a:solidFill>
                      <a:srgbClr val="FFFFFF"/>
                    </a:solidFill>
                  </a:tcPr>
                </a:tc>
                <a:extLst>
                  <a:ext uri="{0D108BD9-81ED-4DB2-BD59-A6C34878D82A}">
                    <a16:rowId xmlns:a16="http://schemas.microsoft.com/office/drawing/2014/main" val="10003"/>
                  </a:ext>
                </a:extLst>
              </a:tr>
              <a:tr h="186185">
                <a:tc>
                  <a:txBody>
                    <a:bodyPr/>
                    <a:lstStyle/>
                    <a:p>
                      <a:pPr algn="ctr">
                        <a:lnSpc>
                          <a:spcPct val="100000"/>
                        </a:lnSpc>
                        <a:spcBef>
                          <a:spcPts val="0"/>
                        </a:spcBef>
                        <a:spcAft>
                          <a:spcPts val="0"/>
                        </a:spcAft>
                      </a:pPr>
                      <a:r>
                        <a:rPr sz="1000" b="0">
                          <a:solidFill>
                            <a:srgbClr val="232D37"/>
                          </a:solidFill>
                          <a:latin typeface="微软雅黑"/>
                          <a:ea typeface="微软雅黑"/>
                        </a:rPr>
                        <a:t>4</a:t>
                      </a:r>
                    </a:p>
                  </a:txBody>
                  <a:tcPr marL="16459" marR="16459" marT="5486" marB="5486" anchor="ctr">
                    <a:solidFill>
                      <a:srgbClr val="F5F9FC"/>
                    </a:solidFill>
                  </a:tcPr>
                </a:tc>
                <a:tc>
                  <a:txBody>
                    <a:bodyPr/>
                    <a:lstStyle/>
                    <a:p>
                      <a:pPr algn="ctr">
                        <a:lnSpc>
                          <a:spcPct val="100000"/>
                        </a:lnSpc>
                        <a:spcBef>
                          <a:spcPts val="0"/>
                        </a:spcBef>
                        <a:spcAft>
                          <a:spcPts val="0"/>
                        </a:spcAft>
                      </a:pPr>
                      <a:r>
                        <a:rPr sz="1000" b="0">
                          <a:solidFill>
                            <a:srgbClr val="232D37"/>
                          </a:solidFill>
                          <a:latin typeface="微软雅黑"/>
                          <a:ea typeface="微软雅黑"/>
                        </a:rPr>
                        <a:t>华北区域</a:t>
                      </a:r>
                    </a:p>
                  </a:txBody>
                  <a:tcPr marL="16459" marR="16459" marT="5486" marB="5486" anchor="ctr">
                    <a:solidFill>
                      <a:srgbClr val="F5F9FC"/>
                    </a:solidFill>
                  </a:tcPr>
                </a:tc>
                <a:tc>
                  <a:txBody>
                    <a:bodyPr/>
                    <a:lstStyle/>
                    <a:p>
                      <a:pPr algn="ctr">
                        <a:lnSpc>
                          <a:spcPct val="100000"/>
                        </a:lnSpc>
                        <a:spcBef>
                          <a:spcPts val="0"/>
                        </a:spcBef>
                        <a:spcAft>
                          <a:spcPts val="0"/>
                        </a:spcAft>
                      </a:pPr>
                      <a:r>
                        <a:rPr sz="1000" b="0">
                          <a:solidFill>
                            <a:srgbClr val="232D37"/>
                          </a:solidFill>
                          <a:latin typeface="微软雅黑"/>
                          <a:ea typeface="微软雅黑"/>
                        </a:rPr>
                        <a:t>云核心网</a:t>
                      </a:r>
                    </a:p>
                  </a:txBody>
                  <a:tcPr marL="16459" marR="16459" marT="5486" marB="5486" anchor="ctr">
                    <a:solidFill>
                      <a:srgbClr val="F5F9FC"/>
                    </a:solidFill>
                  </a:tcPr>
                </a:tc>
                <a:tc>
                  <a:txBody>
                    <a:bodyPr/>
                    <a:lstStyle/>
                    <a:p>
                      <a:pPr algn="ctr">
                        <a:lnSpc>
                          <a:spcPct val="100000"/>
                        </a:lnSpc>
                        <a:spcBef>
                          <a:spcPts val="0"/>
                        </a:spcBef>
                        <a:spcAft>
                          <a:spcPts val="0"/>
                        </a:spcAft>
                      </a:pPr>
                      <a:r>
                        <a:rPr sz="1000" b="0">
                          <a:solidFill>
                            <a:srgbClr val="232D37"/>
                          </a:solidFill>
                          <a:latin typeface="微软雅黑"/>
                          <a:ea typeface="微软雅黑"/>
                        </a:rPr>
                        <a:t>云核心网方案指导和机术赋能</a:t>
                      </a:r>
                    </a:p>
                  </a:txBody>
                  <a:tcPr marL="16459" marR="16459" marT="5486" marB="5486" anchor="ctr">
                    <a:solidFill>
                      <a:srgbClr val="F5F9FC"/>
                    </a:solidFill>
                  </a:tcPr>
                </a:tc>
                <a:tc>
                  <a:txBody>
                    <a:bodyPr/>
                    <a:lstStyle/>
                    <a:p>
                      <a:pPr algn="ctr">
                        <a:lnSpc>
                          <a:spcPct val="100000"/>
                        </a:lnSpc>
                        <a:spcBef>
                          <a:spcPts val="0"/>
                        </a:spcBef>
                        <a:spcAft>
                          <a:spcPts val="0"/>
                        </a:spcAft>
                      </a:pPr>
                      <a:r>
                        <a:rPr sz="1000" b="0">
                          <a:solidFill>
                            <a:srgbClr val="232D37"/>
                          </a:solidFill>
                          <a:latin typeface="微软雅黑"/>
                          <a:ea typeface="微软雅黑"/>
                        </a:rPr>
                        <a:t>陈艳敏</a:t>
                      </a:r>
                    </a:p>
                  </a:txBody>
                  <a:tcPr marL="16459" marR="16459" marT="5486" marB="5486" anchor="ctr">
                    <a:solidFill>
                      <a:srgbClr val="F5F9FC"/>
                    </a:solidFill>
                  </a:tcPr>
                </a:tc>
                <a:tc>
                  <a:txBody>
                    <a:bodyPr/>
                    <a:lstStyle/>
                    <a:p>
                      <a:pPr algn="l">
                        <a:lnSpc>
                          <a:spcPct val="100000"/>
                        </a:lnSpc>
                        <a:spcBef>
                          <a:spcPts val="0"/>
                        </a:spcBef>
                        <a:spcAft>
                          <a:spcPts val="0"/>
                        </a:spcAft>
                      </a:pPr>
                      <a:r>
                        <a:rPr sz="1000" b="0">
                          <a:solidFill>
                            <a:srgbClr val="232D37"/>
                          </a:solidFill>
                          <a:latin typeface="微软雅黑"/>
                          <a:ea typeface="微软雅黑"/>
                        </a:rPr>
                        <a:t>组织AI降噪创新业务试点建设方案学习，华为、中兴6G及智算相关新技术学习，其他常态化开展工作。</a:t>
                      </a:r>
                    </a:p>
                  </a:txBody>
                  <a:tcPr marL="16459" marR="16459" marT="5486" marB="5486" anchor="ctr">
                    <a:solidFill>
                      <a:srgbClr val="F5F9FC"/>
                    </a:solidFill>
                  </a:tcPr>
                </a:tc>
                <a:extLst>
                  <a:ext uri="{0D108BD9-81ED-4DB2-BD59-A6C34878D82A}">
                    <a16:rowId xmlns:a16="http://schemas.microsoft.com/office/drawing/2014/main" val="10004"/>
                  </a:ext>
                </a:extLst>
              </a:tr>
              <a:tr h="381679">
                <a:tc>
                  <a:txBody>
                    <a:bodyPr/>
                    <a:lstStyle/>
                    <a:p>
                      <a:pPr algn="ctr">
                        <a:lnSpc>
                          <a:spcPct val="100000"/>
                        </a:lnSpc>
                        <a:spcBef>
                          <a:spcPts val="0"/>
                        </a:spcBef>
                        <a:spcAft>
                          <a:spcPts val="0"/>
                        </a:spcAft>
                      </a:pPr>
                      <a:r>
                        <a:rPr sz="1000" b="0">
                          <a:solidFill>
                            <a:srgbClr val="232D37"/>
                          </a:solidFill>
                          <a:latin typeface="微软雅黑"/>
                          <a:ea typeface="微软雅黑"/>
                        </a:rPr>
                        <a:t>5</a:t>
                      </a:r>
                    </a:p>
                  </a:txBody>
                  <a:tcPr marL="16459" marR="16459" marT="5486" marB="5486" anchor="ctr">
                    <a:solidFill>
                      <a:srgbClr val="FFFFFF"/>
                    </a:solidFill>
                  </a:tcPr>
                </a:tc>
                <a:tc>
                  <a:txBody>
                    <a:bodyPr/>
                    <a:lstStyle/>
                    <a:p>
                      <a:pPr algn="ctr">
                        <a:lnSpc>
                          <a:spcPct val="100000"/>
                        </a:lnSpc>
                        <a:spcBef>
                          <a:spcPts val="0"/>
                        </a:spcBef>
                        <a:spcAft>
                          <a:spcPts val="0"/>
                        </a:spcAft>
                      </a:pPr>
                      <a:r>
                        <a:rPr sz="1000" b="0">
                          <a:solidFill>
                            <a:srgbClr val="232D37"/>
                          </a:solidFill>
                          <a:latin typeface="微软雅黑"/>
                          <a:ea typeface="微软雅黑"/>
                        </a:rPr>
                        <a:t>华北区域</a:t>
                      </a:r>
                    </a:p>
                  </a:txBody>
                  <a:tcPr marL="16459" marR="16459" marT="5486" marB="5486" anchor="ctr">
                    <a:solidFill>
                      <a:srgbClr val="FFFFFF"/>
                    </a:solidFill>
                  </a:tcPr>
                </a:tc>
                <a:tc>
                  <a:txBody>
                    <a:bodyPr/>
                    <a:lstStyle/>
                    <a:p>
                      <a:pPr algn="ctr">
                        <a:lnSpc>
                          <a:spcPct val="100000"/>
                        </a:lnSpc>
                        <a:spcBef>
                          <a:spcPts val="0"/>
                        </a:spcBef>
                        <a:spcAft>
                          <a:spcPts val="0"/>
                        </a:spcAft>
                      </a:pPr>
                      <a:r>
                        <a:rPr sz="1000" b="0">
                          <a:solidFill>
                            <a:srgbClr val="232D37"/>
                          </a:solidFill>
                          <a:latin typeface="微软雅黑"/>
                          <a:ea typeface="微软雅黑"/>
                        </a:rPr>
                        <a:t>骨干传送网</a:t>
                      </a:r>
                    </a:p>
                  </a:txBody>
                  <a:tcPr marL="16459" marR="16459" marT="5486" marB="5486" anchor="ctr">
                    <a:solidFill>
                      <a:srgbClr val="FFFFFF"/>
                    </a:solidFill>
                  </a:tcPr>
                </a:tc>
                <a:tc>
                  <a:txBody>
                    <a:bodyPr/>
                    <a:lstStyle/>
                    <a:p>
                      <a:pPr algn="ctr">
                        <a:lnSpc>
                          <a:spcPct val="100000"/>
                        </a:lnSpc>
                        <a:spcBef>
                          <a:spcPts val="0"/>
                        </a:spcBef>
                        <a:spcAft>
                          <a:spcPts val="0"/>
                        </a:spcAft>
                      </a:pPr>
                      <a:r>
                        <a:rPr sz="1000" b="0">
                          <a:solidFill>
                            <a:srgbClr val="232D37"/>
                          </a:solidFill>
                          <a:latin typeface="微软雅黑"/>
                          <a:ea typeface="微软雅黑"/>
                        </a:rPr>
                        <a:t>推进京津冀区域400G传输系统协同发展，打造全域协同的高速光传输网络。</a:t>
                      </a:r>
                    </a:p>
                  </a:txBody>
                  <a:tcPr marL="16459" marR="16459" marT="5486" marB="5486" anchor="ctr">
                    <a:solidFill>
                      <a:srgbClr val="FFFFFF"/>
                    </a:solidFill>
                  </a:tcPr>
                </a:tc>
                <a:tc>
                  <a:txBody>
                    <a:bodyPr/>
                    <a:lstStyle/>
                    <a:p>
                      <a:pPr algn="ctr">
                        <a:lnSpc>
                          <a:spcPct val="100000"/>
                        </a:lnSpc>
                        <a:spcBef>
                          <a:spcPts val="0"/>
                        </a:spcBef>
                        <a:spcAft>
                          <a:spcPts val="0"/>
                        </a:spcAft>
                      </a:pPr>
                      <a:r>
                        <a:rPr sz="1000" b="0">
                          <a:solidFill>
                            <a:srgbClr val="232D37"/>
                          </a:solidFill>
                          <a:latin typeface="微软雅黑"/>
                          <a:ea typeface="微软雅黑"/>
                        </a:rPr>
                        <a:t>肖然</a:t>
                      </a:r>
                    </a:p>
                  </a:txBody>
                  <a:tcPr marL="16459" marR="16459" marT="5486" marB="5486" anchor="ctr">
                    <a:solidFill>
                      <a:srgbClr val="FFFFFF"/>
                    </a:solidFill>
                  </a:tcPr>
                </a:tc>
                <a:tc>
                  <a:txBody>
                    <a:bodyPr/>
                    <a:lstStyle/>
                    <a:p>
                      <a:pPr algn="l">
                        <a:lnSpc>
                          <a:spcPct val="100000"/>
                        </a:lnSpc>
                        <a:spcBef>
                          <a:spcPts val="0"/>
                        </a:spcBef>
                        <a:spcAft>
                          <a:spcPts val="0"/>
                        </a:spcAft>
                      </a:pPr>
                      <a:r>
                        <a:rPr sz="1000" b="0">
                          <a:solidFill>
                            <a:srgbClr val="232D37"/>
                          </a:solidFill>
                          <a:latin typeface="微软雅黑"/>
                          <a:ea typeface="微软雅黑"/>
                        </a:rPr>
                        <a:t>组织月度京津冀传输网络区域协同例会，调研各算力节点出省电路带宽需求。依托区域协同机制，初步提出400G传输网络协同建设草案，并对草案中的重点问题进行讨论。对本地、二干、区域400G网络间业务转接和保护方式进行讨论。</a:t>
                      </a:r>
                    </a:p>
                  </a:txBody>
                  <a:tcPr marL="16459" marR="16459" marT="5486" marB="5486" anchor="ctr">
                    <a:solidFill>
                      <a:srgbClr val="FFFFFF"/>
                    </a:solidFill>
                  </a:tcPr>
                </a:tc>
                <a:extLst>
                  <a:ext uri="{0D108BD9-81ED-4DB2-BD59-A6C34878D82A}">
                    <a16:rowId xmlns:a16="http://schemas.microsoft.com/office/drawing/2014/main" val="10005"/>
                  </a:ext>
                </a:extLst>
              </a:tr>
              <a:tr h="288586">
                <a:tc>
                  <a:txBody>
                    <a:bodyPr/>
                    <a:lstStyle/>
                    <a:p>
                      <a:pPr algn="ctr">
                        <a:lnSpc>
                          <a:spcPct val="100000"/>
                        </a:lnSpc>
                        <a:spcBef>
                          <a:spcPts val="0"/>
                        </a:spcBef>
                        <a:spcAft>
                          <a:spcPts val="0"/>
                        </a:spcAft>
                      </a:pPr>
                      <a:r>
                        <a:rPr sz="1000" b="0">
                          <a:solidFill>
                            <a:srgbClr val="232D37"/>
                          </a:solidFill>
                          <a:latin typeface="微软雅黑"/>
                          <a:ea typeface="微软雅黑"/>
                        </a:rPr>
                        <a:t>6</a:t>
                      </a:r>
                    </a:p>
                  </a:txBody>
                  <a:tcPr marL="16459" marR="16459" marT="5486" marB="5486" anchor="ctr">
                    <a:solidFill>
                      <a:srgbClr val="F5F9FC"/>
                    </a:solidFill>
                  </a:tcPr>
                </a:tc>
                <a:tc>
                  <a:txBody>
                    <a:bodyPr/>
                    <a:lstStyle/>
                    <a:p>
                      <a:pPr algn="ctr">
                        <a:lnSpc>
                          <a:spcPct val="100000"/>
                        </a:lnSpc>
                        <a:spcBef>
                          <a:spcPts val="0"/>
                        </a:spcBef>
                        <a:spcAft>
                          <a:spcPts val="0"/>
                        </a:spcAft>
                      </a:pPr>
                      <a:r>
                        <a:rPr sz="1000" b="0">
                          <a:solidFill>
                            <a:srgbClr val="232D37"/>
                          </a:solidFill>
                          <a:latin typeface="微软雅黑"/>
                          <a:ea typeface="微软雅黑"/>
                        </a:rPr>
                        <a:t>东北区域</a:t>
                      </a:r>
                    </a:p>
                  </a:txBody>
                  <a:tcPr marL="16459" marR="16459" marT="5486" marB="5486" anchor="ctr">
                    <a:solidFill>
                      <a:srgbClr val="F5F9FC"/>
                    </a:solidFill>
                  </a:tcPr>
                </a:tc>
                <a:tc>
                  <a:txBody>
                    <a:bodyPr/>
                    <a:lstStyle/>
                    <a:p>
                      <a:pPr algn="ctr">
                        <a:lnSpc>
                          <a:spcPct val="100000"/>
                        </a:lnSpc>
                        <a:spcBef>
                          <a:spcPts val="0"/>
                        </a:spcBef>
                        <a:spcAft>
                          <a:spcPts val="0"/>
                        </a:spcAft>
                      </a:pPr>
                      <a:r>
                        <a:rPr sz="1000" b="0">
                          <a:solidFill>
                            <a:srgbClr val="232D37"/>
                          </a:solidFill>
                          <a:latin typeface="微软雅黑"/>
                          <a:ea typeface="微软雅黑"/>
                        </a:rPr>
                        <a:t>基础设施</a:t>
                      </a:r>
                    </a:p>
                  </a:txBody>
                  <a:tcPr marL="16459" marR="16459" marT="5486" marB="5486" anchor="ctr">
                    <a:solidFill>
                      <a:srgbClr val="F5F9FC"/>
                    </a:solidFill>
                  </a:tcPr>
                </a:tc>
                <a:tc>
                  <a:txBody>
                    <a:bodyPr/>
                    <a:lstStyle/>
                    <a:p>
                      <a:pPr algn="ctr">
                        <a:lnSpc>
                          <a:spcPct val="100000"/>
                        </a:lnSpc>
                        <a:spcBef>
                          <a:spcPts val="0"/>
                        </a:spcBef>
                        <a:spcAft>
                          <a:spcPts val="0"/>
                        </a:spcAft>
                      </a:pPr>
                      <a:r>
                        <a:rPr sz="1000" b="0">
                          <a:solidFill>
                            <a:srgbClr val="232D37"/>
                          </a:solidFill>
                          <a:latin typeface="微软雅黑"/>
                          <a:ea typeface="微软雅黑"/>
                        </a:rPr>
                        <a:t>核心局优化升级</a:t>
                      </a:r>
                    </a:p>
                  </a:txBody>
                  <a:tcPr marL="16459" marR="16459" marT="5486" marB="5486" anchor="ctr">
                    <a:solidFill>
                      <a:srgbClr val="F5F9FC"/>
                    </a:solidFill>
                  </a:tcPr>
                </a:tc>
                <a:tc>
                  <a:txBody>
                    <a:bodyPr/>
                    <a:lstStyle/>
                    <a:p>
                      <a:pPr algn="ctr">
                        <a:lnSpc>
                          <a:spcPct val="100000"/>
                        </a:lnSpc>
                        <a:spcBef>
                          <a:spcPts val="0"/>
                        </a:spcBef>
                        <a:spcAft>
                          <a:spcPts val="0"/>
                        </a:spcAft>
                      </a:pPr>
                      <a:r>
                        <a:rPr sz="1000" b="0">
                          <a:solidFill>
                            <a:srgbClr val="232D37"/>
                          </a:solidFill>
                          <a:latin typeface="微软雅黑"/>
                          <a:ea typeface="微软雅黑"/>
                        </a:rPr>
                        <a:t>刘彤彤</a:t>
                      </a:r>
                    </a:p>
                  </a:txBody>
                  <a:tcPr marL="16459" marR="16459" marT="5486" marB="5486" anchor="ctr">
                    <a:solidFill>
                      <a:srgbClr val="F5F9FC"/>
                    </a:solidFill>
                  </a:tcPr>
                </a:tc>
                <a:tc>
                  <a:txBody>
                    <a:bodyPr/>
                    <a:lstStyle/>
                    <a:p>
                      <a:pPr algn="l">
                        <a:lnSpc>
                          <a:spcPct val="100000"/>
                        </a:lnSpc>
                        <a:spcBef>
                          <a:spcPts val="0"/>
                        </a:spcBef>
                        <a:spcAft>
                          <a:spcPts val="0"/>
                        </a:spcAft>
                      </a:pPr>
                      <a:r>
                        <a:rPr sz="1000" b="0">
                          <a:solidFill>
                            <a:srgbClr val="232D37"/>
                          </a:solidFill>
                          <a:latin typeface="微软雅黑"/>
                          <a:ea typeface="微软雅黑"/>
                        </a:rPr>
                        <a:t>组织月度区域协同例会，对齐工作标准口径。依托区域协同机制，扎实推进核心局优化升级；聚焦黑龙江、辽宁等试点核心局，讨论方案重点问题，统筹抓实区域落地执行，稳步提升工作质效。</a:t>
                      </a:r>
                    </a:p>
                  </a:txBody>
                  <a:tcPr marL="16459" marR="16459" marT="5486" marB="5486" anchor="ctr">
                    <a:solidFill>
                      <a:srgbClr val="F5F9FC"/>
                    </a:solidFill>
                  </a:tcPr>
                </a:tc>
                <a:extLst>
                  <a:ext uri="{0D108BD9-81ED-4DB2-BD59-A6C34878D82A}">
                    <a16:rowId xmlns:a16="http://schemas.microsoft.com/office/drawing/2014/main" val="10006"/>
                  </a:ext>
                </a:extLst>
              </a:tr>
              <a:tr h="288586">
                <a:tc>
                  <a:txBody>
                    <a:bodyPr/>
                    <a:lstStyle/>
                    <a:p>
                      <a:pPr algn="ctr">
                        <a:lnSpc>
                          <a:spcPct val="100000"/>
                        </a:lnSpc>
                        <a:spcBef>
                          <a:spcPts val="0"/>
                        </a:spcBef>
                        <a:spcAft>
                          <a:spcPts val="0"/>
                        </a:spcAft>
                      </a:pPr>
                      <a:r>
                        <a:rPr sz="1000" b="0">
                          <a:solidFill>
                            <a:srgbClr val="232D37"/>
                          </a:solidFill>
                          <a:latin typeface="微软雅黑"/>
                          <a:ea typeface="微软雅黑"/>
                        </a:rPr>
                        <a:t>7</a:t>
                      </a:r>
                    </a:p>
                  </a:txBody>
                  <a:tcPr marL="16459" marR="16459" marT="5486" marB="5486" anchor="ctr">
                    <a:solidFill>
                      <a:srgbClr val="FFFFFF"/>
                    </a:solidFill>
                  </a:tcPr>
                </a:tc>
                <a:tc>
                  <a:txBody>
                    <a:bodyPr/>
                    <a:lstStyle/>
                    <a:p>
                      <a:pPr algn="ctr">
                        <a:lnSpc>
                          <a:spcPct val="100000"/>
                        </a:lnSpc>
                        <a:spcBef>
                          <a:spcPts val="0"/>
                        </a:spcBef>
                        <a:spcAft>
                          <a:spcPts val="0"/>
                        </a:spcAft>
                      </a:pPr>
                      <a:r>
                        <a:rPr sz="1000" b="0">
                          <a:solidFill>
                            <a:srgbClr val="232D37"/>
                          </a:solidFill>
                          <a:latin typeface="微软雅黑"/>
                          <a:ea typeface="微软雅黑"/>
                        </a:rPr>
                        <a:t>东北区域</a:t>
                      </a:r>
                    </a:p>
                  </a:txBody>
                  <a:tcPr marL="16459" marR="16459" marT="5486" marB="5486" anchor="ctr">
                    <a:solidFill>
                      <a:srgbClr val="FFFFFF"/>
                    </a:solidFill>
                  </a:tcPr>
                </a:tc>
                <a:tc>
                  <a:txBody>
                    <a:bodyPr/>
                    <a:lstStyle/>
                    <a:p>
                      <a:pPr algn="ctr">
                        <a:lnSpc>
                          <a:spcPct val="100000"/>
                        </a:lnSpc>
                        <a:spcBef>
                          <a:spcPts val="0"/>
                        </a:spcBef>
                        <a:spcAft>
                          <a:spcPts val="0"/>
                        </a:spcAft>
                      </a:pPr>
                      <a:r>
                        <a:rPr sz="1000" b="0">
                          <a:solidFill>
                            <a:srgbClr val="232D37"/>
                          </a:solidFill>
                          <a:latin typeface="微软雅黑"/>
                          <a:ea typeface="微软雅黑"/>
                        </a:rPr>
                        <a:t>基础设施</a:t>
                      </a:r>
                    </a:p>
                  </a:txBody>
                  <a:tcPr marL="16459" marR="16459" marT="5486" marB="5486" anchor="ctr">
                    <a:solidFill>
                      <a:srgbClr val="FFFFFF"/>
                    </a:solidFill>
                  </a:tcPr>
                </a:tc>
                <a:tc>
                  <a:txBody>
                    <a:bodyPr/>
                    <a:lstStyle/>
                    <a:p>
                      <a:pPr algn="ctr">
                        <a:lnSpc>
                          <a:spcPct val="100000"/>
                        </a:lnSpc>
                        <a:spcBef>
                          <a:spcPts val="0"/>
                        </a:spcBef>
                        <a:spcAft>
                          <a:spcPts val="0"/>
                        </a:spcAft>
                      </a:pPr>
                      <a:r>
                        <a:rPr sz="1000" b="0">
                          <a:solidFill>
                            <a:srgbClr val="232D37"/>
                          </a:solidFill>
                          <a:latin typeface="微软雅黑"/>
                          <a:ea typeface="微软雅黑"/>
                        </a:rPr>
                        <a:t>不同客户在智算中心的需求及应用</a:t>
                      </a:r>
                    </a:p>
                  </a:txBody>
                  <a:tcPr marL="16459" marR="16459" marT="5486" marB="5486" anchor="ctr">
                    <a:solidFill>
                      <a:srgbClr val="FFFFFF"/>
                    </a:solidFill>
                  </a:tcPr>
                </a:tc>
                <a:tc>
                  <a:txBody>
                    <a:bodyPr/>
                    <a:lstStyle/>
                    <a:p>
                      <a:pPr algn="ctr">
                        <a:lnSpc>
                          <a:spcPct val="100000"/>
                        </a:lnSpc>
                        <a:spcBef>
                          <a:spcPts val="0"/>
                        </a:spcBef>
                        <a:spcAft>
                          <a:spcPts val="0"/>
                        </a:spcAft>
                      </a:pPr>
                      <a:r>
                        <a:rPr sz="1000" b="0">
                          <a:solidFill>
                            <a:srgbClr val="232D37"/>
                          </a:solidFill>
                          <a:latin typeface="微软雅黑"/>
                          <a:ea typeface="微软雅黑"/>
                        </a:rPr>
                        <a:t>刘彤彤</a:t>
                      </a:r>
                    </a:p>
                  </a:txBody>
                  <a:tcPr marL="16459" marR="16459" marT="5486" marB="5486" anchor="ctr">
                    <a:solidFill>
                      <a:srgbClr val="FFFFFF"/>
                    </a:solidFill>
                  </a:tcPr>
                </a:tc>
                <a:tc>
                  <a:txBody>
                    <a:bodyPr/>
                    <a:lstStyle/>
                    <a:p>
                      <a:pPr algn="l">
                        <a:lnSpc>
                          <a:spcPct val="100000"/>
                        </a:lnSpc>
                        <a:spcBef>
                          <a:spcPts val="0"/>
                        </a:spcBef>
                        <a:spcAft>
                          <a:spcPts val="0"/>
                        </a:spcAft>
                      </a:pPr>
                      <a:r>
                        <a:rPr sz="1000" b="0">
                          <a:solidFill>
                            <a:srgbClr val="232D37"/>
                          </a:solidFill>
                          <a:latin typeface="微软雅黑"/>
                          <a:ea typeface="微软雅黑"/>
                        </a:rPr>
                        <a:t>组织月度区域协同例会，分享技术交流资料，区域依托节点项目，深入讨论阿里等客户的风冷、液冷的需求，智算中心建设的需求，以及落地情况。</a:t>
                      </a:r>
                    </a:p>
                  </a:txBody>
                  <a:tcPr marL="16459" marR="16459" marT="5486" marB="5486" anchor="ctr">
                    <a:solidFill>
                      <a:srgbClr val="FFFFFF"/>
                    </a:solidFill>
                  </a:tcPr>
                </a:tc>
                <a:extLst>
                  <a:ext uri="{0D108BD9-81ED-4DB2-BD59-A6C34878D82A}">
                    <a16:rowId xmlns:a16="http://schemas.microsoft.com/office/drawing/2014/main" val="10007"/>
                  </a:ext>
                </a:extLst>
              </a:tr>
              <a:tr h="186185">
                <a:tc>
                  <a:txBody>
                    <a:bodyPr/>
                    <a:lstStyle/>
                    <a:p>
                      <a:pPr algn="ctr">
                        <a:lnSpc>
                          <a:spcPct val="100000"/>
                        </a:lnSpc>
                        <a:spcBef>
                          <a:spcPts val="0"/>
                        </a:spcBef>
                        <a:spcAft>
                          <a:spcPts val="0"/>
                        </a:spcAft>
                      </a:pPr>
                      <a:r>
                        <a:rPr sz="1000" b="0">
                          <a:solidFill>
                            <a:srgbClr val="232D37"/>
                          </a:solidFill>
                          <a:latin typeface="微软雅黑"/>
                          <a:ea typeface="微软雅黑"/>
                        </a:rPr>
                        <a:t>8</a:t>
                      </a:r>
                    </a:p>
                  </a:txBody>
                  <a:tcPr marL="16459" marR="16459" marT="5486" marB="5486" anchor="ctr">
                    <a:solidFill>
                      <a:srgbClr val="F5F9FC"/>
                    </a:solidFill>
                  </a:tcPr>
                </a:tc>
                <a:tc>
                  <a:txBody>
                    <a:bodyPr/>
                    <a:lstStyle/>
                    <a:p>
                      <a:pPr algn="ctr">
                        <a:lnSpc>
                          <a:spcPct val="100000"/>
                        </a:lnSpc>
                        <a:spcBef>
                          <a:spcPts val="0"/>
                        </a:spcBef>
                        <a:spcAft>
                          <a:spcPts val="0"/>
                        </a:spcAft>
                      </a:pPr>
                      <a:r>
                        <a:rPr sz="1000" b="0">
                          <a:solidFill>
                            <a:srgbClr val="232D37"/>
                          </a:solidFill>
                          <a:latin typeface="微软雅黑"/>
                          <a:ea typeface="微软雅黑"/>
                        </a:rPr>
                        <a:t>东北区域</a:t>
                      </a:r>
                    </a:p>
                  </a:txBody>
                  <a:tcPr marL="16459" marR="16459" marT="5486" marB="5486" anchor="ctr">
                    <a:solidFill>
                      <a:srgbClr val="F5F9FC"/>
                    </a:solidFill>
                  </a:tcPr>
                </a:tc>
                <a:tc>
                  <a:txBody>
                    <a:bodyPr/>
                    <a:lstStyle/>
                    <a:p>
                      <a:pPr algn="ctr">
                        <a:lnSpc>
                          <a:spcPct val="100000"/>
                        </a:lnSpc>
                        <a:spcBef>
                          <a:spcPts val="0"/>
                        </a:spcBef>
                        <a:spcAft>
                          <a:spcPts val="0"/>
                        </a:spcAft>
                      </a:pPr>
                      <a:r>
                        <a:rPr sz="1000" b="0">
                          <a:solidFill>
                            <a:srgbClr val="232D37"/>
                          </a:solidFill>
                          <a:latin typeface="微软雅黑"/>
                          <a:ea typeface="微软雅黑"/>
                        </a:rPr>
                        <a:t>云资源池</a:t>
                      </a:r>
                    </a:p>
                  </a:txBody>
                  <a:tcPr marL="16459" marR="16459" marT="5486" marB="5486" anchor="ctr">
                    <a:solidFill>
                      <a:srgbClr val="F5F9FC"/>
                    </a:solidFill>
                  </a:tcPr>
                </a:tc>
                <a:tc>
                  <a:txBody>
                    <a:bodyPr/>
                    <a:lstStyle/>
                    <a:p>
                      <a:pPr algn="ctr">
                        <a:lnSpc>
                          <a:spcPct val="100000"/>
                        </a:lnSpc>
                        <a:spcBef>
                          <a:spcPts val="0"/>
                        </a:spcBef>
                        <a:spcAft>
                          <a:spcPts val="0"/>
                        </a:spcAft>
                      </a:pPr>
                      <a:r>
                        <a:rPr sz="1000" b="0">
                          <a:solidFill>
                            <a:srgbClr val="232D37"/>
                          </a:solidFill>
                          <a:latin typeface="微软雅黑"/>
                          <a:ea typeface="微软雅黑"/>
                        </a:rPr>
                        <a:t>云资源池政策研究和技术赋能</a:t>
                      </a:r>
                    </a:p>
                  </a:txBody>
                  <a:tcPr marL="16459" marR="16459" marT="5486" marB="5486" anchor="ctr">
                    <a:solidFill>
                      <a:srgbClr val="F5F9FC"/>
                    </a:solidFill>
                  </a:tcPr>
                </a:tc>
                <a:tc>
                  <a:txBody>
                    <a:bodyPr/>
                    <a:lstStyle/>
                    <a:p>
                      <a:pPr algn="ctr">
                        <a:lnSpc>
                          <a:spcPct val="100000"/>
                        </a:lnSpc>
                        <a:spcBef>
                          <a:spcPts val="0"/>
                        </a:spcBef>
                        <a:spcAft>
                          <a:spcPts val="0"/>
                        </a:spcAft>
                      </a:pPr>
                      <a:r>
                        <a:rPr sz="1000" b="0">
                          <a:solidFill>
                            <a:srgbClr val="232D37"/>
                          </a:solidFill>
                          <a:latin typeface="微软雅黑"/>
                          <a:ea typeface="微软雅黑"/>
                        </a:rPr>
                        <a:t>吴昊</a:t>
                      </a:r>
                    </a:p>
                  </a:txBody>
                  <a:tcPr marL="16459" marR="16459" marT="5486" marB="5486" anchor="ctr">
                    <a:solidFill>
                      <a:srgbClr val="F5F9FC"/>
                    </a:solidFill>
                  </a:tcPr>
                </a:tc>
                <a:tc>
                  <a:txBody>
                    <a:bodyPr/>
                    <a:lstStyle/>
                    <a:p>
                      <a:pPr algn="l">
                        <a:lnSpc>
                          <a:spcPct val="100000"/>
                        </a:lnSpc>
                        <a:spcBef>
                          <a:spcPts val="0"/>
                        </a:spcBef>
                        <a:spcAft>
                          <a:spcPts val="0"/>
                        </a:spcAft>
                      </a:pPr>
                      <a:r>
                        <a:rPr sz="1000" b="0">
                          <a:solidFill>
                            <a:srgbClr val="232D37"/>
                          </a:solidFill>
                          <a:latin typeface="微软雅黑"/>
                          <a:ea typeface="微软雅黑"/>
                        </a:rPr>
                        <a:t>对东北各省级资源池信创改造工程及酝酿上会材料进行评审，其他常态化开展工作。</a:t>
                      </a:r>
                    </a:p>
                  </a:txBody>
                  <a:tcPr marL="16459" marR="16459" marT="5486" marB="5486" anchor="ctr">
                    <a:solidFill>
                      <a:srgbClr val="F5F9FC"/>
                    </a:solidFill>
                  </a:tcPr>
                </a:tc>
                <a:extLst>
                  <a:ext uri="{0D108BD9-81ED-4DB2-BD59-A6C34878D82A}">
                    <a16:rowId xmlns:a16="http://schemas.microsoft.com/office/drawing/2014/main" val="10008"/>
                  </a:ext>
                </a:extLst>
              </a:tr>
              <a:tr h="381679">
                <a:tc>
                  <a:txBody>
                    <a:bodyPr/>
                    <a:lstStyle/>
                    <a:p>
                      <a:pPr algn="ctr">
                        <a:lnSpc>
                          <a:spcPct val="100000"/>
                        </a:lnSpc>
                        <a:spcBef>
                          <a:spcPts val="0"/>
                        </a:spcBef>
                        <a:spcAft>
                          <a:spcPts val="0"/>
                        </a:spcAft>
                      </a:pPr>
                      <a:r>
                        <a:rPr sz="1000" b="0">
                          <a:solidFill>
                            <a:srgbClr val="232D37"/>
                          </a:solidFill>
                          <a:latin typeface="微软雅黑"/>
                          <a:ea typeface="微软雅黑"/>
                        </a:rPr>
                        <a:t>9</a:t>
                      </a:r>
                    </a:p>
                  </a:txBody>
                  <a:tcPr marL="16459" marR="16459" marT="5486" marB="5486" anchor="ctr">
                    <a:solidFill>
                      <a:srgbClr val="FFFFFF"/>
                    </a:solidFill>
                  </a:tcPr>
                </a:tc>
                <a:tc>
                  <a:txBody>
                    <a:bodyPr/>
                    <a:lstStyle/>
                    <a:p>
                      <a:pPr algn="ctr">
                        <a:lnSpc>
                          <a:spcPct val="100000"/>
                        </a:lnSpc>
                        <a:spcBef>
                          <a:spcPts val="0"/>
                        </a:spcBef>
                        <a:spcAft>
                          <a:spcPts val="0"/>
                        </a:spcAft>
                      </a:pPr>
                      <a:r>
                        <a:rPr sz="1000" b="0">
                          <a:solidFill>
                            <a:srgbClr val="232D37"/>
                          </a:solidFill>
                          <a:latin typeface="微软雅黑"/>
                          <a:ea typeface="微软雅黑"/>
                        </a:rPr>
                        <a:t>东北区域</a:t>
                      </a:r>
                    </a:p>
                  </a:txBody>
                  <a:tcPr marL="16459" marR="16459" marT="5486" marB="5486" anchor="ctr">
                    <a:solidFill>
                      <a:srgbClr val="FFFFFF"/>
                    </a:solidFill>
                  </a:tcPr>
                </a:tc>
                <a:tc>
                  <a:txBody>
                    <a:bodyPr/>
                    <a:lstStyle/>
                    <a:p>
                      <a:pPr algn="ctr">
                        <a:lnSpc>
                          <a:spcPct val="100000"/>
                        </a:lnSpc>
                        <a:spcBef>
                          <a:spcPts val="0"/>
                        </a:spcBef>
                        <a:spcAft>
                          <a:spcPts val="0"/>
                        </a:spcAft>
                      </a:pPr>
                      <a:r>
                        <a:rPr sz="1000" b="0">
                          <a:solidFill>
                            <a:srgbClr val="232D37"/>
                          </a:solidFill>
                          <a:latin typeface="微软雅黑"/>
                          <a:ea typeface="微软雅黑"/>
                        </a:rPr>
                        <a:t>骨干传送网</a:t>
                      </a:r>
                    </a:p>
                  </a:txBody>
                  <a:tcPr marL="16459" marR="16459" marT="5486" marB="5486" anchor="ctr">
                    <a:solidFill>
                      <a:srgbClr val="FFFFFF"/>
                    </a:solidFill>
                  </a:tcPr>
                </a:tc>
                <a:tc>
                  <a:txBody>
                    <a:bodyPr/>
                    <a:lstStyle/>
                    <a:p>
                      <a:pPr algn="ctr">
                        <a:lnSpc>
                          <a:spcPct val="100000"/>
                        </a:lnSpc>
                        <a:spcBef>
                          <a:spcPts val="0"/>
                        </a:spcBef>
                        <a:spcAft>
                          <a:spcPts val="0"/>
                        </a:spcAft>
                      </a:pPr>
                      <a:r>
                        <a:rPr sz="1000" b="0">
                          <a:solidFill>
                            <a:srgbClr val="232D37"/>
                          </a:solidFill>
                          <a:latin typeface="微软雅黑"/>
                          <a:ea typeface="微软雅黑"/>
                        </a:rPr>
                        <a:t>筑牢二干传输400G全光底座，推动400G/100G协同发展</a:t>
                      </a:r>
                    </a:p>
                  </a:txBody>
                  <a:tcPr marL="16459" marR="16459" marT="5486" marB="5486" anchor="ctr">
                    <a:solidFill>
                      <a:srgbClr val="FFFFFF"/>
                    </a:solidFill>
                  </a:tcPr>
                </a:tc>
                <a:tc>
                  <a:txBody>
                    <a:bodyPr/>
                    <a:lstStyle/>
                    <a:p>
                      <a:pPr algn="ctr">
                        <a:lnSpc>
                          <a:spcPct val="100000"/>
                        </a:lnSpc>
                        <a:spcBef>
                          <a:spcPts val="0"/>
                        </a:spcBef>
                        <a:spcAft>
                          <a:spcPts val="0"/>
                        </a:spcAft>
                      </a:pPr>
                      <a:r>
                        <a:rPr sz="1000" b="0">
                          <a:solidFill>
                            <a:srgbClr val="232D37"/>
                          </a:solidFill>
                          <a:latin typeface="微软雅黑"/>
                          <a:ea typeface="微软雅黑"/>
                        </a:rPr>
                        <a:t>马大威</a:t>
                      </a:r>
                    </a:p>
                  </a:txBody>
                  <a:tcPr marL="16459" marR="16459" marT="5486" marB="5486" anchor="ctr">
                    <a:solidFill>
                      <a:srgbClr val="FFFFFF"/>
                    </a:solidFill>
                  </a:tcPr>
                </a:tc>
                <a:tc>
                  <a:txBody>
                    <a:bodyPr/>
                    <a:lstStyle/>
                    <a:p>
                      <a:pPr algn="l">
                        <a:lnSpc>
                          <a:spcPct val="100000"/>
                        </a:lnSpc>
                        <a:spcBef>
                          <a:spcPts val="0"/>
                        </a:spcBef>
                        <a:spcAft>
                          <a:spcPts val="0"/>
                        </a:spcAft>
                      </a:pPr>
                      <a:r>
                        <a:rPr sz="1000" b="0">
                          <a:solidFill>
                            <a:srgbClr val="232D37"/>
                          </a:solidFill>
                          <a:latin typeface="微软雅黑"/>
                          <a:ea typeface="微软雅黑"/>
                        </a:rPr>
                        <a:t>持续推进各省二干光缆纤芯资源及100G系统瓶颈的梳理工作，研究不满足400G条件段落的优化思路；针对黑龙江、内蒙古等重点省份，开展业务需求趋势与100G资源占用分析，研讨400G部署策略及协同方案；稳步推进其他常态化工作。</a:t>
                      </a:r>
                    </a:p>
                  </a:txBody>
                  <a:tcPr marL="16459" marR="16459" marT="5486" marB="5486" anchor="ctr">
                    <a:solidFill>
                      <a:srgbClr val="FFFFFF"/>
                    </a:solidFill>
                  </a:tcPr>
                </a:tc>
                <a:extLst>
                  <a:ext uri="{0D108BD9-81ED-4DB2-BD59-A6C34878D82A}">
                    <a16:rowId xmlns:a16="http://schemas.microsoft.com/office/drawing/2014/main" val="10009"/>
                  </a:ext>
                </a:extLst>
              </a:tr>
              <a:tr h="186190">
                <a:tc>
                  <a:txBody>
                    <a:bodyPr/>
                    <a:lstStyle/>
                    <a:p>
                      <a:pPr algn="ctr">
                        <a:lnSpc>
                          <a:spcPct val="100000"/>
                        </a:lnSpc>
                        <a:spcBef>
                          <a:spcPts val="0"/>
                        </a:spcBef>
                        <a:spcAft>
                          <a:spcPts val="0"/>
                        </a:spcAft>
                      </a:pPr>
                      <a:r>
                        <a:rPr sz="1000" b="0">
                          <a:solidFill>
                            <a:srgbClr val="232D37"/>
                          </a:solidFill>
                          <a:latin typeface="微软雅黑"/>
                          <a:ea typeface="微软雅黑"/>
                        </a:rPr>
                        <a:t>10</a:t>
                      </a:r>
                    </a:p>
                  </a:txBody>
                  <a:tcPr marL="16459" marR="16459" marT="5486" marB="5486" anchor="ctr">
                    <a:solidFill>
                      <a:srgbClr val="F5F9FC"/>
                    </a:solidFill>
                  </a:tcPr>
                </a:tc>
                <a:tc>
                  <a:txBody>
                    <a:bodyPr/>
                    <a:lstStyle/>
                    <a:p>
                      <a:pPr algn="ctr">
                        <a:lnSpc>
                          <a:spcPct val="100000"/>
                        </a:lnSpc>
                        <a:spcBef>
                          <a:spcPts val="0"/>
                        </a:spcBef>
                        <a:spcAft>
                          <a:spcPts val="0"/>
                        </a:spcAft>
                      </a:pPr>
                      <a:r>
                        <a:rPr sz="1000" b="0">
                          <a:solidFill>
                            <a:srgbClr val="232D37"/>
                          </a:solidFill>
                          <a:latin typeface="微软雅黑"/>
                          <a:ea typeface="微软雅黑"/>
                        </a:rPr>
                        <a:t>东北区域</a:t>
                      </a:r>
                    </a:p>
                  </a:txBody>
                  <a:tcPr marL="16459" marR="16459" marT="5486" marB="5486" anchor="ctr">
                    <a:solidFill>
                      <a:srgbClr val="F5F9FC"/>
                    </a:solidFill>
                  </a:tcPr>
                </a:tc>
                <a:tc>
                  <a:txBody>
                    <a:bodyPr/>
                    <a:lstStyle/>
                    <a:p>
                      <a:pPr algn="ctr">
                        <a:lnSpc>
                          <a:spcPct val="100000"/>
                        </a:lnSpc>
                        <a:spcBef>
                          <a:spcPts val="0"/>
                        </a:spcBef>
                        <a:spcAft>
                          <a:spcPts val="0"/>
                        </a:spcAft>
                      </a:pPr>
                      <a:r>
                        <a:rPr sz="1000" b="0">
                          <a:solidFill>
                            <a:srgbClr val="232D37"/>
                          </a:solidFill>
                          <a:latin typeface="微软雅黑"/>
                          <a:ea typeface="微软雅黑"/>
                        </a:rPr>
                        <a:t>云核心网</a:t>
                      </a:r>
                    </a:p>
                  </a:txBody>
                  <a:tcPr marL="16459" marR="16459" marT="5486" marB="5486" anchor="ctr">
                    <a:solidFill>
                      <a:srgbClr val="F5F9FC"/>
                    </a:solidFill>
                  </a:tcPr>
                </a:tc>
                <a:tc>
                  <a:txBody>
                    <a:bodyPr/>
                    <a:lstStyle/>
                    <a:p>
                      <a:pPr algn="ctr">
                        <a:lnSpc>
                          <a:spcPct val="100000"/>
                        </a:lnSpc>
                        <a:spcBef>
                          <a:spcPts val="0"/>
                        </a:spcBef>
                        <a:spcAft>
                          <a:spcPts val="0"/>
                        </a:spcAft>
                      </a:pPr>
                      <a:r>
                        <a:rPr sz="1000" b="0">
                          <a:solidFill>
                            <a:srgbClr val="232D37"/>
                          </a:solidFill>
                          <a:latin typeface="微软雅黑"/>
                          <a:ea typeface="微软雅黑"/>
                        </a:rPr>
                        <a:t>云核心网方案指导和机术赋能</a:t>
                      </a:r>
                    </a:p>
                  </a:txBody>
                  <a:tcPr marL="16459" marR="16459" marT="5486" marB="5486" anchor="ctr">
                    <a:solidFill>
                      <a:srgbClr val="F5F9FC"/>
                    </a:solidFill>
                  </a:tcPr>
                </a:tc>
                <a:tc>
                  <a:txBody>
                    <a:bodyPr/>
                    <a:lstStyle/>
                    <a:p>
                      <a:pPr algn="ctr">
                        <a:lnSpc>
                          <a:spcPct val="100000"/>
                        </a:lnSpc>
                        <a:spcBef>
                          <a:spcPts val="0"/>
                        </a:spcBef>
                        <a:spcAft>
                          <a:spcPts val="0"/>
                        </a:spcAft>
                      </a:pPr>
                      <a:r>
                        <a:rPr sz="1000" b="0">
                          <a:solidFill>
                            <a:srgbClr val="232D37"/>
                          </a:solidFill>
                          <a:latin typeface="微软雅黑"/>
                          <a:ea typeface="微软雅黑"/>
                        </a:rPr>
                        <a:t>吴昊</a:t>
                      </a:r>
                    </a:p>
                  </a:txBody>
                  <a:tcPr marL="16459" marR="16459" marT="5486" marB="5486" anchor="ctr">
                    <a:solidFill>
                      <a:srgbClr val="F5F9FC"/>
                    </a:solidFill>
                  </a:tcPr>
                </a:tc>
                <a:tc>
                  <a:txBody>
                    <a:bodyPr/>
                    <a:lstStyle/>
                    <a:p>
                      <a:pPr algn="l">
                        <a:lnSpc>
                          <a:spcPct val="100000"/>
                        </a:lnSpc>
                        <a:spcBef>
                          <a:spcPts val="0"/>
                        </a:spcBef>
                        <a:spcAft>
                          <a:spcPts val="0"/>
                        </a:spcAft>
                      </a:pPr>
                      <a:r>
                        <a:rPr sz="1000" b="0">
                          <a:solidFill>
                            <a:srgbClr val="232D37"/>
                          </a:solidFill>
                          <a:latin typeface="微软雅黑"/>
                          <a:ea typeface="微软雅黑"/>
                        </a:rPr>
                        <a:t>组织AI降噪创新业务试点建设方案学习，华为、中兴6G及智算相关新技术学习，其他常态化开展工作。</a:t>
                      </a:r>
                    </a:p>
                  </a:txBody>
                  <a:tcPr marL="16459" marR="16459" marT="5486" marB="5486" anchor="ctr">
                    <a:solidFill>
                      <a:srgbClr val="F5F9FC"/>
                    </a:solidFill>
                  </a:tcPr>
                </a:tc>
                <a:extLst>
                  <a:ext uri="{0D108BD9-81ED-4DB2-BD59-A6C34878D82A}">
                    <a16:rowId xmlns:a16="http://schemas.microsoft.com/office/drawing/2014/main" val="10010"/>
                  </a:ext>
                </a:extLst>
              </a:tr>
            </a:tbl>
          </a:graphicData>
        </a:graphic>
      </p:graphicFrame>
      <p:sp>
        <p:nvSpPr>
          <p:cNvPr id="30" name="TextBox 29"/>
          <p:cNvSpPr txBox="1"/>
          <p:nvPr/>
        </p:nvSpPr>
        <p:spPr>
          <a:xfrm>
            <a:off x="347472" y="2862072"/>
            <a:ext cx="11475720" cy="292608"/>
          </a:xfrm>
          <a:prstGeom prst="rect">
            <a:avLst/>
          </a:prstGeom>
          <a:noFill/>
        </p:spPr>
        <p:txBody>
          <a:bodyPr wrap="square" lIns="0" tIns="0" rIns="0" bIns="0" anchor="ctr">
            <a:spAutoFit/>
          </a:bodyPr>
          <a:lstStyle/>
          <a:p>
            <a:pPr algn="ctr">
              <a:lnSpc>
                <a:spcPct val="100000"/>
              </a:lnSpc>
              <a:spcBef>
                <a:spcPts val="0"/>
              </a:spcBef>
              <a:spcAft>
                <a:spcPts val="0"/>
              </a:spcAft>
              <a:defRPr sz="2000" b="1">
                <a:solidFill>
                  <a:srgbClr val="FFFFFF"/>
                </a:solidFill>
                <a:latin typeface="微软雅黑"/>
              </a:defRPr>
            </a:pPr>
            <a:r>
              <a:rPr sz="1200" b="1">
                <a:solidFill>
                  <a:srgbClr val="FFFFFF"/>
                </a:solidFill>
                <a:latin typeface="微软雅黑"/>
                <a:ea typeface="微软雅黑"/>
              </a:rPr>
              <a:t>区域协同</a:t>
            </a:r>
          </a:p>
        </p:txBody>
      </p:sp>
      <p:sp>
        <p:nvSpPr>
          <p:cNvPr id="32" name="TextBox 31"/>
          <p:cNvSpPr txBox="1"/>
          <p:nvPr/>
        </p:nvSpPr>
        <p:spPr>
          <a:xfrm>
            <a:off x="347472" y="3154680"/>
            <a:ext cx="11475720" cy="329184"/>
          </a:xfrm>
          <a:prstGeom prst="rect">
            <a:avLst/>
          </a:prstGeom>
          <a:noFill/>
        </p:spPr>
        <p:txBody>
          <a:bodyPr wrap="square" lIns="64008" tIns="64008" rIns="64008" bIns="64008" anchor="ctr">
            <a:spAutoFit/>
          </a:bodyPr>
          <a:lstStyle/>
          <a:p>
            <a:pPr algn="l">
              <a:lnSpc>
                <a:spcPct val="130000"/>
              </a:lnSpc>
              <a:spcBef>
                <a:spcPts val="0"/>
              </a:spcBef>
              <a:spcAft>
                <a:spcPts val="0"/>
              </a:spcAft>
              <a:defRPr sz="1300" b="1">
                <a:solidFill>
                  <a:srgbClr val="111111"/>
                </a:solidFill>
                <a:latin typeface="微软雅黑"/>
              </a:defRPr>
            </a:pPr>
            <a:r>
              <a:rPr sz="1200" b="1">
                <a:solidFill>
                  <a:srgbClr val="111111"/>
                </a:solidFill>
                <a:latin typeface="微软雅黑"/>
                <a:ea typeface="微软雅黑"/>
              </a:rPr>
              <a:t>华北、东北围绕基础设施、云核心网、云资源池和骨干传送网形成10项协同工作</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1480" y="274320"/>
            <a:ext cx="1280160" cy="658368"/>
          </a:xfrm>
          <a:prstGeom prst="rect">
            <a:avLst/>
          </a:prstGeom>
          <a:noFill/>
        </p:spPr>
        <p:txBody>
          <a:bodyPr wrap="square" lIns="36576" tIns="36576" rIns="36576" bIns="36576" anchor="t">
            <a:spAutoFit/>
          </a:bodyPr>
          <a:lstStyle/>
          <a:p>
            <a:pPr algn="l">
              <a:lnSpc>
                <a:spcPct val="100000"/>
              </a:lnSpc>
              <a:spcBef>
                <a:spcPts val="0"/>
              </a:spcBef>
              <a:spcAft>
                <a:spcPts val="0"/>
              </a:spcAft>
              <a:defRPr sz="3400" b="1">
                <a:solidFill>
                  <a:srgbClr val="003E9E"/>
                </a:solidFill>
                <a:latin typeface="微软雅黑"/>
              </a:defRPr>
            </a:pPr>
            <a:r>
              <a:rPr sz="3400" b="1" i="0">
                <a:solidFill>
                  <a:srgbClr val="003E9E"/>
                </a:solidFill>
                <a:latin typeface="微软雅黑"/>
                <a:ea typeface="微软雅黑"/>
              </a:rPr>
              <a:t>目录</a:t>
            </a:r>
          </a:p>
        </p:txBody>
      </p:sp>
      <p:sp>
        <p:nvSpPr>
          <p:cNvPr id="3" name="TextBox 2"/>
          <p:cNvSpPr txBox="1"/>
          <p:nvPr/>
        </p:nvSpPr>
        <p:spPr>
          <a:xfrm>
            <a:off x="2971800" y="1965960"/>
            <a:ext cx="502920" cy="384048"/>
          </a:xfrm>
          <a:prstGeom prst="rect">
            <a:avLst/>
          </a:prstGeom>
          <a:noFill/>
        </p:spPr>
        <p:txBody>
          <a:bodyPr wrap="square" lIns="36576" tIns="36576" rIns="36576" bIns="36576" anchor="ctr">
            <a:normAutofit/>
          </a:bodyPr>
          <a:lstStyle/>
          <a:p>
            <a:pPr algn="ctr">
              <a:lnSpc>
                <a:spcPct val="100000"/>
              </a:lnSpc>
              <a:spcBef>
                <a:spcPts val="0"/>
              </a:spcBef>
              <a:spcAft>
                <a:spcPts val="0"/>
              </a:spcAft>
              <a:defRPr sz="2000" b="0">
                <a:solidFill>
                  <a:srgbClr val="666666"/>
                </a:solidFill>
                <a:latin typeface="微软雅黑"/>
              </a:defRPr>
            </a:pPr>
            <a:r>
              <a:rPr sz="2000" b="0" i="0">
                <a:solidFill>
                  <a:srgbClr val="666666"/>
                </a:solidFill>
                <a:latin typeface="微软雅黑"/>
                <a:ea typeface="微软雅黑"/>
              </a:rPr>
              <a:t>1</a:t>
            </a:r>
          </a:p>
        </p:txBody>
      </p:sp>
      <p:sp>
        <p:nvSpPr>
          <p:cNvPr id="4" name="TextBox 3"/>
          <p:cNvSpPr txBox="1"/>
          <p:nvPr/>
        </p:nvSpPr>
        <p:spPr>
          <a:xfrm>
            <a:off x="3703320" y="1965960"/>
            <a:ext cx="6126480" cy="384048"/>
          </a:xfrm>
          <a:prstGeom prst="rect">
            <a:avLst/>
          </a:prstGeom>
          <a:noFill/>
        </p:spPr>
        <p:txBody>
          <a:bodyPr wrap="square" lIns="36576" tIns="36576" rIns="36576" bIns="36576" anchor="ctr">
            <a:normAutofit/>
          </a:bodyPr>
          <a:lstStyle/>
          <a:p>
            <a:pPr algn="l">
              <a:lnSpc>
                <a:spcPct val="100000"/>
              </a:lnSpc>
              <a:spcBef>
                <a:spcPts val="0"/>
              </a:spcBef>
              <a:spcAft>
                <a:spcPts val="0"/>
              </a:spcAft>
              <a:defRPr sz="2000" b="0">
                <a:solidFill>
                  <a:srgbClr val="666666"/>
                </a:solidFill>
                <a:latin typeface="微软雅黑"/>
              </a:defRPr>
            </a:pPr>
            <a:r>
              <a:rPr sz="2000" b="0" i="0">
                <a:solidFill>
                  <a:srgbClr val="666666"/>
                </a:solidFill>
                <a:latin typeface="微软雅黑"/>
                <a:ea typeface="微软雅黑"/>
              </a:rPr>
              <a:t>技术指标情况</a:t>
            </a:r>
          </a:p>
        </p:txBody>
      </p:sp>
      <p:sp>
        <p:nvSpPr>
          <p:cNvPr id="5" name="TextBox 4"/>
          <p:cNvSpPr txBox="1"/>
          <p:nvPr/>
        </p:nvSpPr>
        <p:spPr>
          <a:xfrm>
            <a:off x="2971800" y="2624328"/>
            <a:ext cx="502920" cy="384048"/>
          </a:xfrm>
          <a:prstGeom prst="rect">
            <a:avLst/>
          </a:prstGeom>
          <a:noFill/>
        </p:spPr>
        <p:txBody>
          <a:bodyPr wrap="square" lIns="36576" tIns="36576" rIns="36576" bIns="36576" anchor="ctr">
            <a:normAutofit/>
          </a:bodyPr>
          <a:lstStyle/>
          <a:p>
            <a:pPr algn="ctr">
              <a:lnSpc>
                <a:spcPct val="100000"/>
              </a:lnSpc>
              <a:spcBef>
                <a:spcPts val="0"/>
              </a:spcBef>
              <a:spcAft>
                <a:spcPts val="0"/>
              </a:spcAft>
              <a:defRPr sz="2000" b="0">
                <a:solidFill>
                  <a:srgbClr val="666666"/>
                </a:solidFill>
                <a:latin typeface="微软雅黑"/>
              </a:defRPr>
            </a:pPr>
            <a:r>
              <a:rPr sz="2000" b="0" i="0">
                <a:solidFill>
                  <a:srgbClr val="666666"/>
                </a:solidFill>
                <a:latin typeface="微软雅黑"/>
                <a:ea typeface="微软雅黑"/>
              </a:rPr>
              <a:t>2</a:t>
            </a:r>
          </a:p>
        </p:txBody>
      </p:sp>
      <p:sp>
        <p:nvSpPr>
          <p:cNvPr id="6" name="TextBox 5"/>
          <p:cNvSpPr txBox="1"/>
          <p:nvPr/>
        </p:nvSpPr>
        <p:spPr>
          <a:xfrm>
            <a:off x="3703320" y="2624328"/>
            <a:ext cx="6126480" cy="384048"/>
          </a:xfrm>
          <a:prstGeom prst="rect">
            <a:avLst/>
          </a:prstGeom>
          <a:noFill/>
        </p:spPr>
        <p:txBody>
          <a:bodyPr wrap="square" lIns="36576" tIns="36576" rIns="36576" bIns="36576" anchor="ctr">
            <a:normAutofit/>
          </a:bodyPr>
          <a:lstStyle/>
          <a:p>
            <a:pPr algn="l">
              <a:lnSpc>
                <a:spcPct val="100000"/>
              </a:lnSpc>
              <a:spcBef>
                <a:spcPts val="0"/>
              </a:spcBef>
              <a:spcAft>
                <a:spcPts val="0"/>
              </a:spcAft>
              <a:defRPr sz="2000" b="0">
                <a:solidFill>
                  <a:srgbClr val="666666"/>
                </a:solidFill>
                <a:latin typeface="微软雅黑"/>
              </a:defRPr>
            </a:pPr>
            <a:r>
              <a:rPr sz="2000" b="0" i="0">
                <a:solidFill>
                  <a:srgbClr val="666666"/>
                </a:solidFill>
                <a:latin typeface="微软雅黑"/>
                <a:ea typeface="微软雅黑"/>
              </a:rPr>
              <a:t>总师支撑效果</a:t>
            </a:r>
          </a:p>
        </p:txBody>
      </p:sp>
      <p:sp>
        <p:nvSpPr>
          <p:cNvPr id="7" name="TextBox 6"/>
          <p:cNvSpPr txBox="1"/>
          <p:nvPr/>
        </p:nvSpPr>
        <p:spPr>
          <a:xfrm>
            <a:off x="2971800" y="3282696"/>
            <a:ext cx="502920" cy="384048"/>
          </a:xfrm>
          <a:prstGeom prst="rect">
            <a:avLst/>
          </a:prstGeom>
          <a:noFill/>
        </p:spPr>
        <p:txBody>
          <a:bodyPr wrap="square" lIns="36576" tIns="36576" rIns="36576" bIns="36576" anchor="ctr">
            <a:normAutofit/>
          </a:bodyPr>
          <a:lstStyle/>
          <a:p>
            <a:pPr algn="ctr">
              <a:lnSpc>
                <a:spcPct val="100000"/>
              </a:lnSpc>
              <a:spcBef>
                <a:spcPts val="0"/>
              </a:spcBef>
              <a:spcAft>
                <a:spcPts val="0"/>
              </a:spcAft>
              <a:defRPr sz="2000" b="1">
                <a:solidFill>
                  <a:srgbClr val="111111"/>
                </a:solidFill>
                <a:latin typeface="微软雅黑"/>
              </a:defRPr>
            </a:pPr>
            <a:r>
              <a:rPr sz="2000" b="1" i="0">
                <a:solidFill>
                  <a:srgbClr val="111111"/>
                </a:solidFill>
                <a:latin typeface="微软雅黑"/>
                <a:ea typeface="微软雅黑"/>
              </a:rPr>
              <a:t>3</a:t>
            </a:r>
          </a:p>
        </p:txBody>
      </p:sp>
      <p:sp>
        <p:nvSpPr>
          <p:cNvPr id="8" name="TextBox 7"/>
          <p:cNvSpPr txBox="1"/>
          <p:nvPr/>
        </p:nvSpPr>
        <p:spPr>
          <a:xfrm>
            <a:off x="3703320" y="3282696"/>
            <a:ext cx="6126480" cy="384048"/>
          </a:xfrm>
          <a:prstGeom prst="rect">
            <a:avLst/>
          </a:prstGeom>
          <a:noFill/>
        </p:spPr>
        <p:txBody>
          <a:bodyPr wrap="square" lIns="36576" tIns="36576" rIns="36576" bIns="36576" anchor="ctr">
            <a:normAutofit/>
          </a:bodyPr>
          <a:lstStyle/>
          <a:p>
            <a:pPr algn="l">
              <a:lnSpc>
                <a:spcPct val="100000"/>
              </a:lnSpc>
              <a:spcBef>
                <a:spcPts val="0"/>
              </a:spcBef>
              <a:spcAft>
                <a:spcPts val="0"/>
              </a:spcAft>
              <a:defRPr sz="2000" b="1">
                <a:solidFill>
                  <a:srgbClr val="111111"/>
                </a:solidFill>
                <a:latin typeface="微软雅黑"/>
              </a:defRPr>
            </a:pPr>
            <a:r>
              <a:rPr sz="2000" b="1" i="0">
                <a:solidFill>
                  <a:srgbClr val="111111"/>
                </a:solidFill>
                <a:latin typeface="微软雅黑"/>
                <a:ea typeface="微软雅黑"/>
              </a:rPr>
              <a:t>科创能力打造</a:t>
            </a:r>
          </a:p>
        </p:txBody>
      </p:sp>
      <p:sp>
        <p:nvSpPr>
          <p:cNvPr id="9" name="TextBox 8"/>
          <p:cNvSpPr txBox="1"/>
          <p:nvPr/>
        </p:nvSpPr>
        <p:spPr>
          <a:xfrm>
            <a:off x="2971800" y="3941064"/>
            <a:ext cx="502920" cy="384048"/>
          </a:xfrm>
          <a:prstGeom prst="rect">
            <a:avLst/>
          </a:prstGeom>
          <a:noFill/>
        </p:spPr>
        <p:txBody>
          <a:bodyPr wrap="square" lIns="36576" tIns="36576" rIns="36576" bIns="36576" anchor="ctr">
            <a:normAutofit/>
          </a:bodyPr>
          <a:lstStyle/>
          <a:p>
            <a:pPr algn="ctr">
              <a:lnSpc>
                <a:spcPct val="100000"/>
              </a:lnSpc>
              <a:spcBef>
                <a:spcPts val="0"/>
              </a:spcBef>
              <a:spcAft>
                <a:spcPts val="0"/>
              </a:spcAft>
              <a:defRPr sz="2000" b="0">
                <a:solidFill>
                  <a:srgbClr val="666666"/>
                </a:solidFill>
                <a:latin typeface="微软雅黑"/>
              </a:defRPr>
            </a:pPr>
            <a:r>
              <a:rPr sz="2000" b="0" i="0">
                <a:solidFill>
                  <a:srgbClr val="666666"/>
                </a:solidFill>
                <a:latin typeface="微软雅黑"/>
                <a:ea typeface="微软雅黑"/>
              </a:rPr>
              <a:t>4</a:t>
            </a:r>
          </a:p>
        </p:txBody>
      </p:sp>
      <p:sp>
        <p:nvSpPr>
          <p:cNvPr id="10" name="TextBox 9"/>
          <p:cNvSpPr txBox="1"/>
          <p:nvPr/>
        </p:nvSpPr>
        <p:spPr>
          <a:xfrm>
            <a:off x="3703320" y="3941064"/>
            <a:ext cx="6126480" cy="384048"/>
          </a:xfrm>
          <a:prstGeom prst="rect">
            <a:avLst/>
          </a:prstGeom>
          <a:noFill/>
        </p:spPr>
        <p:txBody>
          <a:bodyPr wrap="square" lIns="36576" tIns="36576" rIns="36576" bIns="36576" anchor="ctr">
            <a:normAutofit/>
          </a:bodyPr>
          <a:lstStyle/>
          <a:p>
            <a:pPr algn="l">
              <a:lnSpc>
                <a:spcPct val="100000"/>
              </a:lnSpc>
              <a:spcBef>
                <a:spcPts val="0"/>
              </a:spcBef>
              <a:spcAft>
                <a:spcPts val="0"/>
              </a:spcAft>
              <a:defRPr sz="2000" b="0">
                <a:solidFill>
                  <a:srgbClr val="666666"/>
                </a:solidFill>
                <a:latin typeface="微软雅黑"/>
              </a:defRPr>
            </a:pPr>
            <a:r>
              <a:rPr sz="2000" b="0" i="0">
                <a:solidFill>
                  <a:srgbClr val="666666"/>
                </a:solidFill>
                <a:latin typeface="微软雅黑"/>
                <a:ea typeface="微软雅黑"/>
              </a:rPr>
              <a:t>设计质量与人才梯队</a:t>
            </a:r>
          </a:p>
        </p:txBody>
      </p:sp>
      <p:sp>
        <p:nvSpPr>
          <p:cNvPr id="11" name="TextBox 10"/>
          <p:cNvSpPr txBox="1"/>
          <p:nvPr/>
        </p:nvSpPr>
        <p:spPr>
          <a:xfrm>
            <a:off x="2971800" y="4599431"/>
            <a:ext cx="502920" cy="384048"/>
          </a:xfrm>
          <a:prstGeom prst="rect">
            <a:avLst/>
          </a:prstGeom>
          <a:noFill/>
        </p:spPr>
        <p:txBody>
          <a:bodyPr wrap="square" lIns="36576" tIns="36576" rIns="36576" bIns="36576" anchor="ctr">
            <a:normAutofit/>
          </a:bodyPr>
          <a:lstStyle/>
          <a:p>
            <a:pPr algn="ctr">
              <a:lnSpc>
                <a:spcPct val="100000"/>
              </a:lnSpc>
              <a:spcBef>
                <a:spcPts val="0"/>
              </a:spcBef>
              <a:spcAft>
                <a:spcPts val="0"/>
              </a:spcAft>
              <a:defRPr sz="2000" b="0">
                <a:solidFill>
                  <a:srgbClr val="666666"/>
                </a:solidFill>
                <a:latin typeface="微软雅黑"/>
              </a:defRPr>
            </a:pPr>
            <a:r>
              <a:rPr sz="2000" b="0" i="0">
                <a:solidFill>
                  <a:srgbClr val="666666"/>
                </a:solidFill>
                <a:latin typeface="微软雅黑"/>
                <a:ea typeface="微软雅黑"/>
              </a:rPr>
              <a:t>5</a:t>
            </a:r>
          </a:p>
        </p:txBody>
      </p:sp>
      <p:sp>
        <p:nvSpPr>
          <p:cNvPr id="12" name="TextBox 11"/>
          <p:cNvSpPr txBox="1"/>
          <p:nvPr/>
        </p:nvSpPr>
        <p:spPr>
          <a:xfrm>
            <a:off x="3703320" y="4599431"/>
            <a:ext cx="6126480" cy="384048"/>
          </a:xfrm>
          <a:prstGeom prst="rect">
            <a:avLst/>
          </a:prstGeom>
          <a:noFill/>
        </p:spPr>
        <p:txBody>
          <a:bodyPr wrap="square" lIns="36576" tIns="36576" rIns="36576" bIns="36576" anchor="ctr">
            <a:normAutofit/>
          </a:bodyPr>
          <a:lstStyle/>
          <a:p>
            <a:pPr algn="l">
              <a:lnSpc>
                <a:spcPct val="100000"/>
              </a:lnSpc>
              <a:spcBef>
                <a:spcPts val="0"/>
              </a:spcBef>
              <a:spcAft>
                <a:spcPts val="0"/>
              </a:spcAft>
              <a:defRPr sz="2000" b="0">
                <a:solidFill>
                  <a:srgbClr val="666666"/>
                </a:solidFill>
                <a:latin typeface="微软雅黑"/>
              </a:defRPr>
            </a:pPr>
            <a:r>
              <a:rPr sz="2000" b="0" i="0">
                <a:solidFill>
                  <a:srgbClr val="666666"/>
                </a:solidFill>
                <a:latin typeface="微软雅黑"/>
                <a:ea typeface="微软雅黑"/>
              </a:rPr>
              <a:t>下一步工作计划</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19456"/>
            <a:ext cx="9738360" cy="621792"/>
          </a:xfrm>
          <a:prstGeom prst="rect">
            <a:avLst/>
          </a:prstGeom>
          <a:noFill/>
        </p:spPr>
        <p:txBody>
          <a:bodyPr wrap="square" lIns="0" tIns="0" rIns="0" bIns="0" anchor="ctr">
            <a:normAutofit/>
          </a:bodyPr>
          <a:lstStyle/>
          <a:p>
            <a:pPr algn="l">
              <a:lnSpc>
                <a:spcPct val="100000"/>
              </a:lnSpc>
              <a:spcBef>
                <a:spcPts val="0"/>
              </a:spcBef>
              <a:spcAft>
                <a:spcPts val="0"/>
              </a:spcAft>
              <a:defRPr sz="1300" b="1">
                <a:solidFill>
                  <a:srgbClr val="111111"/>
                </a:solidFill>
                <a:latin typeface="微软雅黑"/>
              </a:defRPr>
            </a:pPr>
            <a:r>
              <a:rPr sz="3400" b="1" i="0">
                <a:solidFill>
                  <a:srgbClr val="111111"/>
                </a:solidFill>
                <a:latin typeface="微软雅黑"/>
                <a:ea typeface="微软雅黑"/>
              </a:rPr>
              <a:t>中讯整体推进情况</a:t>
            </a:r>
          </a:p>
        </p:txBody>
      </p:sp>
      <p:graphicFrame>
        <p:nvGraphicFramePr>
          <p:cNvPr id="8" name="Table 7"/>
          <p:cNvGraphicFramePr>
            <a:graphicFrameLocks noGrp="1"/>
          </p:cNvGraphicFramePr>
          <p:nvPr/>
        </p:nvGraphicFramePr>
        <p:xfrm>
          <a:off x="347472" y="1929384"/>
          <a:ext cx="5010909" cy="4553710"/>
        </p:xfrm>
        <a:graphic>
          <a:graphicData uri="http://schemas.openxmlformats.org/drawingml/2006/table">
            <a:tbl>
              <a:tblPr>
                <a:tableStyleId>{5C22544A-7EE6-4342-B048-85BDC9FD1C3A}</a:tableStyleId>
              </a:tblPr>
              <a:tblGrid>
                <a:gridCol w="301408">
                  <a:extLst>
                    <a:ext uri="{9D8B030D-6E8A-4147-A177-3AD203B41FA5}">
                      <a16:colId xmlns:a16="http://schemas.microsoft.com/office/drawing/2014/main" val="20000"/>
                    </a:ext>
                  </a:extLst>
                </a:gridCol>
                <a:gridCol w="715844">
                  <a:extLst>
                    <a:ext uri="{9D8B030D-6E8A-4147-A177-3AD203B41FA5}">
                      <a16:colId xmlns:a16="http://schemas.microsoft.com/office/drawing/2014/main" val="20001"/>
                    </a:ext>
                  </a:extLst>
                </a:gridCol>
                <a:gridCol w="1996829">
                  <a:extLst>
                    <a:ext uri="{9D8B030D-6E8A-4147-A177-3AD203B41FA5}">
                      <a16:colId xmlns:a16="http://schemas.microsoft.com/office/drawing/2014/main" val="20002"/>
                    </a:ext>
                  </a:extLst>
                </a:gridCol>
                <a:gridCol w="678168">
                  <a:extLst>
                    <a:ext uri="{9D8B030D-6E8A-4147-A177-3AD203B41FA5}">
                      <a16:colId xmlns:a16="http://schemas.microsoft.com/office/drawing/2014/main" val="20003"/>
                    </a:ext>
                  </a:extLst>
                </a:gridCol>
                <a:gridCol w="678168">
                  <a:extLst>
                    <a:ext uri="{9D8B030D-6E8A-4147-A177-3AD203B41FA5}">
                      <a16:colId xmlns:a16="http://schemas.microsoft.com/office/drawing/2014/main" val="20004"/>
                    </a:ext>
                  </a:extLst>
                </a:gridCol>
                <a:gridCol w="640492">
                  <a:extLst>
                    <a:ext uri="{9D8B030D-6E8A-4147-A177-3AD203B41FA5}">
                      <a16:colId xmlns:a16="http://schemas.microsoft.com/office/drawing/2014/main" val="20005"/>
                    </a:ext>
                  </a:extLst>
                </a:gridCol>
              </a:tblGrid>
              <a:tr h="785122">
                <a:tc>
                  <a:txBody>
                    <a:bodyPr/>
                    <a:lstStyle/>
                    <a:p>
                      <a:pPr algn="ctr">
                        <a:lnSpc>
                          <a:spcPct val="100000"/>
                        </a:lnSpc>
                        <a:spcBef>
                          <a:spcPts val="0"/>
                        </a:spcBef>
                        <a:spcAft>
                          <a:spcPts val="0"/>
                        </a:spcAft>
                        <a:defRPr sz="1300" b="1">
                          <a:latin typeface="微软雅黑"/>
                        </a:defRPr>
                      </a:pPr>
                      <a:r>
                        <a:rPr sz="1000" b="1">
                          <a:solidFill>
                            <a:srgbClr val="FFFFFF"/>
                          </a:solidFill>
                          <a:latin typeface="微软雅黑"/>
                          <a:ea typeface="微软雅黑"/>
                        </a:rPr>
                        <a:t>序号</a:t>
                      </a:r>
                    </a:p>
                  </a:txBody>
                  <a:tcPr marL="13716" marR="13716" marT="4572" marB="4572" anchor="ctr">
                    <a:solidFill>
                      <a:srgbClr val="4472C4"/>
                    </a:solidFill>
                  </a:tcPr>
                </a:tc>
                <a:tc>
                  <a:txBody>
                    <a:bodyPr/>
                    <a:lstStyle/>
                    <a:p>
                      <a:pPr algn="ctr">
                        <a:lnSpc>
                          <a:spcPct val="100000"/>
                        </a:lnSpc>
                        <a:spcBef>
                          <a:spcPts val="0"/>
                        </a:spcBef>
                        <a:spcAft>
                          <a:spcPts val="0"/>
                        </a:spcAft>
                        <a:defRPr sz="1300" b="1">
                          <a:latin typeface="微软雅黑"/>
                        </a:defRPr>
                      </a:pPr>
                      <a:r>
                        <a:rPr sz="1000" b="1">
                          <a:solidFill>
                            <a:srgbClr val="FFFFFF"/>
                          </a:solidFill>
                          <a:latin typeface="微软雅黑"/>
                          <a:ea typeface="微软雅黑"/>
                        </a:rPr>
                        <a:t>方向</a:t>
                      </a:r>
                    </a:p>
                  </a:txBody>
                  <a:tcPr marL="13716" marR="13716" marT="4572" marB="4572" anchor="ctr">
                    <a:solidFill>
                      <a:srgbClr val="4472C4"/>
                    </a:solidFill>
                  </a:tcPr>
                </a:tc>
                <a:tc>
                  <a:txBody>
                    <a:bodyPr/>
                    <a:lstStyle/>
                    <a:p>
                      <a:pPr algn="ctr">
                        <a:lnSpc>
                          <a:spcPct val="100000"/>
                        </a:lnSpc>
                        <a:spcBef>
                          <a:spcPts val="0"/>
                        </a:spcBef>
                        <a:spcAft>
                          <a:spcPts val="0"/>
                        </a:spcAft>
                        <a:defRPr sz="1300" b="1">
                          <a:latin typeface="微软雅黑"/>
                        </a:defRPr>
                      </a:pPr>
                      <a:r>
                        <a:rPr sz="1000" b="1">
                          <a:solidFill>
                            <a:srgbClr val="FFFFFF"/>
                          </a:solidFill>
                          <a:latin typeface="微软雅黑"/>
                          <a:ea typeface="微软雅黑"/>
                        </a:rPr>
                        <a:t>指标</a:t>
                      </a:r>
                    </a:p>
                  </a:txBody>
                  <a:tcPr marL="13716" marR="13716" marT="4572" marB="4572" anchor="ctr">
                    <a:solidFill>
                      <a:srgbClr val="4472C4"/>
                    </a:solidFill>
                  </a:tcPr>
                </a:tc>
                <a:tc>
                  <a:txBody>
                    <a:bodyPr/>
                    <a:lstStyle/>
                    <a:p>
                      <a:pPr algn="ctr">
                        <a:lnSpc>
                          <a:spcPct val="100000"/>
                        </a:lnSpc>
                        <a:spcBef>
                          <a:spcPts val="0"/>
                        </a:spcBef>
                        <a:spcAft>
                          <a:spcPts val="0"/>
                        </a:spcAft>
                        <a:defRPr sz="1300" b="1">
                          <a:latin typeface="微软雅黑"/>
                        </a:defRPr>
                      </a:pPr>
                      <a:r>
                        <a:rPr sz="1000" b="1">
                          <a:solidFill>
                            <a:srgbClr val="FFFFFF"/>
                          </a:solidFill>
                          <a:latin typeface="微软雅黑"/>
                          <a:ea typeface="微软雅黑"/>
                        </a:rPr>
                        <a:t>当年目标值</a:t>
                      </a:r>
                    </a:p>
                  </a:txBody>
                  <a:tcPr marL="13716" marR="13716" marT="4572" marB="4572" anchor="ctr">
                    <a:solidFill>
                      <a:srgbClr val="4472C4"/>
                    </a:solidFill>
                  </a:tcPr>
                </a:tc>
                <a:tc>
                  <a:txBody>
                    <a:bodyPr/>
                    <a:lstStyle/>
                    <a:p>
                      <a:pPr algn="ctr">
                        <a:lnSpc>
                          <a:spcPct val="100000"/>
                        </a:lnSpc>
                        <a:spcBef>
                          <a:spcPts val="0"/>
                        </a:spcBef>
                        <a:spcAft>
                          <a:spcPts val="0"/>
                        </a:spcAft>
                        <a:defRPr sz="1300" b="1">
                          <a:latin typeface="微软雅黑"/>
                        </a:defRPr>
                      </a:pPr>
                      <a:r>
                        <a:rPr sz="1000" b="1">
                          <a:solidFill>
                            <a:srgbClr val="FFFFFF"/>
                          </a:solidFill>
                          <a:latin typeface="微软雅黑"/>
                          <a:ea typeface="微软雅黑"/>
                        </a:rPr>
                        <a:t>五月完成值</a:t>
                      </a:r>
                    </a:p>
                  </a:txBody>
                  <a:tcPr marL="13716" marR="13716" marT="4572" marB="4572" anchor="ctr">
                    <a:solidFill>
                      <a:srgbClr val="4472C4"/>
                    </a:solidFill>
                  </a:tcPr>
                </a:tc>
                <a:tc>
                  <a:txBody>
                    <a:bodyPr/>
                    <a:lstStyle/>
                    <a:p>
                      <a:pPr algn="ctr">
                        <a:lnSpc>
                          <a:spcPct val="100000"/>
                        </a:lnSpc>
                        <a:spcBef>
                          <a:spcPts val="0"/>
                        </a:spcBef>
                        <a:spcAft>
                          <a:spcPts val="0"/>
                        </a:spcAft>
                        <a:defRPr sz="1300" b="1">
                          <a:latin typeface="微软雅黑"/>
                        </a:defRPr>
                      </a:pPr>
                      <a:r>
                        <a:rPr sz="1000" b="1">
                          <a:solidFill>
                            <a:srgbClr val="FFFFFF"/>
                          </a:solidFill>
                          <a:latin typeface="微软雅黑"/>
                          <a:ea typeface="微软雅黑"/>
                        </a:rPr>
                        <a:t>完成比例</a:t>
                      </a:r>
                    </a:p>
                  </a:txBody>
                  <a:tcPr marL="13716" marR="13716" marT="4572" marB="4572" anchor="ctr">
                    <a:solidFill>
                      <a:srgbClr val="4472C4"/>
                    </a:solidFill>
                  </a:tcPr>
                </a:tc>
                <a:extLst>
                  <a:ext uri="{0D108BD9-81ED-4DB2-BD59-A6C34878D82A}">
                    <a16:rowId xmlns:a16="http://schemas.microsoft.com/office/drawing/2014/main" val="10000"/>
                  </a:ext>
                </a:extLst>
              </a:tr>
              <a:tr h="628098">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1</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研发投入</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研究与试验发展经费支出（亿元）</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2.6亿</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0.83亿</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31.9%</a:t>
                      </a:r>
                    </a:p>
                  </a:txBody>
                  <a:tcPr marL="13716" marR="13716" marT="4572" marB="4572" anchor="ctr">
                    <a:solidFill>
                      <a:srgbClr val="EAEFF7"/>
                    </a:solidFill>
                  </a:tcPr>
                </a:tc>
                <a:extLst>
                  <a:ext uri="{0D108BD9-81ED-4DB2-BD59-A6C34878D82A}">
                    <a16:rowId xmlns:a16="http://schemas.microsoft.com/office/drawing/2014/main" val="10001"/>
                  </a:ext>
                </a:extLst>
              </a:tr>
              <a:tr h="628098">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2</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研发成效</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获取集团研发费用支持（亿元）</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1.3亿</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0.2649亿</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20.37%</a:t>
                      </a:r>
                    </a:p>
                  </a:txBody>
                  <a:tcPr marL="13716" marR="13716" marT="4572" marB="4572" anchor="ctr">
                    <a:solidFill>
                      <a:srgbClr val="EAEFF7"/>
                    </a:solidFill>
                  </a:tcPr>
                </a:tc>
                <a:extLst>
                  <a:ext uri="{0D108BD9-81ED-4DB2-BD59-A6C34878D82A}">
                    <a16:rowId xmlns:a16="http://schemas.microsoft.com/office/drawing/2014/main" val="10002"/>
                  </a:ext>
                </a:extLst>
              </a:tr>
              <a:tr h="628098">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3</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研发成效</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专利受理数量</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138</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47</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34.1%</a:t>
                      </a:r>
                    </a:p>
                  </a:txBody>
                  <a:tcPr marL="13716" marR="13716" marT="4572" marB="4572" anchor="ctr">
                    <a:solidFill>
                      <a:srgbClr val="EAEFF7"/>
                    </a:solidFill>
                  </a:tcPr>
                </a:tc>
                <a:extLst>
                  <a:ext uri="{0D108BD9-81ED-4DB2-BD59-A6C34878D82A}">
                    <a16:rowId xmlns:a16="http://schemas.microsoft.com/office/drawing/2014/main" val="10003"/>
                  </a:ext>
                </a:extLst>
              </a:tr>
              <a:tr h="628098">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4</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研发成效</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专利转化数量</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40</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7</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1">
                          <a:solidFill>
                            <a:srgbClr val="C00000"/>
                          </a:solidFill>
                          <a:latin typeface="微软雅黑"/>
                          <a:ea typeface="微软雅黑"/>
                        </a:rPr>
                        <a:t>17.5%</a:t>
                      </a:r>
                    </a:p>
                  </a:txBody>
                  <a:tcPr marL="13716" marR="13716" marT="4572" marB="4572" anchor="ctr">
                    <a:solidFill>
                      <a:srgbClr val="EAEFF7"/>
                    </a:solidFill>
                  </a:tcPr>
                </a:tc>
                <a:extLst>
                  <a:ext uri="{0D108BD9-81ED-4DB2-BD59-A6C34878D82A}">
                    <a16:rowId xmlns:a16="http://schemas.microsoft.com/office/drawing/2014/main" val="10004"/>
                  </a:ext>
                </a:extLst>
              </a:tr>
              <a:tr h="628098">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5</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研发成效</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申报国资委成果目录及省部级首台套、三新</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7</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2</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28%</a:t>
                      </a:r>
                    </a:p>
                  </a:txBody>
                  <a:tcPr marL="13716" marR="13716" marT="4572" marB="4572" anchor="ctr">
                    <a:solidFill>
                      <a:srgbClr val="EAEFF7"/>
                    </a:solidFill>
                  </a:tcPr>
                </a:tc>
                <a:extLst>
                  <a:ext uri="{0D108BD9-81ED-4DB2-BD59-A6C34878D82A}">
                    <a16:rowId xmlns:a16="http://schemas.microsoft.com/office/drawing/2014/main" val="10005"/>
                  </a:ext>
                </a:extLst>
              </a:tr>
              <a:tr h="628098">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6</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科技创新影响力</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国际标准、国标、行标编制情况</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38</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15</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39%</a:t>
                      </a:r>
                    </a:p>
                  </a:txBody>
                  <a:tcPr marL="13716" marR="13716" marT="4572" marB="4572" anchor="ctr">
                    <a:solidFill>
                      <a:srgbClr val="EAEFF7"/>
                    </a:solidFill>
                  </a:tcPr>
                </a:tc>
                <a:extLst>
                  <a:ext uri="{0D108BD9-81ED-4DB2-BD59-A6C34878D82A}">
                    <a16:rowId xmlns:a16="http://schemas.microsoft.com/office/drawing/2014/main" val="10006"/>
                  </a:ext>
                </a:extLst>
              </a:tr>
            </a:tbl>
          </a:graphicData>
        </a:graphic>
      </p:graphicFrame>
      <p:sp>
        <p:nvSpPr>
          <p:cNvPr id="9" name="Rectangle 8"/>
          <p:cNvSpPr/>
          <p:nvPr/>
        </p:nvSpPr>
        <p:spPr>
          <a:xfrm>
            <a:off x="347472" y="1143000"/>
            <a:ext cx="5010912" cy="347472"/>
          </a:xfrm>
          <a:prstGeom prst="rect">
            <a:avLst/>
          </a:prstGeom>
          <a:solidFill>
            <a:srgbClr val="003E9E"/>
          </a:solidFill>
          <a:ln w="10160">
            <a:solidFill>
              <a:srgbClr val="003E9E"/>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spcBef>
                <a:spcPts val="0"/>
              </a:spcBef>
              <a:spcAft>
                <a:spcPts val="0"/>
              </a:spcAft>
            </a:pPr>
            <a:endParaRPr/>
          </a:p>
        </p:txBody>
      </p:sp>
      <p:sp>
        <p:nvSpPr>
          <p:cNvPr id="10" name="TextBox 9"/>
          <p:cNvSpPr txBox="1"/>
          <p:nvPr/>
        </p:nvSpPr>
        <p:spPr>
          <a:xfrm>
            <a:off x="347472" y="1143000"/>
            <a:ext cx="5010912" cy="347472"/>
          </a:xfrm>
          <a:prstGeom prst="rect">
            <a:avLst/>
          </a:prstGeom>
          <a:noFill/>
        </p:spPr>
        <p:txBody>
          <a:bodyPr wrap="square" lIns="0" tIns="0" rIns="0" bIns="0" anchor="ctr">
            <a:spAutoFit/>
          </a:bodyPr>
          <a:lstStyle/>
          <a:p>
            <a:pPr algn="ctr">
              <a:lnSpc>
                <a:spcPct val="100000"/>
              </a:lnSpc>
              <a:spcBef>
                <a:spcPts val="0"/>
              </a:spcBef>
              <a:spcAft>
                <a:spcPts val="0"/>
              </a:spcAft>
              <a:defRPr sz="2000" b="1">
                <a:solidFill>
                  <a:srgbClr val="FFFFFF"/>
                </a:solidFill>
                <a:latin typeface="微软雅黑"/>
              </a:defRPr>
            </a:pPr>
            <a:r>
              <a:rPr sz="1200" b="1">
                <a:solidFill>
                  <a:srgbClr val="FFFFFF"/>
                </a:solidFill>
                <a:latin typeface="微软雅黑"/>
                <a:ea typeface="微软雅黑"/>
              </a:rPr>
              <a:t>当前进度</a:t>
            </a:r>
          </a:p>
        </p:txBody>
      </p:sp>
      <p:sp>
        <p:nvSpPr>
          <p:cNvPr id="11" name="Rectangle 10"/>
          <p:cNvSpPr/>
          <p:nvPr/>
        </p:nvSpPr>
        <p:spPr>
          <a:xfrm>
            <a:off x="347472" y="1490472"/>
            <a:ext cx="5010912" cy="438912"/>
          </a:xfrm>
          <a:prstGeom prst="rect">
            <a:avLst/>
          </a:prstGeom>
          <a:solidFill>
            <a:srgbClr val="F4F7FB"/>
          </a:solidFill>
          <a:ln w="10160">
            <a:solidFill>
              <a:srgbClr val="B7C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spcBef>
                <a:spcPts val="0"/>
              </a:spcBef>
              <a:spcAft>
                <a:spcPts val="0"/>
              </a:spcAft>
            </a:pPr>
            <a:endParaRPr/>
          </a:p>
        </p:txBody>
      </p:sp>
      <p:sp>
        <p:nvSpPr>
          <p:cNvPr id="12" name="TextBox 11"/>
          <p:cNvSpPr txBox="1"/>
          <p:nvPr/>
        </p:nvSpPr>
        <p:spPr>
          <a:xfrm>
            <a:off x="347472" y="1490472"/>
            <a:ext cx="5010912" cy="438912"/>
          </a:xfrm>
          <a:prstGeom prst="rect">
            <a:avLst/>
          </a:prstGeom>
          <a:noFill/>
        </p:spPr>
        <p:txBody>
          <a:bodyPr wrap="square" lIns="64008" tIns="64008" rIns="64008" bIns="64008" anchor="ctr">
            <a:spAutoFit/>
          </a:bodyPr>
          <a:lstStyle/>
          <a:p>
            <a:pPr algn="l">
              <a:lnSpc>
                <a:spcPct val="130000"/>
              </a:lnSpc>
              <a:spcBef>
                <a:spcPts val="0"/>
              </a:spcBef>
              <a:spcAft>
                <a:spcPts val="0"/>
              </a:spcAft>
              <a:defRPr sz="1300" b="1">
                <a:solidFill>
                  <a:srgbClr val="111111"/>
                </a:solidFill>
                <a:latin typeface="微软雅黑"/>
              </a:defRPr>
            </a:pPr>
            <a:r>
              <a:rPr sz="1200" b="1">
                <a:solidFill>
                  <a:srgbClr val="111111"/>
                </a:solidFill>
                <a:latin typeface="微软雅黑"/>
                <a:ea typeface="微软雅黑"/>
              </a:rPr>
              <a:t>科创整体指标符合预期，专利转化17.5%是当前最突出短板</a:t>
            </a:r>
          </a:p>
        </p:txBody>
      </p:sp>
      <p:sp>
        <p:nvSpPr>
          <p:cNvPr id="13" name="Rectangle 12"/>
          <p:cNvSpPr/>
          <p:nvPr/>
        </p:nvSpPr>
        <p:spPr>
          <a:xfrm>
            <a:off x="5577840" y="1143000"/>
            <a:ext cx="6245352" cy="292608"/>
          </a:xfrm>
          <a:prstGeom prst="rect">
            <a:avLst/>
          </a:prstGeom>
          <a:solidFill>
            <a:srgbClr val="003E9E"/>
          </a:solidFill>
          <a:ln w="10160">
            <a:solidFill>
              <a:srgbClr val="003E9E"/>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spcBef>
                <a:spcPts val="0"/>
              </a:spcBef>
              <a:spcAft>
                <a:spcPts val="0"/>
              </a:spcAft>
            </a:pPr>
            <a:endParaRPr/>
          </a:p>
        </p:txBody>
      </p:sp>
      <p:sp>
        <p:nvSpPr>
          <p:cNvPr id="15" name="Rectangle 14"/>
          <p:cNvSpPr/>
          <p:nvPr/>
        </p:nvSpPr>
        <p:spPr>
          <a:xfrm>
            <a:off x="5577840" y="1435608"/>
            <a:ext cx="6245352" cy="1426464"/>
          </a:xfrm>
          <a:prstGeom prst="rect">
            <a:avLst/>
          </a:prstGeom>
          <a:solidFill>
            <a:srgbClr val="F4F7FB"/>
          </a:solidFill>
          <a:ln w="10160">
            <a:solidFill>
              <a:srgbClr val="B7C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spcBef>
                <a:spcPts val="0"/>
              </a:spcBef>
              <a:spcAft>
                <a:spcPts val="0"/>
              </a:spcAft>
            </a:pPr>
            <a:endParaRPr/>
          </a:p>
        </p:txBody>
      </p:sp>
      <p:sp>
        <p:nvSpPr>
          <p:cNvPr id="17" name="Rectangle 16"/>
          <p:cNvSpPr/>
          <p:nvPr/>
        </p:nvSpPr>
        <p:spPr>
          <a:xfrm>
            <a:off x="5577840" y="1883664"/>
            <a:ext cx="1325880" cy="658368"/>
          </a:xfrm>
          <a:prstGeom prst="rect">
            <a:avLst/>
          </a:prstGeom>
          <a:solidFill>
            <a:srgbClr val="FFFFFF"/>
          </a:solidFill>
          <a:ln w="10160">
            <a:solidFill>
              <a:srgbClr val="B7C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spcBef>
                <a:spcPts val="0"/>
              </a:spcBef>
              <a:spcAft>
                <a:spcPts val="0"/>
              </a:spcAft>
            </a:pPr>
            <a:endParaRPr/>
          </a:p>
        </p:txBody>
      </p:sp>
      <p:sp>
        <p:nvSpPr>
          <p:cNvPr id="18" name="TextBox 17"/>
          <p:cNvSpPr txBox="1"/>
          <p:nvPr/>
        </p:nvSpPr>
        <p:spPr>
          <a:xfrm>
            <a:off x="5614416" y="1920240"/>
            <a:ext cx="1252728" cy="292608"/>
          </a:xfrm>
          <a:prstGeom prst="rect">
            <a:avLst/>
          </a:prstGeom>
          <a:noFill/>
        </p:spPr>
        <p:txBody>
          <a:bodyPr wrap="square" lIns="0" tIns="0" rIns="0" bIns="0" anchor="ctr">
            <a:spAutoFit/>
          </a:bodyPr>
          <a:lstStyle/>
          <a:p>
            <a:pPr algn="ctr">
              <a:lnSpc>
                <a:spcPct val="100000"/>
              </a:lnSpc>
              <a:spcBef>
                <a:spcPts val="0"/>
              </a:spcBef>
              <a:spcAft>
                <a:spcPts val="0"/>
              </a:spcAft>
              <a:defRPr sz="2000" b="1">
                <a:solidFill>
                  <a:srgbClr val="003E9E"/>
                </a:solidFill>
                <a:latin typeface="微软雅黑"/>
              </a:defRPr>
            </a:pPr>
            <a:r>
              <a:rPr sz="2000" b="1">
                <a:solidFill>
                  <a:srgbClr val="003E9E"/>
                </a:solidFill>
                <a:latin typeface="微软雅黑"/>
                <a:ea typeface="微软雅黑"/>
              </a:rPr>
              <a:t>44</a:t>
            </a:r>
          </a:p>
        </p:txBody>
      </p:sp>
      <p:sp>
        <p:nvSpPr>
          <p:cNvPr id="19" name="TextBox 18"/>
          <p:cNvSpPr txBox="1"/>
          <p:nvPr/>
        </p:nvSpPr>
        <p:spPr>
          <a:xfrm>
            <a:off x="5614416" y="2249424"/>
            <a:ext cx="1252728" cy="201168"/>
          </a:xfrm>
          <a:prstGeom prst="rect">
            <a:avLst/>
          </a:prstGeom>
          <a:noFill/>
        </p:spPr>
        <p:txBody>
          <a:bodyPr wrap="square" lIns="0" tIns="0" rIns="0" bIns="0" anchor="ctr">
            <a:spAutoFit/>
          </a:bodyPr>
          <a:lstStyle/>
          <a:p>
            <a:pPr algn="ctr">
              <a:lnSpc>
                <a:spcPct val="130000"/>
              </a:lnSpc>
              <a:spcBef>
                <a:spcPts val="0"/>
              </a:spcBef>
              <a:spcAft>
                <a:spcPts val="0"/>
              </a:spcAft>
              <a:defRPr sz="1300" b="1">
                <a:solidFill>
                  <a:srgbClr val="111111"/>
                </a:solidFill>
                <a:latin typeface="微软雅黑"/>
              </a:defRPr>
            </a:pPr>
            <a:r>
              <a:rPr sz="1200" b="1">
                <a:solidFill>
                  <a:srgbClr val="111111"/>
                </a:solidFill>
                <a:latin typeface="微软雅黑"/>
                <a:ea typeface="微软雅黑"/>
              </a:rPr>
              <a:t>在研项目</a:t>
            </a:r>
          </a:p>
        </p:txBody>
      </p:sp>
      <p:sp>
        <p:nvSpPr>
          <p:cNvPr id="20" name="Rectangle 19"/>
          <p:cNvSpPr/>
          <p:nvPr/>
        </p:nvSpPr>
        <p:spPr>
          <a:xfrm>
            <a:off x="7022592" y="1883664"/>
            <a:ext cx="1481328" cy="658368"/>
          </a:xfrm>
          <a:prstGeom prst="rect">
            <a:avLst/>
          </a:prstGeom>
          <a:solidFill>
            <a:srgbClr val="FFFFFF"/>
          </a:solidFill>
          <a:ln w="10160">
            <a:solidFill>
              <a:srgbClr val="B7C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spcBef>
                <a:spcPts val="0"/>
              </a:spcBef>
              <a:spcAft>
                <a:spcPts val="0"/>
              </a:spcAft>
            </a:pPr>
            <a:endParaRPr/>
          </a:p>
        </p:txBody>
      </p:sp>
      <p:sp>
        <p:nvSpPr>
          <p:cNvPr id="21" name="TextBox 20"/>
          <p:cNvSpPr txBox="1"/>
          <p:nvPr/>
        </p:nvSpPr>
        <p:spPr>
          <a:xfrm>
            <a:off x="7059168" y="1920240"/>
            <a:ext cx="1408176" cy="292608"/>
          </a:xfrm>
          <a:prstGeom prst="rect">
            <a:avLst/>
          </a:prstGeom>
          <a:noFill/>
        </p:spPr>
        <p:txBody>
          <a:bodyPr wrap="square" lIns="0" tIns="0" rIns="0" bIns="0" anchor="ctr">
            <a:spAutoFit/>
          </a:bodyPr>
          <a:lstStyle/>
          <a:p>
            <a:pPr algn="ctr">
              <a:lnSpc>
                <a:spcPct val="100000"/>
              </a:lnSpc>
              <a:spcBef>
                <a:spcPts val="0"/>
              </a:spcBef>
              <a:spcAft>
                <a:spcPts val="0"/>
              </a:spcAft>
              <a:defRPr sz="2000" b="1">
                <a:solidFill>
                  <a:srgbClr val="003E9E"/>
                </a:solidFill>
                <a:latin typeface="微软雅黑"/>
              </a:defRPr>
            </a:pPr>
            <a:r>
              <a:rPr sz="2000" b="1">
                <a:solidFill>
                  <a:srgbClr val="003E9E"/>
                </a:solidFill>
                <a:latin typeface="微软雅黑"/>
                <a:ea typeface="微软雅黑"/>
              </a:rPr>
              <a:t>2649</a:t>
            </a:r>
          </a:p>
        </p:txBody>
      </p:sp>
      <p:sp>
        <p:nvSpPr>
          <p:cNvPr id="22" name="TextBox 21"/>
          <p:cNvSpPr txBox="1"/>
          <p:nvPr/>
        </p:nvSpPr>
        <p:spPr>
          <a:xfrm>
            <a:off x="7059168" y="2249424"/>
            <a:ext cx="1408176" cy="201168"/>
          </a:xfrm>
          <a:prstGeom prst="rect">
            <a:avLst/>
          </a:prstGeom>
          <a:noFill/>
        </p:spPr>
        <p:txBody>
          <a:bodyPr wrap="square" lIns="0" tIns="0" rIns="0" bIns="0" anchor="ctr">
            <a:spAutoFit/>
          </a:bodyPr>
          <a:lstStyle/>
          <a:p>
            <a:pPr algn="ctr">
              <a:lnSpc>
                <a:spcPct val="130000"/>
              </a:lnSpc>
              <a:spcBef>
                <a:spcPts val="0"/>
              </a:spcBef>
              <a:spcAft>
                <a:spcPts val="0"/>
              </a:spcAft>
              <a:defRPr sz="1300" b="1">
                <a:solidFill>
                  <a:srgbClr val="111111"/>
                </a:solidFill>
                <a:latin typeface="微软雅黑"/>
              </a:defRPr>
            </a:pPr>
            <a:r>
              <a:rPr sz="1200" b="1">
                <a:solidFill>
                  <a:srgbClr val="111111"/>
                </a:solidFill>
                <a:latin typeface="微软雅黑"/>
                <a:ea typeface="微软雅黑"/>
              </a:rPr>
              <a:t>批复经费/万元</a:t>
            </a:r>
          </a:p>
        </p:txBody>
      </p:sp>
      <p:sp>
        <p:nvSpPr>
          <p:cNvPr id="23" name="Rectangle 22"/>
          <p:cNvSpPr/>
          <p:nvPr/>
        </p:nvSpPr>
        <p:spPr>
          <a:xfrm>
            <a:off x="8622792" y="1883664"/>
            <a:ext cx="1920240" cy="658368"/>
          </a:xfrm>
          <a:prstGeom prst="rect">
            <a:avLst/>
          </a:prstGeom>
          <a:solidFill>
            <a:srgbClr val="FFFFFF"/>
          </a:solidFill>
          <a:ln w="10160">
            <a:solidFill>
              <a:srgbClr val="B7C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spcBef>
                <a:spcPts val="0"/>
              </a:spcBef>
              <a:spcAft>
                <a:spcPts val="0"/>
              </a:spcAft>
            </a:pPr>
            <a:endParaRPr/>
          </a:p>
        </p:txBody>
      </p:sp>
      <p:sp>
        <p:nvSpPr>
          <p:cNvPr id="24" name="TextBox 23"/>
          <p:cNvSpPr txBox="1"/>
          <p:nvPr/>
        </p:nvSpPr>
        <p:spPr>
          <a:xfrm>
            <a:off x="8659368" y="1920240"/>
            <a:ext cx="1847088" cy="292608"/>
          </a:xfrm>
          <a:prstGeom prst="rect">
            <a:avLst/>
          </a:prstGeom>
          <a:noFill/>
        </p:spPr>
        <p:txBody>
          <a:bodyPr wrap="square" lIns="0" tIns="0" rIns="0" bIns="0" anchor="ctr">
            <a:spAutoFit/>
          </a:bodyPr>
          <a:lstStyle/>
          <a:p>
            <a:pPr algn="ctr">
              <a:lnSpc>
                <a:spcPct val="100000"/>
              </a:lnSpc>
              <a:spcBef>
                <a:spcPts val="0"/>
              </a:spcBef>
              <a:spcAft>
                <a:spcPts val="0"/>
              </a:spcAft>
              <a:defRPr sz="2000" b="1">
                <a:solidFill>
                  <a:srgbClr val="003E9E"/>
                </a:solidFill>
                <a:latin typeface="微软雅黑"/>
              </a:defRPr>
            </a:pPr>
            <a:r>
              <a:rPr sz="2000" b="1">
                <a:solidFill>
                  <a:srgbClr val="003E9E"/>
                </a:solidFill>
                <a:latin typeface="微软雅黑"/>
                <a:ea typeface="微软雅黑"/>
              </a:rPr>
              <a:t>3579.249</a:t>
            </a:r>
          </a:p>
        </p:txBody>
      </p:sp>
      <p:sp>
        <p:nvSpPr>
          <p:cNvPr id="25" name="TextBox 24"/>
          <p:cNvSpPr txBox="1"/>
          <p:nvPr/>
        </p:nvSpPr>
        <p:spPr>
          <a:xfrm>
            <a:off x="8659368" y="2249424"/>
            <a:ext cx="1847088" cy="201168"/>
          </a:xfrm>
          <a:prstGeom prst="rect">
            <a:avLst/>
          </a:prstGeom>
          <a:noFill/>
        </p:spPr>
        <p:txBody>
          <a:bodyPr wrap="square" lIns="0" tIns="0" rIns="0" bIns="0" anchor="ctr">
            <a:spAutoFit/>
          </a:bodyPr>
          <a:lstStyle/>
          <a:p>
            <a:pPr algn="ctr">
              <a:lnSpc>
                <a:spcPct val="130000"/>
              </a:lnSpc>
              <a:spcBef>
                <a:spcPts val="0"/>
              </a:spcBef>
              <a:spcAft>
                <a:spcPts val="0"/>
              </a:spcAft>
              <a:defRPr sz="1300" b="1">
                <a:solidFill>
                  <a:srgbClr val="111111"/>
                </a:solidFill>
                <a:latin typeface="微软雅黑"/>
              </a:defRPr>
            </a:pPr>
            <a:r>
              <a:rPr sz="1200" b="1">
                <a:solidFill>
                  <a:srgbClr val="111111"/>
                </a:solidFill>
                <a:latin typeface="微软雅黑"/>
                <a:ea typeface="微软雅黑"/>
              </a:rPr>
              <a:t>预计回款/万元</a:t>
            </a:r>
          </a:p>
        </p:txBody>
      </p:sp>
      <p:sp>
        <p:nvSpPr>
          <p:cNvPr id="26" name="Rectangle 25"/>
          <p:cNvSpPr/>
          <p:nvPr/>
        </p:nvSpPr>
        <p:spPr>
          <a:xfrm>
            <a:off x="5577840" y="2596896"/>
            <a:ext cx="6245352" cy="237744"/>
          </a:xfrm>
          <a:prstGeom prst="rect">
            <a:avLst/>
          </a:prstGeom>
          <a:solidFill>
            <a:srgbClr val="EAF1F9"/>
          </a:solidFill>
          <a:ln w="10160">
            <a:solidFill>
              <a:srgbClr val="B7C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spcBef>
                <a:spcPts val="0"/>
              </a:spcBef>
              <a:spcAft>
                <a:spcPts val="0"/>
              </a:spcAft>
            </a:pPr>
            <a:endParaRPr/>
          </a:p>
        </p:txBody>
      </p:sp>
      <p:sp>
        <p:nvSpPr>
          <p:cNvPr id="28" name="Rectangle 27"/>
          <p:cNvSpPr/>
          <p:nvPr/>
        </p:nvSpPr>
        <p:spPr>
          <a:xfrm>
            <a:off x="5577840" y="2953512"/>
            <a:ext cx="6245352" cy="292608"/>
          </a:xfrm>
          <a:prstGeom prst="rect">
            <a:avLst/>
          </a:prstGeom>
          <a:solidFill>
            <a:srgbClr val="4472C4"/>
          </a:solidFill>
          <a:ln w="10160">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spcBef>
                <a:spcPts val="0"/>
              </a:spcBef>
              <a:spcAft>
                <a:spcPts val="0"/>
              </a:spcAft>
            </a:pPr>
            <a:endParaRPr/>
          </a:p>
        </p:txBody>
      </p:sp>
      <p:sp>
        <p:nvSpPr>
          <p:cNvPr id="30" name="Rectangle 29"/>
          <p:cNvSpPr/>
          <p:nvPr/>
        </p:nvSpPr>
        <p:spPr>
          <a:xfrm>
            <a:off x="5577840" y="3300984"/>
            <a:ext cx="6245352" cy="566928"/>
          </a:xfrm>
          <a:prstGeom prst="rect">
            <a:avLst/>
          </a:prstGeom>
          <a:solidFill>
            <a:srgbClr val="F4F7FB"/>
          </a:solidFill>
          <a:ln w="10160">
            <a:solidFill>
              <a:srgbClr val="B7C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spcBef>
                <a:spcPts val="0"/>
              </a:spcBef>
              <a:spcAft>
                <a:spcPts val="0"/>
              </a:spcAft>
            </a:pPr>
            <a:endParaRPr/>
          </a:p>
        </p:txBody>
      </p:sp>
      <p:sp>
        <p:nvSpPr>
          <p:cNvPr id="32" name="Rectangle 31"/>
          <p:cNvSpPr/>
          <p:nvPr/>
        </p:nvSpPr>
        <p:spPr>
          <a:xfrm>
            <a:off x="5577840" y="4023360"/>
            <a:ext cx="6245352" cy="292608"/>
          </a:xfrm>
          <a:prstGeom prst="rect">
            <a:avLst/>
          </a:prstGeom>
          <a:solidFill>
            <a:srgbClr val="4472C4"/>
          </a:solidFill>
          <a:ln w="10160">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spcBef>
                <a:spcPts val="0"/>
              </a:spcBef>
              <a:spcAft>
                <a:spcPts val="0"/>
              </a:spcAft>
            </a:pPr>
            <a:endParaRPr/>
          </a:p>
        </p:txBody>
      </p:sp>
      <p:sp>
        <p:nvSpPr>
          <p:cNvPr id="34" name="Rectangle 33"/>
          <p:cNvSpPr/>
          <p:nvPr/>
        </p:nvSpPr>
        <p:spPr>
          <a:xfrm>
            <a:off x="5577840" y="4370832"/>
            <a:ext cx="6245352" cy="420624"/>
          </a:xfrm>
          <a:prstGeom prst="rect">
            <a:avLst/>
          </a:prstGeom>
          <a:solidFill>
            <a:srgbClr val="F4F7FB"/>
          </a:solidFill>
          <a:ln w="10160">
            <a:solidFill>
              <a:srgbClr val="B7C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spcBef>
                <a:spcPts val="0"/>
              </a:spcBef>
              <a:spcAft>
                <a:spcPts val="0"/>
              </a:spcAft>
            </a:pPr>
            <a:endParaRPr/>
          </a:p>
        </p:txBody>
      </p:sp>
      <p:sp>
        <p:nvSpPr>
          <p:cNvPr id="36" name="Rectangle 35"/>
          <p:cNvSpPr/>
          <p:nvPr/>
        </p:nvSpPr>
        <p:spPr>
          <a:xfrm>
            <a:off x="5577840" y="4956048"/>
            <a:ext cx="6245352" cy="292608"/>
          </a:xfrm>
          <a:prstGeom prst="rect">
            <a:avLst/>
          </a:prstGeom>
          <a:solidFill>
            <a:srgbClr val="003E9E"/>
          </a:solidFill>
          <a:ln w="10160">
            <a:solidFill>
              <a:srgbClr val="003E9E"/>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spcBef>
                <a:spcPts val="0"/>
              </a:spcBef>
              <a:spcAft>
                <a:spcPts val="0"/>
              </a:spcAft>
            </a:pPr>
            <a:endParaRPr/>
          </a:p>
        </p:txBody>
      </p:sp>
      <p:sp>
        <p:nvSpPr>
          <p:cNvPr id="38" name="Rectangle 37"/>
          <p:cNvSpPr/>
          <p:nvPr/>
        </p:nvSpPr>
        <p:spPr>
          <a:xfrm>
            <a:off x="5577840" y="5358384"/>
            <a:ext cx="1325880" cy="786384"/>
          </a:xfrm>
          <a:prstGeom prst="rect">
            <a:avLst/>
          </a:prstGeom>
          <a:solidFill>
            <a:srgbClr val="FFFFFF"/>
          </a:solidFill>
          <a:ln w="10160">
            <a:solidFill>
              <a:srgbClr val="B7C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spcBef>
                <a:spcPts val="0"/>
              </a:spcBef>
              <a:spcAft>
                <a:spcPts val="0"/>
              </a:spcAft>
            </a:pPr>
            <a:endParaRPr/>
          </a:p>
        </p:txBody>
      </p:sp>
      <p:sp>
        <p:nvSpPr>
          <p:cNvPr id="39" name="TextBox 38"/>
          <p:cNvSpPr txBox="1"/>
          <p:nvPr/>
        </p:nvSpPr>
        <p:spPr>
          <a:xfrm>
            <a:off x="5614416" y="5394960"/>
            <a:ext cx="1252728" cy="424647"/>
          </a:xfrm>
          <a:prstGeom prst="rect">
            <a:avLst/>
          </a:prstGeom>
          <a:noFill/>
        </p:spPr>
        <p:txBody>
          <a:bodyPr wrap="square" lIns="0" tIns="0" rIns="0" bIns="0" anchor="ctr">
            <a:spAutoFit/>
          </a:bodyPr>
          <a:lstStyle/>
          <a:p>
            <a:pPr algn="ctr">
              <a:lnSpc>
                <a:spcPct val="100000"/>
              </a:lnSpc>
              <a:spcBef>
                <a:spcPts val="0"/>
              </a:spcBef>
              <a:spcAft>
                <a:spcPts val="0"/>
              </a:spcAft>
              <a:defRPr sz="2000" b="1">
                <a:solidFill>
                  <a:srgbClr val="003E9E"/>
                </a:solidFill>
                <a:latin typeface="微软雅黑"/>
              </a:defRPr>
            </a:pPr>
            <a:r>
              <a:rPr sz="2000" b="1">
                <a:solidFill>
                  <a:srgbClr val="003E9E"/>
                </a:solidFill>
                <a:latin typeface="微软雅黑"/>
                <a:ea typeface="微软雅黑"/>
              </a:rPr>
              <a:t>2.6亿元</a:t>
            </a:r>
          </a:p>
        </p:txBody>
      </p:sp>
      <p:sp>
        <p:nvSpPr>
          <p:cNvPr id="40" name="TextBox 39"/>
          <p:cNvSpPr txBox="1"/>
          <p:nvPr/>
        </p:nvSpPr>
        <p:spPr>
          <a:xfrm>
            <a:off x="5614416" y="5806440"/>
            <a:ext cx="1252728" cy="267370"/>
          </a:xfrm>
          <a:prstGeom prst="rect">
            <a:avLst/>
          </a:prstGeom>
          <a:noFill/>
        </p:spPr>
        <p:txBody>
          <a:bodyPr wrap="square" lIns="0" tIns="0" rIns="0" bIns="0" anchor="ctr">
            <a:spAutoFit/>
          </a:bodyPr>
          <a:lstStyle/>
          <a:p>
            <a:pPr algn="ctr">
              <a:lnSpc>
                <a:spcPct val="130000"/>
              </a:lnSpc>
              <a:spcBef>
                <a:spcPts val="0"/>
              </a:spcBef>
              <a:spcAft>
                <a:spcPts val="0"/>
              </a:spcAft>
              <a:defRPr sz="1300" b="1">
                <a:solidFill>
                  <a:srgbClr val="111111"/>
                </a:solidFill>
                <a:latin typeface="微软雅黑"/>
              </a:defRPr>
            </a:pPr>
            <a:r>
              <a:rPr sz="1200" b="1">
                <a:solidFill>
                  <a:srgbClr val="111111"/>
                </a:solidFill>
                <a:latin typeface="微软雅黑"/>
                <a:ea typeface="微软雅黑"/>
              </a:rPr>
              <a:t>全年筹划</a:t>
            </a:r>
          </a:p>
        </p:txBody>
      </p:sp>
      <p:sp>
        <p:nvSpPr>
          <p:cNvPr id="41" name="Rectangle 40"/>
          <p:cNvSpPr/>
          <p:nvPr/>
        </p:nvSpPr>
        <p:spPr>
          <a:xfrm>
            <a:off x="7022592" y="5358384"/>
            <a:ext cx="1325880" cy="786384"/>
          </a:xfrm>
          <a:prstGeom prst="rect">
            <a:avLst/>
          </a:prstGeom>
          <a:solidFill>
            <a:srgbClr val="FFFFFF"/>
          </a:solidFill>
          <a:ln w="10160">
            <a:solidFill>
              <a:srgbClr val="B7C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spcBef>
                <a:spcPts val="0"/>
              </a:spcBef>
              <a:spcAft>
                <a:spcPts val="0"/>
              </a:spcAft>
            </a:pPr>
            <a:endParaRPr/>
          </a:p>
        </p:txBody>
      </p:sp>
      <p:sp>
        <p:nvSpPr>
          <p:cNvPr id="42" name="TextBox 41"/>
          <p:cNvSpPr txBox="1"/>
          <p:nvPr/>
        </p:nvSpPr>
        <p:spPr>
          <a:xfrm>
            <a:off x="7059168" y="5394960"/>
            <a:ext cx="1252728" cy="424647"/>
          </a:xfrm>
          <a:prstGeom prst="rect">
            <a:avLst/>
          </a:prstGeom>
          <a:noFill/>
        </p:spPr>
        <p:txBody>
          <a:bodyPr wrap="square" lIns="0" tIns="0" rIns="0" bIns="0" anchor="ctr">
            <a:spAutoFit/>
          </a:bodyPr>
          <a:lstStyle/>
          <a:p>
            <a:pPr algn="ctr">
              <a:lnSpc>
                <a:spcPct val="100000"/>
              </a:lnSpc>
              <a:spcBef>
                <a:spcPts val="0"/>
              </a:spcBef>
              <a:spcAft>
                <a:spcPts val="0"/>
              </a:spcAft>
              <a:defRPr sz="2000" b="1">
                <a:solidFill>
                  <a:srgbClr val="003E9E"/>
                </a:solidFill>
                <a:latin typeface="微软雅黑"/>
              </a:defRPr>
            </a:pPr>
            <a:r>
              <a:rPr sz="2000" b="1">
                <a:solidFill>
                  <a:srgbClr val="003E9E"/>
                </a:solidFill>
                <a:latin typeface="微软雅黑"/>
                <a:ea typeface="微软雅黑"/>
              </a:rPr>
              <a:t>8300万元</a:t>
            </a:r>
          </a:p>
        </p:txBody>
      </p:sp>
      <p:sp>
        <p:nvSpPr>
          <p:cNvPr id="43" name="TextBox 42"/>
          <p:cNvSpPr txBox="1"/>
          <p:nvPr/>
        </p:nvSpPr>
        <p:spPr>
          <a:xfrm>
            <a:off x="7059168" y="5806440"/>
            <a:ext cx="1252728" cy="267370"/>
          </a:xfrm>
          <a:prstGeom prst="rect">
            <a:avLst/>
          </a:prstGeom>
          <a:noFill/>
        </p:spPr>
        <p:txBody>
          <a:bodyPr wrap="square" lIns="0" tIns="0" rIns="0" bIns="0" anchor="ctr">
            <a:spAutoFit/>
          </a:bodyPr>
          <a:lstStyle/>
          <a:p>
            <a:pPr algn="ctr">
              <a:lnSpc>
                <a:spcPct val="130000"/>
              </a:lnSpc>
              <a:spcBef>
                <a:spcPts val="0"/>
              </a:spcBef>
              <a:spcAft>
                <a:spcPts val="0"/>
              </a:spcAft>
              <a:defRPr sz="1300" b="1">
                <a:solidFill>
                  <a:srgbClr val="111111"/>
                </a:solidFill>
                <a:latin typeface="微软雅黑"/>
              </a:defRPr>
            </a:pPr>
            <a:r>
              <a:rPr sz="1200" b="1">
                <a:solidFill>
                  <a:srgbClr val="111111"/>
                </a:solidFill>
                <a:latin typeface="微软雅黑"/>
                <a:ea typeface="微软雅黑"/>
              </a:rPr>
              <a:t>5月底执行</a:t>
            </a:r>
          </a:p>
        </p:txBody>
      </p:sp>
      <p:sp>
        <p:nvSpPr>
          <p:cNvPr id="44" name="Rectangle 43"/>
          <p:cNvSpPr/>
          <p:nvPr/>
        </p:nvSpPr>
        <p:spPr>
          <a:xfrm>
            <a:off x="8467344" y="5358384"/>
            <a:ext cx="1078992" cy="786384"/>
          </a:xfrm>
          <a:prstGeom prst="rect">
            <a:avLst/>
          </a:prstGeom>
          <a:solidFill>
            <a:srgbClr val="FFFFFF"/>
          </a:solidFill>
          <a:ln w="10160">
            <a:solidFill>
              <a:srgbClr val="B7C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spcBef>
                <a:spcPts val="0"/>
              </a:spcBef>
              <a:spcAft>
                <a:spcPts val="0"/>
              </a:spcAft>
            </a:pPr>
            <a:endParaRPr/>
          </a:p>
        </p:txBody>
      </p:sp>
      <p:sp>
        <p:nvSpPr>
          <p:cNvPr id="45" name="TextBox 44"/>
          <p:cNvSpPr txBox="1"/>
          <p:nvPr/>
        </p:nvSpPr>
        <p:spPr>
          <a:xfrm>
            <a:off x="8503919" y="5394960"/>
            <a:ext cx="1005839" cy="424647"/>
          </a:xfrm>
          <a:prstGeom prst="rect">
            <a:avLst/>
          </a:prstGeom>
          <a:noFill/>
        </p:spPr>
        <p:txBody>
          <a:bodyPr wrap="square" lIns="0" tIns="0" rIns="0" bIns="0" anchor="ctr">
            <a:spAutoFit/>
          </a:bodyPr>
          <a:lstStyle/>
          <a:p>
            <a:pPr algn="ctr">
              <a:lnSpc>
                <a:spcPct val="100000"/>
              </a:lnSpc>
              <a:spcBef>
                <a:spcPts val="0"/>
              </a:spcBef>
              <a:spcAft>
                <a:spcPts val="0"/>
              </a:spcAft>
              <a:defRPr sz="2000" b="1">
                <a:solidFill>
                  <a:srgbClr val="003E9E"/>
                </a:solidFill>
                <a:latin typeface="微软雅黑"/>
              </a:defRPr>
            </a:pPr>
            <a:r>
              <a:rPr sz="2000" b="1">
                <a:solidFill>
                  <a:srgbClr val="003E9E"/>
                </a:solidFill>
                <a:latin typeface="微软雅黑"/>
                <a:ea typeface="微软雅黑"/>
              </a:rPr>
              <a:t>31.9%</a:t>
            </a:r>
          </a:p>
        </p:txBody>
      </p:sp>
      <p:sp>
        <p:nvSpPr>
          <p:cNvPr id="46" name="TextBox 45"/>
          <p:cNvSpPr txBox="1"/>
          <p:nvPr/>
        </p:nvSpPr>
        <p:spPr>
          <a:xfrm>
            <a:off x="8503919" y="5806440"/>
            <a:ext cx="1005839" cy="267370"/>
          </a:xfrm>
          <a:prstGeom prst="rect">
            <a:avLst/>
          </a:prstGeom>
          <a:noFill/>
        </p:spPr>
        <p:txBody>
          <a:bodyPr wrap="square" lIns="0" tIns="0" rIns="0" bIns="0" anchor="ctr">
            <a:spAutoFit/>
          </a:bodyPr>
          <a:lstStyle/>
          <a:p>
            <a:pPr algn="ctr">
              <a:lnSpc>
                <a:spcPct val="130000"/>
              </a:lnSpc>
              <a:spcBef>
                <a:spcPts val="0"/>
              </a:spcBef>
              <a:spcAft>
                <a:spcPts val="0"/>
              </a:spcAft>
              <a:defRPr sz="1300" b="1">
                <a:solidFill>
                  <a:srgbClr val="111111"/>
                </a:solidFill>
                <a:latin typeface="微软雅黑"/>
              </a:defRPr>
            </a:pPr>
            <a:r>
              <a:rPr sz="1200" b="1">
                <a:solidFill>
                  <a:srgbClr val="111111"/>
                </a:solidFill>
                <a:latin typeface="微软雅黑"/>
                <a:ea typeface="微软雅黑"/>
              </a:rPr>
              <a:t>完成进度</a:t>
            </a:r>
          </a:p>
        </p:txBody>
      </p:sp>
      <p:pic>
        <p:nvPicPr>
          <p:cNvPr id="47" name="Picture 46" descr="image.png"/>
          <p:cNvPicPr>
            <a:picLocks noChangeAspect="1"/>
          </p:cNvPicPr>
          <p:nvPr/>
        </p:nvPicPr>
        <p:blipFill>
          <a:blip r:embed="rId2"/>
          <a:stretch>
            <a:fillRect/>
          </a:stretch>
        </p:blipFill>
        <p:spPr>
          <a:xfrm>
            <a:off x="9968708" y="5358384"/>
            <a:ext cx="1468687" cy="786384"/>
          </a:xfrm>
          <a:prstGeom prst="rect">
            <a:avLst/>
          </a:prstGeom>
        </p:spPr>
      </p:pic>
      <p:sp>
        <p:nvSpPr>
          <p:cNvPr id="48" name="TextBox 47"/>
          <p:cNvSpPr txBox="1"/>
          <p:nvPr/>
        </p:nvSpPr>
        <p:spPr>
          <a:xfrm>
            <a:off x="11338560" y="6565392"/>
            <a:ext cx="502920" cy="219456"/>
          </a:xfrm>
          <a:prstGeom prst="rect">
            <a:avLst/>
          </a:prstGeom>
          <a:noFill/>
        </p:spPr>
        <p:txBody>
          <a:bodyPr wrap="square" lIns="0" tIns="0" rIns="0" bIns="0" anchor="ctr">
            <a:spAutoFit/>
          </a:bodyPr>
          <a:lstStyle/>
          <a:p>
            <a:pPr algn="ctr">
              <a:lnSpc>
                <a:spcPct val="130000"/>
              </a:lnSpc>
              <a:spcBef>
                <a:spcPts val="0"/>
              </a:spcBef>
              <a:spcAft>
                <a:spcPts val="0"/>
              </a:spcAft>
              <a:defRPr sz="1300" b="0">
                <a:solidFill>
                  <a:srgbClr val="111111"/>
                </a:solidFill>
                <a:latin typeface="微软雅黑"/>
              </a:defRPr>
            </a:pPr>
            <a:r>
              <a:rPr sz="1000" b="0">
                <a:solidFill>
                  <a:srgbClr val="111111"/>
                </a:solidFill>
                <a:latin typeface="微软雅黑"/>
                <a:ea typeface="微软雅黑"/>
              </a:rPr>
              <a:t>9</a:t>
            </a:r>
          </a:p>
        </p:txBody>
      </p:sp>
      <p:sp>
        <p:nvSpPr>
          <p:cNvPr id="14" name="TextBox 13"/>
          <p:cNvSpPr txBox="1"/>
          <p:nvPr/>
        </p:nvSpPr>
        <p:spPr>
          <a:xfrm>
            <a:off x="5577840" y="1143000"/>
            <a:ext cx="6245352" cy="292608"/>
          </a:xfrm>
          <a:prstGeom prst="rect">
            <a:avLst/>
          </a:prstGeom>
          <a:noFill/>
        </p:spPr>
        <p:txBody>
          <a:bodyPr wrap="square" lIns="0" tIns="0" rIns="0" bIns="0" anchor="ctr">
            <a:spAutoFit/>
          </a:bodyPr>
          <a:lstStyle/>
          <a:p>
            <a:pPr algn="ctr">
              <a:lnSpc>
                <a:spcPct val="100000"/>
              </a:lnSpc>
              <a:spcBef>
                <a:spcPts val="0"/>
              </a:spcBef>
              <a:spcAft>
                <a:spcPts val="0"/>
              </a:spcAft>
              <a:defRPr sz="2000" b="1">
                <a:solidFill>
                  <a:srgbClr val="FFFFFF"/>
                </a:solidFill>
                <a:latin typeface="微软雅黑"/>
              </a:defRPr>
            </a:pPr>
            <a:r>
              <a:rPr sz="1200" b="1">
                <a:solidFill>
                  <a:srgbClr val="FFFFFF"/>
                </a:solidFill>
                <a:latin typeface="微软雅黑"/>
                <a:ea typeface="微软雅黑"/>
              </a:rPr>
              <a:t>核心攻关项目</a:t>
            </a:r>
          </a:p>
        </p:txBody>
      </p:sp>
      <p:sp>
        <p:nvSpPr>
          <p:cNvPr id="16" name="TextBox 15"/>
          <p:cNvSpPr txBox="1"/>
          <p:nvPr/>
        </p:nvSpPr>
        <p:spPr>
          <a:xfrm>
            <a:off x="5577840" y="1435608"/>
            <a:ext cx="6245352" cy="347472"/>
          </a:xfrm>
          <a:prstGeom prst="rect">
            <a:avLst/>
          </a:prstGeom>
          <a:noFill/>
        </p:spPr>
        <p:txBody>
          <a:bodyPr wrap="square" lIns="64008" tIns="64008" rIns="64008" bIns="64008" anchor="ctr">
            <a:spAutoFit/>
          </a:bodyPr>
          <a:lstStyle/>
          <a:p>
            <a:pPr algn="l">
              <a:lnSpc>
                <a:spcPct val="130000"/>
              </a:lnSpc>
              <a:spcBef>
                <a:spcPts val="0"/>
              </a:spcBef>
              <a:spcAft>
                <a:spcPts val="0"/>
              </a:spcAft>
              <a:defRPr sz="1300" b="1">
                <a:solidFill>
                  <a:srgbClr val="111111"/>
                </a:solidFill>
                <a:latin typeface="微软雅黑"/>
              </a:defRPr>
            </a:pPr>
            <a:r>
              <a:rPr sz="1200" b="1">
                <a:solidFill>
                  <a:srgbClr val="111111"/>
                </a:solidFill>
                <a:latin typeface="微软雅黑"/>
                <a:ea typeface="微软雅黑"/>
              </a:rPr>
              <a:t>44项在研项目进入多批次验收阶段</a:t>
            </a:r>
          </a:p>
        </p:txBody>
      </p:sp>
      <p:sp>
        <p:nvSpPr>
          <p:cNvPr id="27" name="TextBox 26"/>
          <p:cNvSpPr txBox="1"/>
          <p:nvPr/>
        </p:nvSpPr>
        <p:spPr>
          <a:xfrm>
            <a:off x="5577840" y="2596896"/>
            <a:ext cx="6245352" cy="237744"/>
          </a:xfrm>
          <a:prstGeom prst="rect">
            <a:avLst/>
          </a:prstGeom>
          <a:noFill/>
        </p:spPr>
        <p:txBody>
          <a:bodyPr wrap="square" lIns="18288" tIns="18288" rIns="18288" bIns="18288" anchor="ctr">
            <a:spAutoFit/>
          </a:bodyPr>
          <a:lstStyle/>
          <a:p>
            <a:pPr algn="ctr">
              <a:lnSpc>
                <a:spcPct val="130000"/>
              </a:lnSpc>
              <a:spcBef>
                <a:spcPts val="0"/>
              </a:spcBef>
              <a:spcAft>
                <a:spcPts val="0"/>
              </a:spcAft>
              <a:defRPr sz="1300" b="1">
                <a:solidFill>
                  <a:srgbClr val="111111"/>
                </a:solidFill>
                <a:latin typeface="微软雅黑"/>
              </a:defRPr>
            </a:pPr>
            <a:r>
              <a:rPr sz="1200" b="1">
                <a:solidFill>
                  <a:srgbClr val="111111"/>
                </a:solidFill>
                <a:latin typeface="微软雅黑"/>
                <a:ea typeface="微软雅黑"/>
              </a:rPr>
              <a:t>项目构成：2024年结转19项｜2025年结转16项｜其他3项｜2026年新增6项</a:t>
            </a:r>
          </a:p>
        </p:txBody>
      </p:sp>
      <p:sp>
        <p:nvSpPr>
          <p:cNvPr id="29" name="TextBox 28"/>
          <p:cNvSpPr txBox="1"/>
          <p:nvPr/>
        </p:nvSpPr>
        <p:spPr>
          <a:xfrm>
            <a:off x="5577840" y="2953512"/>
            <a:ext cx="6245352" cy="292608"/>
          </a:xfrm>
          <a:prstGeom prst="rect">
            <a:avLst/>
          </a:prstGeom>
          <a:noFill/>
        </p:spPr>
        <p:txBody>
          <a:bodyPr wrap="square" lIns="0" tIns="0" rIns="0" bIns="0" anchor="ctr">
            <a:spAutoFit/>
          </a:bodyPr>
          <a:lstStyle/>
          <a:p>
            <a:pPr algn="ctr">
              <a:lnSpc>
                <a:spcPct val="100000"/>
              </a:lnSpc>
              <a:spcBef>
                <a:spcPts val="0"/>
              </a:spcBef>
              <a:spcAft>
                <a:spcPts val="0"/>
              </a:spcAft>
              <a:defRPr sz="2000" b="1">
                <a:solidFill>
                  <a:srgbClr val="FFFFFF"/>
                </a:solidFill>
                <a:latin typeface="微软雅黑"/>
              </a:defRPr>
            </a:pPr>
            <a:r>
              <a:rPr sz="1200" b="1">
                <a:solidFill>
                  <a:srgbClr val="FFFFFF"/>
                </a:solidFill>
                <a:latin typeface="微软雅黑"/>
                <a:ea typeface="微软雅黑"/>
              </a:rPr>
              <a:t>2024年立项项目验收</a:t>
            </a:r>
          </a:p>
        </p:txBody>
      </p:sp>
      <p:sp>
        <p:nvSpPr>
          <p:cNvPr id="31" name="TextBox 30"/>
          <p:cNvSpPr txBox="1"/>
          <p:nvPr/>
        </p:nvSpPr>
        <p:spPr>
          <a:xfrm>
            <a:off x="5577840" y="3300984"/>
            <a:ext cx="6245352" cy="566928"/>
          </a:xfrm>
          <a:prstGeom prst="rect">
            <a:avLst/>
          </a:prstGeom>
          <a:noFill/>
        </p:spPr>
        <p:txBody>
          <a:bodyPr wrap="square" lIns="82296" tIns="82296" rIns="82296" bIns="82296" anchor="t">
            <a:spAutoFit/>
          </a:bodyPr>
          <a:lstStyle/>
          <a:p>
            <a:pPr algn="l">
              <a:lnSpc>
                <a:spcPct val="100000"/>
              </a:lnSpc>
              <a:spcBef>
                <a:spcPts val="0"/>
              </a:spcBef>
              <a:spcAft>
                <a:spcPts val="0"/>
              </a:spcAft>
              <a:defRPr sz="1300" b="0">
                <a:solidFill>
                  <a:srgbClr val="111111"/>
                </a:solidFill>
                <a:latin typeface="微软雅黑"/>
              </a:defRPr>
            </a:pPr>
            <a:r>
              <a:rPr sz="1000" b="0">
                <a:solidFill>
                  <a:srgbClr val="232D37"/>
                </a:solidFill>
                <a:latin typeface="微软雅黑"/>
                <a:ea typeface="微软雅黑"/>
              </a:rPr>
              <a:t>2025年任务已通过集团年度评估，本月集团安排付款；公司承担20个项目预计回款3579.249万元。近期组织牵头项目结项预验收，绿色电力、液冷、物联网新型公钥项目组做好准备。</a:t>
            </a:r>
          </a:p>
        </p:txBody>
      </p:sp>
      <p:sp>
        <p:nvSpPr>
          <p:cNvPr id="33" name="TextBox 32"/>
          <p:cNvSpPr txBox="1"/>
          <p:nvPr/>
        </p:nvSpPr>
        <p:spPr>
          <a:xfrm>
            <a:off x="5577840" y="4023360"/>
            <a:ext cx="6245352" cy="292608"/>
          </a:xfrm>
          <a:prstGeom prst="rect">
            <a:avLst/>
          </a:prstGeom>
          <a:noFill/>
        </p:spPr>
        <p:txBody>
          <a:bodyPr wrap="square" lIns="0" tIns="0" rIns="0" bIns="0" anchor="ctr">
            <a:spAutoFit/>
          </a:bodyPr>
          <a:lstStyle/>
          <a:p>
            <a:pPr algn="ctr">
              <a:lnSpc>
                <a:spcPct val="100000"/>
              </a:lnSpc>
              <a:spcBef>
                <a:spcPts val="0"/>
              </a:spcBef>
              <a:spcAft>
                <a:spcPts val="0"/>
              </a:spcAft>
              <a:defRPr sz="2000" b="1">
                <a:solidFill>
                  <a:srgbClr val="FFFFFF"/>
                </a:solidFill>
                <a:latin typeface="微软雅黑"/>
              </a:defRPr>
            </a:pPr>
            <a:r>
              <a:rPr sz="1200" b="1">
                <a:solidFill>
                  <a:srgbClr val="FFFFFF"/>
                </a:solidFill>
                <a:latin typeface="微软雅黑"/>
                <a:ea typeface="微软雅黑"/>
              </a:rPr>
              <a:t>2025年立项项目验收</a:t>
            </a:r>
          </a:p>
        </p:txBody>
      </p:sp>
      <p:sp>
        <p:nvSpPr>
          <p:cNvPr id="35" name="TextBox 34"/>
          <p:cNvSpPr txBox="1"/>
          <p:nvPr/>
        </p:nvSpPr>
        <p:spPr>
          <a:xfrm>
            <a:off x="5577840" y="4370832"/>
            <a:ext cx="6245352" cy="420624"/>
          </a:xfrm>
          <a:prstGeom prst="rect">
            <a:avLst/>
          </a:prstGeom>
          <a:noFill/>
        </p:spPr>
        <p:txBody>
          <a:bodyPr wrap="square" lIns="82296" tIns="82296" rIns="82296" bIns="82296" anchor="t">
            <a:spAutoFit/>
          </a:bodyPr>
          <a:lstStyle/>
          <a:p>
            <a:pPr algn="l">
              <a:lnSpc>
                <a:spcPct val="100000"/>
              </a:lnSpc>
              <a:spcBef>
                <a:spcPts val="0"/>
              </a:spcBef>
              <a:spcAft>
                <a:spcPts val="0"/>
              </a:spcAft>
              <a:defRPr sz="1300" b="0">
                <a:solidFill>
                  <a:srgbClr val="111111"/>
                </a:solidFill>
                <a:latin typeface="微软雅黑"/>
              </a:defRPr>
            </a:pPr>
            <a:r>
              <a:rPr sz="1000" b="0">
                <a:solidFill>
                  <a:srgbClr val="232D37"/>
                </a:solidFill>
                <a:latin typeface="微软雅黑"/>
                <a:ea typeface="微软雅黑"/>
              </a:rPr>
              <a:t>启动年度评估和2026年度中期检查准备；新增第三方测试、知识产权、经济效益评估及现场实地验收要求。</a:t>
            </a:r>
          </a:p>
        </p:txBody>
      </p:sp>
      <p:sp>
        <p:nvSpPr>
          <p:cNvPr id="37" name="TextBox 36"/>
          <p:cNvSpPr txBox="1"/>
          <p:nvPr/>
        </p:nvSpPr>
        <p:spPr>
          <a:xfrm>
            <a:off x="5577840" y="4956048"/>
            <a:ext cx="6245352" cy="292608"/>
          </a:xfrm>
          <a:prstGeom prst="rect">
            <a:avLst/>
          </a:prstGeom>
          <a:noFill/>
        </p:spPr>
        <p:txBody>
          <a:bodyPr wrap="square" lIns="0" tIns="0" rIns="0" bIns="0" anchor="ctr">
            <a:spAutoFit/>
          </a:bodyPr>
          <a:lstStyle/>
          <a:p>
            <a:pPr algn="ctr">
              <a:lnSpc>
                <a:spcPct val="100000"/>
              </a:lnSpc>
              <a:spcBef>
                <a:spcPts val="0"/>
              </a:spcBef>
              <a:spcAft>
                <a:spcPts val="0"/>
              </a:spcAft>
              <a:defRPr sz="2000" b="1">
                <a:solidFill>
                  <a:srgbClr val="FFFFFF"/>
                </a:solidFill>
                <a:latin typeface="微软雅黑"/>
              </a:defRPr>
            </a:pPr>
            <a:r>
              <a:rPr sz="1200" b="1">
                <a:solidFill>
                  <a:srgbClr val="FFFFFF"/>
                </a:solidFill>
                <a:latin typeface="微软雅黑"/>
                <a:ea typeface="微软雅黑"/>
              </a:rPr>
              <a:t>2026年内部研发投入</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19456"/>
            <a:ext cx="9738360" cy="621792"/>
          </a:xfrm>
          <a:prstGeom prst="rect">
            <a:avLst/>
          </a:prstGeom>
          <a:noFill/>
        </p:spPr>
        <p:txBody>
          <a:bodyPr wrap="square" lIns="0" tIns="0" rIns="0" bIns="0" anchor="ctr">
            <a:normAutofit/>
          </a:bodyPr>
          <a:lstStyle/>
          <a:p>
            <a:pPr algn="l">
              <a:lnSpc>
                <a:spcPct val="100000"/>
              </a:lnSpc>
              <a:spcBef>
                <a:spcPts val="0"/>
              </a:spcBef>
              <a:spcAft>
                <a:spcPts val="0"/>
              </a:spcAft>
              <a:defRPr sz="1300" b="1">
                <a:solidFill>
                  <a:srgbClr val="111111"/>
                </a:solidFill>
                <a:latin typeface="微软雅黑"/>
              </a:defRPr>
            </a:pPr>
            <a:r>
              <a:rPr sz="3400" b="1" i="0">
                <a:solidFill>
                  <a:srgbClr val="111111"/>
                </a:solidFill>
                <a:latin typeface="微软雅黑"/>
                <a:ea typeface="微软雅黑"/>
              </a:rPr>
              <a:t>规划院核心攻关项目推进情况</a:t>
            </a:r>
          </a:p>
        </p:txBody>
      </p:sp>
      <p:sp>
        <p:nvSpPr>
          <p:cNvPr id="4" name="Rectangle 3"/>
          <p:cNvSpPr/>
          <p:nvPr/>
        </p:nvSpPr>
        <p:spPr>
          <a:xfrm>
            <a:off x="411480" y="1170432"/>
            <a:ext cx="1417320" cy="777240"/>
          </a:xfrm>
          <a:prstGeom prst="rect">
            <a:avLst/>
          </a:prstGeom>
          <a:solidFill>
            <a:srgbClr val="F3F7FC"/>
          </a:solidFill>
          <a:ln w="10160">
            <a:solidFill>
              <a:srgbClr val="B7C9E8"/>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spcBef>
                <a:spcPts val="0"/>
              </a:spcBef>
              <a:spcAft>
                <a:spcPts val="0"/>
              </a:spcAft>
            </a:pPr>
            <a:endParaRPr/>
          </a:p>
        </p:txBody>
      </p:sp>
      <p:sp>
        <p:nvSpPr>
          <p:cNvPr id="5" name="TextBox 4"/>
          <p:cNvSpPr txBox="1"/>
          <p:nvPr/>
        </p:nvSpPr>
        <p:spPr>
          <a:xfrm>
            <a:off x="457200" y="1243584"/>
            <a:ext cx="1325880" cy="404164"/>
          </a:xfrm>
          <a:prstGeom prst="rect">
            <a:avLst/>
          </a:prstGeom>
          <a:noFill/>
        </p:spPr>
        <p:txBody>
          <a:bodyPr wrap="square" lIns="0" tIns="0" rIns="0" bIns="0" anchor="ctr">
            <a:normAutofit/>
          </a:bodyPr>
          <a:lstStyle/>
          <a:p>
            <a:pPr algn="ctr">
              <a:lnSpc>
                <a:spcPct val="130000"/>
              </a:lnSpc>
              <a:spcBef>
                <a:spcPts val="0"/>
              </a:spcBef>
              <a:spcAft>
                <a:spcPts val="0"/>
              </a:spcAft>
              <a:defRPr sz="1300">
                <a:solidFill>
                  <a:srgbClr val="111111"/>
                </a:solidFill>
                <a:latin typeface="微软雅黑"/>
              </a:defRPr>
            </a:pPr>
            <a:r>
              <a:rPr sz="1200" b="1" i="0">
                <a:solidFill>
                  <a:srgbClr val="111111"/>
                </a:solidFill>
                <a:latin typeface="微软雅黑"/>
                <a:ea typeface="微软雅黑"/>
              </a:rPr>
              <a:t>14</a:t>
            </a:r>
          </a:p>
        </p:txBody>
      </p:sp>
      <p:sp>
        <p:nvSpPr>
          <p:cNvPr id="6" name="TextBox 5"/>
          <p:cNvSpPr txBox="1"/>
          <p:nvPr/>
        </p:nvSpPr>
        <p:spPr>
          <a:xfrm>
            <a:off x="484632" y="1621231"/>
            <a:ext cx="1271016" cy="233172"/>
          </a:xfrm>
          <a:prstGeom prst="rect">
            <a:avLst/>
          </a:prstGeom>
          <a:noFill/>
        </p:spPr>
        <p:txBody>
          <a:bodyPr wrap="square" lIns="0" tIns="0" rIns="0" bIns="0" anchor="ctr">
            <a:normAutofit/>
          </a:bodyPr>
          <a:lstStyle/>
          <a:p>
            <a:pPr algn="ctr">
              <a:lnSpc>
                <a:spcPct val="130000"/>
              </a:lnSpc>
              <a:spcBef>
                <a:spcPts val="0"/>
              </a:spcBef>
              <a:spcAft>
                <a:spcPts val="0"/>
              </a:spcAft>
              <a:defRPr sz="1300">
                <a:solidFill>
                  <a:srgbClr val="111111"/>
                </a:solidFill>
                <a:latin typeface="微软雅黑"/>
              </a:defRPr>
            </a:pPr>
            <a:r>
              <a:rPr sz="1200" b="1" i="0">
                <a:solidFill>
                  <a:srgbClr val="111111"/>
                </a:solidFill>
                <a:latin typeface="微软雅黑"/>
                <a:ea typeface="微软雅黑"/>
              </a:rPr>
              <a:t>在研项目</a:t>
            </a:r>
          </a:p>
        </p:txBody>
      </p:sp>
      <p:sp>
        <p:nvSpPr>
          <p:cNvPr id="7" name="Rectangle 6"/>
          <p:cNvSpPr/>
          <p:nvPr/>
        </p:nvSpPr>
        <p:spPr>
          <a:xfrm>
            <a:off x="1938528" y="1170432"/>
            <a:ext cx="1417320" cy="777240"/>
          </a:xfrm>
          <a:prstGeom prst="rect">
            <a:avLst/>
          </a:prstGeom>
          <a:solidFill>
            <a:srgbClr val="F3F7FC"/>
          </a:solidFill>
          <a:ln w="10160">
            <a:solidFill>
              <a:srgbClr val="B7C9E8"/>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spcBef>
                <a:spcPts val="0"/>
              </a:spcBef>
              <a:spcAft>
                <a:spcPts val="0"/>
              </a:spcAft>
            </a:pPr>
            <a:endParaRPr/>
          </a:p>
        </p:txBody>
      </p:sp>
      <p:sp>
        <p:nvSpPr>
          <p:cNvPr id="8" name="TextBox 7"/>
          <p:cNvSpPr txBox="1"/>
          <p:nvPr/>
        </p:nvSpPr>
        <p:spPr>
          <a:xfrm>
            <a:off x="1984248" y="1243584"/>
            <a:ext cx="1325880" cy="404164"/>
          </a:xfrm>
          <a:prstGeom prst="rect">
            <a:avLst/>
          </a:prstGeom>
          <a:noFill/>
        </p:spPr>
        <p:txBody>
          <a:bodyPr wrap="square" lIns="0" tIns="0" rIns="0" bIns="0" anchor="ctr">
            <a:normAutofit/>
          </a:bodyPr>
          <a:lstStyle/>
          <a:p>
            <a:pPr algn="ctr">
              <a:lnSpc>
                <a:spcPct val="130000"/>
              </a:lnSpc>
              <a:spcBef>
                <a:spcPts val="0"/>
              </a:spcBef>
              <a:spcAft>
                <a:spcPts val="0"/>
              </a:spcAft>
              <a:defRPr sz="1300">
                <a:solidFill>
                  <a:srgbClr val="111111"/>
                </a:solidFill>
                <a:latin typeface="微软雅黑"/>
              </a:defRPr>
            </a:pPr>
            <a:r>
              <a:rPr sz="1200" b="1" i="0">
                <a:solidFill>
                  <a:srgbClr val="111111"/>
                </a:solidFill>
                <a:latin typeface="微软雅黑"/>
                <a:ea typeface="微软雅黑"/>
              </a:rPr>
              <a:t>8</a:t>
            </a:r>
          </a:p>
        </p:txBody>
      </p:sp>
      <p:sp>
        <p:nvSpPr>
          <p:cNvPr id="9" name="TextBox 8"/>
          <p:cNvSpPr txBox="1"/>
          <p:nvPr/>
        </p:nvSpPr>
        <p:spPr>
          <a:xfrm>
            <a:off x="2011680" y="1621231"/>
            <a:ext cx="1271016" cy="233172"/>
          </a:xfrm>
          <a:prstGeom prst="rect">
            <a:avLst/>
          </a:prstGeom>
          <a:noFill/>
        </p:spPr>
        <p:txBody>
          <a:bodyPr wrap="square" lIns="0" tIns="0" rIns="0" bIns="0" anchor="ctr">
            <a:normAutofit/>
          </a:bodyPr>
          <a:lstStyle/>
          <a:p>
            <a:pPr algn="ctr">
              <a:lnSpc>
                <a:spcPct val="130000"/>
              </a:lnSpc>
              <a:spcBef>
                <a:spcPts val="0"/>
              </a:spcBef>
              <a:spcAft>
                <a:spcPts val="0"/>
              </a:spcAft>
              <a:defRPr sz="1300">
                <a:solidFill>
                  <a:srgbClr val="111111"/>
                </a:solidFill>
                <a:latin typeface="微软雅黑"/>
              </a:defRPr>
            </a:pPr>
            <a:r>
              <a:rPr sz="1200" b="1" i="0">
                <a:solidFill>
                  <a:srgbClr val="111111"/>
                </a:solidFill>
                <a:latin typeface="微软雅黑"/>
                <a:ea typeface="微软雅黑"/>
              </a:rPr>
              <a:t>2024年结转</a:t>
            </a:r>
          </a:p>
        </p:txBody>
      </p:sp>
      <p:sp>
        <p:nvSpPr>
          <p:cNvPr id="10" name="Rectangle 9"/>
          <p:cNvSpPr/>
          <p:nvPr/>
        </p:nvSpPr>
        <p:spPr>
          <a:xfrm>
            <a:off x="3465576" y="1170432"/>
            <a:ext cx="1417320" cy="777240"/>
          </a:xfrm>
          <a:prstGeom prst="rect">
            <a:avLst/>
          </a:prstGeom>
          <a:solidFill>
            <a:srgbClr val="F3F7FC"/>
          </a:solidFill>
          <a:ln w="10160">
            <a:solidFill>
              <a:srgbClr val="B7C9E8"/>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spcBef>
                <a:spcPts val="0"/>
              </a:spcBef>
              <a:spcAft>
                <a:spcPts val="0"/>
              </a:spcAft>
            </a:pPr>
            <a:endParaRPr/>
          </a:p>
        </p:txBody>
      </p:sp>
      <p:sp>
        <p:nvSpPr>
          <p:cNvPr id="11" name="TextBox 10"/>
          <p:cNvSpPr txBox="1"/>
          <p:nvPr/>
        </p:nvSpPr>
        <p:spPr>
          <a:xfrm>
            <a:off x="3511296" y="1243584"/>
            <a:ext cx="1325880" cy="404164"/>
          </a:xfrm>
          <a:prstGeom prst="rect">
            <a:avLst/>
          </a:prstGeom>
          <a:noFill/>
        </p:spPr>
        <p:txBody>
          <a:bodyPr wrap="square" lIns="0" tIns="0" rIns="0" bIns="0" anchor="ctr">
            <a:normAutofit/>
          </a:bodyPr>
          <a:lstStyle/>
          <a:p>
            <a:pPr algn="ctr">
              <a:lnSpc>
                <a:spcPct val="130000"/>
              </a:lnSpc>
              <a:spcBef>
                <a:spcPts val="0"/>
              </a:spcBef>
              <a:spcAft>
                <a:spcPts val="0"/>
              </a:spcAft>
              <a:defRPr sz="1300">
                <a:solidFill>
                  <a:srgbClr val="111111"/>
                </a:solidFill>
                <a:latin typeface="微软雅黑"/>
              </a:defRPr>
            </a:pPr>
            <a:r>
              <a:rPr sz="1200" b="1" i="0">
                <a:solidFill>
                  <a:srgbClr val="111111"/>
                </a:solidFill>
                <a:latin typeface="微软雅黑"/>
                <a:ea typeface="微软雅黑"/>
              </a:rPr>
              <a:t>4</a:t>
            </a:r>
          </a:p>
        </p:txBody>
      </p:sp>
      <p:sp>
        <p:nvSpPr>
          <p:cNvPr id="12" name="TextBox 11"/>
          <p:cNvSpPr txBox="1"/>
          <p:nvPr/>
        </p:nvSpPr>
        <p:spPr>
          <a:xfrm>
            <a:off x="3538728" y="1621231"/>
            <a:ext cx="1271016" cy="233172"/>
          </a:xfrm>
          <a:prstGeom prst="rect">
            <a:avLst/>
          </a:prstGeom>
          <a:noFill/>
        </p:spPr>
        <p:txBody>
          <a:bodyPr wrap="square" lIns="0" tIns="0" rIns="0" bIns="0" anchor="ctr">
            <a:normAutofit/>
          </a:bodyPr>
          <a:lstStyle/>
          <a:p>
            <a:pPr algn="ctr">
              <a:lnSpc>
                <a:spcPct val="130000"/>
              </a:lnSpc>
              <a:spcBef>
                <a:spcPts val="0"/>
              </a:spcBef>
              <a:spcAft>
                <a:spcPts val="0"/>
              </a:spcAft>
              <a:defRPr sz="1300">
                <a:solidFill>
                  <a:srgbClr val="111111"/>
                </a:solidFill>
                <a:latin typeface="微软雅黑"/>
              </a:defRPr>
            </a:pPr>
            <a:r>
              <a:rPr sz="1200" b="1" i="0">
                <a:solidFill>
                  <a:srgbClr val="111111"/>
                </a:solidFill>
                <a:latin typeface="微软雅黑"/>
                <a:ea typeface="微软雅黑"/>
              </a:rPr>
              <a:t>2025年结转</a:t>
            </a:r>
          </a:p>
        </p:txBody>
      </p:sp>
      <p:sp>
        <p:nvSpPr>
          <p:cNvPr id="13" name="Rectangle 12"/>
          <p:cNvSpPr/>
          <p:nvPr/>
        </p:nvSpPr>
        <p:spPr>
          <a:xfrm>
            <a:off x="4992624" y="1170432"/>
            <a:ext cx="1417320" cy="777240"/>
          </a:xfrm>
          <a:prstGeom prst="rect">
            <a:avLst/>
          </a:prstGeom>
          <a:solidFill>
            <a:srgbClr val="F3F7FC"/>
          </a:solidFill>
          <a:ln w="10160">
            <a:solidFill>
              <a:srgbClr val="B7C9E8"/>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spcBef>
                <a:spcPts val="0"/>
              </a:spcBef>
              <a:spcAft>
                <a:spcPts val="0"/>
              </a:spcAft>
            </a:pPr>
            <a:endParaRPr/>
          </a:p>
        </p:txBody>
      </p:sp>
      <p:sp>
        <p:nvSpPr>
          <p:cNvPr id="14" name="TextBox 13"/>
          <p:cNvSpPr txBox="1"/>
          <p:nvPr/>
        </p:nvSpPr>
        <p:spPr>
          <a:xfrm>
            <a:off x="5038344" y="1243584"/>
            <a:ext cx="1325880" cy="404164"/>
          </a:xfrm>
          <a:prstGeom prst="rect">
            <a:avLst/>
          </a:prstGeom>
          <a:noFill/>
        </p:spPr>
        <p:txBody>
          <a:bodyPr wrap="square" lIns="0" tIns="0" rIns="0" bIns="0" anchor="ctr">
            <a:normAutofit/>
          </a:bodyPr>
          <a:lstStyle/>
          <a:p>
            <a:pPr algn="ctr">
              <a:lnSpc>
                <a:spcPct val="130000"/>
              </a:lnSpc>
              <a:spcBef>
                <a:spcPts val="0"/>
              </a:spcBef>
              <a:spcAft>
                <a:spcPts val="0"/>
              </a:spcAft>
              <a:defRPr sz="1300">
                <a:solidFill>
                  <a:srgbClr val="111111"/>
                </a:solidFill>
                <a:latin typeface="微软雅黑"/>
              </a:defRPr>
            </a:pPr>
            <a:r>
              <a:rPr sz="1200" b="1" i="0">
                <a:solidFill>
                  <a:srgbClr val="111111"/>
                </a:solidFill>
                <a:latin typeface="微软雅黑"/>
                <a:ea typeface="微软雅黑"/>
              </a:rPr>
              <a:t>2</a:t>
            </a:r>
          </a:p>
        </p:txBody>
      </p:sp>
      <p:sp>
        <p:nvSpPr>
          <p:cNvPr id="15" name="TextBox 14"/>
          <p:cNvSpPr txBox="1"/>
          <p:nvPr/>
        </p:nvSpPr>
        <p:spPr>
          <a:xfrm>
            <a:off x="5065776" y="1621231"/>
            <a:ext cx="1271016" cy="233172"/>
          </a:xfrm>
          <a:prstGeom prst="rect">
            <a:avLst/>
          </a:prstGeom>
          <a:noFill/>
        </p:spPr>
        <p:txBody>
          <a:bodyPr wrap="square" lIns="0" tIns="0" rIns="0" bIns="0" anchor="ctr">
            <a:normAutofit/>
          </a:bodyPr>
          <a:lstStyle/>
          <a:p>
            <a:pPr algn="ctr">
              <a:lnSpc>
                <a:spcPct val="130000"/>
              </a:lnSpc>
              <a:spcBef>
                <a:spcPts val="0"/>
              </a:spcBef>
              <a:spcAft>
                <a:spcPts val="0"/>
              </a:spcAft>
              <a:defRPr sz="1300">
                <a:solidFill>
                  <a:srgbClr val="111111"/>
                </a:solidFill>
                <a:latin typeface="微软雅黑"/>
              </a:defRPr>
            </a:pPr>
            <a:r>
              <a:rPr sz="1200" b="1" i="0">
                <a:solidFill>
                  <a:srgbClr val="111111"/>
                </a:solidFill>
                <a:latin typeface="微软雅黑"/>
                <a:ea typeface="微软雅黑"/>
              </a:rPr>
              <a:t>2026年新增</a:t>
            </a:r>
          </a:p>
        </p:txBody>
      </p:sp>
      <p:sp>
        <p:nvSpPr>
          <p:cNvPr id="16" name="Rectangle 15"/>
          <p:cNvSpPr/>
          <p:nvPr/>
        </p:nvSpPr>
        <p:spPr>
          <a:xfrm>
            <a:off x="6519672" y="1170432"/>
            <a:ext cx="1874519" cy="777240"/>
          </a:xfrm>
          <a:prstGeom prst="rect">
            <a:avLst/>
          </a:prstGeom>
          <a:solidFill>
            <a:srgbClr val="F3F7FC"/>
          </a:solidFill>
          <a:ln w="10160">
            <a:solidFill>
              <a:srgbClr val="B7C9E8"/>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spcBef>
                <a:spcPts val="0"/>
              </a:spcBef>
              <a:spcAft>
                <a:spcPts val="0"/>
              </a:spcAft>
            </a:pPr>
            <a:endParaRPr/>
          </a:p>
        </p:txBody>
      </p:sp>
      <p:sp>
        <p:nvSpPr>
          <p:cNvPr id="17" name="TextBox 16"/>
          <p:cNvSpPr txBox="1"/>
          <p:nvPr/>
        </p:nvSpPr>
        <p:spPr>
          <a:xfrm>
            <a:off x="6565392" y="1243584"/>
            <a:ext cx="1783079" cy="404164"/>
          </a:xfrm>
          <a:prstGeom prst="rect">
            <a:avLst/>
          </a:prstGeom>
          <a:noFill/>
        </p:spPr>
        <p:txBody>
          <a:bodyPr wrap="square" lIns="0" tIns="0" rIns="0" bIns="0" anchor="ctr">
            <a:normAutofit/>
          </a:bodyPr>
          <a:lstStyle/>
          <a:p>
            <a:pPr algn="ctr">
              <a:lnSpc>
                <a:spcPct val="130000"/>
              </a:lnSpc>
              <a:spcBef>
                <a:spcPts val="0"/>
              </a:spcBef>
              <a:spcAft>
                <a:spcPts val="0"/>
              </a:spcAft>
              <a:defRPr sz="1300">
                <a:solidFill>
                  <a:srgbClr val="111111"/>
                </a:solidFill>
                <a:latin typeface="微软雅黑"/>
              </a:defRPr>
            </a:pPr>
            <a:r>
              <a:rPr sz="1200" b="1" i="0">
                <a:solidFill>
                  <a:srgbClr val="111111"/>
                </a:solidFill>
                <a:latin typeface="微软雅黑"/>
                <a:ea typeface="微软雅黑"/>
              </a:rPr>
              <a:t>662.21</a:t>
            </a:r>
          </a:p>
        </p:txBody>
      </p:sp>
      <p:sp>
        <p:nvSpPr>
          <p:cNvPr id="18" name="TextBox 17"/>
          <p:cNvSpPr txBox="1"/>
          <p:nvPr/>
        </p:nvSpPr>
        <p:spPr>
          <a:xfrm>
            <a:off x="6592824" y="1621231"/>
            <a:ext cx="1728216" cy="233172"/>
          </a:xfrm>
          <a:prstGeom prst="rect">
            <a:avLst/>
          </a:prstGeom>
          <a:noFill/>
        </p:spPr>
        <p:txBody>
          <a:bodyPr wrap="square" lIns="0" tIns="0" rIns="0" bIns="0" anchor="ctr">
            <a:normAutofit/>
          </a:bodyPr>
          <a:lstStyle/>
          <a:p>
            <a:pPr algn="ctr">
              <a:lnSpc>
                <a:spcPct val="130000"/>
              </a:lnSpc>
              <a:spcBef>
                <a:spcPts val="0"/>
              </a:spcBef>
              <a:spcAft>
                <a:spcPts val="0"/>
              </a:spcAft>
              <a:defRPr sz="1300">
                <a:solidFill>
                  <a:srgbClr val="111111"/>
                </a:solidFill>
                <a:latin typeface="微软雅黑"/>
              </a:defRPr>
            </a:pPr>
            <a:r>
              <a:rPr sz="1200" b="1" i="0">
                <a:solidFill>
                  <a:srgbClr val="111111"/>
                </a:solidFill>
                <a:latin typeface="微软雅黑"/>
                <a:ea typeface="微软雅黑"/>
              </a:rPr>
              <a:t>资金支持（万元）</a:t>
            </a:r>
          </a:p>
        </p:txBody>
      </p:sp>
      <p:sp>
        <p:nvSpPr>
          <p:cNvPr id="19" name="Rectangle 18"/>
          <p:cNvSpPr/>
          <p:nvPr/>
        </p:nvSpPr>
        <p:spPr>
          <a:xfrm>
            <a:off x="8522208" y="1170432"/>
            <a:ext cx="3246120" cy="777240"/>
          </a:xfrm>
          <a:prstGeom prst="rect">
            <a:avLst/>
          </a:prstGeom>
          <a:solidFill>
            <a:srgbClr val="FFF2F2"/>
          </a:solidFill>
          <a:ln w="10160">
            <a:solidFill>
              <a:srgbClr val="E7B4B4"/>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spcBef>
                <a:spcPts val="0"/>
              </a:spcBef>
              <a:spcAft>
                <a:spcPts val="0"/>
              </a:spcAft>
            </a:pPr>
            <a:endParaRPr/>
          </a:p>
        </p:txBody>
      </p:sp>
      <p:sp>
        <p:nvSpPr>
          <p:cNvPr id="20" name="TextBox 19"/>
          <p:cNvSpPr txBox="1"/>
          <p:nvPr/>
        </p:nvSpPr>
        <p:spPr>
          <a:xfrm>
            <a:off x="8641080" y="1243584"/>
            <a:ext cx="777240" cy="201168"/>
          </a:xfrm>
          <a:prstGeom prst="rect">
            <a:avLst/>
          </a:prstGeom>
          <a:noFill/>
        </p:spPr>
        <p:txBody>
          <a:bodyPr wrap="square" lIns="36576" tIns="36576" rIns="36576" bIns="36576" anchor="t">
            <a:normAutofit/>
          </a:bodyPr>
          <a:lstStyle/>
          <a:p>
            <a:pPr algn="l">
              <a:lnSpc>
                <a:spcPct val="130000"/>
              </a:lnSpc>
              <a:spcBef>
                <a:spcPts val="0"/>
              </a:spcBef>
              <a:spcAft>
                <a:spcPts val="0"/>
              </a:spcAft>
              <a:defRPr sz="1300">
                <a:solidFill>
                  <a:srgbClr val="111111"/>
                </a:solidFill>
                <a:latin typeface="微软雅黑"/>
              </a:defRPr>
            </a:pPr>
            <a:r>
              <a:rPr sz="1200" b="1" i="0">
                <a:solidFill>
                  <a:srgbClr val="111111"/>
                </a:solidFill>
                <a:latin typeface="微软雅黑"/>
                <a:ea typeface="微软雅黑"/>
              </a:rPr>
              <a:t>项目调整</a:t>
            </a:r>
          </a:p>
        </p:txBody>
      </p:sp>
      <p:sp>
        <p:nvSpPr>
          <p:cNvPr id="21" name="TextBox 20"/>
          <p:cNvSpPr txBox="1"/>
          <p:nvPr/>
        </p:nvSpPr>
        <p:spPr>
          <a:xfrm>
            <a:off x="9372600" y="1225295"/>
            <a:ext cx="2267712" cy="530352"/>
          </a:xfrm>
          <a:prstGeom prst="rect">
            <a:avLst/>
          </a:prstGeom>
          <a:noFill/>
        </p:spPr>
        <p:txBody>
          <a:bodyPr wrap="square" lIns="36576" tIns="36576" rIns="36576" bIns="36576" anchor="ctr">
            <a:normAutofit/>
          </a:bodyPr>
          <a:lstStyle/>
          <a:p>
            <a:pPr algn="l">
              <a:lnSpc>
                <a:spcPct val="130000"/>
              </a:lnSpc>
              <a:spcBef>
                <a:spcPts val="0"/>
              </a:spcBef>
              <a:spcAft>
                <a:spcPts val="0"/>
              </a:spcAft>
              <a:defRPr sz="1300">
                <a:solidFill>
                  <a:srgbClr val="111111"/>
                </a:solidFill>
                <a:latin typeface="微软雅黑"/>
              </a:defRPr>
            </a:pPr>
            <a:r>
              <a:rPr sz="1200" b="1" i="0">
                <a:solidFill>
                  <a:srgbClr val="111111"/>
                </a:solidFill>
                <a:latin typeface="微软雅黑"/>
                <a:ea typeface="微软雅黑"/>
              </a:rPr>
              <a:t>家庭机器人项目因深度融合、预算压缩，经权衡退出研发。</a:t>
            </a:r>
          </a:p>
        </p:txBody>
      </p:sp>
      <p:graphicFrame>
        <p:nvGraphicFramePr>
          <p:cNvPr id="22" name="Table 21"/>
          <p:cNvGraphicFramePr>
            <a:graphicFrameLocks noGrp="1"/>
          </p:cNvGraphicFramePr>
          <p:nvPr/>
        </p:nvGraphicFramePr>
        <p:xfrm>
          <a:off x="365760" y="2084832"/>
          <a:ext cx="11429996" cy="4392168"/>
        </p:xfrm>
        <a:graphic>
          <a:graphicData uri="http://schemas.openxmlformats.org/drawingml/2006/table">
            <a:tbl>
              <a:tblPr>
                <a:tableStyleId>{5C22544A-7EE6-4342-B048-85BDC9FD1C3A}</a:tableStyleId>
              </a:tblPr>
              <a:tblGrid>
                <a:gridCol w="1142999">
                  <a:extLst>
                    <a:ext uri="{9D8B030D-6E8A-4147-A177-3AD203B41FA5}">
                      <a16:colId xmlns:a16="http://schemas.microsoft.com/office/drawing/2014/main" val="20000"/>
                    </a:ext>
                  </a:extLst>
                </a:gridCol>
                <a:gridCol w="5019260">
                  <a:extLst>
                    <a:ext uri="{9D8B030D-6E8A-4147-A177-3AD203B41FA5}">
                      <a16:colId xmlns:a16="http://schemas.microsoft.com/office/drawing/2014/main" val="20001"/>
                    </a:ext>
                  </a:extLst>
                </a:gridCol>
                <a:gridCol w="1441173">
                  <a:extLst>
                    <a:ext uri="{9D8B030D-6E8A-4147-A177-3AD203B41FA5}">
                      <a16:colId xmlns:a16="http://schemas.microsoft.com/office/drawing/2014/main" val="20002"/>
                    </a:ext>
                  </a:extLst>
                </a:gridCol>
                <a:gridCol w="1540565">
                  <a:extLst>
                    <a:ext uri="{9D8B030D-6E8A-4147-A177-3AD203B41FA5}">
                      <a16:colId xmlns:a16="http://schemas.microsoft.com/office/drawing/2014/main" val="20003"/>
                    </a:ext>
                  </a:extLst>
                </a:gridCol>
                <a:gridCol w="993913">
                  <a:extLst>
                    <a:ext uri="{9D8B030D-6E8A-4147-A177-3AD203B41FA5}">
                      <a16:colId xmlns:a16="http://schemas.microsoft.com/office/drawing/2014/main" val="20004"/>
                    </a:ext>
                  </a:extLst>
                </a:gridCol>
                <a:gridCol w="1292086">
                  <a:extLst>
                    <a:ext uri="{9D8B030D-6E8A-4147-A177-3AD203B41FA5}">
                      <a16:colId xmlns:a16="http://schemas.microsoft.com/office/drawing/2014/main" val="20005"/>
                    </a:ext>
                  </a:extLst>
                </a:gridCol>
              </a:tblGrid>
              <a:tr h="289560">
                <a:tc>
                  <a:txBody>
                    <a:bodyPr/>
                    <a:lstStyle/>
                    <a:p>
                      <a:pPr algn="ctr">
                        <a:lnSpc>
                          <a:spcPct val="100000"/>
                        </a:lnSpc>
                        <a:spcBef>
                          <a:spcPts val="0"/>
                        </a:spcBef>
                        <a:spcAft>
                          <a:spcPts val="0"/>
                        </a:spcAft>
                        <a:defRPr sz="1300" b="1">
                          <a:latin typeface="微软雅黑"/>
                        </a:defRPr>
                      </a:pPr>
                      <a:r>
                        <a:rPr sz="1000" b="1">
                          <a:solidFill>
                            <a:srgbClr val="FFFFFF"/>
                          </a:solidFill>
                          <a:latin typeface="微软雅黑"/>
                          <a:ea typeface="微软雅黑"/>
                        </a:rPr>
                        <a:t>项目编号</a:t>
                      </a:r>
                    </a:p>
                  </a:txBody>
                  <a:tcPr marL="13716" marR="13716" marT="4572" marB="4572" anchor="ctr">
                    <a:solidFill>
                      <a:srgbClr val="4472C4"/>
                    </a:solidFill>
                  </a:tcPr>
                </a:tc>
                <a:tc>
                  <a:txBody>
                    <a:bodyPr/>
                    <a:lstStyle/>
                    <a:p>
                      <a:pPr algn="ctr">
                        <a:lnSpc>
                          <a:spcPct val="100000"/>
                        </a:lnSpc>
                        <a:spcBef>
                          <a:spcPts val="0"/>
                        </a:spcBef>
                        <a:spcAft>
                          <a:spcPts val="0"/>
                        </a:spcAft>
                        <a:defRPr sz="1300" b="1">
                          <a:latin typeface="微软雅黑"/>
                        </a:defRPr>
                      </a:pPr>
                      <a:r>
                        <a:rPr sz="1000" b="1">
                          <a:solidFill>
                            <a:srgbClr val="FFFFFF"/>
                          </a:solidFill>
                          <a:latin typeface="微软雅黑"/>
                          <a:ea typeface="微软雅黑"/>
                        </a:rPr>
                        <a:t>项目名称</a:t>
                      </a:r>
                    </a:p>
                  </a:txBody>
                  <a:tcPr marL="13716" marR="13716" marT="4572" marB="4572" anchor="ctr">
                    <a:solidFill>
                      <a:srgbClr val="4472C4"/>
                    </a:solidFill>
                  </a:tcPr>
                </a:tc>
                <a:tc>
                  <a:txBody>
                    <a:bodyPr/>
                    <a:lstStyle/>
                    <a:p>
                      <a:pPr algn="ctr">
                        <a:lnSpc>
                          <a:spcPct val="100000"/>
                        </a:lnSpc>
                        <a:spcBef>
                          <a:spcPts val="0"/>
                        </a:spcBef>
                        <a:spcAft>
                          <a:spcPts val="0"/>
                        </a:spcAft>
                        <a:defRPr sz="1300" b="1">
                          <a:latin typeface="微软雅黑"/>
                        </a:defRPr>
                      </a:pPr>
                      <a:r>
                        <a:rPr sz="1000" b="1">
                          <a:solidFill>
                            <a:srgbClr val="FFFFFF"/>
                          </a:solidFill>
                          <a:latin typeface="微软雅黑"/>
                          <a:ea typeface="微软雅黑"/>
                        </a:rPr>
                        <a:t>所属领域</a:t>
                      </a:r>
                    </a:p>
                  </a:txBody>
                  <a:tcPr marL="13716" marR="13716" marT="4572" marB="4572" anchor="ctr">
                    <a:solidFill>
                      <a:srgbClr val="4472C4"/>
                    </a:solidFill>
                  </a:tcPr>
                </a:tc>
                <a:tc>
                  <a:txBody>
                    <a:bodyPr/>
                    <a:lstStyle/>
                    <a:p>
                      <a:pPr algn="ctr">
                        <a:lnSpc>
                          <a:spcPct val="100000"/>
                        </a:lnSpc>
                        <a:spcBef>
                          <a:spcPts val="0"/>
                        </a:spcBef>
                        <a:spcAft>
                          <a:spcPts val="0"/>
                        </a:spcAft>
                        <a:defRPr sz="1300" b="1">
                          <a:latin typeface="微软雅黑"/>
                        </a:defRPr>
                      </a:pPr>
                      <a:r>
                        <a:rPr sz="1000" b="1">
                          <a:solidFill>
                            <a:srgbClr val="FFFFFF"/>
                          </a:solidFill>
                          <a:latin typeface="微软雅黑"/>
                          <a:ea typeface="微软雅黑"/>
                        </a:rPr>
                        <a:t>部门</a:t>
                      </a:r>
                    </a:p>
                  </a:txBody>
                  <a:tcPr marL="13716" marR="13716" marT="4572" marB="4572" anchor="ctr">
                    <a:solidFill>
                      <a:srgbClr val="4472C4"/>
                    </a:solidFill>
                  </a:tcPr>
                </a:tc>
                <a:tc>
                  <a:txBody>
                    <a:bodyPr/>
                    <a:lstStyle/>
                    <a:p>
                      <a:pPr algn="ctr">
                        <a:lnSpc>
                          <a:spcPct val="100000"/>
                        </a:lnSpc>
                        <a:spcBef>
                          <a:spcPts val="0"/>
                        </a:spcBef>
                        <a:spcAft>
                          <a:spcPts val="0"/>
                        </a:spcAft>
                        <a:defRPr sz="1300" b="1">
                          <a:latin typeface="微软雅黑"/>
                        </a:defRPr>
                      </a:pPr>
                      <a:r>
                        <a:rPr sz="1000" b="1">
                          <a:solidFill>
                            <a:srgbClr val="FFFFFF"/>
                          </a:solidFill>
                          <a:latin typeface="微软雅黑"/>
                          <a:ea typeface="微软雅黑"/>
                        </a:rPr>
                        <a:t>负责人</a:t>
                      </a:r>
                    </a:p>
                  </a:txBody>
                  <a:tcPr marL="13716" marR="13716" marT="4572" marB="4572" anchor="ctr">
                    <a:solidFill>
                      <a:srgbClr val="4472C4"/>
                    </a:solidFill>
                  </a:tcPr>
                </a:tc>
                <a:tc>
                  <a:txBody>
                    <a:bodyPr/>
                    <a:lstStyle/>
                    <a:p>
                      <a:pPr algn="ctr">
                        <a:lnSpc>
                          <a:spcPct val="100000"/>
                        </a:lnSpc>
                        <a:spcBef>
                          <a:spcPts val="0"/>
                        </a:spcBef>
                        <a:spcAft>
                          <a:spcPts val="0"/>
                        </a:spcAft>
                        <a:defRPr sz="1300" b="1">
                          <a:latin typeface="微软雅黑"/>
                        </a:defRPr>
                      </a:pPr>
                      <a:r>
                        <a:rPr sz="1000" b="1">
                          <a:solidFill>
                            <a:srgbClr val="FFFFFF"/>
                          </a:solidFill>
                          <a:latin typeface="微软雅黑"/>
                          <a:ea typeface="微软雅黑"/>
                        </a:rPr>
                        <a:t>2026年资金支持额度（万元）</a:t>
                      </a:r>
                    </a:p>
                  </a:txBody>
                  <a:tcPr marL="13716" marR="13716" marT="4572" marB="4572" anchor="ctr">
                    <a:solidFill>
                      <a:srgbClr val="4472C4"/>
                    </a:solidFill>
                  </a:tcPr>
                </a:tc>
                <a:extLst>
                  <a:ext uri="{0D108BD9-81ED-4DB2-BD59-A6C34878D82A}">
                    <a16:rowId xmlns:a16="http://schemas.microsoft.com/office/drawing/2014/main" val="10000"/>
                  </a:ext>
                </a:extLst>
              </a:tr>
              <a:tr h="289560">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2024YF(JT)0095</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面向智算网络一体的光网络技术及应用研究</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下一代互联网</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集团业务部</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李家京</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1.1</a:t>
                      </a:r>
                    </a:p>
                  </a:txBody>
                  <a:tcPr marL="13716" marR="13716" marT="4572" marB="4572" anchor="ctr">
                    <a:solidFill>
                      <a:srgbClr val="EAEFF7"/>
                    </a:solidFill>
                  </a:tcPr>
                </a:tc>
                <a:extLst>
                  <a:ext uri="{0D108BD9-81ED-4DB2-BD59-A6C34878D82A}">
                    <a16:rowId xmlns:a16="http://schemas.microsoft.com/office/drawing/2014/main" val="10001"/>
                  </a:ext>
                </a:extLst>
              </a:tr>
              <a:tr h="289560">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2024YF(JT)0115</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大数据和 AI 驱动的网络优化及运营关键技术研究与应用</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新一代移动通信</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集团业务部</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杨海涛</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2</a:t>
                      </a:r>
                    </a:p>
                  </a:txBody>
                  <a:tcPr marL="13716" marR="13716" marT="4572" marB="4572" anchor="ctr">
                    <a:solidFill>
                      <a:srgbClr val="EAEFF7"/>
                    </a:solidFill>
                  </a:tcPr>
                </a:tc>
                <a:extLst>
                  <a:ext uri="{0D108BD9-81ED-4DB2-BD59-A6C34878D82A}">
                    <a16:rowId xmlns:a16="http://schemas.microsoft.com/office/drawing/2014/main" val="10002"/>
                  </a:ext>
                </a:extLst>
              </a:tr>
              <a:tr h="289560">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2024YF(JT)0112</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面向公网的5G-A网络能力演进研究</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新一代移动通信</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北京事业部</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李晓亮</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19</a:t>
                      </a:r>
                    </a:p>
                  </a:txBody>
                  <a:tcPr marL="13716" marR="13716" marT="4572" marB="4572" anchor="ctr">
                    <a:solidFill>
                      <a:srgbClr val="EAEFF7"/>
                    </a:solidFill>
                  </a:tcPr>
                </a:tc>
                <a:extLst>
                  <a:ext uri="{0D108BD9-81ED-4DB2-BD59-A6C34878D82A}">
                    <a16:rowId xmlns:a16="http://schemas.microsoft.com/office/drawing/2014/main" val="10003"/>
                  </a:ext>
                </a:extLst>
              </a:tr>
              <a:tr h="289560">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2024YF(JT)0099</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宽带核心网（BNC）架构演进研究及试点应用</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智能宽带与专线网络</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集团咨询支撑中心</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罗远源</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12</a:t>
                      </a:r>
                    </a:p>
                  </a:txBody>
                  <a:tcPr marL="13716" marR="13716" marT="4572" marB="4572" anchor="ctr">
                    <a:solidFill>
                      <a:srgbClr val="EAEFF7"/>
                    </a:solidFill>
                  </a:tcPr>
                </a:tc>
                <a:extLst>
                  <a:ext uri="{0D108BD9-81ED-4DB2-BD59-A6C34878D82A}">
                    <a16:rowId xmlns:a16="http://schemas.microsoft.com/office/drawing/2014/main" val="10004"/>
                  </a:ext>
                </a:extLst>
              </a:tr>
              <a:tr h="289560">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2024YF(JT)0116</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面向车联网的网络能力增强技术研究、产品研发与试点应用</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车联网</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集团业务部</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吕艳芳</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0.1</a:t>
                      </a:r>
                    </a:p>
                  </a:txBody>
                  <a:tcPr marL="13716" marR="13716" marT="4572" marB="4572" anchor="ctr">
                    <a:solidFill>
                      <a:srgbClr val="EAEFF7"/>
                    </a:solidFill>
                  </a:tcPr>
                </a:tc>
                <a:extLst>
                  <a:ext uri="{0D108BD9-81ED-4DB2-BD59-A6C34878D82A}">
                    <a16:rowId xmlns:a16="http://schemas.microsoft.com/office/drawing/2014/main" val="10005"/>
                  </a:ext>
                </a:extLst>
              </a:tr>
              <a:tr h="289560">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2024YF(JT)0097</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面向绿色制造、零碳城市的双碳产品研发及应用示范</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数智应用</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智慧城市设计院</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王迪</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0.01</a:t>
                      </a:r>
                    </a:p>
                  </a:txBody>
                  <a:tcPr marL="13716" marR="13716" marT="4572" marB="4572" anchor="ctr">
                    <a:solidFill>
                      <a:srgbClr val="EAEFF7"/>
                    </a:solidFill>
                  </a:tcPr>
                </a:tc>
                <a:extLst>
                  <a:ext uri="{0D108BD9-81ED-4DB2-BD59-A6C34878D82A}">
                    <a16:rowId xmlns:a16="http://schemas.microsoft.com/office/drawing/2014/main" val="10006"/>
                  </a:ext>
                </a:extLst>
              </a:tr>
              <a:tr h="289560">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2024YF(JT)0092</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反诈大模型研发和新型互联网诈骗治理核心技术研究</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网信安全</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集团业务部</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肖倩</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24</a:t>
                      </a:r>
                    </a:p>
                  </a:txBody>
                  <a:tcPr marL="13716" marR="13716" marT="4572" marB="4572" anchor="ctr">
                    <a:solidFill>
                      <a:srgbClr val="EAEFF7"/>
                    </a:solidFill>
                  </a:tcPr>
                </a:tc>
                <a:extLst>
                  <a:ext uri="{0D108BD9-81ED-4DB2-BD59-A6C34878D82A}">
                    <a16:rowId xmlns:a16="http://schemas.microsoft.com/office/drawing/2014/main" val="10007"/>
                  </a:ext>
                </a:extLst>
              </a:tr>
              <a:tr h="289560">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2024YF(JT)0109</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面向碳排放双控的双碳数智化管理关键技术研究</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新一代移动通信</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智慧城市设计院</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王娟</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5</a:t>
                      </a:r>
                    </a:p>
                  </a:txBody>
                  <a:tcPr marL="13716" marR="13716" marT="4572" marB="4572" anchor="ctr">
                    <a:solidFill>
                      <a:srgbClr val="EAEFF7"/>
                    </a:solidFill>
                  </a:tcPr>
                </a:tc>
                <a:extLst>
                  <a:ext uri="{0D108BD9-81ED-4DB2-BD59-A6C34878D82A}">
                    <a16:rowId xmlns:a16="http://schemas.microsoft.com/office/drawing/2014/main" val="10008"/>
                  </a:ext>
                </a:extLst>
              </a:tr>
              <a:tr h="289560">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2025YF(JT)0189</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基于大模型的涉诈APP智能解析全链条识别及不良短消息伪装对抗技术研究</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网络与信息安全</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集团业务部</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肖倩</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105</a:t>
                      </a:r>
                    </a:p>
                  </a:txBody>
                  <a:tcPr marL="13716" marR="13716" marT="4572" marB="4572" anchor="ctr">
                    <a:solidFill>
                      <a:srgbClr val="EAEFF7"/>
                    </a:solidFill>
                  </a:tcPr>
                </a:tc>
                <a:extLst>
                  <a:ext uri="{0D108BD9-81ED-4DB2-BD59-A6C34878D82A}">
                    <a16:rowId xmlns:a16="http://schemas.microsoft.com/office/drawing/2014/main" val="10009"/>
                  </a:ext>
                </a:extLst>
              </a:tr>
              <a:tr h="289560">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2025YF(JT)0186</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面向网络设备的高隐蔽APT攻击监测技术研究</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网络与信息安全</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集团业务部</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肖倩</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10</a:t>
                      </a:r>
                    </a:p>
                  </a:txBody>
                  <a:tcPr marL="13716" marR="13716" marT="4572" marB="4572" anchor="ctr">
                    <a:solidFill>
                      <a:srgbClr val="EAEFF7"/>
                    </a:solidFill>
                  </a:tcPr>
                </a:tc>
                <a:extLst>
                  <a:ext uri="{0D108BD9-81ED-4DB2-BD59-A6C34878D82A}">
                    <a16:rowId xmlns:a16="http://schemas.microsoft.com/office/drawing/2014/main" val="10010"/>
                  </a:ext>
                </a:extLst>
              </a:tr>
              <a:tr h="289560">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2025YF(JT)0180</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面向智算的“算网电用一体化协同”关键技术研究与创新实践</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基础设施</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建筑能源设计院、集团业务部</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杨威、张海龙</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6</a:t>
                      </a:r>
                    </a:p>
                  </a:txBody>
                  <a:tcPr marL="13716" marR="13716" marT="4572" marB="4572" anchor="ctr">
                    <a:solidFill>
                      <a:srgbClr val="EAEFF7"/>
                    </a:solidFill>
                  </a:tcPr>
                </a:tc>
                <a:extLst>
                  <a:ext uri="{0D108BD9-81ED-4DB2-BD59-A6C34878D82A}">
                    <a16:rowId xmlns:a16="http://schemas.microsoft.com/office/drawing/2014/main" val="10011"/>
                  </a:ext>
                </a:extLst>
              </a:tr>
              <a:tr h="289560">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2025YF(JT)0194</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JB209项目（工信部项目）</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网络与信息安全</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集团业务部</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肖倩</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130</a:t>
                      </a:r>
                    </a:p>
                  </a:txBody>
                  <a:tcPr marL="13716" marR="13716" marT="4572" marB="4572" anchor="ctr">
                    <a:solidFill>
                      <a:srgbClr val="EAEFF7"/>
                    </a:solidFill>
                  </a:tcPr>
                </a:tc>
                <a:extLst>
                  <a:ext uri="{0D108BD9-81ED-4DB2-BD59-A6C34878D82A}">
                    <a16:rowId xmlns:a16="http://schemas.microsoft.com/office/drawing/2014/main" val="10012"/>
                  </a:ext>
                </a:extLst>
              </a:tr>
              <a:tr h="289560">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2026YF(JT)0221</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面向重点对象的精准定位与关键风险排查技术研发及产品化商用推广</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网络与信息安全</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集团业务部</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肖倩</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200</a:t>
                      </a:r>
                    </a:p>
                  </a:txBody>
                  <a:tcPr marL="13716" marR="13716" marT="4572" marB="4572" anchor="ctr">
                    <a:solidFill>
                      <a:srgbClr val="EAEFF7"/>
                    </a:solidFill>
                  </a:tcPr>
                </a:tc>
                <a:extLst>
                  <a:ext uri="{0D108BD9-81ED-4DB2-BD59-A6C34878D82A}">
                    <a16:rowId xmlns:a16="http://schemas.microsoft.com/office/drawing/2014/main" val="10013"/>
                  </a:ext>
                </a:extLst>
              </a:tr>
              <a:tr h="289560">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2026YF(JT)0233</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面向重要行业的信创能力底座关键技术研究</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信创专项</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智慧城市设计院</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殷继旺,吴泽滨</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148</a:t>
                      </a:r>
                    </a:p>
                  </a:txBody>
                  <a:tcPr marL="13716" marR="13716" marT="4572" marB="4572" anchor="ctr">
                    <a:solidFill>
                      <a:srgbClr val="EAEFF7"/>
                    </a:solidFill>
                  </a:tcPr>
                </a:tc>
                <a:extLst>
                  <a:ext uri="{0D108BD9-81ED-4DB2-BD59-A6C34878D82A}">
                    <a16:rowId xmlns:a16="http://schemas.microsoft.com/office/drawing/2014/main" val="10014"/>
                  </a:ext>
                </a:extLst>
              </a:tr>
            </a:tbl>
          </a:graphicData>
        </a:graphic>
      </p:graphicFrame>
      <p:sp>
        <p:nvSpPr>
          <p:cNvPr id="23" name="TextBox 22"/>
          <p:cNvSpPr txBox="1"/>
          <p:nvPr/>
        </p:nvSpPr>
        <p:spPr>
          <a:xfrm>
            <a:off x="11338560" y="6565392"/>
            <a:ext cx="502920" cy="182880"/>
          </a:xfrm>
          <a:prstGeom prst="rect">
            <a:avLst/>
          </a:prstGeom>
          <a:noFill/>
        </p:spPr>
        <p:txBody>
          <a:bodyPr wrap="square" lIns="0" tIns="0" rIns="0" bIns="0" anchor="ctr">
            <a:spAutoFit/>
          </a:bodyPr>
          <a:lstStyle/>
          <a:p>
            <a:pPr algn="ctr">
              <a:lnSpc>
                <a:spcPct val="130000"/>
              </a:lnSpc>
              <a:spcBef>
                <a:spcPts val="0"/>
              </a:spcBef>
              <a:spcAft>
                <a:spcPts val="0"/>
              </a:spcAft>
              <a:defRPr sz="1300" b="0">
                <a:solidFill>
                  <a:srgbClr val="666666"/>
                </a:solidFill>
                <a:latin typeface="微软雅黑"/>
              </a:defRPr>
            </a:pPr>
            <a:r>
              <a:rPr sz="1000" b="0">
                <a:solidFill>
                  <a:srgbClr val="666666"/>
                </a:solidFill>
                <a:latin typeface="微软雅黑"/>
                <a:ea typeface="微软雅黑"/>
              </a:rPr>
              <a:t>10</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19456"/>
            <a:ext cx="9738360" cy="621792"/>
          </a:xfrm>
          <a:prstGeom prst="rect">
            <a:avLst/>
          </a:prstGeom>
          <a:noFill/>
        </p:spPr>
        <p:txBody>
          <a:bodyPr wrap="square" lIns="0" tIns="0" rIns="0" bIns="0" anchor="ctr">
            <a:normAutofit/>
          </a:bodyPr>
          <a:lstStyle/>
          <a:p>
            <a:pPr algn="l">
              <a:lnSpc>
                <a:spcPct val="100000"/>
              </a:lnSpc>
              <a:spcBef>
                <a:spcPts val="0"/>
              </a:spcBef>
              <a:spcAft>
                <a:spcPts val="0"/>
              </a:spcAft>
              <a:defRPr sz="1300" b="1">
                <a:solidFill>
                  <a:srgbClr val="111111"/>
                </a:solidFill>
                <a:latin typeface="微软雅黑"/>
              </a:defRPr>
            </a:pPr>
            <a:r>
              <a:rPr sz="3400" b="1" i="0">
                <a:solidFill>
                  <a:srgbClr val="111111"/>
                </a:solidFill>
                <a:latin typeface="微软雅黑"/>
                <a:ea typeface="微软雅黑"/>
              </a:rPr>
              <a:t>公司及部门级研发项目推进情况</a:t>
            </a:r>
          </a:p>
        </p:txBody>
      </p:sp>
      <p:sp>
        <p:nvSpPr>
          <p:cNvPr id="20" name="Rectangle 19"/>
          <p:cNvSpPr/>
          <p:nvPr/>
        </p:nvSpPr>
        <p:spPr>
          <a:xfrm>
            <a:off x="347472" y="1097280"/>
            <a:ext cx="3886200" cy="310896"/>
          </a:xfrm>
          <a:prstGeom prst="rect">
            <a:avLst/>
          </a:prstGeom>
          <a:solidFill>
            <a:srgbClr val="003E9E"/>
          </a:solidFill>
          <a:ln w="10160">
            <a:solidFill>
              <a:srgbClr val="003E9E"/>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spcBef>
                <a:spcPts val="0"/>
              </a:spcBef>
              <a:spcAft>
                <a:spcPts val="0"/>
              </a:spcAft>
            </a:pPr>
            <a:endParaRPr/>
          </a:p>
        </p:txBody>
      </p:sp>
      <p:sp>
        <p:nvSpPr>
          <p:cNvPr id="22" name="Rectangle 21"/>
          <p:cNvSpPr/>
          <p:nvPr/>
        </p:nvSpPr>
        <p:spPr>
          <a:xfrm>
            <a:off x="347472" y="1408176"/>
            <a:ext cx="3886200" cy="310896"/>
          </a:xfrm>
          <a:prstGeom prst="rect">
            <a:avLst/>
          </a:prstGeom>
          <a:solidFill>
            <a:srgbClr val="F4F7FB"/>
          </a:solidFill>
          <a:ln w="10160">
            <a:solidFill>
              <a:srgbClr val="B7C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spcBef>
                <a:spcPts val="0"/>
              </a:spcBef>
              <a:spcAft>
                <a:spcPts val="0"/>
              </a:spcAft>
            </a:pPr>
            <a:endParaRPr/>
          </a:p>
        </p:txBody>
      </p:sp>
      <p:sp>
        <p:nvSpPr>
          <p:cNvPr id="24" name="Rectangle 23"/>
          <p:cNvSpPr/>
          <p:nvPr/>
        </p:nvSpPr>
        <p:spPr>
          <a:xfrm>
            <a:off x="347472" y="4572000"/>
            <a:ext cx="3886200" cy="310896"/>
          </a:xfrm>
          <a:prstGeom prst="rect">
            <a:avLst/>
          </a:prstGeom>
          <a:solidFill>
            <a:srgbClr val="003E9E"/>
          </a:solidFill>
          <a:ln w="10160">
            <a:solidFill>
              <a:srgbClr val="003E9E"/>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spcBef>
                <a:spcPts val="0"/>
              </a:spcBef>
              <a:spcAft>
                <a:spcPts val="0"/>
              </a:spcAft>
            </a:pPr>
            <a:endParaRPr/>
          </a:p>
        </p:txBody>
      </p:sp>
      <p:sp>
        <p:nvSpPr>
          <p:cNvPr id="26" name="Rectangle 25"/>
          <p:cNvSpPr/>
          <p:nvPr/>
        </p:nvSpPr>
        <p:spPr>
          <a:xfrm>
            <a:off x="347472" y="4882896"/>
            <a:ext cx="3886200" cy="310896"/>
          </a:xfrm>
          <a:prstGeom prst="rect">
            <a:avLst/>
          </a:prstGeom>
          <a:solidFill>
            <a:srgbClr val="F4F7FB"/>
          </a:solidFill>
          <a:ln w="10160">
            <a:solidFill>
              <a:srgbClr val="B7C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spcBef>
                <a:spcPts val="0"/>
              </a:spcBef>
              <a:spcAft>
                <a:spcPts val="0"/>
              </a:spcAft>
            </a:pPr>
            <a:endParaRPr/>
          </a:p>
        </p:txBody>
      </p:sp>
      <p:sp>
        <p:nvSpPr>
          <p:cNvPr id="28" name="Rectangle 27"/>
          <p:cNvSpPr/>
          <p:nvPr/>
        </p:nvSpPr>
        <p:spPr>
          <a:xfrm>
            <a:off x="347472" y="5230368"/>
            <a:ext cx="3886200" cy="1188720"/>
          </a:xfrm>
          <a:prstGeom prst="rect">
            <a:avLst/>
          </a:prstGeom>
          <a:solidFill>
            <a:srgbClr val="FFFFFF"/>
          </a:solidFill>
          <a:ln w="10160">
            <a:solidFill>
              <a:srgbClr val="B7C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spcBef>
                <a:spcPts val="0"/>
              </a:spcBef>
              <a:spcAft>
                <a:spcPts val="0"/>
              </a:spcAft>
            </a:pPr>
            <a:endParaRPr/>
          </a:p>
        </p:txBody>
      </p:sp>
      <p:pic>
        <p:nvPicPr>
          <p:cNvPr id="14" name="Picture 13" descr="image5.png"/>
          <p:cNvPicPr>
            <a:picLocks noChangeAspect="1"/>
          </p:cNvPicPr>
          <p:nvPr/>
        </p:nvPicPr>
        <p:blipFill>
          <a:blip r:embed="rId2"/>
          <a:stretch>
            <a:fillRect/>
          </a:stretch>
        </p:blipFill>
        <p:spPr>
          <a:xfrm>
            <a:off x="512064" y="5321808"/>
            <a:ext cx="1792224" cy="960120"/>
          </a:xfrm>
          <a:prstGeom prst="rect">
            <a:avLst/>
          </a:prstGeom>
        </p:spPr>
      </p:pic>
      <p:sp>
        <p:nvSpPr>
          <p:cNvPr id="29" name="TextBox 28"/>
          <p:cNvSpPr txBox="1"/>
          <p:nvPr/>
        </p:nvSpPr>
        <p:spPr>
          <a:xfrm>
            <a:off x="2432304" y="5453471"/>
            <a:ext cx="1673352" cy="696794"/>
          </a:xfrm>
          <a:prstGeom prst="rect">
            <a:avLst/>
          </a:prstGeom>
          <a:noFill/>
        </p:spPr>
        <p:txBody>
          <a:bodyPr wrap="square" lIns="0" tIns="0" rIns="0" bIns="0" anchor="ctr">
            <a:spAutoFit/>
          </a:bodyPr>
          <a:lstStyle/>
          <a:p>
            <a:pPr algn="ctr">
              <a:lnSpc>
                <a:spcPct val="130000"/>
              </a:lnSpc>
              <a:spcBef>
                <a:spcPts val="0"/>
              </a:spcBef>
              <a:spcAft>
                <a:spcPts val="0"/>
              </a:spcAft>
              <a:defRPr sz="1300" b="1">
                <a:solidFill>
                  <a:srgbClr val="111111"/>
                </a:solidFill>
                <a:latin typeface="微软雅黑"/>
              </a:defRPr>
            </a:pPr>
            <a:r>
              <a:rPr sz="1200" b="1" dirty="0" err="1">
                <a:solidFill>
                  <a:srgbClr val="111111"/>
                </a:solidFill>
                <a:latin typeface="微软雅黑"/>
                <a:ea typeface="微软雅黑"/>
              </a:rPr>
              <a:t>务必扣减各类休假时长，确保研发工时准确、合规</a:t>
            </a:r>
            <a:r>
              <a:rPr sz="1200" b="1" dirty="0">
                <a:solidFill>
                  <a:srgbClr val="111111"/>
                </a:solidFill>
                <a:latin typeface="微软雅黑"/>
                <a:ea typeface="微软雅黑"/>
              </a:rPr>
              <a:t>。</a:t>
            </a:r>
          </a:p>
        </p:txBody>
      </p:sp>
      <p:sp>
        <p:nvSpPr>
          <p:cNvPr id="30" name="Rectangle 29"/>
          <p:cNvSpPr/>
          <p:nvPr/>
        </p:nvSpPr>
        <p:spPr>
          <a:xfrm>
            <a:off x="4315968" y="1097280"/>
            <a:ext cx="7507224" cy="310896"/>
          </a:xfrm>
          <a:prstGeom prst="rect">
            <a:avLst/>
          </a:prstGeom>
          <a:solidFill>
            <a:srgbClr val="003E9E"/>
          </a:solidFill>
          <a:ln w="10160">
            <a:solidFill>
              <a:srgbClr val="003E9E"/>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spcBef>
                <a:spcPts val="0"/>
              </a:spcBef>
              <a:spcAft>
                <a:spcPts val="0"/>
              </a:spcAft>
            </a:pPr>
            <a:endParaRPr/>
          </a:p>
        </p:txBody>
      </p:sp>
      <p:sp>
        <p:nvSpPr>
          <p:cNvPr id="32" name="Rectangle 31"/>
          <p:cNvSpPr/>
          <p:nvPr/>
        </p:nvSpPr>
        <p:spPr>
          <a:xfrm>
            <a:off x="4315968" y="1408176"/>
            <a:ext cx="7507224" cy="310896"/>
          </a:xfrm>
          <a:prstGeom prst="rect">
            <a:avLst/>
          </a:prstGeom>
          <a:solidFill>
            <a:srgbClr val="F4F7FB"/>
          </a:solidFill>
          <a:ln w="10160">
            <a:solidFill>
              <a:srgbClr val="B7C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spcBef>
                <a:spcPts val="0"/>
              </a:spcBef>
              <a:spcAft>
                <a:spcPts val="0"/>
              </a:spcAft>
            </a:pPr>
            <a:endParaRPr/>
          </a:p>
        </p:txBody>
      </p:sp>
      <p:sp>
        <p:nvSpPr>
          <p:cNvPr id="34" name="TextBox 33"/>
          <p:cNvSpPr txBox="1"/>
          <p:nvPr/>
        </p:nvSpPr>
        <p:spPr>
          <a:xfrm>
            <a:off x="11338560" y="6565392"/>
            <a:ext cx="502920" cy="219456"/>
          </a:xfrm>
          <a:prstGeom prst="rect">
            <a:avLst/>
          </a:prstGeom>
          <a:noFill/>
        </p:spPr>
        <p:txBody>
          <a:bodyPr wrap="square" lIns="0" tIns="0" rIns="0" bIns="0" anchor="ctr">
            <a:spAutoFit/>
          </a:bodyPr>
          <a:lstStyle/>
          <a:p>
            <a:pPr algn="ctr">
              <a:lnSpc>
                <a:spcPct val="130000"/>
              </a:lnSpc>
              <a:spcBef>
                <a:spcPts val="0"/>
              </a:spcBef>
              <a:spcAft>
                <a:spcPts val="0"/>
              </a:spcAft>
              <a:defRPr sz="1300" b="0">
                <a:solidFill>
                  <a:srgbClr val="111111"/>
                </a:solidFill>
                <a:latin typeface="微软雅黑"/>
              </a:defRPr>
            </a:pPr>
            <a:r>
              <a:rPr sz="1000" b="0">
                <a:solidFill>
                  <a:srgbClr val="111111"/>
                </a:solidFill>
                <a:latin typeface="微软雅黑"/>
                <a:ea typeface="微软雅黑"/>
              </a:rPr>
              <a:t>11</a:t>
            </a:r>
          </a:p>
        </p:txBody>
      </p:sp>
      <p:sp>
        <p:nvSpPr>
          <p:cNvPr id="21" name="TextBox 20"/>
          <p:cNvSpPr txBox="1"/>
          <p:nvPr/>
        </p:nvSpPr>
        <p:spPr>
          <a:xfrm>
            <a:off x="347472" y="1097280"/>
            <a:ext cx="3886200" cy="310896"/>
          </a:xfrm>
          <a:prstGeom prst="rect">
            <a:avLst/>
          </a:prstGeom>
          <a:noFill/>
        </p:spPr>
        <p:txBody>
          <a:bodyPr wrap="square" lIns="0" tIns="0" rIns="0" bIns="0" anchor="ctr">
            <a:spAutoFit/>
          </a:bodyPr>
          <a:lstStyle/>
          <a:p>
            <a:pPr algn="ctr">
              <a:lnSpc>
                <a:spcPct val="100000"/>
              </a:lnSpc>
              <a:spcBef>
                <a:spcPts val="0"/>
              </a:spcBef>
              <a:spcAft>
                <a:spcPts val="0"/>
              </a:spcAft>
              <a:defRPr sz="2000" b="1">
                <a:solidFill>
                  <a:srgbClr val="FFFFFF"/>
                </a:solidFill>
                <a:latin typeface="微软雅黑"/>
              </a:defRPr>
            </a:pPr>
            <a:r>
              <a:rPr sz="1200" b="1">
                <a:solidFill>
                  <a:srgbClr val="FFFFFF"/>
                </a:solidFill>
                <a:latin typeface="微软雅黑"/>
                <a:ea typeface="微软雅黑"/>
              </a:rPr>
              <a:t>公司级课题</a:t>
            </a:r>
          </a:p>
        </p:txBody>
      </p:sp>
      <p:sp>
        <p:nvSpPr>
          <p:cNvPr id="23" name="TextBox 22"/>
          <p:cNvSpPr txBox="1"/>
          <p:nvPr/>
        </p:nvSpPr>
        <p:spPr>
          <a:xfrm>
            <a:off x="347472" y="1408176"/>
            <a:ext cx="3886200" cy="310896"/>
          </a:xfrm>
          <a:prstGeom prst="rect">
            <a:avLst/>
          </a:prstGeom>
          <a:noFill/>
        </p:spPr>
        <p:txBody>
          <a:bodyPr wrap="square" lIns="64008" tIns="64008" rIns="64008" bIns="64008" anchor="ctr">
            <a:spAutoFit/>
          </a:bodyPr>
          <a:lstStyle/>
          <a:p>
            <a:pPr algn="l">
              <a:lnSpc>
                <a:spcPct val="130000"/>
              </a:lnSpc>
              <a:spcBef>
                <a:spcPts val="0"/>
              </a:spcBef>
              <a:spcAft>
                <a:spcPts val="0"/>
              </a:spcAft>
              <a:defRPr sz="1300" b="1">
                <a:solidFill>
                  <a:srgbClr val="111111"/>
                </a:solidFill>
                <a:latin typeface="微软雅黑"/>
              </a:defRPr>
            </a:pPr>
            <a:r>
              <a:rPr sz="1200" b="1">
                <a:solidFill>
                  <a:srgbClr val="111111"/>
                </a:solidFill>
                <a:latin typeface="微软雅黑"/>
                <a:ea typeface="微软雅黑"/>
              </a:rPr>
              <a:t>8项课题中2项独立承担、6项参与研发</a:t>
            </a:r>
          </a:p>
        </p:txBody>
      </p:sp>
      <p:sp>
        <p:nvSpPr>
          <p:cNvPr id="31" name="TextBox 30"/>
          <p:cNvSpPr txBox="1"/>
          <p:nvPr/>
        </p:nvSpPr>
        <p:spPr>
          <a:xfrm>
            <a:off x="4315968" y="1097280"/>
            <a:ext cx="7507224" cy="310896"/>
          </a:xfrm>
          <a:prstGeom prst="rect">
            <a:avLst/>
          </a:prstGeom>
          <a:noFill/>
        </p:spPr>
        <p:txBody>
          <a:bodyPr wrap="square" lIns="0" tIns="0" rIns="0" bIns="0" anchor="ctr">
            <a:spAutoFit/>
          </a:bodyPr>
          <a:lstStyle/>
          <a:p>
            <a:pPr algn="ctr">
              <a:lnSpc>
                <a:spcPct val="100000"/>
              </a:lnSpc>
              <a:spcBef>
                <a:spcPts val="0"/>
              </a:spcBef>
              <a:spcAft>
                <a:spcPts val="0"/>
              </a:spcAft>
              <a:defRPr sz="2000" b="1">
                <a:solidFill>
                  <a:srgbClr val="FFFFFF"/>
                </a:solidFill>
                <a:latin typeface="微软雅黑"/>
              </a:defRPr>
            </a:pPr>
            <a:r>
              <a:rPr sz="1200" b="1">
                <a:solidFill>
                  <a:srgbClr val="FFFFFF"/>
                </a:solidFill>
                <a:latin typeface="微软雅黑"/>
                <a:ea typeface="微软雅黑"/>
              </a:rPr>
              <a:t>规划院自列项目</a:t>
            </a:r>
          </a:p>
        </p:txBody>
      </p:sp>
      <p:sp>
        <p:nvSpPr>
          <p:cNvPr id="33" name="TextBox 32"/>
          <p:cNvSpPr txBox="1"/>
          <p:nvPr/>
        </p:nvSpPr>
        <p:spPr>
          <a:xfrm>
            <a:off x="4315968" y="1408176"/>
            <a:ext cx="7507224" cy="310896"/>
          </a:xfrm>
          <a:prstGeom prst="rect">
            <a:avLst/>
          </a:prstGeom>
          <a:noFill/>
        </p:spPr>
        <p:txBody>
          <a:bodyPr wrap="square" lIns="64008" tIns="64008" rIns="64008" bIns="64008" anchor="ctr">
            <a:spAutoFit/>
          </a:bodyPr>
          <a:lstStyle/>
          <a:p>
            <a:pPr algn="l">
              <a:lnSpc>
                <a:spcPct val="130000"/>
              </a:lnSpc>
              <a:spcBef>
                <a:spcPts val="0"/>
              </a:spcBef>
              <a:spcAft>
                <a:spcPts val="0"/>
              </a:spcAft>
              <a:defRPr sz="1300" b="1">
                <a:solidFill>
                  <a:srgbClr val="111111"/>
                </a:solidFill>
                <a:latin typeface="微软雅黑"/>
              </a:defRPr>
            </a:pPr>
            <a:r>
              <a:rPr sz="1200" b="1">
                <a:solidFill>
                  <a:srgbClr val="111111"/>
                </a:solidFill>
                <a:latin typeface="微软雅黑"/>
                <a:ea typeface="微软雅黑"/>
              </a:rPr>
              <a:t>28项项目总体符合序时进度，完成进度低于35%的项目需重点关注</a:t>
            </a:r>
          </a:p>
        </p:txBody>
      </p:sp>
      <p:sp>
        <p:nvSpPr>
          <p:cNvPr id="36" name="Rectangle 35"/>
          <p:cNvSpPr/>
          <p:nvPr/>
        </p:nvSpPr>
        <p:spPr>
          <a:xfrm>
            <a:off x="4315968" y="1755648"/>
            <a:ext cx="7507224" cy="219456"/>
          </a:xfrm>
          <a:prstGeom prst="rect">
            <a:avLst/>
          </a:prstGeom>
          <a:solidFill>
            <a:srgbClr val="0047A0"/>
          </a:solidFill>
          <a:ln w="7620">
            <a:solidFill>
              <a:srgbClr val="0047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4315968" y="1755648"/>
            <a:ext cx="7507224" cy="219456"/>
          </a:xfrm>
          <a:prstGeom prst="rect">
            <a:avLst/>
          </a:prstGeom>
          <a:noFill/>
        </p:spPr>
        <p:txBody>
          <a:bodyPr wrap="square" lIns="45720" tIns="18288" rIns="45720" bIns="18288" anchor="ctr">
            <a:spAutoFit/>
          </a:bodyPr>
          <a:lstStyle/>
          <a:p>
            <a:pPr algn="ctr">
              <a:lnSpc>
                <a:spcPct val="100000"/>
              </a:lnSpc>
              <a:spcBef>
                <a:spcPts val="0"/>
              </a:spcBef>
              <a:spcAft>
                <a:spcPts val="0"/>
              </a:spcAft>
            </a:pPr>
            <a:r>
              <a:rPr sz="1000" b="1">
                <a:solidFill>
                  <a:srgbClr val="FFFFFF"/>
                </a:solidFill>
                <a:latin typeface="微软雅黑"/>
                <a:ea typeface="微软雅黑"/>
              </a:rPr>
              <a:t>项目1-25、27名称共用前缀：2026年中国联通中讯院</a:t>
            </a:r>
          </a:p>
        </p:txBody>
      </p:sp>
      <p:graphicFrame>
        <p:nvGraphicFramePr>
          <p:cNvPr id="38" name="Table 37"/>
          <p:cNvGraphicFramePr>
            <a:graphicFrameLocks noGrp="1"/>
          </p:cNvGraphicFramePr>
          <p:nvPr/>
        </p:nvGraphicFramePr>
        <p:xfrm>
          <a:off x="4315968" y="1993392"/>
          <a:ext cx="3698748" cy="4771338"/>
        </p:xfrm>
        <a:graphic>
          <a:graphicData uri="http://schemas.openxmlformats.org/drawingml/2006/table">
            <a:tbl>
              <a:tblPr firstRow="1" bandRow="1">
                <a:tableStyleId>{5C22544A-7EE6-4342-B048-85BDC9FD1C3A}</a:tableStyleId>
              </a:tblPr>
              <a:tblGrid>
                <a:gridCol w="246887">
                  <a:extLst>
                    <a:ext uri="{9D8B030D-6E8A-4147-A177-3AD203B41FA5}">
                      <a16:colId xmlns:a16="http://schemas.microsoft.com/office/drawing/2014/main" val="20000"/>
                    </a:ext>
                  </a:extLst>
                </a:gridCol>
                <a:gridCol w="3451861">
                  <a:extLst>
                    <a:ext uri="{9D8B030D-6E8A-4147-A177-3AD203B41FA5}">
                      <a16:colId xmlns:a16="http://schemas.microsoft.com/office/drawing/2014/main" val="20001"/>
                    </a:ext>
                  </a:extLst>
                </a:gridCol>
              </a:tblGrid>
              <a:tr h="219456">
                <a:tc>
                  <a:txBody>
                    <a:bodyPr/>
                    <a:lstStyle/>
                    <a:p>
                      <a:pPr algn="ctr">
                        <a:lnSpc>
                          <a:spcPct val="100000"/>
                        </a:lnSpc>
                        <a:spcBef>
                          <a:spcPts val="0"/>
                        </a:spcBef>
                        <a:spcAft>
                          <a:spcPts val="0"/>
                        </a:spcAft>
                      </a:pPr>
                      <a:r>
                        <a:rPr sz="1000" b="1">
                          <a:solidFill>
                            <a:srgbClr val="FFFFFF"/>
                          </a:solidFill>
                          <a:latin typeface="微软雅黑"/>
                          <a:ea typeface="微软雅黑"/>
                        </a:rPr>
                        <a:t>序号</a:t>
                      </a:r>
                    </a:p>
                  </a:txBody>
                  <a:tcPr marL="13716" marR="13716" marT="2743" marB="2743" anchor="ctr">
                    <a:solidFill>
                      <a:srgbClr val="0047A0"/>
                    </a:solidFill>
                  </a:tcPr>
                </a:tc>
                <a:tc>
                  <a:txBody>
                    <a:bodyPr/>
                    <a:lstStyle/>
                    <a:p>
                      <a:pPr algn="ctr">
                        <a:lnSpc>
                          <a:spcPct val="100000"/>
                        </a:lnSpc>
                        <a:spcBef>
                          <a:spcPts val="0"/>
                        </a:spcBef>
                        <a:spcAft>
                          <a:spcPts val="0"/>
                        </a:spcAft>
                      </a:pPr>
                      <a:r>
                        <a:rPr sz="1000" b="1">
                          <a:solidFill>
                            <a:srgbClr val="FFFFFF"/>
                          </a:solidFill>
                          <a:latin typeface="微软雅黑"/>
                          <a:ea typeface="微软雅黑"/>
                        </a:rPr>
                        <a:t>项目名称｜部门简称/负责人｜进度</a:t>
                      </a:r>
                    </a:p>
                  </a:txBody>
                  <a:tcPr marL="13716" marR="13716" marT="2743" marB="2743" anchor="ctr">
                    <a:solidFill>
                      <a:srgbClr val="0047A0"/>
                    </a:solidFill>
                  </a:tcPr>
                </a:tc>
                <a:extLst>
                  <a:ext uri="{0D108BD9-81ED-4DB2-BD59-A6C34878D82A}">
                    <a16:rowId xmlns:a16="http://schemas.microsoft.com/office/drawing/2014/main" val="10000"/>
                  </a:ext>
                </a:extLst>
              </a:tr>
              <a:tr h="365760">
                <a:tc>
                  <a:txBody>
                    <a:bodyPr/>
                    <a:lstStyle/>
                    <a:p>
                      <a:pPr algn="ctr">
                        <a:lnSpc>
                          <a:spcPct val="100000"/>
                        </a:lnSpc>
                        <a:spcBef>
                          <a:spcPts val="0"/>
                        </a:spcBef>
                        <a:spcAft>
                          <a:spcPts val="0"/>
                        </a:spcAft>
                      </a:pPr>
                      <a:r>
                        <a:rPr sz="1000" b="0">
                          <a:solidFill>
                            <a:srgbClr val="232D37"/>
                          </a:solidFill>
                          <a:latin typeface="微软雅黑"/>
                          <a:ea typeface="微软雅黑"/>
                        </a:rPr>
                        <a:t>1</a:t>
                      </a:r>
                    </a:p>
                  </a:txBody>
                  <a:tcPr marL="13716" marR="13716" marT="2743" marB="2743" anchor="ctr">
                    <a:solidFill>
                      <a:srgbClr val="FFFFFF"/>
                    </a:solidFill>
                  </a:tcPr>
                </a:tc>
                <a:tc>
                  <a:txBody>
                    <a:bodyPr/>
                    <a:lstStyle/>
                    <a:p>
                      <a:pPr algn="l">
                        <a:lnSpc>
                          <a:spcPct val="100000"/>
                        </a:lnSpc>
                        <a:spcBef>
                          <a:spcPts val="0"/>
                        </a:spcBef>
                        <a:spcAft>
                          <a:spcPts val="0"/>
                        </a:spcAft>
                      </a:pPr>
                      <a:r>
                        <a:rPr sz="1000" b="0">
                          <a:solidFill>
                            <a:srgbClr val="232D37"/>
                          </a:solidFill>
                          <a:latin typeface="微软雅黑"/>
                          <a:ea typeface="微软雅黑"/>
                        </a:rPr>
                        <a:t>无线网网络数据及故障分析智能体研究｜集团业务/杨海涛｜42.39%</a:t>
                      </a:r>
                    </a:p>
                  </a:txBody>
                  <a:tcPr marL="13716" marR="13716" marT="2743" marB="2743" anchor="ctr">
                    <a:solidFill>
                      <a:srgbClr val="FFFFFF"/>
                    </a:solidFill>
                  </a:tcPr>
                </a:tc>
                <a:extLst>
                  <a:ext uri="{0D108BD9-81ED-4DB2-BD59-A6C34878D82A}">
                    <a16:rowId xmlns:a16="http://schemas.microsoft.com/office/drawing/2014/main" val="10001"/>
                  </a:ext>
                </a:extLst>
              </a:tr>
              <a:tr h="182880">
                <a:tc>
                  <a:txBody>
                    <a:bodyPr/>
                    <a:lstStyle/>
                    <a:p>
                      <a:pPr algn="ctr">
                        <a:lnSpc>
                          <a:spcPct val="100000"/>
                        </a:lnSpc>
                        <a:spcBef>
                          <a:spcPts val="0"/>
                        </a:spcBef>
                        <a:spcAft>
                          <a:spcPts val="0"/>
                        </a:spcAft>
                      </a:pPr>
                      <a:r>
                        <a:rPr sz="1000" b="0">
                          <a:solidFill>
                            <a:srgbClr val="232D37"/>
                          </a:solidFill>
                          <a:latin typeface="微软雅黑"/>
                          <a:ea typeface="微软雅黑"/>
                        </a:rPr>
                        <a:t>2</a:t>
                      </a:r>
                    </a:p>
                  </a:txBody>
                  <a:tcPr marL="13716" marR="13716" marT="2743" marB="2743" anchor="ctr">
                    <a:solidFill>
                      <a:srgbClr val="F6F9FC"/>
                    </a:solidFill>
                  </a:tcPr>
                </a:tc>
                <a:tc>
                  <a:txBody>
                    <a:bodyPr/>
                    <a:lstStyle/>
                    <a:p>
                      <a:pPr algn="l">
                        <a:lnSpc>
                          <a:spcPct val="100000"/>
                        </a:lnSpc>
                        <a:spcBef>
                          <a:spcPts val="0"/>
                        </a:spcBef>
                        <a:spcAft>
                          <a:spcPts val="0"/>
                        </a:spcAft>
                      </a:pPr>
                      <a:r>
                        <a:rPr sz="1000" b="0">
                          <a:solidFill>
                            <a:srgbClr val="232D37"/>
                          </a:solidFill>
                          <a:latin typeface="微软雅黑"/>
                          <a:ea typeface="微软雅黑"/>
                        </a:rPr>
                        <a:t>智能单板创新应用及落地试点研究｜北京/李彬｜37.52%</a:t>
                      </a:r>
                    </a:p>
                  </a:txBody>
                  <a:tcPr marL="13716" marR="13716" marT="2743" marB="2743" anchor="ctr">
                    <a:solidFill>
                      <a:srgbClr val="F6F9FC"/>
                    </a:solidFill>
                  </a:tcPr>
                </a:tc>
                <a:extLst>
                  <a:ext uri="{0D108BD9-81ED-4DB2-BD59-A6C34878D82A}">
                    <a16:rowId xmlns:a16="http://schemas.microsoft.com/office/drawing/2014/main" val="10002"/>
                  </a:ext>
                </a:extLst>
              </a:tr>
              <a:tr h="365760">
                <a:tc>
                  <a:txBody>
                    <a:bodyPr/>
                    <a:lstStyle/>
                    <a:p>
                      <a:pPr algn="ctr">
                        <a:lnSpc>
                          <a:spcPct val="100000"/>
                        </a:lnSpc>
                        <a:spcBef>
                          <a:spcPts val="0"/>
                        </a:spcBef>
                        <a:spcAft>
                          <a:spcPts val="0"/>
                        </a:spcAft>
                      </a:pPr>
                      <a:r>
                        <a:rPr sz="1000" b="0">
                          <a:solidFill>
                            <a:srgbClr val="232D37"/>
                          </a:solidFill>
                          <a:latin typeface="微软雅黑"/>
                          <a:ea typeface="微软雅黑"/>
                        </a:rPr>
                        <a:t>3</a:t>
                      </a:r>
                    </a:p>
                  </a:txBody>
                  <a:tcPr marL="13716" marR="13716" marT="2743" marB="2743" anchor="ctr">
                    <a:solidFill>
                      <a:srgbClr val="FFFFFF"/>
                    </a:solidFill>
                  </a:tcPr>
                </a:tc>
                <a:tc>
                  <a:txBody>
                    <a:bodyPr/>
                    <a:lstStyle/>
                    <a:p>
                      <a:pPr algn="l">
                        <a:lnSpc>
                          <a:spcPct val="100000"/>
                        </a:lnSpc>
                        <a:spcBef>
                          <a:spcPts val="0"/>
                        </a:spcBef>
                        <a:spcAft>
                          <a:spcPts val="0"/>
                        </a:spcAft>
                      </a:pPr>
                      <a:r>
                        <a:rPr sz="1000" b="0">
                          <a:solidFill>
                            <a:srgbClr val="232D37"/>
                          </a:solidFill>
                          <a:latin typeface="微软雅黑"/>
                          <a:ea typeface="微软雅黑"/>
                        </a:rPr>
                        <a:t>基于50G PON的工业PON部署及应用研究｜咨询中心/车维崧｜36.55%</a:t>
                      </a:r>
                    </a:p>
                  </a:txBody>
                  <a:tcPr marL="13716" marR="13716" marT="2743" marB="2743" anchor="ctr">
                    <a:solidFill>
                      <a:srgbClr val="FFFFFF"/>
                    </a:solidFill>
                  </a:tcPr>
                </a:tc>
                <a:extLst>
                  <a:ext uri="{0D108BD9-81ED-4DB2-BD59-A6C34878D82A}">
                    <a16:rowId xmlns:a16="http://schemas.microsoft.com/office/drawing/2014/main" val="10003"/>
                  </a:ext>
                </a:extLst>
              </a:tr>
              <a:tr h="365760">
                <a:tc>
                  <a:txBody>
                    <a:bodyPr/>
                    <a:lstStyle/>
                    <a:p>
                      <a:pPr algn="ctr">
                        <a:lnSpc>
                          <a:spcPct val="100000"/>
                        </a:lnSpc>
                        <a:spcBef>
                          <a:spcPts val="0"/>
                        </a:spcBef>
                        <a:spcAft>
                          <a:spcPts val="0"/>
                        </a:spcAft>
                      </a:pPr>
                      <a:r>
                        <a:rPr sz="1000" b="0">
                          <a:solidFill>
                            <a:srgbClr val="232D37"/>
                          </a:solidFill>
                          <a:latin typeface="微软雅黑"/>
                          <a:ea typeface="微软雅黑"/>
                        </a:rPr>
                        <a:t>4</a:t>
                      </a:r>
                    </a:p>
                  </a:txBody>
                  <a:tcPr marL="13716" marR="13716" marT="2743" marB="2743" anchor="ctr">
                    <a:solidFill>
                      <a:srgbClr val="F6F9FC"/>
                    </a:solidFill>
                  </a:tcPr>
                </a:tc>
                <a:tc>
                  <a:txBody>
                    <a:bodyPr/>
                    <a:lstStyle/>
                    <a:p>
                      <a:pPr algn="l">
                        <a:lnSpc>
                          <a:spcPct val="100000"/>
                        </a:lnSpc>
                        <a:spcBef>
                          <a:spcPts val="0"/>
                        </a:spcBef>
                        <a:spcAft>
                          <a:spcPts val="0"/>
                        </a:spcAft>
                      </a:pPr>
                      <a:r>
                        <a:rPr sz="1000" b="0">
                          <a:solidFill>
                            <a:srgbClr val="232D37"/>
                          </a:solidFill>
                          <a:latin typeface="微软雅黑"/>
                          <a:ea typeface="微软雅黑"/>
                        </a:rPr>
                        <a:t>基于AI映射及多智能体自组织模式下的宽带业务支撑系统（宽带大脑）研究｜咨询中心/陶咏志,王得毅｜35.34%</a:t>
                      </a:r>
                    </a:p>
                  </a:txBody>
                  <a:tcPr marL="13716" marR="13716" marT="2743" marB="2743" anchor="ctr">
                    <a:solidFill>
                      <a:srgbClr val="F6F9FC"/>
                    </a:solidFill>
                  </a:tcPr>
                </a:tc>
                <a:extLst>
                  <a:ext uri="{0D108BD9-81ED-4DB2-BD59-A6C34878D82A}">
                    <a16:rowId xmlns:a16="http://schemas.microsoft.com/office/drawing/2014/main" val="10004"/>
                  </a:ext>
                </a:extLst>
              </a:tr>
              <a:tr h="365760">
                <a:tc>
                  <a:txBody>
                    <a:bodyPr/>
                    <a:lstStyle/>
                    <a:p>
                      <a:pPr algn="ctr">
                        <a:lnSpc>
                          <a:spcPct val="100000"/>
                        </a:lnSpc>
                        <a:spcBef>
                          <a:spcPts val="0"/>
                        </a:spcBef>
                        <a:spcAft>
                          <a:spcPts val="0"/>
                        </a:spcAft>
                      </a:pPr>
                      <a:r>
                        <a:rPr sz="1000" b="0">
                          <a:solidFill>
                            <a:srgbClr val="232D37"/>
                          </a:solidFill>
                          <a:latin typeface="微软雅黑"/>
                          <a:ea typeface="微软雅黑"/>
                        </a:rPr>
                        <a:t>5</a:t>
                      </a:r>
                    </a:p>
                  </a:txBody>
                  <a:tcPr marL="13716" marR="13716" marT="2743" marB="2743" anchor="ctr">
                    <a:solidFill>
                      <a:srgbClr val="FFFFFF"/>
                    </a:solidFill>
                  </a:tcPr>
                </a:tc>
                <a:tc>
                  <a:txBody>
                    <a:bodyPr/>
                    <a:lstStyle/>
                    <a:p>
                      <a:pPr algn="l">
                        <a:lnSpc>
                          <a:spcPct val="100000"/>
                        </a:lnSpc>
                        <a:spcBef>
                          <a:spcPts val="0"/>
                        </a:spcBef>
                        <a:spcAft>
                          <a:spcPts val="0"/>
                        </a:spcAft>
                      </a:pPr>
                      <a:r>
                        <a:rPr sz="1000" b="0">
                          <a:solidFill>
                            <a:srgbClr val="232D37"/>
                          </a:solidFill>
                          <a:latin typeface="微软雅黑"/>
                          <a:ea typeface="微软雅黑"/>
                        </a:rPr>
                        <a:t>基于AI的WSON全光网络仿真及自动化设计应用研究｜重点业务/肖然｜40.94%</a:t>
                      </a:r>
                    </a:p>
                  </a:txBody>
                  <a:tcPr marL="13716" marR="13716" marT="2743" marB="2743" anchor="ctr">
                    <a:solidFill>
                      <a:srgbClr val="FFFFFF"/>
                    </a:solidFill>
                  </a:tcPr>
                </a:tc>
                <a:extLst>
                  <a:ext uri="{0D108BD9-81ED-4DB2-BD59-A6C34878D82A}">
                    <a16:rowId xmlns:a16="http://schemas.microsoft.com/office/drawing/2014/main" val="10005"/>
                  </a:ext>
                </a:extLst>
              </a:tr>
              <a:tr h="365760">
                <a:tc>
                  <a:txBody>
                    <a:bodyPr/>
                    <a:lstStyle/>
                    <a:p>
                      <a:pPr algn="ctr">
                        <a:lnSpc>
                          <a:spcPct val="100000"/>
                        </a:lnSpc>
                        <a:spcBef>
                          <a:spcPts val="0"/>
                        </a:spcBef>
                        <a:spcAft>
                          <a:spcPts val="0"/>
                        </a:spcAft>
                      </a:pPr>
                      <a:r>
                        <a:rPr sz="1000" b="0">
                          <a:solidFill>
                            <a:srgbClr val="232D37"/>
                          </a:solidFill>
                          <a:latin typeface="微软雅黑"/>
                          <a:ea typeface="微软雅黑"/>
                        </a:rPr>
                        <a:t>6</a:t>
                      </a:r>
                    </a:p>
                  </a:txBody>
                  <a:tcPr marL="13716" marR="13716" marT="2743" marB="2743" anchor="ctr">
                    <a:solidFill>
                      <a:srgbClr val="F6F9FC"/>
                    </a:solidFill>
                  </a:tcPr>
                </a:tc>
                <a:tc>
                  <a:txBody>
                    <a:bodyPr/>
                    <a:lstStyle/>
                    <a:p>
                      <a:pPr algn="l">
                        <a:lnSpc>
                          <a:spcPct val="100000"/>
                        </a:lnSpc>
                        <a:spcBef>
                          <a:spcPts val="0"/>
                        </a:spcBef>
                        <a:spcAft>
                          <a:spcPts val="0"/>
                        </a:spcAft>
                      </a:pPr>
                      <a:r>
                        <a:rPr sz="1000" b="0">
                          <a:solidFill>
                            <a:srgbClr val="232D37"/>
                          </a:solidFill>
                          <a:latin typeface="微软雅黑"/>
                          <a:ea typeface="微软雅黑"/>
                        </a:rPr>
                        <a:t>基于会话元数据AI建模的涉诈特征深度挖掘与高级伪装诈骗识别攻关｜集团业务/肖倩,贾云蓓｜32.06%</a:t>
                      </a:r>
                    </a:p>
                  </a:txBody>
                  <a:tcPr marL="13716" marR="13716" marT="2743" marB="2743" anchor="ctr">
                    <a:solidFill>
                      <a:srgbClr val="F6F9FC"/>
                    </a:solidFill>
                  </a:tcPr>
                </a:tc>
                <a:extLst>
                  <a:ext uri="{0D108BD9-81ED-4DB2-BD59-A6C34878D82A}">
                    <a16:rowId xmlns:a16="http://schemas.microsoft.com/office/drawing/2014/main" val="10006"/>
                  </a:ext>
                </a:extLst>
              </a:tr>
              <a:tr h="182880">
                <a:tc>
                  <a:txBody>
                    <a:bodyPr/>
                    <a:lstStyle/>
                    <a:p>
                      <a:pPr algn="ctr">
                        <a:lnSpc>
                          <a:spcPct val="100000"/>
                        </a:lnSpc>
                        <a:spcBef>
                          <a:spcPts val="0"/>
                        </a:spcBef>
                        <a:spcAft>
                          <a:spcPts val="0"/>
                        </a:spcAft>
                      </a:pPr>
                      <a:r>
                        <a:rPr sz="1000" b="0">
                          <a:solidFill>
                            <a:srgbClr val="232D37"/>
                          </a:solidFill>
                          <a:latin typeface="微软雅黑"/>
                          <a:ea typeface="微软雅黑"/>
                        </a:rPr>
                        <a:t>7</a:t>
                      </a:r>
                    </a:p>
                  </a:txBody>
                  <a:tcPr marL="13716" marR="13716" marT="2743" marB="2743" anchor="ctr">
                    <a:solidFill>
                      <a:srgbClr val="FFFFFF"/>
                    </a:solidFill>
                  </a:tcPr>
                </a:tc>
                <a:tc>
                  <a:txBody>
                    <a:bodyPr/>
                    <a:lstStyle/>
                    <a:p>
                      <a:pPr algn="l">
                        <a:lnSpc>
                          <a:spcPct val="100000"/>
                        </a:lnSpc>
                        <a:spcBef>
                          <a:spcPts val="0"/>
                        </a:spcBef>
                        <a:spcAft>
                          <a:spcPts val="0"/>
                        </a:spcAft>
                      </a:pPr>
                      <a:r>
                        <a:rPr sz="1000" b="0">
                          <a:solidFill>
                            <a:srgbClr val="232D37"/>
                          </a:solidFill>
                          <a:latin typeface="微软雅黑"/>
                          <a:ea typeface="微软雅黑"/>
                        </a:rPr>
                        <a:t>面向重点对象的流量筛选与分析研究｜集团业务/肖倩｜37.87%</a:t>
                      </a:r>
                    </a:p>
                  </a:txBody>
                  <a:tcPr marL="13716" marR="13716" marT="2743" marB="2743" anchor="ctr">
                    <a:solidFill>
                      <a:srgbClr val="FFFFFF"/>
                    </a:solidFill>
                  </a:tcPr>
                </a:tc>
                <a:extLst>
                  <a:ext uri="{0D108BD9-81ED-4DB2-BD59-A6C34878D82A}">
                    <a16:rowId xmlns:a16="http://schemas.microsoft.com/office/drawing/2014/main" val="10007"/>
                  </a:ext>
                </a:extLst>
              </a:tr>
              <a:tr h="365760">
                <a:tc>
                  <a:txBody>
                    <a:bodyPr/>
                    <a:lstStyle/>
                    <a:p>
                      <a:pPr algn="ctr">
                        <a:lnSpc>
                          <a:spcPct val="100000"/>
                        </a:lnSpc>
                        <a:spcBef>
                          <a:spcPts val="0"/>
                        </a:spcBef>
                        <a:spcAft>
                          <a:spcPts val="0"/>
                        </a:spcAft>
                      </a:pPr>
                      <a:r>
                        <a:rPr sz="1000" b="0">
                          <a:solidFill>
                            <a:srgbClr val="232D37"/>
                          </a:solidFill>
                          <a:latin typeface="微软雅黑"/>
                          <a:ea typeface="微软雅黑"/>
                        </a:rPr>
                        <a:t>8</a:t>
                      </a:r>
                    </a:p>
                  </a:txBody>
                  <a:tcPr marL="13716" marR="13716" marT="2743" marB="2743" anchor="ctr">
                    <a:solidFill>
                      <a:srgbClr val="F6F9FC"/>
                    </a:solidFill>
                  </a:tcPr>
                </a:tc>
                <a:tc>
                  <a:txBody>
                    <a:bodyPr/>
                    <a:lstStyle/>
                    <a:p>
                      <a:pPr algn="l">
                        <a:lnSpc>
                          <a:spcPct val="100000"/>
                        </a:lnSpc>
                        <a:spcBef>
                          <a:spcPts val="0"/>
                        </a:spcBef>
                        <a:spcAft>
                          <a:spcPts val="0"/>
                        </a:spcAft>
                      </a:pPr>
                      <a:r>
                        <a:rPr sz="1000" b="0">
                          <a:solidFill>
                            <a:srgbClr val="232D37"/>
                          </a:solidFill>
                          <a:latin typeface="微软雅黑"/>
                          <a:ea typeface="微软雅黑"/>
                        </a:rPr>
                        <a:t>智能体通信算网融合关键技术及应用研究｜集团业务/陈艳敏,吕艳芳｜35.68%</a:t>
                      </a:r>
                    </a:p>
                  </a:txBody>
                  <a:tcPr marL="13716" marR="13716" marT="2743" marB="2743" anchor="ctr">
                    <a:solidFill>
                      <a:srgbClr val="F6F9FC"/>
                    </a:solidFill>
                  </a:tcPr>
                </a:tc>
                <a:extLst>
                  <a:ext uri="{0D108BD9-81ED-4DB2-BD59-A6C34878D82A}">
                    <a16:rowId xmlns:a16="http://schemas.microsoft.com/office/drawing/2014/main" val="10008"/>
                  </a:ext>
                </a:extLst>
              </a:tr>
              <a:tr h="365760">
                <a:tc>
                  <a:txBody>
                    <a:bodyPr/>
                    <a:lstStyle/>
                    <a:p>
                      <a:pPr algn="ctr">
                        <a:lnSpc>
                          <a:spcPct val="100000"/>
                        </a:lnSpc>
                        <a:spcBef>
                          <a:spcPts val="0"/>
                        </a:spcBef>
                        <a:spcAft>
                          <a:spcPts val="0"/>
                        </a:spcAft>
                      </a:pPr>
                      <a:r>
                        <a:rPr sz="1000" b="0">
                          <a:solidFill>
                            <a:srgbClr val="232D37"/>
                          </a:solidFill>
                          <a:latin typeface="微软雅黑"/>
                          <a:ea typeface="微软雅黑"/>
                        </a:rPr>
                        <a:t>9</a:t>
                      </a:r>
                    </a:p>
                  </a:txBody>
                  <a:tcPr marL="13716" marR="13716" marT="2743" marB="2743" anchor="ctr">
                    <a:solidFill>
                      <a:srgbClr val="FFFFFF"/>
                    </a:solidFill>
                  </a:tcPr>
                </a:tc>
                <a:tc>
                  <a:txBody>
                    <a:bodyPr/>
                    <a:lstStyle/>
                    <a:p>
                      <a:pPr algn="l">
                        <a:lnSpc>
                          <a:spcPct val="100000"/>
                        </a:lnSpc>
                        <a:spcBef>
                          <a:spcPts val="0"/>
                        </a:spcBef>
                        <a:spcAft>
                          <a:spcPts val="0"/>
                        </a:spcAft>
                      </a:pPr>
                      <a:r>
                        <a:rPr sz="1000" b="0">
                          <a:solidFill>
                            <a:srgbClr val="232D37"/>
                          </a:solidFill>
                          <a:latin typeface="微软雅黑"/>
                          <a:ea typeface="微软雅黑"/>
                        </a:rPr>
                        <a:t>面向设计辅助工具的模板化数据文本处理研究｜集团业务/张海龙｜32.03%</a:t>
                      </a:r>
                    </a:p>
                  </a:txBody>
                  <a:tcPr marL="13716" marR="13716" marT="2743" marB="2743" anchor="ctr">
                    <a:solidFill>
                      <a:srgbClr val="FFFFFF"/>
                    </a:solidFill>
                  </a:tcPr>
                </a:tc>
                <a:extLst>
                  <a:ext uri="{0D108BD9-81ED-4DB2-BD59-A6C34878D82A}">
                    <a16:rowId xmlns:a16="http://schemas.microsoft.com/office/drawing/2014/main" val="10009"/>
                  </a:ext>
                </a:extLst>
              </a:tr>
              <a:tr h="365760">
                <a:tc>
                  <a:txBody>
                    <a:bodyPr/>
                    <a:lstStyle/>
                    <a:p>
                      <a:pPr algn="ctr">
                        <a:lnSpc>
                          <a:spcPct val="100000"/>
                        </a:lnSpc>
                        <a:spcBef>
                          <a:spcPts val="0"/>
                        </a:spcBef>
                        <a:spcAft>
                          <a:spcPts val="0"/>
                        </a:spcAft>
                      </a:pPr>
                      <a:r>
                        <a:rPr sz="1000" b="0">
                          <a:solidFill>
                            <a:srgbClr val="232D37"/>
                          </a:solidFill>
                          <a:latin typeface="微软雅黑"/>
                          <a:ea typeface="微软雅黑"/>
                        </a:rPr>
                        <a:t>10</a:t>
                      </a:r>
                    </a:p>
                  </a:txBody>
                  <a:tcPr marL="13716" marR="13716" marT="2743" marB="2743" anchor="ctr">
                    <a:solidFill>
                      <a:srgbClr val="F6F9FC"/>
                    </a:solidFill>
                  </a:tcPr>
                </a:tc>
                <a:tc>
                  <a:txBody>
                    <a:bodyPr/>
                    <a:lstStyle/>
                    <a:p>
                      <a:pPr algn="l">
                        <a:lnSpc>
                          <a:spcPct val="100000"/>
                        </a:lnSpc>
                        <a:spcBef>
                          <a:spcPts val="0"/>
                        </a:spcBef>
                        <a:spcAft>
                          <a:spcPts val="0"/>
                        </a:spcAft>
                      </a:pPr>
                      <a:r>
                        <a:rPr sz="1000" b="0">
                          <a:solidFill>
                            <a:srgbClr val="232D37"/>
                          </a:solidFill>
                          <a:latin typeface="微软雅黑"/>
                          <a:ea typeface="微软雅黑"/>
                        </a:rPr>
                        <a:t>智算中心算力全场景方案综合评估模型｜集团业务/张海龙｜32.32%</a:t>
                      </a:r>
                    </a:p>
                  </a:txBody>
                  <a:tcPr marL="13716" marR="13716" marT="2743" marB="2743" anchor="ctr">
                    <a:solidFill>
                      <a:srgbClr val="F6F9FC"/>
                    </a:solidFill>
                  </a:tcPr>
                </a:tc>
                <a:extLst>
                  <a:ext uri="{0D108BD9-81ED-4DB2-BD59-A6C34878D82A}">
                    <a16:rowId xmlns:a16="http://schemas.microsoft.com/office/drawing/2014/main" val="10010"/>
                  </a:ext>
                </a:extLst>
              </a:tr>
              <a:tr h="182880">
                <a:tc>
                  <a:txBody>
                    <a:bodyPr/>
                    <a:lstStyle/>
                    <a:p>
                      <a:pPr algn="ctr">
                        <a:lnSpc>
                          <a:spcPct val="100000"/>
                        </a:lnSpc>
                        <a:spcBef>
                          <a:spcPts val="0"/>
                        </a:spcBef>
                        <a:spcAft>
                          <a:spcPts val="0"/>
                        </a:spcAft>
                      </a:pPr>
                      <a:r>
                        <a:rPr sz="1000" b="0">
                          <a:solidFill>
                            <a:srgbClr val="232D37"/>
                          </a:solidFill>
                          <a:latin typeface="微软雅黑"/>
                          <a:ea typeface="微软雅黑"/>
                        </a:rPr>
                        <a:t>11</a:t>
                      </a:r>
                    </a:p>
                  </a:txBody>
                  <a:tcPr marL="13716" marR="13716" marT="2743" marB="2743" anchor="ctr">
                    <a:solidFill>
                      <a:srgbClr val="FFFFFF"/>
                    </a:solidFill>
                  </a:tcPr>
                </a:tc>
                <a:tc>
                  <a:txBody>
                    <a:bodyPr/>
                    <a:lstStyle/>
                    <a:p>
                      <a:pPr algn="l">
                        <a:lnSpc>
                          <a:spcPct val="100000"/>
                        </a:lnSpc>
                        <a:spcBef>
                          <a:spcPts val="0"/>
                        </a:spcBef>
                        <a:spcAft>
                          <a:spcPts val="0"/>
                        </a:spcAft>
                      </a:pPr>
                      <a:r>
                        <a:rPr sz="1000" b="0">
                          <a:solidFill>
                            <a:srgbClr val="232D37"/>
                          </a:solidFill>
                          <a:latin typeface="微软雅黑"/>
                          <a:ea typeface="微软雅黑"/>
                        </a:rPr>
                        <a:t>智算中心电力方舱应用研究｜建能院/刘彤彤｜37.80%</a:t>
                      </a:r>
                    </a:p>
                  </a:txBody>
                  <a:tcPr marL="13716" marR="13716" marT="2743" marB="2743" anchor="ctr">
                    <a:solidFill>
                      <a:srgbClr val="FFFFFF"/>
                    </a:solidFill>
                  </a:tcPr>
                </a:tc>
                <a:extLst>
                  <a:ext uri="{0D108BD9-81ED-4DB2-BD59-A6C34878D82A}">
                    <a16:rowId xmlns:a16="http://schemas.microsoft.com/office/drawing/2014/main" val="10011"/>
                  </a:ext>
                </a:extLst>
              </a:tr>
              <a:tr h="182880">
                <a:tc>
                  <a:txBody>
                    <a:bodyPr/>
                    <a:lstStyle/>
                    <a:p>
                      <a:pPr algn="ctr">
                        <a:lnSpc>
                          <a:spcPct val="100000"/>
                        </a:lnSpc>
                        <a:spcBef>
                          <a:spcPts val="0"/>
                        </a:spcBef>
                        <a:spcAft>
                          <a:spcPts val="0"/>
                        </a:spcAft>
                      </a:pPr>
                      <a:r>
                        <a:rPr sz="1000" b="0">
                          <a:solidFill>
                            <a:srgbClr val="232D37"/>
                          </a:solidFill>
                          <a:latin typeface="微软雅黑"/>
                          <a:ea typeface="微软雅黑"/>
                        </a:rPr>
                        <a:t>12</a:t>
                      </a:r>
                    </a:p>
                  </a:txBody>
                  <a:tcPr marL="13716" marR="13716" marT="2743" marB="2743" anchor="ctr">
                    <a:solidFill>
                      <a:srgbClr val="F6F9FC"/>
                    </a:solidFill>
                  </a:tcPr>
                </a:tc>
                <a:tc>
                  <a:txBody>
                    <a:bodyPr/>
                    <a:lstStyle/>
                    <a:p>
                      <a:pPr algn="l">
                        <a:lnSpc>
                          <a:spcPct val="100000"/>
                        </a:lnSpc>
                        <a:spcBef>
                          <a:spcPts val="0"/>
                        </a:spcBef>
                        <a:spcAft>
                          <a:spcPts val="0"/>
                        </a:spcAft>
                      </a:pPr>
                      <a:r>
                        <a:rPr sz="1000" b="0">
                          <a:solidFill>
                            <a:srgbClr val="232D37"/>
                          </a:solidFill>
                          <a:latin typeface="微软雅黑"/>
                          <a:ea typeface="微软雅黑"/>
                        </a:rPr>
                        <a:t>智算中心风液同源空调系统应用研究｜建能院/葛昕｜36.77%</a:t>
                      </a:r>
                    </a:p>
                  </a:txBody>
                  <a:tcPr marL="13716" marR="13716" marT="2743" marB="2743" anchor="ctr">
                    <a:solidFill>
                      <a:srgbClr val="F6F9FC"/>
                    </a:solidFill>
                  </a:tcPr>
                </a:tc>
                <a:extLst>
                  <a:ext uri="{0D108BD9-81ED-4DB2-BD59-A6C34878D82A}">
                    <a16:rowId xmlns:a16="http://schemas.microsoft.com/office/drawing/2014/main" val="10012"/>
                  </a:ext>
                </a:extLst>
              </a:tr>
              <a:tr h="365760">
                <a:tc>
                  <a:txBody>
                    <a:bodyPr/>
                    <a:lstStyle/>
                    <a:p>
                      <a:pPr algn="ctr">
                        <a:lnSpc>
                          <a:spcPct val="100000"/>
                        </a:lnSpc>
                        <a:spcBef>
                          <a:spcPts val="0"/>
                        </a:spcBef>
                        <a:spcAft>
                          <a:spcPts val="0"/>
                        </a:spcAft>
                      </a:pPr>
                      <a:r>
                        <a:rPr sz="1000" b="0">
                          <a:solidFill>
                            <a:srgbClr val="232D37"/>
                          </a:solidFill>
                          <a:latin typeface="微软雅黑"/>
                          <a:ea typeface="微软雅黑"/>
                        </a:rPr>
                        <a:t>13</a:t>
                      </a:r>
                    </a:p>
                  </a:txBody>
                  <a:tcPr marL="13716" marR="13716" marT="2743" marB="2743" anchor="ctr">
                    <a:solidFill>
                      <a:srgbClr val="FFFFFF"/>
                    </a:solidFill>
                  </a:tcPr>
                </a:tc>
                <a:tc>
                  <a:txBody>
                    <a:bodyPr/>
                    <a:lstStyle/>
                    <a:p>
                      <a:pPr algn="l">
                        <a:lnSpc>
                          <a:spcPct val="100000"/>
                        </a:lnSpc>
                        <a:spcBef>
                          <a:spcPts val="0"/>
                        </a:spcBef>
                        <a:spcAft>
                          <a:spcPts val="0"/>
                        </a:spcAft>
                      </a:pPr>
                      <a:r>
                        <a:rPr sz="1000" b="0">
                          <a:solidFill>
                            <a:srgbClr val="232D37"/>
                          </a:solidFill>
                          <a:latin typeface="微软雅黑"/>
                          <a:ea typeface="微软雅黑"/>
                        </a:rPr>
                        <a:t>联通V4.0标准体系下高烈度区数据中心结构方案研究｜建能院/张云轩｜27.74%</a:t>
                      </a:r>
                    </a:p>
                  </a:txBody>
                  <a:tcPr marL="13716" marR="13716" marT="2743" marB="2743" anchor="ctr">
                    <a:solidFill>
                      <a:srgbClr val="FFFFFF"/>
                    </a:solidFill>
                  </a:tcPr>
                </a:tc>
                <a:extLst>
                  <a:ext uri="{0D108BD9-81ED-4DB2-BD59-A6C34878D82A}">
                    <a16:rowId xmlns:a16="http://schemas.microsoft.com/office/drawing/2014/main" val="10013"/>
                  </a:ext>
                </a:extLst>
              </a:tr>
              <a:tr h="182880">
                <a:tc>
                  <a:txBody>
                    <a:bodyPr/>
                    <a:lstStyle/>
                    <a:p>
                      <a:pPr algn="ctr">
                        <a:lnSpc>
                          <a:spcPct val="100000"/>
                        </a:lnSpc>
                        <a:spcBef>
                          <a:spcPts val="0"/>
                        </a:spcBef>
                        <a:spcAft>
                          <a:spcPts val="0"/>
                        </a:spcAft>
                      </a:pPr>
                      <a:r>
                        <a:rPr sz="1000" b="0">
                          <a:solidFill>
                            <a:srgbClr val="232D37"/>
                          </a:solidFill>
                          <a:latin typeface="微软雅黑"/>
                          <a:ea typeface="微软雅黑"/>
                        </a:rPr>
                        <a:t>14</a:t>
                      </a:r>
                    </a:p>
                  </a:txBody>
                  <a:tcPr marL="13716" marR="13716" marT="2743" marB="2743" anchor="ctr">
                    <a:solidFill>
                      <a:srgbClr val="F6F9FC"/>
                    </a:solidFill>
                  </a:tcPr>
                </a:tc>
                <a:tc>
                  <a:txBody>
                    <a:bodyPr/>
                    <a:lstStyle/>
                    <a:p>
                      <a:pPr algn="l">
                        <a:lnSpc>
                          <a:spcPct val="100000"/>
                        </a:lnSpc>
                        <a:spcBef>
                          <a:spcPts val="0"/>
                        </a:spcBef>
                        <a:spcAft>
                          <a:spcPts val="0"/>
                        </a:spcAft>
                      </a:pPr>
                      <a:r>
                        <a:rPr sz="1000" b="0">
                          <a:solidFill>
                            <a:srgbClr val="232D37"/>
                          </a:solidFill>
                          <a:latin typeface="微软雅黑"/>
                          <a:ea typeface="微软雅黑"/>
                        </a:rPr>
                        <a:t>模块化绿色数据中心高效节能解决方案｜建能院/赵磊｜38.88%</a:t>
                      </a:r>
                    </a:p>
                  </a:txBody>
                  <a:tcPr marL="13716" marR="13716" marT="2743" marB="2743" anchor="ctr">
                    <a:solidFill>
                      <a:srgbClr val="F6F9FC"/>
                    </a:solidFill>
                  </a:tcPr>
                </a:tc>
                <a:extLst>
                  <a:ext uri="{0D108BD9-81ED-4DB2-BD59-A6C34878D82A}">
                    <a16:rowId xmlns:a16="http://schemas.microsoft.com/office/drawing/2014/main" val="10014"/>
                  </a:ext>
                </a:extLst>
              </a:tr>
            </a:tbl>
          </a:graphicData>
        </a:graphic>
      </p:graphicFrame>
      <p:graphicFrame>
        <p:nvGraphicFramePr>
          <p:cNvPr id="39" name="Table 38"/>
          <p:cNvGraphicFramePr>
            <a:graphicFrameLocks noGrp="1"/>
          </p:cNvGraphicFramePr>
          <p:nvPr/>
        </p:nvGraphicFramePr>
        <p:xfrm>
          <a:off x="8124444" y="1993392"/>
          <a:ext cx="3698748" cy="4549549"/>
        </p:xfrm>
        <a:graphic>
          <a:graphicData uri="http://schemas.openxmlformats.org/drawingml/2006/table">
            <a:tbl>
              <a:tblPr firstRow="1" bandRow="1">
                <a:tableStyleId>{5C22544A-7EE6-4342-B048-85BDC9FD1C3A}</a:tableStyleId>
              </a:tblPr>
              <a:tblGrid>
                <a:gridCol w="246887">
                  <a:extLst>
                    <a:ext uri="{9D8B030D-6E8A-4147-A177-3AD203B41FA5}">
                      <a16:colId xmlns:a16="http://schemas.microsoft.com/office/drawing/2014/main" val="20000"/>
                    </a:ext>
                  </a:extLst>
                </a:gridCol>
                <a:gridCol w="3451861">
                  <a:extLst>
                    <a:ext uri="{9D8B030D-6E8A-4147-A177-3AD203B41FA5}">
                      <a16:colId xmlns:a16="http://schemas.microsoft.com/office/drawing/2014/main" val="20001"/>
                    </a:ext>
                  </a:extLst>
                </a:gridCol>
              </a:tblGrid>
              <a:tr h="188327">
                <a:tc>
                  <a:txBody>
                    <a:bodyPr/>
                    <a:lstStyle/>
                    <a:p>
                      <a:pPr algn="ctr">
                        <a:lnSpc>
                          <a:spcPct val="100000"/>
                        </a:lnSpc>
                        <a:spcBef>
                          <a:spcPts val="0"/>
                        </a:spcBef>
                        <a:spcAft>
                          <a:spcPts val="0"/>
                        </a:spcAft>
                      </a:pPr>
                      <a:r>
                        <a:rPr sz="1000" b="1">
                          <a:solidFill>
                            <a:srgbClr val="FFFFFF"/>
                          </a:solidFill>
                          <a:latin typeface="微软雅黑"/>
                          <a:ea typeface="微软雅黑"/>
                        </a:rPr>
                        <a:t>序号</a:t>
                      </a:r>
                    </a:p>
                  </a:txBody>
                  <a:tcPr marL="13716" marR="13716" marT="2743" marB="2743" anchor="ctr">
                    <a:solidFill>
                      <a:srgbClr val="0047A0"/>
                    </a:solidFill>
                  </a:tcPr>
                </a:tc>
                <a:tc>
                  <a:txBody>
                    <a:bodyPr/>
                    <a:lstStyle/>
                    <a:p>
                      <a:pPr algn="ctr">
                        <a:lnSpc>
                          <a:spcPct val="100000"/>
                        </a:lnSpc>
                        <a:spcBef>
                          <a:spcPts val="0"/>
                        </a:spcBef>
                        <a:spcAft>
                          <a:spcPts val="0"/>
                        </a:spcAft>
                      </a:pPr>
                      <a:r>
                        <a:rPr sz="1000" b="1">
                          <a:solidFill>
                            <a:srgbClr val="FFFFFF"/>
                          </a:solidFill>
                          <a:latin typeface="微软雅黑"/>
                          <a:ea typeface="微软雅黑"/>
                        </a:rPr>
                        <a:t>项目名称｜部门简称/负责人｜进度</a:t>
                      </a:r>
                    </a:p>
                  </a:txBody>
                  <a:tcPr marL="13716" marR="13716" marT="2743" marB="2743" anchor="ctr">
                    <a:solidFill>
                      <a:srgbClr val="0047A0"/>
                    </a:solidFill>
                  </a:tcPr>
                </a:tc>
                <a:extLst>
                  <a:ext uri="{0D108BD9-81ED-4DB2-BD59-A6C34878D82A}">
                    <a16:rowId xmlns:a16="http://schemas.microsoft.com/office/drawing/2014/main" val="10000"/>
                  </a:ext>
                </a:extLst>
              </a:tr>
              <a:tr h="313879">
                <a:tc>
                  <a:txBody>
                    <a:bodyPr/>
                    <a:lstStyle/>
                    <a:p>
                      <a:pPr algn="ctr">
                        <a:lnSpc>
                          <a:spcPct val="100000"/>
                        </a:lnSpc>
                        <a:spcBef>
                          <a:spcPts val="0"/>
                        </a:spcBef>
                        <a:spcAft>
                          <a:spcPts val="0"/>
                        </a:spcAft>
                      </a:pPr>
                      <a:r>
                        <a:rPr sz="1000" b="0">
                          <a:solidFill>
                            <a:srgbClr val="232D37"/>
                          </a:solidFill>
                          <a:latin typeface="微软雅黑"/>
                          <a:ea typeface="微软雅黑"/>
                        </a:rPr>
                        <a:t>15</a:t>
                      </a:r>
                    </a:p>
                  </a:txBody>
                  <a:tcPr marL="13716" marR="13716" marT="2743" marB="2743" anchor="ctr">
                    <a:solidFill>
                      <a:srgbClr val="FFFFFF"/>
                    </a:solidFill>
                  </a:tcPr>
                </a:tc>
                <a:tc>
                  <a:txBody>
                    <a:bodyPr/>
                    <a:lstStyle/>
                    <a:p>
                      <a:pPr algn="l">
                        <a:lnSpc>
                          <a:spcPct val="100000"/>
                        </a:lnSpc>
                        <a:spcBef>
                          <a:spcPts val="0"/>
                        </a:spcBef>
                        <a:spcAft>
                          <a:spcPts val="0"/>
                        </a:spcAft>
                      </a:pPr>
                      <a:r>
                        <a:rPr sz="1000" b="0">
                          <a:solidFill>
                            <a:srgbClr val="232D37"/>
                          </a:solidFill>
                          <a:latin typeface="微软雅黑"/>
                          <a:ea typeface="微软雅黑"/>
                        </a:rPr>
                        <a:t>智算中心超节点集群的配电部署方式研究｜建能院/刘彤彤｜39.80%</a:t>
                      </a:r>
                    </a:p>
                  </a:txBody>
                  <a:tcPr marL="13716" marR="13716" marT="2743" marB="2743" anchor="ctr">
                    <a:solidFill>
                      <a:srgbClr val="FFFFFF"/>
                    </a:solidFill>
                  </a:tcPr>
                </a:tc>
                <a:extLst>
                  <a:ext uri="{0D108BD9-81ED-4DB2-BD59-A6C34878D82A}">
                    <a16:rowId xmlns:a16="http://schemas.microsoft.com/office/drawing/2014/main" val="10001"/>
                  </a:ext>
                </a:extLst>
              </a:tr>
              <a:tr h="313879">
                <a:tc>
                  <a:txBody>
                    <a:bodyPr/>
                    <a:lstStyle/>
                    <a:p>
                      <a:pPr algn="ctr">
                        <a:lnSpc>
                          <a:spcPct val="100000"/>
                        </a:lnSpc>
                        <a:spcBef>
                          <a:spcPts val="0"/>
                        </a:spcBef>
                        <a:spcAft>
                          <a:spcPts val="0"/>
                        </a:spcAft>
                      </a:pPr>
                      <a:r>
                        <a:rPr sz="1000" b="0">
                          <a:solidFill>
                            <a:srgbClr val="232D37"/>
                          </a:solidFill>
                          <a:latin typeface="微软雅黑"/>
                          <a:ea typeface="微软雅黑"/>
                        </a:rPr>
                        <a:t>16</a:t>
                      </a:r>
                    </a:p>
                  </a:txBody>
                  <a:tcPr marL="13716" marR="13716" marT="2743" marB="2743" anchor="ctr">
                    <a:solidFill>
                      <a:srgbClr val="F6F9FC"/>
                    </a:solidFill>
                  </a:tcPr>
                </a:tc>
                <a:tc>
                  <a:txBody>
                    <a:bodyPr/>
                    <a:lstStyle/>
                    <a:p>
                      <a:pPr algn="l">
                        <a:lnSpc>
                          <a:spcPct val="100000"/>
                        </a:lnSpc>
                        <a:spcBef>
                          <a:spcPts val="0"/>
                        </a:spcBef>
                        <a:spcAft>
                          <a:spcPts val="0"/>
                        </a:spcAft>
                      </a:pPr>
                      <a:r>
                        <a:rPr sz="1000" b="0">
                          <a:solidFill>
                            <a:srgbClr val="232D37"/>
                          </a:solidFill>
                          <a:latin typeface="微软雅黑"/>
                          <a:ea typeface="微软雅黑"/>
                        </a:rPr>
                        <a:t>基于神经符号AI与领域本体的智算中心设计决策智能体关键技术研究｜建能院/郑涛｜31.22%</a:t>
                      </a:r>
                    </a:p>
                  </a:txBody>
                  <a:tcPr marL="13716" marR="13716" marT="2743" marB="2743" anchor="ctr">
                    <a:solidFill>
                      <a:srgbClr val="F6F9FC"/>
                    </a:solidFill>
                  </a:tcPr>
                </a:tc>
                <a:extLst>
                  <a:ext uri="{0D108BD9-81ED-4DB2-BD59-A6C34878D82A}">
                    <a16:rowId xmlns:a16="http://schemas.microsoft.com/office/drawing/2014/main" val="10002"/>
                  </a:ext>
                </a:extLst>
              </a:tr>
              <a:tr h="313879">
                <a:tc>
                  <a:txBody>
                    <a:bodyPr/>
                    <a:lstStyle/>
                    <a:p>
                      <a:pPr algn="ctr">
                        <a:lnSpc>
                          <a:spcPct val="100000"/>
                        </a:lnSpc>
                        <a:spcBef>
                          <a:spcPts val="0"/>
                        </a:spcBef>
                        <a:spcAft>
                          <a:spcPts val="0"/>
                        </a:spcAft>
                      </a:pPr>
                      <a:r>
                        <a:rPr sz="1000" b="0">
                          <a:solidFill>
                            <a:srgbClr val="232D37"/>
                          </a:solidFill>
                          <a:latin typeface="微软雅黑"/>
                          <a:ea typeface="微软雅黑"/>
                        </a:rPr>
                        <a:t>17</a:t>
                      </a:r>
                    </a:p>
                  </a:txBody>
                  <a:tcPr marL="13716" marR="13716" marT="2743" marB="2743" anchor="ctr">
                    <a:solidFill>
                      <a:srgbClr val="FFFFFF"/>
                    </a:solidFill>
                  </a:tcPr>
                </a:tc>
                <a:tc>
                  <a:txBody>
                    <a:bodyPr/>
                    <a:lstStyle/>
                    <a:p>
                      <a:pPr algn="l">
                        <a:lnSpc>
                          <a:spcPct val="100000"/>
                        </a:lnSpc>
                        <a:spcBef>
                          <a:spcPts val="0"/>
                        </a:spcBef>
                        <a:spcAft>
                          <a:spcPts val="0"/>
                        </a:spcAft>
                      </a:pPr>
                      <a:r>
                        <a:rPr sz="1000" b="0">
                          <a:solidFill>
                            <a:srgbClr val="232D37"/>
                          </a:solidFill>
                          <a:latin typeface="微软雅黑"/>
                          <a:ea typeface="微软雅黑"/>
                        </a:rPr>
                        <a:t>-特殊训练数据智能评估模型应用体系研究｜重点业务/冯九龙｜29.05%</a:t>
                      </a:r>
                    </a:p>
                  </a:txBody>
                  <a:tcPr marL="13716" marR="13716" marT="2743" marB="2743" anchor="ctr">
                    <a:solidFill>
                      <a:srgbClr val="FFFFFF"/>
                    </a:solidFill>
                  </a:tcPr>
                </a:tc>
                <a:extLst>
                  <a:ext uri="{0D108BD9-81ED-4DB2-BD59-A6C34878D82A}">
                    <a16:rowId xmlns:a16="http://schemas.microsoft.com/office/drawing/2014/main" val="10003"/>
                  </a:ext>
                </a:extLst>
              </a:tr>
              <a:tr h="313879">
                <a:tc>
                  <a:txBody>
                    <a:bodyPr/>
                    <a:lstStyle/>
                    <a:p>
                      <a:pPr algn="ctr">
                        <a:lnSpc>
                          <a:spcPct val="100000"/>
                        </a:lnSpc>
                        <a:spcBef>
                          <a:spcPts val="0"/>
                        </a:spcBef>
                        <a:spcAft>
                          <a:spcPts val="0"/>
                        </a:spcAft>
                      </a:pPr>
                      <a:r>
                        <a:rPr sz="1000" b="0">
                          <a:solidFill>
                            <a:srgbClr val="232D37"/>
                          </a:solidFill>
                          <a:latin typeface="微软雅黑"/>
                          <a:ea typeface="微软雅黑"/>
                        </a:rPr>
                        <a:t>18</a:t>
                      </a:r>
                    </a:p>
                  </a:txBody>
                  <a:tcPr marL="13716" marR="13716" marT="2743" marB="2743" anchor="ctr">
                    <a:solidFill>
                      <a:srgbClr val="F6F9FC"/>
                    </a:solidFill>
                  </a:tcPr>
                </a:tc>
                <a:tc>
                  <a:txBody>
                    <a:bodyPr/>
                    <a:lstStyle/>
                    <a:p>
                      <a:pPr algn="l">
                        <a:lnSpc>
                          <a:spcPct val="100000"/>
                        </a:lnSpc>
                        <a:spcBef>
                          <a:spcPts val="0"/>
                        </a:spcBef>
                        <a:spcAft>
                          <a:spcPts val="0"/>
                        </a:spcAft>
                      </a:pPr>
                      <a:r>
                        <a:rPr sz="1000" b="0">
                          <a:solidFill>
                            <a:srgbClr val="232D37"/>
                          </a:solidFill>
                          <a:latin typeface="微软雅黑"/>
                          <a:ea typeface="微软雅黑"/>
                        </a:rPr>
                        <a:t>AI+大模型驱动的菜品营养分析及个性化推荐研究｜智慧院/刘亭,王娟｜40.41%</a:t>
                      </a:r>
                    </a:p>
                  </a:txBody>
                  <a:tcPr marL="13716" marR="13716" marT="2743" marB="2743" anchor="ctr">
                    <a:solidFill>
                      <a:srgbClr val="F6F9FC"/>
                    </a:solidFill>
                  </a:tcPr>
                </a:tc>
                <a:extLst>
                  <a:ext uri="{0D108BD9-81ED-4DB2-BD59-A6C34878D82A}">
                    <a16:rowId xmlns:a16="http://schemas.microsoft.com/office/drawing/2014/main" val="10004"/>
                  </a:ext>
                </a:extLst>
              </a:tr>
              <a:tr h="313879">
                <a:tc>
                  <a:txBody>
                    <a:bodyPr/>
                    <a:lstStyle/>
                    <a:p>
                      <a:pPr algn="ctr">
                        <a:lnSpc>
                          <a:spcPct val="100000"/>
                        </a:lnSpc>
                        <a:spcBef>
                          <a:spcPts val="0"/>
                        </a:spcBef>
                        <a:spcAft>
                          <a:spcPts val="0"/>
                        </a:spcAft>
                      </a:pPr>
                      <a:r>
                        <a:rPr sz="1000" b="0">
                          <a:solidFill>
                            <a:srgbClr val="232D37"/>
                          </a:solidFill>
                          <a:latin typeface="微软雅黑"/>
                          <a:ea typeface="微软雅黑"/>
                        </a:rPr>
                        <a:t>19</a:t>
                      </a:r>
                    </a:p>
                  </a:txBody>
                  <a:tcPr marL="13716" marR="13716" marT="2743" marB="2743" anchor="ctr">
                    <a:solidFill>
                      <a:srgbClr val="FFFFFF"/>
                    </a:solidFill>
                  </a:tcPr>
                </a:tc>
                <a:tc>
                  <a:txBody>
                    <a:bodyPr/>
                    <a:lstStyle/>
                    <a:p>
                      <a:pPr algn="l">
                        <a:lnSpc>
                          <a:spcPct val="100000"/>
                        </a:lnSpc>
                        <a:spcBef>
                          <a:spcPts val="0"/>
                        </a:spcBef>
                        <a:spcAft>
                          <a:spcPts val="0"/>
                        </a:spcAft>
                      </a:pPr>
                      <a:r>
                        <a:rPr sz="1000" b="0">
                          <a:solidFill>
                            <a:srgbClr val="232D37"/>
                          </a:solidFill>
                          <a:latin typeface="微软雅黑"/>
                          <a:ea typeface="微软雅黑"/>
                        </a:rPr>
                        <a:t>基于行业知识增强的水利大模型构建方法与智能决策应用研究｜智慧院/王志东｜35.21%</a:t>
                      </a:r>
                    </a:p>
                  </a:txBody>
                  <a:tcPr marL="13716" marR="13716" marT="2743" marB="2743" anchor="ctr">
                    <a:solidFill>
                      <a:srgbClr val="FFFFFF"/>
                    </a:solidFill>
                  </a:tcPr>
                </a:tc>
                <a:extLst>
                  <a:ext uri="{0D108BD9-81ED-4DB2-BD59-A6C34878D82A}">
                    <a16:rowId xmlns:a16="http://schemas.microsoft.com/office/drawing/2014/main" val="10005"/>
                  </a:ext>
                </a:extLst>
              </a:tr>
              <a:tr h="313879">
                <a:tc>
                  <a:txBody>
                    <a:bodyPr/>
                    <a:lstStyle/>
                    <a:p>
                      <a:pPr algn="ctr">
                        <a:lnSpc>
                          <a:spcPct val="100000"/>
                        </a:lnSpc>
                        <a:spcBef>
                          <a:spcPts val="0"/>
                        </a:spcBef>
                        <a:spcAft>
                          <a:spcPts val="0"/>
                        </a:spcAft>
                      </a:pPr>
                      <a:r>
                        <a:rPr sz="1000" b="0">
                          <a:solidFill>
                            <a:srgbClr val="232D37"/>
                          </a:solidFill>
                          <a:latin typeface="微软雅黑"/>
                          <a:ea typeface="微软雅黑"/>
                        </a:rPr>
                        <a:t>20</a:t>
                      </a:r>
                    </a:p>
                  </a:txBody>
                  <a:tcPr marL="13716" marR="13716" marT="2743" marB="2743" anchor="ctr">
                    <a:solidFill>
                      <a:srgbClr val="F6F9FC"/>
                    </a:solidFill>
                  </a:tcPr>
                </a:tc>
                <a:tc>
                  <a:txBody>
                    <a:bodyPr/>
                    <a:lstStyle/>
                    <a:p>
                      <a:pPr algn="l">
                        <a:lnSpc>
                          <a:spcPct val="100000"/>
                        </a:lnSpc>
                        <a:spcBef>
                          <a:spcPts val="0"/>
                        </a:spcBef>
                        <a:spcAft>
                          <a:spcPts val="0"/>
                        </a:spcAft>
                      </a:pPr>
                      <a:r>
                        <a:rPr sz="1000" b="0">
                          <a:solidFill>
                            <a:srgbClr val="232D37"/>
                          </a:solidFill>
                          <a:latin typeface="微软雅黑"/>
                          <a:ea typeface="微软雅黑"/>
                        </a:rPr>
                        <a:t>大模型赋能公安视频图像智能应用体系研究｜北京/宋攀,石欣欣｜28.67%</a:t>
                      </a:r>
                    </a:p>
                  </a:txBody>
                  <a:tcPr marL="13716" marR="13716" marT="2743" marB="2743" anchor="ctr">
                    <a:solidFill>
                      <a:srgbClr val="F6F9FC"/>
                    </a:solidFill>
                  </a:tcPr>
                </a:tc>
                <a:extLst>
                  <a:ext uri="{0D108BD9-81ED-4DB2-BD59-A6C34878D82A}">
                    <a16:rowId xmlns:a16="http://schemas.microsoft.com/office/drawing/2014/main" val="10006"/>
                  </a:ext>
                </a:extLst>
              </a:tr>
              <a:tr h="156939">
                <a:tc>
                  <a:txBody>
                    <a:bodyPr/>
                    <a:lstStyle/>
                    <a:p>
                      <a:pPr algn="ctr">
                        <a:lnSpc>
                          <a:spcPct val="100000"/>
                        </a:lnSpc>
                        <a:spcBef>
                          <a:spcPts val="0"/>
                        </a:spcBef>
                        <a:spcAft>
                          <a:spcPts val="0"/>
                        </a:spcAft>
                      </a:pPr>
                      <a:r>
                        <a:rPr sz="1000" b="0">
                          <a:solidFill>
                            <a:srgbClr val="232D37"/>
                          </a:solidFill>
                          <a:latin typeface="微软雅黑"/>
                          <a:ea typeface="微软雅黑"/>
                        </a:rPr>
                        <a:t>21</a:t>
                      </a:r>
                    </a:p>
                  </a:txBody>
                  <a:tcPr marL="13716" marR="13716" marT="2743" marB="2743" anchor="ctr">
                    <a:solidFill>
                      <a:srgbClr val="FFFFFF"/>
                    </a:solidFill>
                  </a:tcPr>
                </a:tc>
                <a:tc>
                  <a:txBody>
                    <a:bodyPr/>
                    <a:lstStyle/>
                    <a:p>
                      <a:pPr algn="l">
                        <a:lnSpc>
                          <a:spcPct val="100000"/>
                        </a:lnSpc>
                        <a:spcBef>
                          <a:spcPts val="0"/>
                        </a:spcBef>
                        <a:spcAft>
                          <a:spcPts val="0"/>
                        </a:spcAft>
                      </a:pPr>
                      <a:r>
                        <a:rPr sz="1000" b="0">
                          <a:solidFill>
                            <a:srgbClr val="232D37"/>
                          </a:solidFill>
                          <a:latin typeface="微软雅黑"/>
                          <a:ea typeface="微软雅黑"/>
                        </a:rPr>
                        <a:t>AI+综合执法应用研究｜咨询中心/石芳芳｜32.56%</a:t>
                      </a:r>
                    </a:p>
                  </a:txBody>
                  <a:tcPr marL="13716" marR="13716" marT="2743" marB="2743" anchor="ctr">
                    <a:solidFill>
                      <a:srgbClr val="FFFFFF"/>
                    </a:solidFill>
                  </a:tcPr>
                </a:tc>
                <a:extLst>
                  <a:ext uri="{0D108BD9-81ED-4DB2-BD59-A6C34878D82A}">
                    <a16:rowId xmlns:a16="http://schemas.microsoft.com/office/drawing/2014/main" val="10007"/>
                  </a:ext>
                </a:extLst>
              </a:tr>
              <a:tr h="313879">
                <a:tc>
                  <a:txBody>
                    <a:bodyPr/>
                    <a:lstStyle/>
                    <a:p>
                      <a:pPr algn="ctr">
                        <a:lnSpc>
                          <a:spcPct val="100000"/>
                        </a:lnSpc>
                        <a:spcBef>
                          <a:spcPts val="0"/>
                        </a:spcBef>
                        <a:spcAft>
                          <a:spcPts val="0"/>
                        </a:spcAft>
                      </a:pPr>
                      <a:r>
                        <a:rPr sz="1000" b="0">
                          <a:solidFill>
                            <a:srgbClr val="232D37"/>
                          </a:solidFill>
                          <a:latin typeface="微软雅黑"/>
                          <a:ea typeface="微软雅黑"/>
                        </a:rPr>
                        <a:t>22</a:t>
                      </a:r>
                    </a:p>
                  </a:txBody>
                  <a:tcPr marL="13716" marR="13716" marT="2743" marB="2743" anchor="ctr">
                    <a:solidFill>
                      <a:srgbClr val="F6F9FC"/>
                    </a:solidFill>
                  </a:tcPr>
                </a:tc>
                <a:tc>
                  <a:txBody>
                    <a:bodyPr/>
                    <a:lstStyle/>
                    <a:p>
                      <a:pPr algn="l">
                        <a:lnSpc>
                          <a:spcPct val="100000"/>
                        </a:lnSpc>
                        <a:spcBef>
                          <a:spcPts val="0"/>
                        </a:spcBef>
                        <a:spcAft>
                          <a:spcPts val="0"/>
                        </a:spcAft>
                      </a:pPr>
                      <a:r>
                        <a:rPr sz="1000" b="0">
                          <a:solidFill>
                            <a:srgbClr val="232D37"/>
                          </a:solidFill>
                          <a:latin typeface="微软雅黑"/>
                          <a:ea typeface="微软雅黑"/>
                        </a:rPr>
                        <a:t>基于AI的光纤故障预测与微波备用链路智能倒换策略研究｜智慧院/李爽｜41.12%</a:t>
                      </a:r>
                    </a:p>
                  </a:txBody>
                  <a:tcPr marL="13716" marR="13716" marT="2743" marB="2743" anchor="ctr">
                    <a:solidFill>
                      <a:srgbClr val="F6F9FC"/>
                    </a:solidFill>
                  </a:tcPr>
                </a:tc>
                <a:extLst>
                  <a:ext uri="{0D108BD9-81ED-4DB2-BD59-A6C34878D82A}">
                    <a16:rowId xmlns:a16="http://schemas.microsoft.com/office/drawing/2014/main" val="10008"/>
                  </a:ext>
                </a:extLst>
              </a:tr>
              <a:tr h="313879">
                <a:tc>
                  <a:txBody>
                    <a:bodyPr/>
                    <a:lstStyle/>
                    <a:p>
                      <a:pPr algn="ctr">
                        <a:lnSpc>
                          <a:spcPct val="100000"/>
                        </a:lnSpc>
                        <a:spcBef>
                          <a:spcPts val="0"/>
                        </a:spcBef>
                        <a:spcAft>
                          <a:spcPts val="0"/>
                        </a:spcAft>
                      </a:pPr>
                      <a:r>
                        <a:rPr sz="1000" b="0">
                          <a:solidFill>
                            <a:srgbClr val="232D37"/>
                          </a:solidFill>
                          <a:latin typeface="微软雅黑"/>
                          <a:ea typeface="微软雅黑"/>
                        </a:rPr>
                        <a:t>23</a:t>
                      </a:r>
                    </a:p>
                  </a:txBody>
                  <a:tcPr marL="13716" marR="13716" marT="2743" marB="2743" anchor="ctr">
                    <a:solidFill>
                      <a:srgbClr val="FFFFFF"/>
                    </a:solidFill>
                  </a:tcPr>
                </a:tc>
                <a:tc>
                  <a:txBody>
                    <a:bodyPr/>
                    <a:lstStyle/>
                    <a:p>
                      <a:pPr algn="l">
                        <a:lnSpc>
                          <a:spcPct val="100000"/>
                        </a:lnSpc>
                        <a:spcBef>
                          <a:spcPts val="0"/>
                        </a:spcBef>
                        <a:spcAft>
                          <a:spcPts val="0"/>
                        </a:spcAft>
                      </a:pPr>
                      <a:r>
                        <a:rPr sz="1000" b="0">
                          <a:solidFill>
                            <a:srgbClr val="232D37"/>
                          </a:solidFill>
                          <a:latin typeface="微软雅黑"/>
                          <a:ea typeface="微软雅黑"/>
                        </a:rPr>
                        <a:t>基于“对象关系图谱”技术的排污口智能溯源研究｜智慧院/刘风雨｜28.73%</a:t>
                      </a:r>
                    </a:p>
                  </a:txBody>
                  <a:tcPr marL="13716" marR="13716" marT="2743" marB="2743" anchor="ctr">
                    <a:solidFill>
                      <a:srgbClr val="FFFFFF"/>
                    </a:solidFill>
                  </a:tcPr>
                </a:tc>
                <a:extLst>
                  <a:ext uri="{0D108BD9-81ED-4DB2-BD59-A6C34878D82A}">
                    <a16:rowId xmlns:a16="http://schemas.microsoft.com/office/drawing/2014/main" val="10009"/>
                  </a:ext>
                </a:extLst>
              </a:tr>
              <a:tr h="156939">
                <a:tc>
                  <a:txBody>
                    <a:bodyPr/>
                    <a:lstStyle/>
                    <a:p>
                      <a:pPr algn="ctr">
                        <a:lnSpc>
                          <a:spcPct val="100000"/>
                        </a:lnSpc>
                        <a:spcBef>
                          <a:spcPts val="0"/>
                        </a:spcBef>
                        <a:spcAft>
                          <a:spcPts val="0"/>
                        </a:spcAft>
                      </a:pPr>
                      <a:r>
                        <a:rPr sz="1000" b="0">
                          <a:solidFill>
                            <a:srgbClr val="232D37"/>
                          </a:solidFill>
                          <a:latin typeface="微软雅黑"/>
                          <a:ea typeface="微软雅黑"/>
                        </a:rPr>
                        <a:t>24</a:t>
                      </a:r>
                    </a:p>
                  </a:txBody>
                  <a:tcPr marL="13716" marR="13716" marT="2743" marB="2743" anchor="ctr">
                    <a:solidFill>
                      <a:srgbClr val="F6F9FC"/>
                    </a:solidFill>
                  </a:tcPr>
                </a:tc>
                <a:tc>
                  <a:txBody>
                    <a:bodyPr/>
                    <a:lstStyle/>
                    <a:p>
                      <a:pPr algn="l">
                        <a:lnSpc>
                          <a:spcPct val="100000"/>
                        </a:lnSpc>
                        <a:spcBef>
                          <a:spcPts val="0"/>
                        </a:spcBef>
                        <a:spcAft>
                          <a:spcPts val="0"/>
                        </a:spcAft>
                      </a:pPr>
                      <a:r>
                        <a:rPr sz="1000" b="0">
                          <a:solidFill>
                            <a:srgbClr val="232D37"/>
                          </a:solidFill>
                          <a:latin typeface="微软雅黑"/>
                          <a:ea typeface="微软雅黑"/>
                        </a:rPr>
                        <a:t>电信行业后评价体系研究｜咨询中心/高云鹤｜35.48%</a:t>
                      </a:r>
                    </a:p>
                  </a:txBody>
                  <a:tcPr marL="13716" marR="13716" marT="2743" marB="2743" anchor="ctr">
                    <a:solidFill>
                      <a:srgbClr val="F6F9FC"/>
                    </a:solidFill>
                  </a:tcPr>
                </a:tc>
                <a:extLst>
                  <a:ext uri="{0D108BD9-81ED-4DB2-BD59-A6C34878D82A}">
                    <a16:rowId xmlns:a16="http://schemas.microsoft.com/office/drawing/2014/main" val="10010"/>
                  </a:ext>
                </a:extLst>
              </a:tr>
              <a:tr h="313879">
                <a:tc>
                  <a:txBody>
                    <a:bodyPr/>
                    <a:lstStyle/>
                    <a:p>
                      <a:pPr algn="ctr">
                        <a:lnSpc>
                          <a:spcPct val="100000"/>
                        </a:lnSpc>
                        <a:spcBef>
                          <a:spcPts val="0"/>
                        </a:spcBef>
                        <a:spcAft>
                          <a:spcPts val="0"/>
                        </a:spcAft>
                      </a:pPr>
                      <a:r>
                        <a:rPr sz="1000" b="0">
                          <a:solidFill>
                            <a:srgbClr val="232D37"/>
                          </a:solidFill>
                          <a:latin typeface="微软雅黑"/>
                          <a:ea typeface="微软雅黑"/>
                        </a:rPr>
                        <a:t>25</a:t>
                      </a:r>
                    </a:p>
                  </a:txBody>
                  <a:tcPr marL="13716" marR="13716" marT="2743" marB="2743" anchor="ctr">
                    <a:solidFill>
                      <a:srgbClr val="FFFFFF"/>
                    </a:solidFill>
                  </a:tcPr>
                </a:tc>
                <a:tc>
                  <a:txBody>
                    <a:bodyPr/>
                    <a:lstStyle/>
                    <a:p>
                      <a:pPr algn="l">
                        <a:lnSpc>
                          <a:spcPct val="100000"/>
                        </a:lnSpc>
                        <a:spcBef>
                          <a:spcPts val="0"/>
                        </a:spcBef>
                        <a:spcAft>
                          <a:spcPts val="0"/>
                        </a:spcAft>
                      </a:pPr>
                      <a:r>
                        <a:rPr sz="1000" b="0">
                          <a:solidFill>
                            <a:srgbClr val="232D37"/>
                          </a:solidFill>
                          <a:latin typeface="微软雅黑"/>
                          <a:ea typeface="微软雅黑"/>
                        </a:rPr>
                        <a:t>运营商大力投资算力基础设施的战略意义研究｜咨询中心/李锐昌｜37.09%</a:t>
                      </a:r>
                    </a:p>
                  </a:txBody>
                  <a:tcPr marL="13716" marR="13716" marT="2743" marB="2743" anchor="ctr">
                    <a:solidFill>
                      <a:srgbClr val="FFFFFF"/>
                    </a:solidFill>
                  </a:tcPr>
                </a:tc>
                <a:extLst>
                  <a:ext uri="{0D108BD9-81ED-4DB2-BD59-A6C34878D82A}">
                    <a16:rowId xmlns:a16="http://schemas.microsoft.com/office/drawing/2014/main" val="10011"/>
                  </a:ext>
                </a:extLst>
              </a:tr>
              <a:tr h="313879">
                <a:tc>
                  <a:txBody>
                    <a:bodyPr/>
                    <a:lstStyle/>
                    <a:p>
                      <a:pPr algn="ctr">
                        <a:lnSpc>
                          <a:spcPct val="100000"/>
                        </a:lnSpc>
                        <a:spcBef>
                          <a:spcPts val="0"/>
                        </a:spcBef>
                        <a:spcAft>
                          <a:spcPts val="0"/>
                        </a:spcAft>
                      </a:pPr>
                      <a:r>
                        <a:rPr sz="1000" b="0">
                          <a:solidFill>
                            <a:srgbClr val="232D37"/>
                          </a:solidFill>
                          <a:latin typeface="微软雅黑"/>
                          <a:ea typeface="微软雅黑"/>
                        </a:rPr>
                        <a:t>26</a:t>
                      </a:r>
                    </a:p>
                  </a:txBody>
                  <a:tcPr marL="13716" marR="13716" marT="2743" marB="2743" anchor="ctr">
                    <a:solidFill>
                      <a:srgbClr val="F6F9FC"/>
                    </a:solidFill>
                  </a:tcPr>
                </a:tc>
                <a:tc>
                  <a:txBody>
                    <a:bodyPr/>
                    <a:lstStyle/>
                    <a:p>
                      <a:pPr algn="l">
                        <a:lnSpc>
                          <a:spcPct val="100000"/>
                        </a:lnSpc>
                        <a:spcBef>
                          <a:spcPts val="0"/>
                        </a:spcBef>
                        <a:spcAft>
                          <a:spcPts val="0"/>
                        </a:spcAft>
                      </a:pPr>
                      <a:r>
                        <a:rPr sz="1000" b="0">
                          <a:solidFill>
                            <a:srgbClr val="232D37"/>
                          </a:solidFill>
                          <a:latin typeface="微软雅黑"/>
                          <a:ea typeface="微软雅黑"/>
                        </a:rPr>
                        <a:t>DZJ通信承载专网技术发展及应用研究（结转）｜重点业务/陈达伟｜29.72%</a:t>
                      </a:r>
                    </a:p>
                  </a:txBody>
                  <a:tcPr marL="13716" marR="13716" marT="2743" marB="2743" anchor="ctr">
                    <a:solidFill>
                      <a:srgbClr val="F6F9FC"/>
                    </a:solidFill>
                  </a:tcPr>
                </a:tc>
                <a:extLst>
                  <a:ext uri="{0D108BD9-81ED-4DB2-BD59-A6C34878D82A}">
                    <a16:rowId xmlns:a16="http://schemas.microsoft.com/office/drawing/2014/main" val="10012"/>
                  </a:ext>
                </a:extLst>
              </a:tr>
              <a:tr h="313879">
                <a:tc>
                  <a:txBody>
                    <a:bodyPr/>
                    <a:lstStyle/>
                    <a:p>
                      <a:pPr algn="ctr">
                        <a:lnSpc>
                          <a:spcPct val="100000"/>
                        </a:lnSpc>
                        <a:spcBef>
                          <a:spcPts val="0"/>
                        </a:spcBef>
                        <a:spcAft>
                          <a:spcPts val="0"/>
                        </a:spcAft>
                      </a:pPr>
                      <a:r>
                        <a:rPr sz="1000" b="0">
                          <a:solidFill>
                            <a:srgbClr val="232D37"/>
                          </a:solidFill>
                          <a:latin typeface="微软雅黑"/>
                          <a:ea typeface="微软雅黑"/>
                        </a:rPr>
                        <a:t>27</a:t>
                      </a:r>
                    </a:p>
                  </a:txBody>
                  <a:tcPr marL="13716" marR="13716" marT="2743" marB="2743" anchor="ctr">
                    <a:solidFill>
                      <a:srgbClr val="FFFFFF"/>
                    </a:solidFill>
                  </a:tcPr>
                </a:tc>
                <a:tc>
                  <a:txBody>
                    <a:bodyPr/>
                    <a:lstStyle/>
                    <a:p>
                      <a:pPr algn="l">
                        <a:lnSpc>
                          <a:spcPct val="100000"/>
                        </a:lnSpc>
                        <a:spcBef>
                          <a:spcPts val="0"/>
                        </a:spcBef>
                        <a:spcAft>
                          <a:spcPts val="0"/>
                        </a:spcAft>
                      </a:pPr>
                      <a:r>
                        <a:rPr sz="1000" b="0">
                          <a:solidFill>
                            <a:srgbClr val="232D37"/>
                          </a:solidFill>
                          <a:latin typeface="微软雅黑"/>
                          <a:ea typeface="微软雅黑"/>
                        </a:rPr>
                        <a:t>低空基础设施智能站址规划研发项目｜北京/桑桥｜12.55 （补立项）%</a:t>
                      </a:r>
                    </a:p>
                  </a:txBody>
                  <a:tcPr marL="13716" marR="13716" marT="2743" marB="2743" anchor="ctr">
                    <a:solidFill>
                      <a:srgbClr val="FFFFFF"/>
                    </a:solidFill>
                  </a:tcPr>
                </a:tc>
                <a:extLst>
                  <a:ext uri="{0D108BD9-81ED-4DB2-BD59-A6C34878D82A}">
                    <a16:rowId xmlns:a16="http://schemas.microsoft.com/office/drawing/2014/main" val="10013"/>
                  </a:ext>
                </a:extLst>
              </a:tr>
              <a:tr h="470822">
                <a:tc>
                  <a:txBody>
                    <a:bodyPr/>
                    <a:lstStyle/>
                    <a:p>
                      <a:pPr algn="ctr">
                        <a:lnSpc>
                          <a:spcPct val="100000"/>
                        </a:lnSpc>
                        <a:spcBef>
                          <a:spcPts val="0"/>
                        </a:spcBef>
                        <a:spcAft>
                          <a:spcPts val="0"/>
                        </a:spcAft>
                      </a:pPr>
                      <a:r>
                        <a:rPr sz="1000" b="0">
                          <a:solidFill>
                            <a:srgbClr val="232D37"/>
                          </a:solidFill>
                          <a:latin typeface="微软雅黑"/>
                          <a:ea typeface="微软雅黑"/>
                        </a:rPr>
                        <a:t>28</a:t>
                      </a:r>
                    </a:p>
                  </a:txBody>
                  <a:tcPr marL="13716" marR="13716" marT="2743" marB="2743" anchor="ctr">
                    <a:solidFill>
                      <a:srgbClr val="F6F9FC"/>
                    </a:solidFill>
                  </a:tcPr>
                </a:tc>
                <a:tc>
                  <a:txBody>
                    <a:bodyPr/>
                    <a:lstStyle/>
                    <a:p>
                      <a:pPr algn="l">
                        <a:lnSpc>
                          <a:spcPct val="100000"/>
                        </a:lnSpc>
                        <a:spcBef>
                          <a:spcPts val="0"/>
                        </a:spcBef>
                        <a:spcAft>
                          <a:spcPts val="0"/>
                        </a:spcAft>
                      </a:pPr>
                      <a:r>
                        <a:rPr sz="1000" b="0">
                          <a:solidFill>
                            <a:srgbClr val="232D37"/>
                          </a:solidFill>
                          <a:latin typeface="微软雅黑"/>
                          <a:ea typeface="微软雅黑"/>
                        </a:rPr>
                        <a:t>Agentic AI时代下家庭场景超级个体崛起对中国联通宽带网络的影响分析及前瞻布局研究｜咨询中心/陶咏志,张叶卓｜18.95 （补立项）%</a:t>
                      </a:r>
                    </a:p>
                  </a:txBody>
                  <a:tcPr marL="13716" marR="13716" marT="2743" marB="2743" anchor="ctr">
                    <a:solidFill>
                      <a:srgbClr val="F6F9FC"/>
                    </a:solidFill>
                  </a:tcPr>
                </a:tc>
                <a:extLst>
                  <a:ext uri="{0D108BD9-81ED-4DB2-BD59-A6C34878D82A}">
                    <a16:rowId xmlns:a16="http://schemas.microsoft.com/office/drawing/2014/main" val="10014"/>
                  </a:ext>
                </a:extLst>
              </a:tr>
            </a:tbl>
          </a:graphicData>
        </a:graphic>
      </p:graphicFrame>
      <p:graphicFrame>
        <p:nvGraphicFramePr>
          <p:cNvPr id="40" name="Table 39"/>
          <p:cNvGraphicFramePr>
            <a:graphicFrameLocks noGrp="1"/>
          </p:cNvGraphicFramePr>
          <p:nvPr/>
        </p:nvGraphicFramePr>
        <p:xfrm>
          <a:off x="347472" y="1755648"/>
          <a:ext cx="3886200" cy="2644508"/>
        </p:xfrm>
        <a:graphic>
          <a:graphicData uri="http://schemas.openxmlformats.org/drawingml/2006/table">
            <a:tbl>
              <a:tblPr firstRow="1" bandRow="1">
                <a:tableStyleId>{5C22544A-7EE6-4342-B048-85BDC9FD1C3A}</a:tableStyleId>
              </a:tblPr>
              <a:tblGrid>
                <a:gridCol w="777240">
                  <a:extLst>
                    <a:ext uri="{9D8B030D-6E8A-4147-A177-3AD203B41FA5}">
                      <a16:colId xmlns:a16="http://schemas.microsoft.com/office/drawing/2014/main" val="20000"/>
                    </a:ext>
                  </a:extLst>
                </a:gridCol>
                <a:gridCol w="2331720">
                  <a:extLst>
                    <a:ext uri="{9D8B030D-6E8A-4147-A177-3AD203B41FA5}">
                      <a16:colId xmlns:a16="http://schemas.microsoft.com/office/drawing/2014/main" val="20001"/>
                    </a:ext>
                  </a:extLst>
                </a:gridCol>
                <a:gridCol w="777240">
                  <a:extLst>
                    <a:ext uri="{9D8B030D-6E8A-4147-A177-3AD203B41FA5}">
                      <a16:colId xmlns:a16="http://schemas.microsoft.com/office/drawing/2014/main" val="20002"/>
                    </a:ext>
                  </a:extLst>
                </a:gridCol>
              </a:tblGrid>
              <a:tr h="162220">
                <a:tc>
                  <a:txBody>
                    <a:bodyPr/>
                    <a:lstStyle/>
                    <a:p>
                      <a:pPr algn="ctr">
                        <a:lnSpc>
                          <a:spcPct val="100000"/>
                        </a:lnSpc>
                        <a:spcBef>
                          <a:spcPts val="0"/>
                        </a:spcBef>
                        <a:spcAft>
                          <a:spcPts val="0"/>
                        </a:spcAft>
                      </a:pPr>
                      <a:r>
                        <a:rPr sz="1000" b="1">
                          <a:solidFill>
                            <a:srgbClr val="FFFFFF"/>
                          </a:solidFill>
                          <a:latin typeface="微软雅黑"/>
                          <a:ea typeface="微软雅黑"/>
                        </a:rPr>
                        <a:t>项目编号</a:t>
                      </a:r>
                    </a:p>
                  </a:txBody>
                  <a:tcPr marL="13716" marR="13716" marT="2743" marB="2743" anchor="ctr">
                    <a:solidFill>
                      <a:srgbClr val="0047A0"/>
                    </a:solidFill>
                  </a:tcPr>
                </a:tc>
                <a:tc>
                  <a:txBody>
                    <a:bodyPr/>
                    <a:lstStyle/>
                    <a:p>
                      <a:pPr algn="ctr">
                        <a:lnSpc>
                          <a:spcPct val="100000"/>
                        </a:lnSpc>
                        <a:spcBef>
                          <a:spcPts val="0"/>
                        </a:spcBef>
                        <a:spcAft>
                          <a:spcPts val="0"/>
                        </a:spcAft>
                      </a:pPr>
                      <a:r>
                        <a:rPr sz="1000" b="1">
                          <a:solidFill>
                            <a:srgbClr val="FFFFFF"/>
                          </a:solidFill>
                          <a:latin typeface="微软雅黑"/>
                          <a:ea typeface="微软雅黑"/>
                        </a:rPr>
                        <a:t>项目名称（省略“中讯院”）</a:t>
                      </a:r>
                    </a:p>
                  </a:txBody>
                  <a:tcPr marL="13716" marR="13716" marT="2743" marB="2743" anchor="ctr">
                    <a:solidFill>
                      <a:srgbClr val="0047A0"/>
                    </a:solidFill>
                  </a:tcPr>
                </a:tc>
                <a:tc>
                  <a:txBody>
                    <a:bodyPr/>
                    <a:lstStyle/>
                    <a:p>
                      <a:pPr algn="ctr">
                        <a:lnSpc>
                          <a:spcPct val="100000"/>
                        </a:lnSpc>
                        <a:spcBef>
                          <a:spcPts val="0"/>
                        </a:spcBef>
                        <a:spcAft>
                          <a:spcPts val="0"/>
                        </a:spcAft>
                      </a:pPr>
                      <a:r>
                        <a:rPr sz="1000" b="1">
                          <a:solidFill>
                            <a:srgbClr val="FFFFFF"/>
                          </a:solidFill>
                          <a:latin typeface="微软雅黑"/>
                          <a:ea typeface="微软雅黑"/>
                        </a:rPr>
                        <a:t>参与部门</a:t>
                      </a:r>
                    </a:p>
                  </a:txBody>
                  <a:tcPr marL="13716" marR="13716" marT="2743" marB="2743" anchor="ctr">
                    <a:solidFill>
                      <a:srgbClr val="0047A0"/>
                    </a:solidFill>
                  </a:tcPr>
                </a:tc>
                <a:extLst>
                  <a:ext uri="{0D108BD9-81ED-4DB2-BD59-A6C34878D82A}">
                    <a16:rowId xmlns:a16="http://schemas.microsoft.com/office/drawing/2014/main" val="10000"/>
                  </a:ext>
                </a:extLst>
              </a:tr>
              <a:tr h="240326">
                <a:tc>
                  <a:txBody>
                    <a:bodyPr/>
                    <a:lstStyle/>
                    <a:p>
                      <a:pPr algn="ctr">
                        <a:lnSpc>
                          <a:spcPct val="100000"/>
                        </a:lnSpc>
                        <a:spcBef>
                          <a:spcPts val="0"/>
                        </a:spcBef>
                        <a:spcAft>
                          <a:spcPts val="0"/>
                        </a:spcAft>
                      </a:pPr>
                      <a:r>
                        <a:rPr sz="1000" b="0">
                          <a:solidFill>
                            <a:srgbClr val="232D37"/>
                          </a:solidFill>
                          <a:latin typeface="微软雅黑"/>
                          <a:ea typeface="微软雅黑"/>
                        </a:rPr>
                        <a:t>2025YF(CH)0146</a:t>
                      </a:r>
                    </a:p>
                  </a:txBody>
                  <a:tcPr marL="13716" marR="13716" marT="2743" marB="2743" anchor="ctr">
                    <a:solidFill>
                      <a:srgbClr val="FFFFFF"/>
                    </a:solidFill>
                  </a:tcPr>
                </a:tc>
                <a:tc>
                  <a:txBody>
                    <a:bodyPr/>
                    <a:lstStyle/>
                    <a:p>
                      <a:pPr algn="ctr">
                        <a:lnSpc>
                          <a:spcPct val="100000"/>
                        </a:lnSpc>
                        <a:spcBef>
                          <a:spcPts val="0"/>
                        </a:spcBef>
                        <a:spcAft>
                          <a:spcPts val="0"/>
                        </a:spcAft>
                      </a:pPr>
                      <a:r>
                        <a:rPr sz="1000" b="0">
                          <a:solidFill>
                            <a:srgbClr val="232D37"/>
                          </a:solidFill>
                          <a:latin typeface="微软雅黑"/>
                          <a:ea typeface="微软雅黑"/>
                        </a:rPr>
                        <a:t>AI for Net-大模型驱动的新一代无线仿真技术研究</a:t>
                      </a:r>
                    </a:p>
                  </a:txBody>
                  <a:tcPr marL="13716" marR="13716" marT="2743" marB="2743" anchor="ctr">
                    <a:solidFill>
                      <a:srgbClr val="FFFFFF"/>
                    </a:solidFill>
                  </a:tcPr>
                </a:tc>
                <a:tc>
                  <a:txBody>
                    <a:bodyPr/>
                    <a:lstStyle/>
                    <a:p>
                      <a:pPr algn="ctr">
                        <a:lnSpc>
                          <a:spcPct val="100000"/>
                        </a:lnSpc>
                        <a:spcBef>
                          <a:spcPts val="0"/>
                        </a:spcBef>
                        <a:spcAft>
                          <a:spcPts val="0"/>
                        </a:spcAft>
                      </a:pPr>
                      <a:r>
                        <a:rPr sz="1000" b="0">
                          <a:solidFill>
                            <a:srgbClr val="232D37"/>
                          </a:solidFill>
                          <a:latin typeface="微软雅黑"/>
                          <a:ea typeface="微软雅黑"/>
                        </a:rPr>
                        <a:t>北京</a:t>
                      </a:r>
                    </a:p>
                  </a:txBody>
                  <a:tcPr marL="13716" marR="13716" marT="2743" marB="2743" anchor="ctr">
                    <a:solidFill>
                      <a:srgbClr val="FFFFFF"/>
                    </a:solidFill>
                  </a:tcPr>
                </a:tc>
                <a:extLst>
                  <a:ext uri="{0D108BD9-81ED-4DB2-BD59-A6C34878D82A}">
                    <a16:rowId xmlns:a16="http://schemas.microsoft.com/office/drawing/2014/main" val="10001"/>
                  </a:ext>
                </a:extLst>
              </a:tr>
              <a:tr h="240326">
                <a:tc>
                  <a:txBody>
                    <a:bodyPr/>
                    <a:lstStyle/>
                    <a:p>
                      <a:pPr algn="ctr">
                        <a:lnSpc>
                          <a:spcPct val="100000"/>
                        </a:lnSpc>
                        <a:spcBef>
                          <a:spcPts val="0"/>
                        </a:spcBef>
                        <a:spcAft>
                          <a:spcPts val="0"/>
                        </a:spcAft>
                      </a:pPr>
                      <a:r>
                        <a:rPr sz="1000" b="0">
                          <a:solidFill>
                            <a:srgbClr val="232D37"/>
                          </a:solidFill>
                          <a:latin typeface="微软雅黑"/>
                          <a:ea typeface="微软雅黑"/>
                        </a:rPr>
                        <a:t>2025YF(CH)0157</a:t>
                      </a:r>
                    </a:p>
                  </a:txBody>
                  <a:tcPr marL="13716" marR="13716" marT="2743" marB="2743" anchor="ctr">
                    <a:solidFill>
                      <a:srgbClr val="F6F9FC"/>
                    </a:solidFill>
                  </a:tcPr>
                </a:tc>
                <a:tc>
                  <a:txBody>
                    <a:bodyPr/>
                    <a:lstStyle/>
                    <a:p>
                      <a:pPr algn="ctr">
                        <a:lnSpc>
                          <a:spcPct val="100000"/>
                        </a:lnSpc>
                        <a:spcBef>
                          <a:spcPts val="0"/>
                        </a:spcBef>
                        <a:spcAft>
                          <a:spcPts val="0"/>
                        </a:spcAft>
                      </a:pPr>
                      <a:r>
                        <a:rPr sz="1000" b="0">
                          <a:solidFill>
                            <a:srgbClr val="232D37"/>
                          </a:solidFill>
                          <a:latin typeface="微软雅黑"/>
                          <a:ea typeface="微软雅黑"/>
                        </a:rPr>
                        <a:t>2025年低空智联关键技术及低空测试系统研究</a:t>
                      </a:r>
                    </a:p>
                  </a:txBody>
                  <a:tcPr marL="13716" marR="13716" marT="2743" marB="2743" anchor="ctr">
                    <a:solidFill>
                      <a:srgbClr val="F6F9FC"/>
                    </a:solidFill>
                  </a:tcPr>
                </a:tc>
                <a:tc>
                  <a:txBody>
                    <a:bodyPr/>
                    <a:lstStyle/>
                    <a:p>
                      <a:pPr algn="ctr">
                        <a:lnSpc>
                          <a:spcPct val="100000"/>
                        </a:lnSpc>
                        <a:spcBef>
                          <a:spcPts val="0"/>
                        </a:spcBef>
                        <a:spcAft>
                          <a:spcPts val="0"/>
                        </a:spcAft>
                      </a:pPr>
                      <a:r>
                        <a:rPr sz="1000" b="0">
                          <a:solidFill>
                            <a:srgbClr val="232D37"/>
                          </a:solidFill>
                          <a:latin typeface="微软雅黑"/>
                          <a:ea typeface="微软雅黑"/>
                        </a:rPr>
                        <a:t>北京</a:t>
                      </a:r>
                    </a:p>
                  </a:txBody>
                  <a:tcPr marL="13716" marR="13716" marT="2743" marB="2743" anchor="ctr">
                    <a:solidFill>
                      <a:srgbClr val="F6F9FC"/>
                    </a:solidFill>
                  </a:tcPr>
                </a:tc>
                <a:extLst>
                  <a:ext uri="{0D108BD9-81ED-4DB2-BD59-A6C34878D82A}">
                    <a16:rowId xmlns:a16="http://schemas.microsoft.com/office/drawing/2014/main" val="10002"/>
                  </a:ext>
                </a:extLst>
              </a:tr>
              <a:tr h="240326">
                <a:tc>
                  <a:txBody>
                    <a:bodyPr/>
                    <a:lstStyle/>
                    <a:p>
                      <a:pPr algn="ctr">
                        <a:lnSpc>
                          <a:spcPct val="100000"/>
                        </a:lnSpc>
                        <a:spcBef>
                          <a:spcPts val="0"/>
                        </a:spcBef>
                        <a:spcAft>
                          <a:spcPts val="0"/>
                        </a:spcAft>
                      </a:pPr>
                      <a:r>
                        <a:rPr sz="1000" b="0">
                          <a:solidFill>
                            <a:srgbClr val="232D37"/>
                          </a:solidFill>
                          <a:latin typeface="微软雅黑"/>
                          <a:ea typeface="微软雅黑"/>
                        </a:rPr>
                        <a:t>2025YF(CH)0161</a:t>
                      </a:r>
                    </a:p>
                  </a:txBody>
                  <a:tcPr marL="13716" marR="13716" marT="2743" marB="2743" anchor="ctr">
                    <a:solidFill>
                      <a:srgbClr val="FFFFFF"/>
                    </a:solidFill>
                  </a:tcPr>
                </a:tc>
                <a:tc>
                  <a:txBody>
                    <a:bodyPr/>
                    <a:lstStyle/>
                    <a:p>
                      <a:pPr algn="ctr">
                        <a:lnSpc>
                          <a:spcPct val="100000"/>
                        </a:lnSpc>
                        <a:spcBef>
                          <a:spcPts val="0"/>
                        </a:spcBef>
                        <a:spcAft>
                          <a:spcPts val="0"/>
                        </a:spcAft>
                      </a:pPr>
                      <a:r>
                        <a:rPr sz="1000" b="0">
                          <a:solidFill>
                            <a:srgbClr val="232D37"/>
                          </a:solidFill>
                          <a:latin typeface="微软雅黑"/>
                          <a:ea typeface="微软雅黑"/>
                        </a:rPr>
                        <a:t>2025年无油悬浮相变多联空调系统及控制策略关键技术研究</a:t>
                      </a:r>
                    </a:p>
                  </a:txBody>
                  <a:tcPr marL="13716" marR="13716" marT="2743" marB="2743" anchor="ctr">
                    <a:solidFill>
                      <a:srgbClr val="FFFFFF"/>
                    </a:solidFill>
                  </a:tcPr>
                </a:tc>
                <a:tc>
                  <a:txBody>
                    <a:bodyPr/>
                    <a:lstStyle/>
                    <a:p>
                      <a:pPr algn="ctr">
                        <a:lnSpc>
                          <a:spcPct val="100000"/>
                        </a:lnSpc>
                        <a:spcBef>
                          <a:spcPts val="0"/>
                        </a:spcBef>
                        <a:spcAft>
                          <a:spcPts val="0"/>
                        </a:spcAft>
                      </a:pPr>
                      <a:r>
                        <a:rPr sz="1000" b="0">
                          <a:solidFill>
                            <a:srgbClr val="232D37"/>
                          </a:solidFill>
                          <a:latin typeface="微软雅黑"/>
                          <a:ea typeface="微软雅黑"/>
                        </a:rPr>
                        <a:t>建能院</a:t>
                      </a:r>
                    </a:p>
                  </a:txBody>
                  <a:tcPr marL="13716" marR="13716" marT="2743" marB="2743" anchor="ctr">
                    <a:solidFill>
                      <a:srgbClr val="FFFFFF"/>
                    </a:solidFill>
                  </a:tcPr>
                </a:tc>
                <a:extLst>
                  <a:ext uri="{0D108BD9-81ED-4DB2-BD59-A6C34878D82A}">
                    <a16:rowId xmlns:a16="http://schemas.microsoft.com/office/drawing/2014/main" val="10003"/>
                  </a:ext>
                </a:extLst>
              </a:tr>
              <a:tr h="240326">
                <a:tc>
                  <a:txBody>
                    <a:bodyPr/>
                    <a:lstStyle/>
                    <a:p>
                      <a:pPr algn="ctr">
                        <a:lnSpc>
                          <a:spcPct val="100000"/>
                        </a:lnSpc>
                        <a:spcBef>
                          <a:spcPts val="0"/>
                        </a:spcBef>
                        <a:spcAft>
                          <a:spcPts val="0"/>
                        </a:spcAft>
                      </a:pPr>
                      <a:r>
                        <a:rPr sz="1000" b="0">
                          <a:solidFill>
                            <a:srgbClr val="232D37"/>
                          </a:solidFill>
                          <a:latin typeface="微软雅黑"/>
                          <a:ea typeface="微软雅黑"/>
                        </a:rPr>
                        <a:t>2026YF(CH)0213</a:t>
                      </a:r>
                    </a:p>
                  </a:txBody>
                  <a:tcPr marL="13716" marR="13716" marT="2743" marB="2743" anchor="ctr">
                    <a:solidFill>
                      <a:srgbClr val="F6F9FC"/>
                    </a:solidFill>
                  </a:tcPr>
                </a:tc>
                <a:tc>
                  <a:txBody>
                    <a:bodyPr/>
                    <a:lstStyle/>
                    <a:p>
                      <a:pPr algn="ctr">
                        <a:lnSpc>
                          <a:spcPct val="100000"/>
                        </a:lnSpc>
                        <a:spcBef>
                          <a:spcPts val="0"/>
                        </a:spcBef>
                        <a:spcAft>
                          <a:spcPts val="0"/>
                        </a:spcAft>
                      </a:pPr>
                      <a:r>
                        <a:rPr sz="1000" b="0">
                          <a:solidFill>
                            <a:srgbClr val="232D37"/>
                          </a:solidFill>
                          <a:latin typeface="微软雅黑"/>
                          <a:ea typeface="微软雅黑"/>
                        </a:rPr>
                        <a:t>基于无线孪生网络能力提升技术研究与验证（自筹）</a:t>
                      </a:r>
                    </a:p>
                  </a:txBody>
                  <a:tcPr marL="13716" marR="13716" marT="2743" marB="2743" anchor="ctr">
                    <a:solidFill>
                      <a:srgbClr val="F6F9FC"/>
                    </a:solidFill>
                  </a:tcPr>
                </a:tc>
                <a:tc>
                  <a:txBody>
                    <a:bodyPr/>
                    <a:lstStyle/>
                    <a:p>
                      <a:pPr algn="ctr">
                        <a:lnSpc>
                          <a:spcPct val="100000"/>
                        </a:lnSpc>
                        <a:spcBef>
                          <a:spcPts val="0"/>
                        </a:spcBef>
                        <a:spcAft>
                          <a:spcPts val="0"/>
                        </a:spcAft>
                      </a:pPr>
                      <a:r>
                        <a:rPr sz="1000" b="0">
                          <a:solidFill>
                            <a:srgbClr val="232D37"/>
                          </a:solidFill>
                          <a:latin typeface="微软雅黑"/>
                          <a:ea typeface="微软雅黑"/>
                        </a:rPr>
                        <a:t>北京</a:t>
                      </a:r>
                    </a:p>
                  </a:txBody>
                  <a:tcPr marL="13716" marR="13716" marT="2743" marB="2743" anchor="ctr">
                    <a:solidFill>
                      <a:srgbClr val="F6F9FC"/>
                    </a:solidFill>
                  </a:tcPr>
                </a:tc>
                <a:extLst>
                  <a:ext uri="{0D108BD9-81ED-4DB2-BD59-A6C34878D82A}">
                    <a16:rowId xmlns:a16="http://schemas.microsoft.com/office/drawing/2014/main" val="10004"/>
                  </a:ext>
                </a:extLst>
              </a:tr>
              <a:tr h="240326">
                <a:tc>
                  <a:txBody>
                    <a:bodyPr/>
                    <a:lstStyle/>
                    <a:p>
                      <a:pPr algn="ctr">
                        <a:lnSpc>
                          <a:spcPct val="100000"/>
                        </a:lnSpc>
                        <a:spcBef>
                          <a:spcPts val="0"/>
                        </a:spcBef>
                        <a:spcAft>
                          <a:spcPts val="0"/>
                        </a:spcAft>
                      </a:pPr>
                      <a:r>
                        <a:rPr sz="1000" b="0">
                          <a:solidFill>
                            <a:srgbClr val="232D37"/>
                          </a:solidFill>
                          <a:latin typeface="微软雅黑"/>
                          <a:ea typeface="微软雅黑"/>
                        </a:rPr>
                        <a:t>2026YF(CH)0218</a:t>
                      </a:r>
                    </a:p>
                  </a:txBody>
                  <a:tcPr marL="13716" marR="13716" marT="2743" marB="2743" anchor="ctr">
                    <a:solidFill>
                      <a:srgbClr val="FFFFFF"/>
                    </a:solidFill>
                  </a:tcPr>
                </a:tc>
                <a:tc>
                  <a:txBody>
                    <a:bodyPr/>
                    <a:lstStyle/>
                    <a:p>
                      <a:pPr algn="ctr">
                        <a:lnSpc>
                          <a:spcPct val="100000"/>
                        </a:lnSpc>
                        <a:spcBef>
                          <a:spcPts val="0"/>
                        </a:spcBef>
                        <a:spcAft>
                          <a:spcPts val="0"/>
                        </a:spcAft>
                      </a:pPr>
                      <a:r>
                        <a:rPr sz="1000" b="0">
                          <a:solidFill>
                            <a:srgbClr val="232D37"/>
                          </a:solidFill>
                          <a:latin typeface="微软雅黑"/>
                          <a:ea typeface="微软雅黑"/>
                        </a:rPr>
                        <a:t>2026年模块化间接蒸发冷却（MHU）空调产品迭代研发</a:t>
                      </a:r>
                    </a:p>
                  </a:txBody>
                  <a:tcPr marL="13716" marR="13716" marT="2743" marB="2743" anchor="ctr">
                    <a:solidFill>
                      <a:srgbClr val="FFFFFF"/>
                    </a:solidFill>
                  </a:tcPr>
                </a:tc>
                <a:tc>
                  <a:txBody>
                    <a:bodyPr/>
                    <a:lstStyle/>
                    <a:p>
                      <a:pPr algn="ctr">
                        <a:lnSpc>
                          <a:spcPct val="100000"/>
                        </a:lnSpc>
                        <a:spcBef>
                          <a:spcPts val="0"/>
                        </a:spcBef>
                        <a:spcAft>
                          <a:spcPts val="0"/>
                        </a:spcAft>
                      </a:pPr>
                      <a:r>
                        <a:rPr sz="1000" b="0">
                          <a:solidFill>
                            <a:srgbClr val="232D37"/>
                          </a:solidFill>
                          <a:latin typeface="微软雅黑"/>
                          <a:ea typeface="微软雅黑"/>
                        </a:rPr>
                        <a:t>建能院（独立）</a:t>
                      </a:r>
                    </a:p>
                  </a:txBody>
                  <a:tcPr marL="13716" marR="13716" marT="2743" marB="2743" anchor="ctr">
                    <a:solidFill>
                      <a:srgbClr val="FFFFFF"/>
                    </a:solidFill>
                  </a:tcPr>
                </a:tc>
                <a:extLst>
                  <a:ext uri="{0D108BD9-81ED-4DB2-BD59-A6C34878D82A}">
                    <a16:rowId xmlns:a16="http://schemas.microsoft.com/office/drawing/2014/main" val="10005"/>
                  </a:ext>
                </a:extLst>
              </a:tr>
              <a:tr h="240326">
                <a:tc>
                  <a:txBody>
                    <a:bodyPr/>
                    <a:lstStyle/>
                    <a:p>
                      <a:pPr algn="ctr">
                        <a:lnSpc>
                          <a:spcPct val="100000"/>
                        </a:lnSpc>
                        <a:spcBef>
                          <a:spcPts val="0"/>
                        </a:spcBef>
                        <a:spcAft>
                          <a:spcPts val="0"/>
                        </a:spcAft>
                      </a:pPr>
                      <a:r>
                        <a:rPr sz="1000" b="0">
                          <a:solidFill>
                            <a:srgbClr val="232D37"/>
                          </a:solidFill>
                          <a:latin typeface="微软雅黑"/>
                          <a:ea typeface="微软雅黑"/>
                        </a:rPr>
                        <a:t>2026YF(CH)0219</a:t>
                      </a:r>
                    </a:p>
                  </a:txBody>
                  <a:tcPr marL="13716" marR="13716" marT="2743" marB="2743" anchor="ctr">
                    <a:solidFill>
                      <a:srgbClr val="F6F9FC"/>
                    </a:solidFill>
                  </a:tcPr>
                </a:tc>
                <a:tc>
                  <a:txBody>
                    <a:bodyPr/>
                    <a:lstStyle/>
                    <a:p>
                      <a:pPr algn="ctr">
                        <a:lnSpc>
                          <a:spcPct val="100000"/>
                        </a:lnSpc>
                        <a:spcBef>
                          <a:spcPts val="0"/>
                        </a:spcBef>
                        <a:spcAft>
                          <a:spcPts val="0"/>
                        </a:spcAft>
                      </a:pPr>
                      <a:r>
                        <a:rPr sz="1000" b="0">
                          <a:solidFill>
                            <a:srgbClr val="232D37"/>
                          </a:solidFill>
                          <a:latin typeface="微软雅黑"/>
                          <a:ea typeface="微软雅黑"/>
                        </a:rPr>
                        <a:t>2026年电联5G移频产品迭代开发项目</a:t>
                      </a:r>
                    </a:p>
                  </a:txBody>
                  <a:tcPr marL="13716" marR="13716" marT="2743" marB="2743" anchor="ctr">
                    <a:solidFill>
                      <a:srgbClr val="F6F9FC"/>
                    </a:solidFill>
                  </a:tcPr>
                </a:tc>
                <a:tc>
                  <a:txBody>
                    <a:bodyPr/>
                    <a:lstStyle/>
                    <a:p>
                      <a:pPr algn="ctr">
                        <a:lnSpc>
                          <a:spcPct val="100000"/>
                        </a:lnSpc>
                        <a:spcBef>
                          <a:spcPts val="0"/>
                        </a:spcBef>
                        <a:spcAft>
                          <a:spcPts val="0"/>
                        </a:spcAft>
                      </a:pPr>
                      <a:r>
                        <a:rPr sz="1000" b="0">
                          <a:solidFill>
                            <a:srgbClr val="232D37"/>
                          </a:solidFill>
                          <a:latin typeface="微软雅黑"/>
                          <a:ea typeface="微软雅黑"/>
                        </a:rPr>
                        <a:t>北京（独立）</a:t>
                      </a:r>
                    </a:p>
                  </a:txBody>
                  <a:tcPr marL="13716" marR="13716" marT="2743" marB="2743" anchor="ctr">
                    <a:solidFill>
                      <a:srgbClr val="F6F9FC"/>
                    </a:solidFill>
                  </a:tcPr>
                </a:tc>
                <a:extLst>
                  <a:ext uri="{0D108BD9-81ED-4DB2-BD59-A6C34878D82A}">
                    <a16:rowId xmlns:a16="http://schemas.microsoft.com/office/drawing/2014/main" val="10006"/>
                  </a:ext>
                </a:extLst>
              </a:tr>
              <a:tr h="240326">
                <a:tc>
                  <a:txBody>
                    <a:bodyPr/>
                    <a:lstStyle/>
                    <a:p>
                      <a:pPr algn="ctr">
                        <a:lnSpc>
                          <a:spcPct val="100000"/>
                        </a:lnSpc>
                        <a:spcBef>
                          <a:spcPts val="0"/>
                        </a:spcBef>
                        <a:spcAft>
                          <a:spcPts val="0"/>
                        </a:spcAft>
                      </a:pPr>
                      <a:r>
                        <a:rPr sz="1000" b="0">
                          <a:solidFill>
                            <a:srgbClr val="232D37"/>
                          </a:solidFill>
                          <a:latin typeface="微软雅黑"/>
                          <a:ea typeface="微软雅黑"/>
                        </a:rPr>
                        <a:t>2026YF(CH)0232</a:t>
                      </a:r>
                    </a:p>
                  </a:txBody>
                  <a:tcPr marL="13716" marR="13716" marT="2743" marB="2743" anchor="ctr">
                    <a:solidFill>
                      <a:srgbClr val="FFFFFF"/>
                    </a:solidFill>
                  </a:tcPr>
                </a:tc>
                <a:tc>
                  <a:txBody>
                    <a:bodyPr/>
                    <a:lstStyle/>
                    <a:p>
                      <a:pPr algn="ctr">
                        <a:lnSpc>
                          <a:spcPct val="100000"/>
                        </a:lnSpc>
                        <a:spcBef>
                          <a:spcPts val="0"/>
                        </a:spcBef>
                        <a:spcAft>
                          <a:spcPts val="0"/>
                        </a:spcAft>
                      </a:pPr>
                      <a:r>
                        <a:rPr sz="1000" b="0">
                          <a:solidFill>
                            <a:srgbClr val="232D37"/>
                          </a:solidFill>
                          <a:latin typeface="微软雅黑"/>
                          <a:ea typeface="微软雅黑"/>
                        </a:rPr>
                        <a:t>2026年跨境跨网全域智能终端安全关键技术研发项目</a:t>
                      </a:r>
                    </a:p>
                  </a:txBody>
                  <a:tcPr marL="13716" marR="13716" marT="2743" marB="2743" anchor="ctr">
                    <a:solidFill>
                      <a:srgbClr val="FFFFFF"/>
                    </a:solidFill>
                  </a:tcPr>
                </a:tc>
                <a:tc>
                  <a:txBody>
                    <a:bodyPr/>
                    <a:lstStyle/>
                    <a:p>
                      <a:pPr algn="ctr">
                        <a:lnSpc>
                          <a:spcPct val="100000"/>
                        </a:lnSpc>
                        <a:spcBef>
                          <a:spcPts val="0"/>
                        </a:spcBef>
                        <a:spcAft>
                          <a:spcPts val="0"/>
                        </a:spcAft>
                      </a:pPr>
                      <a:r>
                        <a:rPr sz="1000" b="0">
                          <a:solidFill>
                            <a:srgbClr val="232D37"/>
                          </a:solidFill>
                          <a:latin typeface="微软雅黑"/>
                          <a:ea typeface="微软雅黑"/>
                        </a:rPr>
                        <a:t>集团业务、天津</a:t>
                      </a:r>
                    </a:p>
                  </a:txBody>
                  <a:tcPr marL="13716" marR="13716" marT="2743" marB="2743" anchor="ctr">
                    <a:solidFill>
                      <a:srgbClr val="FFFFFF"/>
                    </a:solidFill>
                  </a:tcPr>
                </a:tc>
                <a:extLst>
                  <a:ext uri="{0D108BD9-81ED-4DB2-BD59-A6C34878D82A}">
                    <a16:rowId xmlns:a16="http://schemas.microsoft.com/office/drawing/2014/main" val="10007"/>
                  </a:ext>
                </a:extLst>
              </a:tr>
              <a:tr h="240329">
                <a:tc>
                  <a:txBody>
                    <a:bodyPr/>
                    <a:lstStyle/>
                    <a:p>
                      <a:pPr algn="ctr">
                        <a:lnSpc>
                          <a:spcPct val="100000"/>
                        </a:lnSpc>
                        <a:spcBef>
                          <a:spcPts val="0"/>
                        </a:spcBef>
                        <a:spcAft>
                          <a:spcPts val="0"/>
                        </a:spcAft>
                      </a:pPr>
                      <a:r>
                        <a:rPr sz="1000" b="0">
                          <a:solidFill>
                            <a:srgbClr val="232D37"/>
                          </a:solidFill>
                          <a:latin typeface="微软雅黑"/>
                          <a:ea typeface="微软雅黑"/>
                        </a:rPr>
                        <a:t>2026YF(CH)0226</a:t>
                      </a:r>
                    </a:p>
                  </a:txBody>
                  <a:tcPr marL="13716" marR="13716" marT="2743" marB="2743" anchor="ctr">
                    <a:solidFill>
                      <a:srgbClr val="F6F9FC"/>
                    </a:solidFill>
                  </a:tcPr>
                </a:tc>
                <a:tc>
                  <a:txBody>
                    <a:bodyPr/>
                    <a:lstStyle/>
                    <a:p>
                      <a:pPr algn="ctr">
                        <a:lnSpc>
                          <a:spcPct val="100000"/>
                        </a:lnSpc>
                        <a:spcBef>
                          <a:spcPts val="0"/>
                        </a:spcBef>
                        <a:spcAft>
                          <a:spcPts val="0"/>
                        </a:spcAft>
                      </a:pPr>
                      <a:r>
                        <a:rPr sz="1000" b="0">
                          <a:solidFill>
                            <a:srgbClr val="232D37"/>
                          </a:solidFill>
                          <a:latin typeface="微软雅黑"/>
                          <a:ea typeface="微软雅黑"/>
                        </a:rPr>
                        <a:t>2026年面向6G的智能无线环境映射与仿真孪生技术研发项目</a:t>
                      </a:r>
                    </a:p>
                  </a:txBody>
                  <a:tcPr marL="13716" marR="13716" marT="2743" marB="2743" anchor="ctr">
                    <a:solidFill>
                      <a:srgbClr val="F6F9FC"/>
                    </a:solidFill>
                  </a:tcPr>
                </a:tc>
                <a:tc>
                  <a:txBody>
                    <a:bodyPr/>
                    <a:lstStyle/>
                    <a:p>
                      <a:pPr algn="ctr">
                        <a:lnSpc>
                          <a:spcPct val="100000"/>
                        </a:lnSpc>
                        <a:spcBef>
                          <a:spcPts val="0"/>
                        </a:spcBef>
                        <a:spcAft>
                          <a:spcPts val="0"/>
                        </a:spcAft>
                      </a:pPr>
                      <a:r>
                        <a:rPr sz="1000" b="0">
                          <a:solidFill>
                            <a:srgbClr val="232D37"/>
                          </a:solidFill>
                          <a:latin typeface="微软雅黑"/>
                          <a:ea typeface="微软雅黑"/>
                        </a:rPr>
                        <a:t>北京</a:t>
                      </a:r>
                    </a:p>
                  </a:txBody>
                  <a:tcPr marL="13716" marR="13716" marT="2743" marB="2743" anchor="ctr">
                    <a:solidFill>
                      <a:srgbClr val="F6F9FC"/>
                    </a:solidFill>
                  </a:tcPr>
                </a:tc>
                <a:extLst>
                  <a:ext uri="{0D108BD9-81ED-4DB2-BD59-A6C34878D82A}">
                    <a16:rowId xmlns:a16="http://schemas.microsoft.com/office/drawing/2014/main" val="10008"/>
                  </a:ext>
                </a:extLst>
              </a:tr>
            </a:tbl>
          </a:graphicData>
        </a:graphic>
      </p:graphicFrame>
      <p:sp>
        <p:nvSpPr>
          <p:cNvPr id="25" name="TextBox 24"/>
          <p:cNvSpPr txBox="1"/>
          <p:nvPr/>
        </p:nvSpPr>
        <p:spPr>
          <a:xfrm>
            <a:off x="347472" y="4572000"/>
            <a:ext cx="3886200" cy="310896"/>
          </a:xfrm>
          <a:prstGeom prst="rect">
            <a:avLst/>
          </a:prstGeom>
          <a:noFill/>
        </p:spPr>
        <p:txBody>
          <a:bodyPr wrap="square" lIns="0" tIns="0" rIns="0" bIns="0" anchor="ctr">
            <a:spAutoFit/>
          </a:bodyPr>
          <a:lstStyle/>
          <a:p>
            <a:pPr algn="ctr">
              <a:lnSpc>
                <a:spcPct val="100000"/>
              </a:lnSpc>
              <a:spcBef>
                <a:spcPts val="0"/>
              </a:spcBef>
              <a:spcAft>
                <a:spcPts val="0"/>
              </a:spcAft>
              <a:defRPr sz="2000" b="1">
                <a:solidFill>
                  <a:srgbClr val="FFFFFF"/>
                </a:solidFill>
                <a:latin typeface="微软雅黑"/>
              </a:defRPr>
            </a:pPr>
            <a:r>
              <a:rPr sz="2000" b="1">
                <a:solidFill>
                  <a:srgbClr val="FFFFFF"/>
                </a:solidFill>
                <a:latin typeface="微软雅黑"/>
                <a:ea typeface="微软雅黑"/>
              </a:rPr>
              <a:t>研发投入及工时管理</a:t>
            </a:r>
          </a:p>
        </p:txBody>
      </p:sp>
      <p:sp>
        <p:nvSpPr>
          <p:cNvPr id="27" name="TextBox 26"/>
          <p:cNvSpPr txBox="1"/>
          <p:nvPr/>
        </p:nvSpPr>
        <p:spPr>
          <a:xfrm>
            <a:off x="347472" y="4882896"/>
            <a:ext cx="3886200" cy="310896"/>
          </a:xfrm>
          <a:prstGeom prst="rect">
            <a:avLst/>
          </a:prstGeom>
          <a:noFill/>
        </p:spPr>
        <p:txBody>
          <a:bodyPr wrap="square" lIns="64008" tIns="64008" rIns="64008" bIns="64008" anchor="ctr">
            <a:spAutoFit/>
          </a:bodyPr>
          <a:lstStyle/>
          <a:p>
            <a:pPr algn="l">
              <a:lnSpc>
                <a:spcPct val="130000"/>
              </a:lnSpc>
              <a:spcBef>
                <a:spcPts val="0"/>
              </a:spcBef>
              <a:spcAft>
                <a:spcPts val="0"/>
              </a:spcAft>
              <a:defRPr sz="1300" b="1">
                <a:solidFill>
                  <a:srgbClr val="111111"/>
                </a:solidFill>
                <a:latin typeface="微软雅黑"/>
              </a:defRPr>
            </a:pPr>
            <a:r>
              <a:rPr sz="1200" b="1">
                <a:solidFill>
                  <a:srgbClr val="111111"/>
                </a:solidFill>
                <a:latin typeface="微软雅黑"/>
                <a:ea typeface="微软雅黑"/>
              </a:rPr>
              <a:t>全院向4000万元以上目标推进；休假时长须据实扣减</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19456"/>
            <a:ext cx="9738360" cy="621792"/>
          </a:xfrm>
          <a:prstGeom prst="rect">
            <a:avLst/>
          </a:prstGeom>
          <a:noFill/>
        </p:spPr>
        <p:txBody>
          <a:bodyPr wrap="square" lIns="0" tIns="0" rIns="0" bIns="0" anchor="ctr">
            <a:normAutofit/>
          </a:bodyPr>
          <a:lstStyle/>
          <a:p>
            <a:pPr algn="l">
              <a:lnSpc>
                <a:spcPct val="100000"/>
              </a:lnSpc>
              <a:spcBef>
                <a:spcPts val="0"/>
              </a:spcBef>
              <a:spcAft>
                <a:spcPts val="0"/>
              </a:spcAft>
              <a:defRPr sz="1300" b="1">
                <a:solidFill>
                  <a:srgbClr val="111111"/>
                </a:solidFill>
                <a:latin typeface="微软雅黑"/>
              </a:defRPr>
            </a:pPr>
            <a:r>
              <a:rPr sz="3400" b="1" i="0">
                <a:solidFill>
                  <a:srgbClr val="111111"/>
                </a:solidFill>
                <a:latin typeface="微软雅黑"/>
                <a:ea typeface="微软雅黑"/>
              </a:rPr>
              <a:t>技术与知识成果推进情况</a:t>
            </a:r>
          </a:p>
        </p:txBody>
      </p:sp>
      <p:graphicFrame>
        <p:nvGraphicFramePr>
          <p:cNvPr id="8" name="Table 7"/>
          <p:cNvGraphicFramePr>
            <a:graphicFrameLocks noGrp="1"/>
          </p:cNvGraphicFramePr>
          <p:nvPr/>
        </p:nvGraphicFramePr>
        <p:xfrm>
          <a:off x="347472" y="1929384"/>
          <a:ext cx="7452360" cy="4590278"/>
        </p:xfrm>
        <a:graphic>
          <a:graphicData uri="http://schemas.openxmlformats.org/drawingml/2006/table">
            <a:tbl>
              <a:tblPr>
                <a:tableStyleId>{5C22544A-7EE6-4342-B048-85BDC9FD1C3A}</a:tableStyleId>
              </a:tblPr>
              <a:tblGrid>
                <a:gridCol w="502920">
                  <a:extLst>
                    <a:ext uri="{9D8B030D-6E8A-4147-A177-3AD203B41FA5}">
                      <a16:colId xmlns:a16="http://schemas.microsoft.com/office/drawing/2014/main" val="20000"/>
                    </a:ext>
                  </a:extLst>
                </a:gridCol>
                <a:gridCol w="594360">
                  <a:extLst>
                    <a:ext uri="{9D8B030D-6E8A-4147-A177-3AD203B41FA5}">
                      <a16:colId xmlns:a16="http://schemas.microsoft.com/office/drawing/2014/main" val="20001"/>
                    </a:ext>
                  </a:extLst>
                </a:gridCol>
                <a:gridCol w="3017520">
                  <a:extLst>
                    <a:ext uri="{9D8B030D-6E8A-4147-A177-3AD203B41FA5}">
                      <a16:colId xmlns:a16="http://schemas.microsoft.com/office/drawing/2014/main" val="20002"/>
                    </a:ext>
                  </a:extLst>
                </a:gridCol>
                <a:gridCol w="2377440">
                  <a:extLst>
                    <a:ext uri="{9D8B030D-6E8A-4147-A177-3AD203B41FA5}">
                      <a16:colId xmlns:a16="http://schemas.microsoft.com/office/drawing/2014/main" val="20003"/>
                    </a:ext>
                  </a:extLst>
                </a:gridCol>
                <a:gridCol w="960120">
                  <a:extLst>
                    <a:ext uri="{9D8B030D-6E8A-4147-A177-3AD203B41FA5}">
                      <a16:colId xmlns:a16="http://schemas.microsoft.com/office/drawing/2014/main" val="20004"/>
                    </a:ext>
                  </a:extLst>
                </a:gridCol>
              </a:tblGrid>
              <a:tr h="433046">
                <a:tc>
                  <a:txBody>
                    <a:bodyPr/>
                    <a:lstStyle/>
                    <a:p>
                      <a:pPr algn="ctr">
                        <a:lnSpc>
                          <a:spcPct val="100000"/>
                        </a:lnSpc>
                        <a:spcBef>
                          <a:spcPts val="0"/>
                        </a:spcBef>
                        <a:spcAft>
                          <a:spcPts val="0"/>
                        </a:spcAft>
                        <a:defRPr sz="1300" b="1">
                          <a:latin typeface="微软雅黑"/>
                        </a:defRPr>
                      </a:pPr>
                      <a:r>
                        <a:rPr sz="1000" b="1">
                          <a:solidFill>
                            <a:srgbClr val="FFFFFF"/>
                          </a:solidFill>
                          <a:latin typeface="微软雅黑"/>
                          <a:ea typeface="微软雅黑"/>
                        </a:rPr>
                        <a:t>部门</a:t>
                      </a:r>
                    </a:p>
                  </a:txBody>
                  <a:tcPr marL="13716" marR="13716" marT="4572" marB="4572" anchor="ctr">
                    <a:solidFill>
                      <a:srgbClr val="4472C4"/>
                    </a:solidFill>
                  </a:tcPr>
                </a:tc>
                <a:tc>
                  <a:txBody>
                    <a:bodyPr/>
                    <a:lstStyle/>
                    <a:p>
                      <a:pPr algn="ctr">
                        <a:lnSpc>
                          <a:spcPct val="100000"/>
                        </a:lnSpc>
                        <a:spcBef>
                          <a:spcPts val="0"/>
                        </a:spcBef>
                        <a:spcAft>
                          <a:spcPts val="0"/>
                        </a:spcAft>
                        <a:defRPr sz="1300" b="1">
                          <a:latin typeface="微软雅黑"/>
                        </a:defRPr>
                      </a:pPr>
                      <a:r>
                        <a:rPr sz="1000" b="1">
                          <a:solidFill>
                            <a:srgbClr val="FFFFFF"/>
                          </a:solidFill>
                          <a:latin typeface="微软雅黑"/>
                          <a:ea typeface="微软雅黑"/>
                        </a:rPr>
                        <a:t>重点储备</a:t>
                      </a:r>
                    </a:p>
                  </a:txBody>
                  <a:tcPr marL="13716" marR="13716" marT="4572" marB="4572" anchor="ctr">
                    <a:solidFill>
                      <a:srgbClr val="4472C4"/>
                    </a:solidFill>
                  </a:tcPr>
                </a:tc>
                <a:tc>
                  <a:txBody>
                    <a:bodyPr/>
                    <a:lstStyle/>
                    <a:p>
                      <a:pPr algn="ctr">
                        <a:lnSpc>
                          <a:spcPct val="100000"/>
                        </a:lnSpc>
                        <a:spcBef>
                          <a:spcPts val="0"/>
                        </a:spcBef>
                        <a:spcAft>
                          <a:spcPts val="0"/>
                        </a:spcAft>
                        <a:defRPr sz="1300" b="1">
                          <a:latin typeface="微软雅黑"/>
                        </a:defRPr>
                      </a:pPr>
                      <a:r>
                        <a:rPr sz="1000" b="1">
                          <a:solidFill>
                            <a:srgbClr val="FFFFFF"/>
                          </a:solidFill>
                          <a:latin typeface="微软雅黑"/>
                          <a:ea typeface="微软雅黑"/>
                        </a:rPr>
                        <a:t>储备成果名称</a:t>
                      </a:r>
                    </a:p>
                  </a:txBody>
                  <a:tcPr marL="13716" marR="13716" marT="4572" marB="4572" anchor="ctr">
                    <a:solidFill>
                      <a:srgbClr val="4472C4"/>
                    </a:solidFill>
                  </a:tcPr>
                </a:tc>
                <a:tc>
                  <a:txBody>
                    <a:bodyPr/>
                    <a:lstStyle/>
                    <a:p>
                      <a:pPr algn="ctr">
                        <a:lnSpc>
                          <a:spcPct val="100000"/>
                        </a:lnSpc>
                        <a:spcBef>
                          <a:spcPts val="0"/>
                        </a:spcBef>
                        <a:spcAft>
                          <a:spcPts val="0"/>
                        </a:spcAft>
                        <a:defRPr sz="1300" b="1">
                          <a:latin typeface="微软雅黑"/>
                        </a:defRPr>
                      </a:pPr>
                      <a:r>
                        <a:rPr sz="1000" b="1">
                          <a:solidFill>
                            <a:srgbClr val="FFFFFF"/>
                          </a:solidFill>
                          <a:latin typeface="微软雅黑"/>
                          <a:ea typeface="微软雅黑"/>
                        </a:rPr>
                        <a:t>自研及试点进展</a:t>
                      </a:r>
                    </a:p>
                  </a:txBody>
                  <a:tcPr marL="13716" marR="13716" marT="4572" marB="4572" anchor="ctr">
                    <a:solidFill>
                      <a:srgbClr val="4472C4"/>
                    </a:solidFill>
                  </a:tcPr>
                </a:tc>
                <a:tc>
                  <a:txBody>
                    <a:bodyPr/>
                    <a:lstStyle/>
                    <a:p>
                      <a:pPr algn="ctr">
                        <a:lnSpc>
                          <a:spcPct val="100000"/>
                        </a:lnSpc>
                        <a:spcBef>
                          <a:spcPts val="0"/>
                        </a:spcBef>
                        <a:spcAft>
                          <a:spcPts val="0"/>
                        </a:spcAft>
                        <a:defRPr sz="1300" b="1">
                          <a:latin typeface="微软雅黑"/>
                        </a:defRPr>
                      </a:pPr>
                      <a:r>
                        <a:rPr sz="1000" b="1">
                          <a:solidFill>
                            <a:srgbClr val="FFFFFF"/>
                          </a:solidFill>
                          <a:latin typeface="微软雅黑"/>
                          <a:ea typeface="微软雅黑"/>
                        </a:rPr>
                        <a:t>知识产权</a:t>
                      </a:r>
                    </a:p>
                  </a:txBody>
                  <a:tcPr marL="13716" marR="13716" marT="4572" marB="4572" anchor="ctr">
                    <a:solidFill>
                      <a:srgbClr val="4472C4"/>
                    </a:solidFill>
                  </a:tcPr>
                </a:tc>
                <a:extLst>
                  <a:ext uri="{0D108BD9-81ED-4DB2-BD59-A6C34878D82A}">
                    <a16:rowId xmlns:a16="http://schemas.microsoft.com/office/drawing/2014/main" val="10000"/>
                  </a:ext>
                </a:extLst>
              </a:tr>
              <a:tr h="346436">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集</a:t>
                      </a:r>
                    </a:p>
                  </a:txBody>
                  <a:tcPr marL="13716" marR="13716" marT="4572" marB="4572" anchor="ctr">
                    <a:solidFill>
                      <a:srgbClr val="DDEB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基于AI映射及多智能体自组织模式下的宽带业务支撑系统（宽带大脑）</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endParaRP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endParaRPr/>
                    </a:p>
                  </a:txBody>
                  <a:tcPr marL="13716" marR="13716" marT="4572" marB="4572" anchor="ctr">
                    <a:solidFill>
                      <a:srgbClr val="EAEFF7"/>
                    </a:solidFill>
                  </a:tcPr>
                </a:tc>
                <a:extLst>
                  <a:ext uri="{0D108BD9-81ED-4DB2-BD59-A6C34878D82A}">
                    <a16:rowId xmlns:a16="http://schemas.microsoft.com/office/drawing/2014/main" val="10001"/>
                  </a:ext>
                </a:extLst>
              </a:tr>
              <a:tr h="346436">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集/咨</a:t>
                      </a:r>
                    </a:p>
                  </a:txBody>
                  <a:tcPr marL="13716" marR="13716" marT="4572" marB="4572" anchor="ctr">
                    <a:solidFill>
                      <a:srgbClr val="DDEB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智家产品</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endParaRP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endParaRPr/>
                    </a:p>
                  </a:txBody>
                  <a:tcPr marL="13716" marR="13716" marT="4572" marB="4572" anchor="ctr">
                    <a:solidFill>
                      <a:srgbClr val="EAEFF7"/>
                    </a:solidFill>
                  </a:tcPr>
                </a:tc>
                <a:extLst>
                  <a:ext uri="{0D108BD9-81ED-4DB2-BD59-A6C34878D82A}">
                    <a16:rowId xmlns:a16="http://schemas.microsoft.com/office/drawing/2014/main" val="10002"/>
                  </a:ext>
                </a:extLst>
              </a:tr>
              <a:tr h="346436">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北</a:t>
                      </a:r>
                    </a:p>
                  </a:txBody>
                  <a:tcPr marL="13716" marR="13716" marT="4572" marB="4572" anchor="ctr">
                    <a:solidFill>
                      <a:srgbClr val="DDEB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低轨卫星专网覆盖产品（天联专网低轨接入网关）</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endParaRP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1个专利
1篇论文</a:t>
                      </a:r>
                    </a:p>
                  </a:txBody>
                  <a:tcPr marL="13716" marR="13716" marT="4572" marB="4572" anchor="ctr">
                    <a:solidFill>
                      <a:srgbClr val="EAEFF7"/>
                    </a:solidFill>
                  </a:tcPr>
                </a:tc>
                <a:extLst>
                  <a:ext uri="{0D108BD9-81ED-4DB2-BD59-A6C34878D82A}">
                    <a16:rowId xmlns:a16="http://schemas.microsoft.com/office/drawing/2014/main" val="10003"/>
                  </a:ext>
                </a:extLst>
              </a:tr>
              <a:tr h="346436">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重</a:t>
                      </a:r>
                    </a:p>
                  </a:txBody>
                  <a:tcPr marL="13716" marR="13716" marT="4572" marB="4572" anchor="ctr">
                    <a:solidFill>
                      <a:srgbClr val="DDEB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安全分流产品</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endParaRP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endParaRPr/>
                    </a:p>
                  </a:txBody>
                  <a:tcPr marL="13716" marR="13716" marT="4572" marB="4572" anchor="ctr">
                    <a:solidFill>
                      <a:srgbClr val="EAEFF7"/>
                    </a:solidFill>
                  </a:tcPr>
                </a:tc>
                <a:extLst>
                  <a:ext uri="{0D108BD9-81ED-4DB2-BD59-A6C34878D82A}">
                    <a16:rowId xmlns:a16="http://schemas.microsoft.com/office/drawing/2014/main" val="10004"/>
                  </a:ext>
                </a:extLst>
              </a:tr>
              <a:tr h="346436">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智</a:t>
                      </a:r>
                    </a:p>
                  </a:txBody>
                  <a:tcPr marL="13716" marR="13716" marT="4572" marB="4572" anchor="ctr">
                    <a:solidFill>
                      <a:srgbClr val="DDEB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数字孪生水网（基础版）应用系统</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雨水情智能体已经具有初步的研发成果</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endParaRPr/>
                    </a:p>
                  </a:txBody>
                  <a:tcPr marL="13716" marR="13716" marT="4572" marB="4572" anchor="ctr">
                    <a:solidFill>
                      <a:srgbClr val="EAEFF7"/>
                    </a:solidFill>
                  </a:tcPr>
                </a:tc>
                <a:extLst>
                  <a:ext uri="{0D108BD9-81ED-4DB2-BD59-A6C34878D82A}">
                    <a16:rowId xmlns:a16="http://schemas.microsoft.com/office/drawing/2014/main" val="10005"/>
                  </a:ext>
                </a:extLst>
              </a:tr>
              <a:tr h="346436">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集</a:t>
                      </a:r>
                    </a:p>
                  </a:txBody>
                  <a:tcPr marL="13716" marR="13716" marT="4572" marB="4572" anchor="ctr">
                    <a:solidFill>
                      <a:srgbClr val="DDEB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网信安反诈产品</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endParaRP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endParaRPr/>
                    </a:p>
                  </a:txBody>
                  <a:tcPr marL="13716" marR="13716" marT="4572" marB="4572" anchor="ctr">
                    <a:solidFill>
                      <a:srgbClr val="EAEFF7"/>
                    </a:solidFill>
                  </a:tcPr>
                </a:tc>
                <a:extLst>
                  <a:ext uri="{0D108BD9-81ED-4DB2-BD59-A6C34878D82A}">
                    <a16:rowId xmlns:a16="http://schemas.microsoft.com/office/drawing/2014/main" val="10006"/>
                  </a:ext>
                </a:extLst>
              </a:tr>
              <a:tr h="346436">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集</a:t>
                      </a:r>
                    </a:p>
                  </a:txBody>
                  <a:tcPr marL="13716" marR="13716" marT="4572" marB="4572" anchor="ctr">
                    <a:solidFill>
                      <a:srgbClr val="DDEBF7"/>
                    </a:solidFill>
                  </a:tcPr>
                </a:tc>
                <a:tc>
                  <a:txBody>
                    <a:bodyPr/>
                    <a:lstStyle/>
                    <a:p>
                      <a:pPr algn="l">
                        <a:lnSpc>
                          <a:spcPct val="100000"/>
                        </a:lnSpc>
                        <a:spcBef>
                          <a:spcPts val="0"/>
                        </a:spcBef>
                        <a:spcAft>
                          <a:spcPts val="0"/>
                        </a:spcAft>
                        <a:defRPr sz="1300">
                          <a:latin typeface="微软雅黑"/>
                        </a:defRPr>
                      </a:pPr>
                      <a:endParaRP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地理信息化支撑平台</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已开展3期系统建设，具备成熟的地理信息平台架构</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endParaRPr/>
                    </a:p>
                  </a:txBody>
                  <a:tcPr marL="13716" marR="13716" marT="4572" marB="4572" anchor="ctr">
                    <a:solidFill>
                      <a:srgbClr val="EAEFF7"/>
                    </a:solidFill>
                  </a:tcPr>
                </a:tc>
                <a:extLst>
                  <a:ext uri="{0D108BD9-81ED-4DB2-BD59-A6C34878D82A}">
                    <a16:rowId xmlns:a16="http://schemas.microsoft.com/office/drawing/2014/main" val="10007"/>
                  </a:ext>
                </a:extLst>
              </a:tr>
              <a:tr h="346436">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智</a:t>
                      </a:r>
                    </a:p>
                  </a:txBody>
                  <a:tcPr marL="13716" marR="13716" marT="4572" marB="4572" anchor="ctr">
                    <a:solidFill>
                      <a:srgbClr val="DDEBF7"/>
                    </a:solidFill>
                  </a:tcPr>
                </a:tc>
                <a:tc>
                  <a:txBody>
                    <a:bodyPr/>
                    <a:lstStyle/>
                    <a:p>
                      <a:pPr algn="l">
                        <a:lnSpc>
                          <a:spcPct val="100000"/>
                        </a:lnSpc>
                        <a:spcBef>
                          <a:spcPts val="0"/>
                        </a:spcBef>
                        <a:spcAft>
                          <a:spcPts val="0"/>
                        </a:spcAft>
                        <a:defRPr sz="1300">
                          <a:latin typeface="微软雅黑"/>
                        </a:defRPr>
                      </a:pPr>
                      <a:endParaRP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中讯院央企数字化转型通用方案</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endParaRP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4个方案
1篇论文</a:t>
                      </a:r>
                    </a:p>
                  </a:txBody>
                  <a:tcPr marL="13716" marR="13716" marT="4572" marB="4572" anchor="ctr">
                    <a:solidFill>
                      <a:srgbClr val="EAEFF7"/>
                    </a:solidFill>
                  </a:tcPr>
                </a:tc>
                <a:extLst>
                  <a:ext uri="{0D108BD9-81ED-4DB2-BD59-A6C34878D82A}">
                    <a16:rowId xmlns:a16="http://schemas.microsoft.com/office/drawing/2014/main" val="10008"/>
                  </a:ext>
                </a:extLst>
              </a:tr>
              <a:tr h="346436">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重</a:t>
                      </a:r>
                    </a:p>
                  </a:txBody>
                  <a:tcPr marL="13716" marR="13716" marT="4572" marB="4572" anchor="ctr">
                    <a:solidFill>
                      <a:srgbClr val="DDEBF7"/>
                    </a:solidFill>
                  </a:tcPr>
                </a:tc>
                <a:tc>
                  <a:txBody>
                    <a:bodyPr/>
                    <a:lstStyle/>
                    <a:p>
                      <a:pPr algn="l">
                        <a:lnSpc>
                          <a:spcPct val="100000"/>
                        </a:lnSpc>
                        <a:spcBef>
                          <a:spcPts val="0"/>
                        </a:spcBef>
                        <a:spcAft>
                          <a:spcPts val="0"/>
                        </a:spcAft>
                        <a:defRPr sz="1300">
                          <a:latin typeface="微软雅黑"/>
                        </a:defRPr>
                      </a:pPr>
                      <a:endParaRP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光缆线路智能化监控平台产品</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正在与科研单位进行技术交流和合作模式探讨</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endParaRPr/>
                    </a:p>
                  </a:txBody>
                  <a:tcPr marL="13716" marR="13716" marT="4572" marB="4572" anchor="ctr">
                    <a:solidFill>
                      <a:srgbClr val="EAEFF7"/>
                    </a:solidFill>
                  </a:tcPr>
                </a:tc>
                <a:extLst>
                  <a:ext uri="{0D108BD9-81ED-4DB2-BD59-A6C34878D82A}">
                    <a16:rowId xmlns:a16="http://schemas.microsoft.com/office/drawing/2014/main" val="10009"/>
                  </a:ext>
                </a:extLst>
              </a:tr>
              <a:tr h="346436">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北</a:t>
                      </a:r>
                    </a:p>
                  </a:txBody>
                  <a:tcPr marL="13716" marR="13716" marT="4572" marB="4572" anchor="ctr">
                    <a:solidFill>
                      <a:srgbClr val="DDEBF7"/>
                    </a:solidFill>
                  </a:tcPr>
                </a:tc>
                <a:tc>
                  <a:txBody>
                    <a:bodyPr/>
                    <a:lstStyle/>
                    <a:p>
                      <a:pPr algn="l">
                        <a:lnSpc>
                          <a:spcPct val="100000"/>
                        </a:lnSpc>
                        <a:spcBef>
                          <a:spcPts val="0"/>
                        </a:spcBef>
                        <a:spcAft>
                          <a:spcPts val="0"/>
                        </a:spcAft>
                        <a:defRPr sz="1300">
                          <a:latin typeface="微软雅黑"/>
                        </a:defRPr>
                      </a:pPr>
                      <a:endParaRP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轻量化低空多模态监测系统</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endParaRP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1个专利
1篇论文</a:t>
                      </a:r>
                    </a:p>
                  </a:txBody>
                  <a:tcPr marL="13716" marR="13716" marT="4572" marB="4572" anchor="ctr">
                    <a:solidFill>
                      <a:srgbClr val="EAEFF7"/>
                    </a:solidFill>
                  </a:tcPr>
                </a:tc>
                <a:extLst>
                  <a:ext uri="{0D108BD9-81ED-4DB2-BD59-A6C34878D82A}">
                    <a16:rowId xmlns:a16="http://schemas.microsoft.com/office/drawing/2014/main" val="10010"/>
                  </a:ext>
                </a:extLst>
              </a:tr>
              <a:tr h="346436">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建</a:t>
                      </a:r>
                    </a:p>
                  </a:txBody>
                  <a:tcPr marL="13716" marR="13716" marT="4572" marB="4572" anchor="ctr">
                    <a:solidFill>
                      <a:srgbClr val="DDEBF7"/>
                    </a:solidFill>
                  </a:tcPr>
                </a:tc>
                <a:tc>
                  <a:txBody>
                    <a:bodyPr/>
                    <a:lstStyle/>
                    <a:p>
                      <a:pPr algn="l">
                        <a:lnSpc>
                          <a:spcPct val="100000"/>
                        </a:lnSpc>
                        <a:spcBef>
                          <a:spcPts val="0"/>
                        </a:spcBef>
                        <a:spcAft>
                          <a:spcPts val="0"/>
                        </a:spcAft>
                        <a:defRPr sz="1300">
                          <a:latin typeface="微软雅黑"/>
                        </a:defRPr>
                      </a:pPr>
                      <a:endParaRP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算力中心绿电消纳与智慧调度综合解决方案</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endParaRP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endParaRPr/>
                    </a:p>
                  </a:txBody>
                  <a:tcPr marL="13716" marR="13716" marT="4572" marB="4572" anchor="ctr">
                    <a:solidFill>
                      <a:srgbClr val="EAEFF7"/>
                    </a:solidFill>
                  </a:tcPr>
                </a:tc>
                <a:extLst>
                  <a:ext uri="{0D108BD9-81ED-4DB2-BD59-A6C34878D82A}">
                    <a16:rowId xmlns:a16="http://schemas.microsoft.com/office/drawing/2014/main" val="10011"/>
                  </a:ext>
                </a:extLst>
              </a:tr>
              <a:tr h="346436">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建</a:t>
                      </a:r>
                    </a:p>
                  </a:txBody>
                  <a:tcPr marL="13716" marR="13716" marT="4572" marB="4572" anchor="ctr">
                    <a:solidFill>
                      <a:srgbClr val="DDEBF7"/>
                    </a:solidFill>
                  </a:tcPr>
                </a:tc>
                <a:tc>
                  <a:txBody>
                    <a:bodyPr/>
                    <a:lstStyle/>
                    <a:p>
                      <a:pPr algn="l">
                        <a:lnSpc>
                          <a:spcPct val="100000"/>
                        </a:lnSpc>
                        <a:spcBef>
                          <a:spcPts val="0"/>
                        </a:spcBef>
                        <a:spcAft>
                          <a:spcPts val="0"/>
                        </a:spcAft>
                        <a:defRPr sz="1300">
                          <a:latin typeface="微软雅黑"/>
                        </a:defRPr>
                      </a:pPr>
                      <a:endParaRP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算力中心智能运维系统及机器人应用</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endParaRP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endParaRPr/>
                    </a:p>
                  </a:txBody>
                  <a:tcPr marL="13716" marR="13716" marT="4572" marB="4572" anchor="ctr">
                    <a:solidFill>
                      <a:srgbClr val="EAEFF7"/>
                    </a:solidFill>
                  </a:tcPr>
                </a:tc>
                <a:extLst>
                  <a:ext uri="{0D108BD9-81ED-4DB2-BD59-A6C34878D82A}">
                    <a16:rowId xmlns:a16="http://schemas.microsoft.com/office/drawing/2014/main" val="10012"/>
                  </a:ext>
                </a:extLst>
              </a:tr>
            </a:tbl>
          </a:graphicData>
        </a:graphic>
      </p:graphicFrame>
      <p:graphicFrame>
        <p:nvGraphicFramePr>
          <p:cNvPr id="22" name="Table 21"/>
          <p:cNvGraphicFramePr>
            <a:graphicFrameLocks noGrp="1"/>
          </p:cNvGraphicFramePr>
          <p:nvPr/>
        </p:nvGraphicFramePr>
        <p:xfrm>
          <a:off x="7936992" y="2862072"/>
          <a:ext cx="3886200" cy="3657598"/>
        </p:xfrm>
        <a:graphic>
          <a:graphicData uri="http://schemas.openxmlformats.org/drawingml/2006/table">
            <a:tbl>
              <a:tblPr>
                <a:tableStyleId>{5C22544A-7EE6-4342-B048-85BDC9FD1C3A}</a:tableStyleId>
              </a:tblPr>
              <a:tblGrid>
                <a:gridCol w="59436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77724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594360">
                  <a:extLst>
                    <a:ext uri="{9D8B030D-6E8A-4147-A177-3AD203B41FA5}">
                      <a16:colId xmlns:a16="http://schemas.microsoft.com/office/drawing/2014/main" val="20004"/>
                    </a:ext>
                  </a:extLst>
                </a:gridCol>
              </a:tblGrid>
              <a:tr h="494270">
                <a:tc rowSpan="2">
                  <a:txBody>
                    <a:bodyPr/>
                    <a:lstStyle/>
                    <a:p>
                      <a:pPr algn="ctr">
                        <a:lnSpc>
                          <a:spcPct val="100000"/>
                        </a:lnSpc>
                        <a:spcBef>
                          <a:spcPts val="0"/>
                        </a:spcBef>
                        <a:spcAft>
                          <a:spcPts val="0"/>
                        </a:spcAft>
                      </a:pPr>
                      <a:r>
                        <a:rPr sz="1000" b="1">
                          <a:solidFill>
                            <a:srgbClr val="FFFFFF"/>
                          </a:solidFill>
                          <a:latin typeface="微软雅黑"/>
                          <a:ea typeface="微软雅黑"/>
                        </a:rPr>
                        <a:t>部门</a:t>
                      </a:r>
                    </a:p>
                  </a:txBody>
                  <a:tcPr marL="13716" marR="13716" marT="4572" marB="4572" anchor="ctr">
                    <a:solidFill>
                      <a:srgbClr val="0047A0"/>
                    </a:solidFill>
                  </a:tcPr>
                </a:tc>
                <a:tc gridSpan="4">
                  <a:txBody>
                    <a:bodyPr/>
                    <a:lstStyle/>
                    <a:p>
                      <a:pPr algn="ctr">
                        <a:lnSpc>
                          <a:spcPct val="100000"/>
                        </a:lnSpc>
                        <a:spcBef>
                          <a:spcPts val="0"/>
                        </a:spcBef>
                        <a:spcAft>
                          <a:spcPts val="0"/>
                        </a:spcAft>
                      </a:pPr>
                      <a:r>
                        <a:rPr sz="1200" b="1">
                          <a:solidFill>
                            <a:srgbClr val="FFFFFF"/>
                          </a:solidFill>
                          <a:latin typeface="微软雅黑"/>
                          <a:ea typeface="微软雅黑"/>
                        </a:rPr>
                        <a:t>知识成果</a:t>
                      </a:r>
                    </a:p>
                  </a:txBody>
                  <a:tcPr marL="13716" marR="13716" marT="4572" marB="4572" anchor="ctr">
                    <a:solidFill>
                      <a:srgbClr val="0047A0"/>
                    </a:solidFill>
                  </a:tcPr>
                </a:tc>
                <a:tc hMerge="1">
                  <a:txBody>
                    <a:bodyPr/>
                    <a:lstStyle/>
                    <a:p>
                      <a:pPr algn="ctr">
                        <a:lnSpc>
                          <a:spcPct val="100000"/>
                        </a:lnSpc>
                        <a:spcBef>
                          <a:spcPts val="0"/>
                        </a:spcBef>
                        <a:spcAft>
                          <a:spcPts val="0"/>
                        </a:spcAft>
                      </a:pPr>
                      <a:endParaRPr/>
                    </a:p>
                  </a:txBody>
                  <a:tcPr marL="13716" marR="13716" marT="4572" marB="4572" anchor="ctr">
                    <a:solidFill>
                      <a:srgbClr val="4472C4"/>
                    </a:solidFill>
                  </a:tcPr>
                </a:tc>
                <a:tc hMerge="1">
                  <a:txBody>
                    <a:bodyPr/>
                    <a:lstStyle/>
                    <a:p>
                      <a:pPr algn="ctr">
                        <a:lnSpc>
                          <a:spcPct val="100000"/>
                        </a:lnSpc>
                        <a:spcBef>
                          <a:spcPts val="0"/>
                        </a:spcBef>
                        <a:spcAft>
                          <a:spcPts val="0"/>
                        </a:spcAft>
                      </a:pPr>
                      <a:endParaRPr/>
                    </a:p>
                  </a:txBody>
                  <a:tcPr marL="13716" marR="13716" marT="4572" marB="4572" anchor="ctr">
                    <a:solidFill>
                      <a:srgbClr val="4472C4"/>
                    </a:solidFill>
                  </a:tcPr>
                </a:tc>
                <a:tc hMerge="1">
                  <a:txBody>
                    <a:bodyPr/>
                    <a:lstStyle/>
                    <a:p>
                      <a:pPr algn="ctr">
                        <a:lnSpc>
                          <a:spcPct val="100000"/>
                        </a:lnSpc>
                        <a:spcBef>
                          <a:spcPts val="0"/>
                        </a:spcBef>
                        <a:spcAft>
                          <a:spcPts val="0"/>
                        </a:spcAft>
                      </a:pPr>
                      <a:endParaRPr/>
                    </a:p>
                  </a:txBody>
                  <a:tcPr marL="13716" marR="13716" marT="4572" marB="4572" anchor="ctr">
                    <a:solidFill>
                      <a:srgbClr val="4472C4"/>
                    </a:solidFill>
                  </a:tcPr>
                </a:tc>
                <a:extLst>
                  <a:ext uri="{0D108BD9-81ED-4DB2-BD59-A6C34878D82A}">
                    <a16:rowId xmlns:a16="http://schemas.microsoft.com/office/drawing/2014/main" val="10000"/>
                  </a:ext>
                </a:extLst>
              </a:tr>
              <a:tr h="395416">
                <a:tc vMerge="1">
                  <a:txBody>
                    <a:bodyPr/>
                    <a:lstStyle/>
                    <a:p>
                      <a:pPr algn="ctr">
                        <a:lnSpc>
                          <a:spcPct val="100000"/>
                        </a:lnSpc>
                        <a:spcBef>
                          <a:spcPts val="0"/>
                        </a:spcBef>
                        <a:spcAft>
                          <a:spcPts val="0"/>
                        </a:spcAft>
                      </a:pPr>
                      <a:endParaRPr/>
                    </a:p>
                  </a:txBody>
                  <a:tcPr marL="13716" marR="13716" marT="4572" marB="4572" anchor="ctr">
                    <a:solidFill>
                      <a:srgbClr val="4472C4"/>
                    </a:solidFill>
                  </a:tcPr>
                </a:tc>
                <a:tc>
                  <a:txBody>
                    <a:bodyPr/>
                    <a:lstStyle/>
                    <a:p>
                      <a:pPr algn="ctr">
                        <a:lnSpc>
                          <a:spcPct val="100000"/>
                        </a:lnSpc>
                        <a:spcBef>
                          <a:spcPts val="0"/>
                        </a:spcBef>
                        <a:spcAft>
                          <a:spcPts val="0"/>
                        </a:spcAft>
                        <a:defRPr sz="1300">
                          <a:latin typeface="微软雅黑"/>
                        </a:defRPr>
                      </a:pPr>
                      <a:r>
                        <a:rPr sz="1000" b="1">
                          <a:solidFill>
                            <a:srgbClr val="FFFFFF"/>
                          </a:solidFill>
                          <a:latin typeface="微软雅黑"/>
                          <a:ea typeface="微软雅黑"/>
                        </a:rPr>
                        <a:t>发明专利受理</a:t>
                      </a:r>
                    </a:p>
                  </a:txBody>
                  <a:tcPr marL="13716" marR="13716" marT="4572" marB="4572" anchor="ctr">
                    <a:solidFill>
                      <a:srgbClr val="0047A0"/>
                    </a:solidFill>
                  </a:tcPr>
                </a:tc>
                <a:tc>
                  <a:txBody>
                    <a:bodyPr/>
                    <a:lstStyle/>
                    <a:p>
                      <a:pPr algn="ctr">
                        <a:lnSpc>
                          <a:spcPct val="100000"/>
                        </a:lnSpc>
                        <a:spcBef>
                          <a:spcPts val="0"/>
                        </a:spcBef>
                        <a:spcAft>
                          <a:spcPts val="0"/>
                        </a:spcAft>
                        <a:defRPr sz="1300">
                          <a:latin typeface="微软雅黑"/>
                        </a:defRPr>
                      </a:pPr>
                      <a:r>
                        <a:rPr sz="1000" b="1">
                          <a:solidFill>
                            <a:srgbClr val="FFFFFF"/>
                          </a:solidFill>
                          <a:latin typeface="微软雅黑"/>
                          <a:ea typeface="微软雅黑"/>
                        </a:rPr>
                        <a:t>国行标（发布）</a:t>
                      </a:r>
                    </a:p>
                  </a:txBody>
                  <a:tcPr marL="13716" marR="13716" marT="4572" marB="4572" anchor="ctr">
                    <a:solidFill>
                      <a:srgbClr val="0047A0"/>
                    </a:solidFill>
                  </a:tcPr>
                </a:tc>
                <a:tc>
                  <a:txBody>
                    <a:bodyPr/>
                    <a:lstStyle/>
                    <a:p>
                      <a:pPr algn="ctr">
                        <a:lnSpc>
                          <a:spcPct val="100000"/>
                        </a:lnSpc>
                        <a:spcBef>
                          <a:spcPts val="0"/>
                        </a:spcBef>
                        <a:spcAft>
                          <a:spcPts val="0"/>
                        </a:spcAft>
                        <a:defRPr sz="1300">
                          <a:latin typeface="微软雅黑"/>
                        </a:defRPr>
                      </a:pPr>
                      <a:r>
                        <a:rPr sz="1000" b="1">
                          <a:solidFill>
                            <a:srgbClr val="FFFFFF"/>
                          </a:solidFill>
                          <a:latin typeface="微软雅黑"/>
                          <a:ea typeface="微软雅黑"/>
                        </a:rPr>
                        <a:t>国行标（审查及以上阶段）</a:t>
                      </a:r>
                    </a:p>
                  </a:txBody>
                  <a:tcPr marL="13716" marR="13716" marT="4572" marB="4572" anchor="ctr">
                    <a:solidFill>
                      <a:srgbClr val="0047A0"/>
                    </a:solidFill>
                  </a:tcPr>
                </a:tc>
                <a:tc>
                  <a:txBody>
                    <a:bodyPr/>
                    <a:lstStyle/>
                    <a:p>
                      <a:pPr algn="ctr">
                        <a:lnSpc>
                          <a:spcPct val="100000"/>
                        </a:lnSpc>
                        <a:spcBef>
                          <a:spcPts val="0"/>
                        </a:spcBef>
                        <a:spcAft>
                          <a:spcPts val="0"/>
                        </a:spcAft>
                        <a:defRPr sz="1300">
                          <a:latin typeface="微软雅黑"/>
                        </a:defRPr>
                      </a:pPr>
                      <a:r>
                        <a:rPr sz="1000" b="1">
                          <a:solidFill>
                            <a:srgbClr val="FFFFFF"/>
                          </a:solidFill>
                          <a:latin typeface="微软雅黑"/>
                          <a:ea typeface="微软雅黑"/>
                        </a:rPr>
                        <a:t>软著</a:t>
                      </a:r>
                    </a:p>
                  </a:txBody>
                  <a:tcPr marL="13716" marR="13716" marT="4572" marB="4572" anchor="ctr">
                    <a:solidFill>
                      <a:srgbClr val="0047A0"/>
                    </a:solidFill>
                  </a:tcPr>
                </a:tc>
                <a:extLst>
                  <a:ext uri="{0D108BD9-81ED-4DB2-BD59-A6C34878D82A}">
                    <a16:rowId xmlns:a16="http://schemas.microsoft.com/office/drawing/2014/main" val="10001"/>
                  </a:ext>
                </a:extLst>
              </a:tr>
              <a:tr h="395416">
                <a:tc>
                  <a:txBody>
                    <a:bodyPr/>
                    <a:lstStyle/>
                    <a:p>
                      <a:pPr algn="ctr">
                        <a:lnSpc>
                          <a:spcPct val="100000"/>
                        </a:lnSpc>
                        <a:spcBef>
                          <a:spcPts val="0"/>
                        </a:spcBef>
                        <a:spcAft>
                          <a:spcPts val="0"/>
                        </a:spcAft>
                        <a:defRPr sz="1300">
                          <a:latin typeface="微软雅黑"/>
                        </a:defRPr>
                      </a:pPr>
                      <a:r>
                        <a:rPr sz="1000" b="0">
                          <a:solidFill>
                            <a:srgbClr val="232D37"/>
                          </a:solidFill>
                          <a:latin typeface="微软雅黑"/>
                          <a:ea typeface="微软雅黑"/>
                        </a:rPr>
                        <a:t>京</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受理2，在途2</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1国</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2国</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endParaRPr/>
                    </a:p>
                  </a:txBody>
                  <a:tcPr marL="13716" marR="13716" marT="4572" marB="4572" anchor="ctr">
                    <a:solidFill>
                      <a:srgbClr val="EAEFF7"/>
                    </a:solidFill>
                  </a:tcPr>
                </a:tc>
                <a:extLst>
                  <a:ext uri="{0D108BD9-81ED-4DB2-BD59-A6C34878D82A}">
                    <a16:rowId xmlns:a16="http://schemas.microsoft.com/office/drawing/2014/main" val="10002"/>
                  </a:ext>
                </a:extLst>
              </a:tr>
              <a:tr h="395416">
                <a:tc>
                  <a:txBody>
                    <a:bodyPr/>
                    <a:lstStyle/>
                    <a:p>
                      <a:pPr algn="ctr">
                        <a:lnSpc>
                          <a:spcPct val="100000"/>
                        </a:lnSpc>
                        <a:spcBef>
                          <a:spcPts val="0"/>
                        </a:spcBef>
                        <a:spcAft>
                          <a:spcPts val="0"/>
                        </a:spcAft>
                        <a:defRPr sz="1300">
                          <a:latin typeface="微软雅黑"/>
                        </a:defRPr>
                      </a:pPr>
                      <a:r>
                        <a:rPr sz="1000" b="0">
                          <a:solidFill>
                            <a:srgbClr val="232D37"/>
                          </a:solidFill>
                          <a:latin typeface="微软雅黑"/>
                          <a:ea typeface="微软雅黑"/>
                        </a:rPr>
                        <a:t>集</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受理4，在途2</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1国</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4国</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2</a:t>
                      </a:r>
                    </a:p>
                  </a:txBody>
                  <a:tcPr marL="13716" marR="13716" marT="4572" marB="4572" anchor="ctr">
                    <a:solidFill>
                      <a:srgbClr val="EAEFF7"/>
                    </a:solidFill>
                  </a:tcPr>
                </a:tc>
                <a:extLst>
                  <a:ext uri="{0D108BD9-81ED-4DB2-BD59-A6C34878D82A}">
                    <a16:rowId xmlns:a16="http://schemas.microsoft.com/office/drawing/2014/main" val="10003"/>
                  </a:ext>
                </a:extLst>
              </a:tr>
              <a:tr h="395416">
                <a:tc>
                  <a:txBody>
                    <a:bodyPr/>
                    <a:lstStyle/>
                    <a:p>
                      <a:pPr algn="ctr">
                        <a:lnSpc>
                          <a:spcPct val="100000"/>
                        </a:lnSpc>
                        <a:spcBef>
                          <a:spcPts val="0"/>
                        </a:spcBef>
                        <a:spcAft>
                          <a:spcPts val="0"/>
                        </a:spcAft>
                        <a:defRPr sz="1300">
                          <a:latin typeface="微软雅黑"/>
                        </a:defRPr>
                      </a:pPr>
                      <a:r>
                        <a:rPr sz="1000" b="0">
                          <a:solidFill>
                            <a:srgbClr val="232D37"/>
                          </a:solidFill>
                          <a:latin typeface="微软雅黑"/>
                          <a:ea typeface="微软雅黑"/>
                        </a:rPr>
                        <a:t>建</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受理1</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endParaRP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endParaRP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endParaRPr/>
                    </a:p>
                  </a:txBody>
                  <a:tcPr marL="13716" marR="13716" marT="4572" marB="4572" anchor="ctr">
                    <a:solidFill>
                      <a:srgbClr val="EAEFF7"/>
                    </a:solidFill>
                  </a:tcPr>
                </a:tc>
                <a:extLst>
                  <a:ext uri="{0D108BD9-81ED-4DB2-BD59-A6C34878D82A}">
                    <a16:rowId xmlns:a16="http://schemas.microsoft.com/office/drawing/2014/main" val="10004"/>
                  </a:ext>
                </a:extLst>
              </a:tr>
              <a:tr h="395416">
                <a:tc>
                  <a:txBody>
                    <a:bodyPr/>
                    <a:lstStyle/>
                    <a:p>
                      <a:pPr algn="ctr">
                        <a:lnSpc>
                          <a:spcPct val="100000"/>
                        </a:lnSpc>
                        <a:spcBef>
                          <a:spcPts val="0"/>
                        </a:spcBef>
                        <a:spcAft>
                          <a:spcPts val="0"/>
                        </a:spcAft>
                        <a:defRPr sz="1300">
                          <a:latin typeface="微软雅黑"/>
                        </a:defRPr>
                      </a:pPr>
                      <a:r>
                        <a:rPr sz="1000" b="0">
                          <a:solidFill>
                            <a:srgbClr val="232D37"/>
                          </a:solidFill>
                          <a:latin typeface="微软雅黑"/>
                          <a:ea typeface="微软雅黑"/>
                        </a:rPr>
                        <a:t>智</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在途1</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endParaRP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1国2行</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endParaRPr/>
                    </a:p>
                  </a:txBody>
                  <a:tcPr marL="13716" marR="13716" marT="4572" marB="4572" anchor="ctr">
                    <a:solidFill>
                      <a:srgbClr val="EAEFF7"/>
                    </a:solidFill>
                  </a:tcPr>
                </a:tc>
                <a:extLst>
                  <a:ext uri="{0D108BD9-81ED-4DB2-BD59-A6C34878D82A}">
                    <a16:rowId xmlns:a16="http://schemas.microsoft.com/office/drawing/2014/main" val="10005"/>
                  </a:ext>
                </a:extLst>
              </a:tr>
              <a:tr h="395416">
                <a:tc>
                  <a:txBody>
                    <a:bodyPr/>
                    <a:lstStyle/>
                    <a:p>
                      <a:pPr algn="ctr">
                        <a:lnSpc>
                          <a:spcPct val="100000"/>
                        </a:lnSpc>
                        <a:spcBef>
                          <a:spcPts val="0"/>
                        </a:spcBef>
                        <a:spcAft>
                          <a:spcPts val="0"/>
                        </a:spcAft>
                        <a:defRPr sz="1300">
                          <a:latin typeface="微软雅黑"/>
                        </a:defRPr>
                      </a:pPr>
                      <a:r>
                        <a:rPr sz="1000" b="0">
                          <a:solidFill>
                            <a:srgbClr val="232D37"/>
                          </a:solidFill>
                          <a:latin typeface="微软雅黑"/>
                          <a:ea typeface="微软雅黑"/>
                        </a:rPr>
                        <a:t>重</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在途1</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endParaRP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endParaRP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endParaRPr/>
                    </a:p>
                  </a:txBody>
                  <a:tcPr marL="13716" marR="13716" marT="4572" marB="4572" anchor="ctr">
                    <a:solidFill>
                      <a:srgbClr val="EAEFF7"/>
                    </a:solidFill>
                  </a:tcPr>
                </a:tc>
                <a:extLst>
                  <a:ext uri="{0D108BD9-81ED-4DB2-BD59-A6C34878D82A}">
                    <a16:rowId xmlns:a16="http://schemas.microsoft.com/office/drawing/2014/main" val="10006"/>
                  </a:ext>
                </a:extLst>
              </a:tr>
              <a:tr h="395416">
                <a:tc>
                  <a:txBody>
                    <a:bodyPr/>
                    <a:lstStyle/>
                    <a:p>
                      <a:pPr algn="ctr">
                        <a:lnSpc>
                          <a:spcPct val="100000"/>
                        </a:lnSpc>
                        <a:spcBef>
                          <a:spcPts val="0"/>
                        </a:spcBef>
                        <a:spcAft>
                          <a:spcPts val="0"/>
                        </a:spcAft>
                        <a:defRPr sz="1300">
                          <a:latin typeface="微软雅黑"/>
                        </a:defRPr>
                      </a:pPr>
                      <a:r>
                        <a:rPr sz="1000" b="0">
                          <a:solidFill>
                            <a:srgbClr val="232D37"/>
                          </a:solidFill>
                          <a:latin typeface="微软雅黑"/>
                          <a:ea typeface="微软雅黑"/>
                        </a:rPr>
                        <a:t>集咨</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在途1</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endParaRP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1国</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endParaRPr/>
                    </a:p>
                  </a:txBody>
                  <a:tcPr marL="13716" marR="13716" marT="4572" marB="4572" anchor="ctr">
                    <a:solidFill>
                      <a:srgbClr val="EAEFF7"/>
                    </a:solidFill>
                  </a:tcPr>
                </a:tc>
                <a:extLst>
                  <a:ext uri="{0D108BD9-81ED-4DB2-BD59-A6C34878D82A}">
                    <a16:rowId xmlns:a16="http://schemas.microsoft.com/office/drawing/2014/main" val="10007"/>
                  </a:ext>
                </a:extLst>
              </a:tr>
              <a:tr h="395416">
                <a:tc>
                  <a:txBody>
                    <a:bodyPr/>
                    <a:lstStyle/>
                    <a:p>
                      <a:pPr algn="ctr">
                        <a:lnSpc>
                          <a:spcPct val="100000"/>
                        </a:lnSpc>
                        <a:spcBef>
                          <a:spcPts val="0"/>
                        </a:spcBef>
                        <a:spcAft>
                          <a:spcPts val="0"/>
                        </a:spcAft>
                        <a:defRPr sz="1300">
                          <a:latin typeface="微软雅黑"/>
                        </a:defRPr>
                      </a:pPr>
                      <a:r>
                        <a:rPr sz="1000" b="0">
                          <a:solidFill>
                            <a:srgbClr val="232D37"/>
                          </a:solidFill>
                          <a:latin typeface="微软雅黑"/>
                          <a:ea typeface="微软雅黑"/>
                        </a:rPr>
                        <a:t>合计</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受理7，在途7</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2国</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8国2行</a:t>
                      </a:r>
                    </a:p>
                  </a:txBody>
                  <a:tcPr marL="13716" marR="13716" marT="4572" marB="4572" anchor="ctr">
                    <a:solidFill>
                      <a:srgbClr val="EAEFF7"/>
                    </a:solidFill>
                  </a:tcPr>
                </a:tc>
                <a:tc>
                  <a:txBody>
                    <a:bodyPr/>
                    <a:lstStyle/>
                    <a:p>
                      <a:pPr algn="l">
                        <a:lnSpc>
                          <a:spcPct val="100000"/>
                        </a:lnSpc>
                        <a:spcBef>
                          <a:spcPts val="0"/>
                        </a:spcBef>
                        <a:spcAft>
                          <a:spcPts val="0"/>
                        </a:spcAft>
                        <a:defRPr sz="1300">
                          <a:latin typeface="微软雅黑"/>
                        </a:defRPr>
                      </a:pPr>
                      <a:r>
                        <a:rPr sz="1000" b="0">
                          <a:solidFill>
                            <a:srgbClr val="000000"/>
                          </a:solidFill>
                          <a:latin typeface="微软雅黑"/>
                          <a:ea typeface="微软雅黑"/>
                        </a:rPr>
                        <a:t>2</a:t>
                      </a:r>
                    </a:p>
                  </a:txBody>
                  <a:tcPr marL="13716" marR="13716" marT="4572" marB="4572" anchor="ctr">
                    <a:solidFill>
                      <a:srgbClr val="EAEFF7"/>
                    </a:solidFill>
                  </a:tcPr>
                </a:tc>
                <a:extLst>
                  <a:ext uri="{0D108BD9-81ED-4DB2-BD59-A6C34878D82A}">
                    <a16:rowId xmlns:a16="http://schemas.microsoft.com/office/drawing/2014/main" val="10008"/>
                  </a:ext>
                </a:extLst>
              </a:tr>
            </a:tbl>
          </a:graphicData>
        </a:graphic>
      </p:graphicFrame>
      <p:sp>
        <p:nvSpPr>
          <p:cNvPr id="23" name="Rectangle 22"/>
          <p:cNvSpPr/>
          <p:nvPr/>
        </p:nvSpPr>
        <p:spPr>
          <a:xfrm>
            <a:off x="347472" y="1143000"/>
            <a:ext cx="7452360" cy="347472"/>
          </a:xfrm>
          <a:prstGeom prst="rect">
            <a:avLst/>
          </a:prstGeom>
          <a:solidFill>
            <a:srgbClr val="003E9E"/>
          </a:solidFill>
          <a:ln w="10160">
            <a:solidFill>
              <a:srgbClr val="003E9E"/>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spcBef>
                <a:spcPts val="0"/>
              </a:spcBef>
              <a:spcAft>
                <a:spcPts val="0"/>
              </a:spcAft>
            </a:pPr>
            <a:endParaRPr/>
          </a:p>
        </p:txBody>
      </p:sp>
      <p:sp>
        <p:nvSpPr>
          <p:cNvPr id="24" name="TextBox 23"/>
          <p:cNvSpPr txBox="1"/>
          <p:nvPr/>
        </p:nvSpPr>
        <p:spPr>
          <a:xfrm>
            <a:off x="347472" y="1143000"/>
            <a:ext cx="7452360" cy="347472"/>
          </a:xfrm>
          <a:prstGeom prst="rect">
            <a:avLst/>
          </a:prstGeom>
          <a:noFill/>
        </p:spPr>
        <p:txBody>
          <a:bodyPr wrap="square" lIns="0" tIns="0" rIns="0" bIns="0" anchor="ctr">
            <a:spAutoFit/>
          </a:bodyPr>
          <a:lstStyle/>
          <a:p>
            <a:pPr algn="ctr">
              <a:lnSpc>
                <a:spcPct val="100000"/>
              </a:lnSpc>
              <a:spcBef>
                <a:spcPts val="0"/>
              </a:spcBef>
              <a:spcAft>
                <a:spcPts val="0"/>
              </a:spcAft>
              <a:defRPr sz="1300" b="1">
                <a:solidFill>
                  <a:srgbClr val="111111"/>
                </a:solidFill>
                <a:latin typeface="微软雅黑"/>
              </a:defRPr>
            </a:pPr>
            <a:r>
              <a:rPr sz="2000" b="1">
                <a:solidFill>
                  <a:srgbClr val="FFFFFF"/>
                </a:solidFill>
                <a:latin typeface="微软雅黑"/>
                <a:ea typeface="微软雅黑"/>
              </a:rPr>
              <a:t>技术成果转化</a:t>
            </a:r>
          </a:p>
        </p:txBody>
      </p:sp>
      <p:sp>
        <p:nvSpPr>
          <p:cNvPr id="25" name="Rectangle 24"/>
          <p:cNvSpPr/>
          <p:nvPr/>
        </p:nvSpPr>
        <p:spPr>
          <a:xfrm>
            <a:off x="347472" y="1490472"/>
            <a:ext cx="7452360" cy="438912"/>
          </a:xfrm>
          <a:prstGeom prst="rect">
            <a:avLst/>
          </a:prstGeom>
          <a:solidFill>
            <a:srgbClr val="F4F7FB"/>
          </a:solidFill>
          <a:ln w="10160">
            <a:solidFill>
              <a:srgbClr val="B7C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spcBef>
                <a:spcPts val="0"/>
              </a:spcBef>
              <a:spcAft>
                <a:spcPts val="0"/>
              </a:spcAft>
            </a:pPr>
            <a:endParaRPr/>
          </a:p>
        </p:txBody>
      </p:sp>
      <p:sp>
        <p:nvSpPr>
          <p:cNvPr id="26" name="TextBox 25"/>
          <p:cNvSpPr txBox="1"/>
          <p:nvPr/>
        </p:nvSpPr>
        <p:spPr>
          <a:xfrm>
            <a:off x="347472" y="1490472"/>
            <a:ext cx="7452360" cy="438912"/>
          </a:xfrm>
          <a:prstGeom prst="rect">
            <a:avLst/>
          </a:prstGeom>
          <a:noFill/>
        </p:spPr>
        <p:txBody>
          <a:bodyPr wrap="square" lIns="64008" tIns="64008" rIns="64008" bIns="64008" anchor="ctr">
            <a:spAutoFit/>
          </a:bodyPr>
          <a:lstStyle/>
          <a:p>
            <a:pPr algn="l">
              <a:lnSpc>
                <a:spcPct val="130000"/>
              </a:lnSpc>
              <a:spcBef>
                <a:spcPts val="0"/>
              </a:spcBef>
              <a:spcAft>
                <a:spcPts val="0"/>
              </a:spcAft>
              <a:defRPr sz="1300" b="1">
                <a:solidFill>
                  <a:srgbClr val="111111"/>
                </a:solidFill>
                <a:latin typeface="微软雅黑"/>
              </a:defRPr>
            </a:pPr>
            <a:r>
              <a:rPr sz="1200" b="1">
                <a:solidFill>
                  <a:srgbClr val="111111"/>
                </a:solidFill>
                <a:latin typeface="微软雅黑"/>
                <a:ea typeface="微软雅黑"/>
              </a:rPr>
              <a:t>已形成6项重点储备和6项常规储备，需加快自研、知识产权和试点商用</a:t>
            </a:r>
          </a:p>
        </p:txBody>
      </p:sp>
      <p:sp>
        <p:nvSpPr>
          <p:cNvPr id="27" name="Rectangle 26"/>
          <p:cNvSpPr/>
          <p:nvPr/>
        </p:nvSpPr>
        <p:spPr>
          <a:xfrm>
            <a:off x="7936992" y="1143000"/>
            <a:ext cx="3886200" cy="347472"/>
          </a:xfrm>
          <a:prstGeom prst="rect">
            <a:avLst/>
          </a:prstGeom>
          <a:solidFill>
            <a:srgbClr val="003E9E"/>
          </a:solidFill>
          <a:ln w="10160">
            <a:solidFill>
              <a:srgbClr val="003E9E"/>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spcBef>
                <a:spcPts val="0"/>
              </a:spcBef>
              <a:spcAft>
                <a:spcPts val="0"/>
              </a:spcAft>
            </a:pPr>
            <a:endParaRPr/>
          </a:p>
        </p:txBody>
      </p:sp>
      <p:sp>
        <p:nvSpPr>
          <p:cNvPr id="28" name="TextBox 27"/>
          <p:cNvSpPr txBox="1"/>
          <p:nvPr/>
        </p:nvSpPr>
        <p:spPr>
          <a:xfrm>
            <a:off x="7936992" y="1143000"/>
            <a:ext cx="3886200" cy="347472"/>
          </a:xfrm>
          <a:prstGeom prst="rect">
            <a:avLst/>
          </a:prstGeom>
          <a:noFill/>
        </p:spPr>
        <p:txBody>
          <a:bodyPr wrap="square" lIns="0" tIns="0" rIns="0" bIns="0" anchor="ctr">
            <a:spAutoFit/>
          </a:bodyPr>
          <a:lstStyle/>
          <a:p>
            <a:pPr algn="ctr">
              <a:lnSpc>
                <a:spcPct val="100000"/>
              </a:lnSpc>
              <a:spcBef>
                <a:spcPts val="0"/>
              </a:spcBef>
              <a:spcAft>
                <a:spcPts val="0"/>
              </a:spcAft>
              <a:defRPr sz="1300" b="1">
                <a:solidFill>
                  <a:srgbClr val="111111"/>
                </a:solidFill>
                <a:latin typeface="微软雅黑"/>
              </a:defRPr>
            </a:pPr>
            <a:r>
              <a:rPr sz="2000" b="1">
                <a:solidFill>
                  <a:srgbClr val="FFFFFF"/>
                </a:solidFill>
                <a:latin typeface="微软雅黑"/>
                <a:ea typeface="微软雅黑"/>
              </a:rPr>
              <a:t>知识成果</a:t>
            </a:r>
          </a:p>
        </p:txBody>
      </p:sp>
      <p:sp>
        <p:nvSpPr>
          <p:cNvPr id="29" name="Rectangle 28"/>
          <p:cNvSpPr/>
          <p:nvPr/>
        </p:nvSpPr>
        <p:spPr>
          <a:xfrm>
            <a:off x="7936992" y="1490472"/>
            <a:ext cx="3886200" cy="438912"/>
          </a:xfrm>
          <a:prstGeom prst="rect">
            <a:avLst/>
          </a:prstGeom>
          <a:solidFill>
            <a:srgbClr val="F4F7FB"/>
          </a:solidFill>
          <a:ln w="10160">
            <a:solidFill>
              <a:srgbClr val="B7C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spcBef>
                <a:spcPts val="0"/>
              </a:spcBef>
              <a:spcAft>
                <a:spcPts val="0"/>
              </a:spcAft>
            </a:pPr>
            <a:endParaRPr/>
          </a:p>
        </p:txBody>
      </p:sp>
      <p:sp>
        <p:nvSpPr>
          <p:cNvPr id="30" name="TextBox 29"/>
          <p:cNvSpPr txBox="1"/>
          <p:nvPr/>
        </p:nvSpPr>
        <p:spPr>
          <a:xfrm>
            <a:off x="7936992" y="1490472"/>
            <a:ext cx="3886200" cy="438912"/>
          </a:xfrm>
          <a:prstGeom prst="rect">
            <a:avLst/>
          </a:prstGeom>
          <a:noFill/>
        </p:spPr>
        <p:txBody>
          <a:bodyPr wrap="square" lIns="64008" tIns="64008" rIns="64008" bIns="64008" anchor="ctr">
            <a:spAutoFit/>
          </a:bodyPr>
          <a:lstStyle/>
          <a:p>
            <a:pPr algn="l">
              <a:lnSpc>
                <a:spcPct val="130000"/>
              </a:lnSpc>
              <a:spcBef>
                <a:spcPts val="0"/>
              </a:spcBef>
              <a:spcAft>
                <a:spcPts val="0"/>
              </a:spcAft>
              <a:defRPr sz="1300" b="1">
                <a:solidFill>
                  <a:srgbClr val="111111"/>
                </a:solidFill>
                <a:latin typeface="微软雅黑"/>
              </a:defRPr>
            </a:pPr>
            <a:r>
              <a:rPr sz="1200" b="1">
                <a:solidFill>
                  <a:srgbClr val="111111"/>
                </a:solidFill>
                <a:latin typeface="微软雅黑"/>
                <a:ea typeface="微软雅黑"/>
              </a:rPr>
              <a:t>受理发明专利7项、国行标发布2项，但专利转化仍为0</a:t>
            </a:r>
          </a:p>
        </p:txBody>
      </p:sp>
      <p:sp>
        <p:nvSpPr>
          <p:cNvPr id="31" name="Rectangle 30"/>
          <p:cNvSpPr/>
          <p:nvPr/>
        </p:nvSpPr>
        <p:spPr>
          <a:xfrm>
            <a:off x="7936992" y="2020824"/>
            <a:ext cx="1170432" cy="713232"/>
          </a:xfrm>
          <a:prstGeom prst="rect">
            <a:avLst/>
          </a:prstGeom>
          <a:solidFill>
            <a:srgbClr val="FFFFFF"/>
          </a:solidFill>
          <a:ln w="10160">
            <a:solidFill>
              <a:srgbClr val="B7C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spcBef>
                <a:spcPts val="0"/>
              </a:spcBef>
              <a:spcAft>
                <a:spcPts val="0"/>
              </a:spcAft>
            </a:pPr>
            <a:endParaRPr/>
          </a:p>
        </p:txBody>
      </p:sp>
      <p:sp>
        <p:nvSpPr>
          <p:cNvPr id="32" name="TextBox 31"/>
          <p:cNvSpPr txBox="1"/>
          <p:nvPr/>
        </p:nvSpPr>
        <p:spPr>
          <a:xfrm>
            <a:off x="7973567" y="2057400"/>
            <a:ext cx="1097280" cy="385145"/>
          </a:xfrm>
          <a:prstGeom prst="rect">
            <a:avLst/>
          </a:prstGeom>
          <a:noFill/>
        </p:spPr>
        <p:txBody>
          <a:bodyPr wrap="square" lIns="0" tIns="0" rIns="0" bIns="0" anchor="ctr">
            <a:spAutoFit/>
          </a:bodyPr>
          <a:lstStyle/>
          <a:p>
            <a:pPr algn="ctr">
              <a:lnSpc>
                <a:spcPct val="130000"/>
              </a:lnSpc>
              <a:spcBef>
                <a:spcPts val="0"/>
              </a:spcBef>
              <a:spcAft>
                <a:spcPts val="0"/>
              </a:spcAft>
              <a:defRPr sz="1300" b="1">
                <a:solidFill>
                  <a:srgbClr val="111111"/>
                </a:solidFill>
                <a:latin typeface="微软雅黑"/>
              </a:defRPr>
            </a:pPr>
            <a:r>
              <a:rPr sz="1200" b="1">
                <a:solidFill>
                  <a:srgbClr val="111111"/>
                </a:solidFill>
                <a:latin typeface="微软雅黑"/>
                <a:ea typeface="微软雅黑"/>
              </a:rPr>
              <a:t>7</a:t>
            </a:r>
          </a:p>
        </p:txBody>
      </p:sp>
      <p:sp>
        <p:nvSpPr>
          <p:cNvPr id="33" name="TextBox 32"/>
          <p:cNvSpPr txBox="1"/>
          <p:nvPr/>
        </p:nvSpPr>
        <p:spPr>
          <a:xfrm>
            <a:off x="7973567" y="2427366"/>
            <a:ext cx="1097280" cy="242498"/>
          </a:xfrm>
          <a:prstGeom prst="rect">
            <a:avLst/>
          </a:prstGeom>
          <a:noFill/>
        </p:spPr>
        <p:txBody>
          <a:bodyPr wrap="square" lIns="0" tIns="0" rIns="0" bIns="0" anchor="ctr">
            <a:spAutoFit/>
          </a:bodyPr>
          <a:lstStyle/>
          <a:p>
            <a:pPr algn="ctr">
              <a:lnSpc>
                <a:spcPct val="130000"/>
              </a:lnSpc>
              <a:spcBef>
                <a:spcPts val="0"/>
              </a:spcBef>
              <a:spcAft>
                <a:spcPts val="0"/>
              </a:spcAft>
              <a:defRPr sz="1300" b="1">
                <a:solidFill>
                  <a:srgbClr val="111111"/>
                </a:solidFill>
                <a:latin typeface="微软雅黑"/>
              </a:defRPr>
            </a:pPr>
            <a:r>
              <a:rPr sz="1200" b="1">
                <a:solidFill>
                  <a:srgbClr val="111111"/>
                </a:solidFill>
                <a:latin typeface="微软雅黑"/>
                <a:ea typeface="微软雅黑"/>
              </a:rPr>
              <a:t>专利受理</a:t>
            </a:r>
          </a:p>
        </p:txBody>
      </p:sp>
      <p:sp>
        <p:nvSpPr>
          <p:cNvPr id="34" name="Rectangle 33"/>
          <p:cNvSpPr/>
          <p:nvPr/>
        </p:nvSpPr>
        <p:spPr>
          <a:xfrm>
            <a:off x="9217152" y="2020824"/>
            <a:ext cx="1170432" cy="713232"/>
          </a:xfrm>
          <a:prstGeom prst="rect">
            <a:avLst/>
          </a:prstGeom>
          <a:solidFill>
            <a:srgbClr val="FFFFFF"/>
          </a:solidFill>
          <a:ln w="10160">
            <a:solidFill>
              <a:srgbClr val="B7C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spcBef>
                <a:spcPts val="0"/>
              </a:spcBef>
              <a:spcAft>
                <a:spcPts val="0"/>
              </a:spcAft>
            </a:pPr>
            <a:endParaRPr/>
          </a:p>
        </p:txBody>
      </p:sp>
      <p:sp>
        <p:nvSpPr>
          <p:cNvPr id="35" name="TextBox 34"/>
          <p:cNvSpPr txBox="1"/>
          <p:nvPr/>
        </p:nvSpPr>
        <p:spPr>
          <a:xfrm>
            <a:off x="9253728" y="2057400"/>
            <a:ext cx="1097280" cy="385145"/>
          </a:xfrm>
          <a:prstGeom prst="rect">
            <a:avLst/>
          </a:prstGeom>
          <a:noFill/>
        </p:spPr>
        <p:txBody>
          <a:bodyPr wrap="square" lIns="0" tIns="0" rIns="0" bIns="0" anchor="ctr">
            <a:spAutoFit/>
          </a:bodyPr>
          <a:lstStyle/>
          <a:p>
            <a:pPr algn="ctr">
              <a:lnSpc>
                <a:spcPct val="130000"/>
              </a:lnSpc>
              <a:spcBef>
                <a:spcPts val="0"/>
              </a:spcBef>
              <a:spcAft>
                <a:spcPts val="0"/>
              </a:spcAft>
              <a:defRPr sz="1300" b="1">
                <a:solidFill>
                  <a:srgbClr val="111111"/>
                </a:solidFill>
                <a:latin typeface="微软雅黑"/>
              </a:defRPr>
            </a:pPr>
            <a:r>
              <a:rPr sz="1200" b="1">
                <a:solidFill>
                  <a:srgbClr val="111111"/>
                </a:solidFill>
                <a:latin typeface="微软雅黑"/>
                <a:ea typeface="微软雅黑"/>
              </a:rPr>
              <a:t>2</a:t>
            </a:r>
          </a:p>
        </p:txBody>
      </p:sp>
      <p:sp>
        <p:nvSpPr>
          <p:cNvPr id="36" name="TextBox 35"/>
          <p:cNvSpPr txBox="1"/>
          <p:nvPr/>
        </p:nvSpPr>
        <p:spPr>
          <a:xfrm>
            <a:off x="9253728" y="2427366"/>
            <a:ext cx="1097280" cy="242498"/>
          </a:xfrm>
          <a:prstGeom prst="rect">
            <a:avLst/>
          </a:prstGeom>
          <a:noFill/>
        </p:spPr>
        <p:txBody>
          <a:bodyPr wrap="square" lIns="0" tIns="0" rIns="0" bIns="0" anchor="ctr">
            <a:spAutoFit/>
          </a:bodyPr>
          <a:lstStyle/>
          <a:p>
            <a:pPr algn="ctr">
              <a:lnSpc>
                <a:spcPct val="130000"/>
              </a:lnSpc>
              <a:spcBef>
                <a:spcPts val="0"/>
              </a:spcBef>
              <a:spcAft>
                <a:spcPts val="0"/>
              </a:spcAft>
              <a:defRPr sz="1300" b="1">
                <a:solidFill>
                  <a:srgbClr val="111111"/>
                </a:solidFill>
                <a:latin typeface="微软雅黑"/>
              </a:defRPr>
            </a:pPr>
            <a:r>
              <a:rPr sz="1200" b="1">
                <a:solidFill>
                  <a:srgbClr val="111111"/>
                </a:solidFill>
                <a:latin typeface="微软雅黑"/>
                <a:ea typeface="微软雅黑"/>
              </a:rPr>
              <a:t>国行标发布</a:t>
            </a:r>
          </a:p>
        </p:txBody>
      </p:sp>
      <p:sp>
        <p:nvSpPr>
          <p:cNvPr id="37" name="Rectangle 36"/>
          <p:cNvSpPr/>
          <p:nvPr/>
        </p:nvSpPr>
        <p:spPr>
          <a:xfrm>
            <a:off x="10497312" y="2020824"/>
            <a:ext cx="1325880" cy="713232"/>
          </a:xfrm>
          <a:prstGeom prst="rect">
            <a:avLst/>
          </a:prstGeom>
          <a:solidFill>
            <a:srgbClr val="FFFFFF"/>
          </a:solidFill>
          <a:ln w="10160">
            <a:solidFill>
              <a:srgbClr val="B7C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spcBef>
                <a:spcPts val="0"/>
              </a:spcBef>
              <a:spcAft>
                <a:spcPts val="0"/>
              </a:spcAft>
            </a:pPr>
            <a:endParaRPr/>
          </a:p>
        </p:txBody>
      </p:sp>
      <p:sp>
        <p:nvSpPr>
          <p:cNvPr id="38" name="TextBox 37"/>
          <p:cNvSpPr txBox="1"/>
          <p:nvPr/>
        </p:nvSpPr>
        <p:spPr>
          <a:xfrm>
            <a:off x="10533888" y="2057400"/>
            <a:ext cx="1252728" cy="385145"/>
          </a:xfrm>
          <a:prstGeom prst="rect">
            <a:avLst/>
          </a:prstGeom>
          <a:noFill/>
        </p:spPr>
        <p:txBody>
          <a:bodyPr wrap="square" lIns="0" tIns="0" rIns="0" bIns="0" anchor="ctr">
            <a:spAutoFit/>
          </a:bodyPr>
          <a:lstStyle/>
          <a:p>
            <a:pPr algn="ctr">
              <a:lnSpc>
                <a:spcPct val="130000"/>
              </a:lnSpc>
              <a:spcBef>
                <a:spcPts val="0"/>
              </a:spcBef>
              <a:spcAft>
                <a:spcPts val="0"/>
              </a:spcAft>
              <a:defRPr sz="1300" b="1">
                <a:solidFill>
                  <a:srgbClr val="111111"/>
                </a:solidFill>
                <a:latin typeface="微软雅黑"/>
              </a:defRPr>
            </a:pPr>
            <a:r>
              <a:rPr sz="1200" b="1">
                <a:solidFill>
                  <a:srgbClr val="111111"/>
                </a:solidFill>
                <a:latin typeface="微软雅黑"/>
                <a:ea typeface="微软雅黑"/>
              </a:rPr>
              <a:t>0</a:t>
            </a:r>
          </a:p>
        </p:txBody>
      </p:sp>
      <p:sp>
        <p:nvSpPr>
          <p:cNvPr id="39" name="TextBox 38"/>
          <p:cNvSpPr txBox="1"/>
          <p:nvPr/>
        </p:nvSpPr>
        <p:spPr>
          <a:xfrm>
            <a:off x="10533888" y="2427366"/>
            <a:ext cx="1252728" cy="242498"/>
          </a:xfrm>
          <a:prstGeom prst="rect">
            <a:avLst/>
          </a:prstGeom>
          <a:noFill/>
        </p:spPr>
        <p:txBody>
          <a:bodyPr wrap="square" lIns="0" tIns="0" rIns="0" bIns="0" anchor="ctr">
            <a:spAutoFit/>
          </a:bodyPr>
          <a:lstStyle/>
          <a:p>
            <a:pPr algn="ctr">
              <a:lnSpc>
                <a:spcPct val="130000"/>
              </a:lnSpc>
              <a:spcBef>
                <a:spcPts val="0"/>
              </a:spcBef>
              <a:spcAft>
                <a:spcPts val="0"/>
              </a:spcAft>
              <a:defRPr sz="1300" b="1">
                <a:solidFill>
                  <a:srgbClr val="111111"/>
                </a:solidFill>
                <a:latin typeface="微软雅黑"/>
              </a:defRPr>
            </a:pPr>
            <a:r>
              <a:rPr sz="1200" b="1">
                <a:solidFill>
                  <a:srgbClr val="111111"/>
                </a:solidFill>
                <a:latin typeface="微软雅黑"/>
                <a:ea typeface="微软雅黑"/>
              </a:rPr>
              <a:t>专利转化</a:t>
            </a:r>
          </a:p>
        </p:txBody>
      </p:sp>
      <p:sp>
        <p:nvSpPr>
          <p:cNvPr id="40" name="TextBox 39"/>
          <p:cNvSpPr txBox="1"/>
          <p:nvPr/>
        </p:nvSpPr>
        <p:spPr>
          <a:xfrm>
            <a:off x="11338560" y="6565392"/>
            <a:ext cx="502920" cy="219456"/>
          </a:xfrm>
          <a:prstGeom prst="rect">
            <a:avLst/>
          </a:prstGeom>
          <a:noFill/>
        </p:spPr>
        <p:txBody>
          <a:bodyPr wrap="square" lIns="0" tIns="0" rIns="0" bIns="0" anchor="ctr">
            <a:spAutoFit/>
          </a:bodyPr>
          <a:lstStyle/>
          <a:p>
            <a:pPr algn="ctr">
              <a:lnSpc>
                <a:spcPct val="130000"/>
              </a:lnSpc>
              <a:spcBef>
                <a:spcPts val="0"/>
              </a:spcBef>
              <a:spcAft>
                <a:spcPts val="0"/>
              </a:spcAft>
              <a:defRPr sz="1300" b="0">
                <a:solidFill>
                  <a:srgbClr val="111111"/>
                </a:solidFill>
                <a:latin typeface="微软雅黑"/>
              </a:defRPr>
            </a:pPr>
            <a:r>
              <a:rPr sz="1000" b="0">
                <a:solidFill>
                  <a:srgbClr val="111111"/>
                </a:solidFill>
                <a:latin typeface="微软雅黑"/>
                <a:ea typeface="微软雅黑"/>
              </a:rPr>
              <a:t>12</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19456"/>
            <a:ext cx="9738360" cy="621792"/>
          </a:xfrm>
          <a:prstGeom prst="rect">
            <a:avLst/>
          </a:prstGeom>
          <a:noFill/>
        </p:spPr>
        <p:txBody>
          <a:bodyPr wrap="square" lIns="0" tIns="0" rIns="0" bIns="0" anchor="ctr">
            <a:normAutofit/>
          </a:bodyPr>
          <a:lstStyle/>
          <a:p>
            <a:pPr algn="l">
              <a:lnSpc>
                <a:spcPct val="100000"/>
              </a:lnSpc>
              <a:spcBef>
                <a:spcPts val="0"/>
              </a:spcBef>
              <a:spcAft>
                <a:spcPts val="0"/>
              </a:spcAft>
              <a:defRPr sz="1300" b="1">
                <a:solidFill>
                  <a:srgbClr val="111111"/>
                </a:solidFill>
                <a:latin typeface="微软雅黑"/>
              </a:defRPr>
            </a:pPr>
            <a:r>
              <a:rPr sz="3400" b="1" i="0">
                <a:solidFill>
                  <a:srgbClr val="111111"/>
                </a:solidFill>
                <a:latin typeface="微软雅黑"/>
                <a:ea typeface="微软雅黑"/>
              </a:rPr>
              <a:t>设计质量提升工作进展</a:t>
            </a:r>
          </a:p>
        </p:txBody>
      </p:sp>
      <p:sp>
        <p:nvSpPr>
          <p:cNvPr id="19" name="Rectangle 18"/>
          <p:cNvSpPr/>
          <p:nvPr/>
        </p:nvSpPr>
        <p:spPr>
          <a:xfrm>
            <a:off x="347472" y="1143000"/>
            <a:ext cx="4681728" cy="347472"/>
          </a:xfrm>
          <a:prstGeom prst="rect">
            <a:avLst/>
          </a:prstGeom>
          <a:solidFill>
            <a:srgbClr val="003E9E"/>
          </a:solidFill>
          <a:ln w="10160">
            <a:solidFill>
              <a:srgbClr val="003E9E"/>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spcBef>
                <a:spcPts val="0"/>
              </a:spcBef>
              <a:spcAft>
                <a:spcPts val="0"/>
              </a:spcAft>
            </a:pPr>
            <a:endParaRPr/>
          </a:p>
        </p:txBody>
      </p:sp>
      <p:sp>
        <p:nvSpPr>
          <p:cNvPr id="20" name="TextBox 19"/>
          <p:cNvSpPr txBox="1"/>
          <p:nvPr/>
        </p:nvSpPr>
        <p:spPr>
          <a:xfrm>
            <a:off x="347472" y="1143000"/>
            <a:ext cx="4681728" cy="347472"/>
          </a:xfrm>
          <a:prstGeom prst="rect">
            <a:avLst/>
          </a:prstGeom>
          <a:noFill/>
        </p:spPr>
        <p:txBody>
          <a:bodyPr wrap="square" lIns="0" tIns="0" rIns="0" bIns="0" anchor="ctr">
            <a:spAutoFit/>
          </a:bodyPr>
          <a:lstStyle/>
          <a:p>
            <a:pPr algn="ctr">
              <a:lnSpc>
                <a:spcPct val="100000"/>
              </a:lnSpc>
              <a:spcBef>
                <a:spcPts val="0"/>
              </a:spcBef>
              <a:spcAft>
                <a:spcPts val="0"/>
              </a:spcAft>
              <a:defRPr sz="2000" b="1">
                <a:solidFill>
                  <a:srgbClr val="FFFFFF"/>
                </a:solidFill>
                <a:latin typeface="微软雅黑"/>
              </a:defRPr>
            </a:pPr>
            <a:r>
              <a:rPr sz="2000" b="1">
                <a:solidFill>
                  <a:srgbClr val="FFFFFF"/>
                </a:solidFill>
                <a:latin typeface="微软雅黑"/>
                <a:ea typeface="微软雅黑"/>
              </a:rPr>
              <a:t>中讯情况</a:t>
            </a:r>
          </a:p>
        </p:txBody>
      </p:sp>
      <p:sp>
        <p:nvSpPr>
          <p:cNvPr id="21" name="Rectangle 20"/>
          <p:cNvSpPr/>
          <p:nvPr/>
        </p:nvSpPr>
        <p:spPr>
          <a:xfrm>
            <a:off x="347472" y="1490472"/>
            <a:ext cx="4681728" cy="438912"/>
          </a:xfrm>
          <a:prstGeom prst="rect">
            <a:avLst/>
          </a:prstGeom>
          <a:solidFill>
            <a:srgbClr val="F4F7FB"/>
          </a:solidFill>
          <a:ln w="10160">
            <a:solidFill>
              <a:srgbClr val="B7C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spcBef>
                <a:spcPts val="0"/>
              </a:spcBef>
              <a:spcAft>
                <a:spcPts val="0"/>
              </a:spcAft>
            </a:pPr>
            <a:endParaRPr/>
          </a:p>
        </p:txBody>
      </p:sp>
      <p:sp>
        <p:nvSpPr>
          <p:cNvPr id="22" name="TextBox 21"/>
          <p:cNvSpPr txBox="1"/>
          <p:nvPr/>
        </p:nvSpPr>
        <p:spPr>
          <a:xfrm>
            <a:off x="347472" y="1490472"/>
            <a:ext cx="4681728" cy="438912"/>
          </a:xfrm>
          <a:prstGeom prst="rect">
            <a:avLst/>
          </a:prstGeom>
          <a:noFill/>
        </p:spPr>
        <p:txBody>
          <a:bodyPr wrap="square" lIns="64008" tIns="64008" rIns="64008" bIns="64008" anchor="ctr">
            <a:spAutoFit/>
          </a:bodyPr>
          <a:lstStyle/>
          <a:p>
            <a:pPr algn="l">
              <a:lnSpc>
                <a:spcPct val="100000"/>
              </a:lnSpc>
              <a:spcBef>
                <a:spcPts val="0"/>
              </a:spcBef>
              <a:spcAft>
                <a:spcPts val="0"/>
              </a:spcAft>
              <a:defRPr sz="1300" b="1">
                <a:solidFill>
                  <a:srgbClr val="111111"/>
                </a:solidFill>
                <a:latin typeface="微软雅黑"/>
              </a:defRPr>
            </a:pPr>
            <a:r>
              <a:rPr sz="1200" b="1">
                <a:solidFill>
                  <a:srgbClr val="111111"/>
                </a:solidFill>
                <a:latin typeface="微软雅黑"/>
                <a:ea typeface="微软雅黑"/>
              </a:rPr>
              <a:t>标杆事业部评选与质量抽查同步启动，建立全过程质量约束</a:t>
            </a:r>
          </a:p>
        </p:txBody>
      </p:sp>
      <p:sp>
        <p:nvSpPr>
          <p:cNvPr id="39" name="Rectangle 38"/>
          <p:cNvSpPr/>
          <p:nvPr/>
        </p:nvSpPr>
        <p:spPr>
          <a:xfrm>
            <a:off x="5230368" y="1143000"/>
            <a:ext cx="6592824" cy="347472"/>
          </a:xfrm>
          <a:prstGeom prst="rect">
            <a:avLst/>
          </a:prstGeom>
          <a:solidFill>
            <a:srgbClr val="003E9E"/>
          </a:solidFill>
          <a:ln w="10160">
            <a:solidFill>
              <a:srgbClr val="003E9E"/>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spcBef>
                <a:spcPts val="0"/>
              </a:spcBef>
              <a:spcAft>
                <a:spcPts val="0"/>
              </a:spcAft>
            </a:pPr>
            <a:endParaRPr/>
          </a:p>
        </p:txBody>
      </p:sp>
      <p:sp>
        <p:nvSpPr>
          <p:cNvPr id="40" name="TextBox 39"/>
          <p:cNvSpPr txBox="1"/>
          <p:nvPr/>
        </p:nvSpPr>
        <p:spPr>
          <a:xfrm>
            <a:off x="5230368" y="1143000"/>
            <a:ext cx="6592824" cy="347472"/>
          </a:xfrm>
          <a:prstGeom prst="rect">
            <a:avLst/>
          </a:prstGeom>
          <a:noFill/>
        </p:spPr>
        <p:txBody>
          <a:bodyPr wrap="square" lIns="0" tIns="0" rIns="0" bIns="0" anchor="ctr">
            <a:spAutoFit/>
          </a:bodyPr>
          <a:lstStyle/>
          <a:p>
            <a:pPr algn="ctr">
              <a:lnSpc>
                <a:spcPct val="100000"/>
              </a:lnSpc>
              <a:spcBef>
                <a:spcPts val="0"/>
              </a:spcBef>
              <a:spcAft>
                <a:spcPts val="0"/>
              </a:spcAft>
              <a:defRPr sz="2000" b="1">
                <a:solidFill>
                  <a:srgbClr val="FFFFFF"/>
                </a:solidFill>
                <a:latin typeface="微软雅黑"/>
              </a:defRPr>
            </a:pPr>
            <a:r>
              <a:rPr sz="2000" b="1">
                <a:solidFill>
                  <a:srgbClr val="FFFFFF"/>
                </a:solidFill>
                <a:latin typeface="微软雅黑"/>
                <a:ea typeface="微软雅黑"/>
              </a:rPr>
              <a:t>规划院推进情况</a:t>
            </a:r>
          </a:p>
        </p:txBody>
      </p:sp>
      <p:sp>
        <p:nvSpPr>
          <p:cNvPr id="41" name="Rectangle 40"/>
          <p:cNvSpPr/>
          <p:nvPr/>
        </p:nvSpPr>
        <p:spPr>
          <a:xfrm>
            <a:off x="5230368" y="1490472"/>
            <a:ext cx="6592824" cy="438912"/>
          </a:xfrm>
          <a:prstGeom prst="rect">
            <a:avLst/>
          </a:prstGeom>
          <a:solidFill>
            <a:srgbClr val="F4F7FB"/>
          </a:solidFill>
          <a:ln w="10160">
            <a:solidFill>
              <a:srgbClr val="B7C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spcBef>
                <a:spcPts val="0"/>
              </a:spcBef>
              <a:spcAft>
                <a:spcPts val="0"/>
              </a:spcAft>
            </a:pPr>
            <a:endParaRPr/>
          </a:p>
        </p:txBody>
      </p:sp>
      <p:sp>
        <p:nvSpPr>
          <p:cNvPr id="42" name="TextBox 41"/>
          <p:cNvSpPr txBox="1"/>
          <p:nvPr/>
        </p:nvSpPr>
        <p:spPr>
          <a:xfrm>
            <a:off x="5230368" y="1490472"/>
            <a:ext cx="6592824" cy="438912"/>
          </a:xfrm>
          <a:prstGeom prst="rect">
            <a:avLst/>
          </a:prstGeom>
          <a:noFill/>
        </p:spPr>
        <p:txBody>
          <a:bodyPr wrap="square" lIns="64008" tIns="64008" rIns="64008" bIns="64008" anchor="ctr">
            <a:spAutoFit/>
          </a:bodyPr>
          <a:lstStyle/>
          <a:p>
            <a:pPr algn="l">
              <a:lnSpc>
                <a:spcPct val="100000"/>
              </a:lnSpc>
              <a:spcBef>
                <a:spcPts val="0"/>
              </a:spcBef>
              <a:spcAft>
                <a:spcPts val="0"/>
              </a:spcAft>
              <a:defRPr sz="1300" b="1">
                <a:solidFill>
                  <a:srgbClr val="111111"/>
                </a:solidFill>
                <a:latin typeface="微软雅黑"/>
              </a:defRPr>
            </a:pPr>
            <a:r>
              <a:rPr sz="1200" b="1">
                <a:solidFill>
                  <a:srgbClr val="111111"/>
                </a:solidFill>
                <a:latin typeface="微软雅黑"/>
                <a:ea typeface="微软雅黑"/>
              </a:rPr>
              <a:t>外部检查、体系整改和内部抽查形成三层质量管理闭环</a:t>
            </a:r>
          </a:p>
        </p:txBody>
      </p:sp>
      <p:sp>
        <p:nvSpPr>
          <p:cNvPr id="65" name="TextBox 64"/>
          <p:cNvSpPr txBox="1"/>
          <p:nvPr/>
        </p:nvSpPr>
        <p:spPr>
          <a:xfrm>
            <a:off x="11338560" y="6565392"/>
            <a:ext cx="502920" cy="219456"/>
          </a:xfrm>
          <a:prstGeom prst="rect">
            <a:avLst/>
          </a:prstGeom>
          <a:noFill/>
        </p:spPr>
        <p:txBody>
          <a:bodyPr wrap="square" lIns="0" tIns="0" rIns="0" bIns="0" anchor="ctr">
            <a:spAutoFit/>
          </a:bodyPr>
          <a:lstStyle/>
          <a:p>
            <a:pPr algn="ctr">
              <a:lnSpc>
                <a:spcPct val="130000"/>
              </a:lnSpc>
              <a:spcBef>
                <a:spcPts val="0"/>
              </a:spcBef>
              <a:spcAft>
                <a:spcPts val="0"/>
              </a:spcAft>
              <a:defRPr sz="1300" b="0">
                <a:solidFill>
                  <a:srgbClr val="111111"/>
                </a:solidFill>
                <a:latin typeface="微软雅黑"/>
              </a:defRPr>
            </a:pPr>
            <a:r>
              <a:rPr sz="1000" b="0">
                <a:solidFill>
                  <a:srgbClr val="111111"/>
                </a:solidFill>
                <a:latin typeface="微软雅黑"/>
                <a:ea typeface="微软雅黑"/>
              </a:rPr>
              <a:t>13</a:t>
            </a:r>
          </a:p>
        </p:txBody>
      </p:sp>
      <p:sp>
        <p:nvSpPr>
          <p:cNvPr id="66" name="Rectangle 65"/>
          <p:cNvSpPr/>
          <p:nvPr/>
        </p:nvSpPr>
        <p:spPr>
          <a:xfrm>
            <a:off x="347472" y="2002536"/>
            <a:ext cx="4681728" cy="274320"/>
          </a:xfrm>
          <a:prstGeom prst="rect">
            <a:avLst/>
          </a:prstGeom>
          <a:solidFill>
            <a:srgbClr val="E9F1F9"/>
          </a:solidFill>
          <a:ln w="7620">
            <a:solidFill>
              <a:srgbClr val="A7BDD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347472" y="2002536"/>
            <a:ext cx="4681728" cy="274320"/>
          </a:xfrm>
          <a:prstGeom prst="rect">
            <a:avLst/>
          </a:prstGeom>
          <a:noFill/>
        </p:spPr>
        <p:txBody>
          <a:bodyPr wrap="square" lIns="45720" tIns="18288" rIns="45720" bIns="18288" anchor="ctr">
            <a:spAutoFit/>
          </a:bodyPr>
          <a:lstStyle/>
          <a:p>
            <a:pPr algn="l">
              <a:lnSpc>
                <a:spcPct val="100000"/>
              </a:lnSpc>
              <a:spcBef>
                <a:spcPts val="0"/>
              </a:spcBef>
              <a:spcAft>
                <a:spcPts val="0"/>
              </a:spcAft>
            </a:pPr>
            <a:r>
              <a:rPr sz="1200" b="1">
                <a:solidFill>
                  <a:srgbClr val="0047A0"/>
                </a:solidFill>
                <a:latin typeface="微软雅黑"/>
                <a:ea typeface="微软雅黑"/>
              </a:rPr>
              <a:t>标杆事业部评选</a:t>
            </a:r>
          </a:p>
        </p:txBody>
      </p:sp>
      <p:sp>
        <p:nvSpPr>
          <p:cNvPr id="68" name="Rectangle 67"/>
          <p:cNvSpPr/>
          <p:nvPr/>
        </p:nvSpPr>
        <p:spPr>
          <a:xfrm>
            <a:off x="347472" y="2313432"/>
            <a:ext cx="4681728" cy="1078992"/>
          </a:xfrm>
          <a:prstGeom prst="rect">
            <a:avLst/>
          </a:prstGeom>
          <a:solidFill>
            <a:srgbClr val="FFFFFF"/>
          </a:solidFill>
          <a:ln w="7620">
            <a:solidFill>
              <a:srgbClr val="A7BDD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9" name="Picture 68" descr="image.png"/>
          <p:cNvPicPr>
            <a:picLocks noChangeAspect="1"/>
          </p:cNvPicPr>
          <p:nvPr/>
        </p:nvPicPr>
        <p:blipFill>
          <a:blip r:embed="rId2"/>
          <a:stretch>
            <a:fillRect/>
          </a:stretch>
        </p:blipFill>
        <p:spPr>
          <a:xfrm>
            <a:off x="1751577" y="2368296"/>
            <a:ext cx="1873516" cy="969264"/>
          </a:xfrm>
          <a:prstGeom prst="rect">
            <a:avLst/>
          </a:prstGeom>
        </p:spPr>
      </p:pic>
      <p:sp>
        <p:nvSpPr>
          <p:cNvPr id="70" name="Rectangle 69"/>
          <p:cNvSpPr/>
          <p:nvPr/>
        </p:nvSpPr>
        <p:spPr>
          <a:xfrm>
            <a:off x="347472" y="3465576"/>
            <a:ext cx="4681728" cy="274320"/>
          </a:xfrm>
          <a:prstGeom prst="rect">
            <a:avLst/>
          </a:prstGeom>
          <a:solidFill>
            <a:srgbClr val="E9F1F9"/>
          </a:solidFill>
          <a:ln w="7620">
            <a:solidFill>
              <a:srgbClr val="A7BDD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p:cNvSpPr txBox="1"/>
          <p:nvPr/>
        </p:nvSpPr>
        <p:spPr>
          <a:xfrm>
            <a:off x="347472" y="3465576"/>
            <a:ext cx="4681728" cy="274320"/>
          </a:xfrm>
          <a:prstGeom prst="rect">
            <a:avLst/>
          </a:prstGeom>
          <a:noFill/>
        </p:spPr>
        <p:txBody>
          <a:bodyPr wrap="square" lIns="45720" tIns="18288" rIns="45720" bIns="18288" anchor="ctr">
            <a:spAutoFit/>
          </a:bodyPr>
          <a:lstStyle/>
          <a:p>
            <a:pPr algn="l">
              <a:lnSpc>
                <a:spcPct val="100000"/>
              </a:lnSpc>
              <a:spcBef>
                <a:spcPts val="0"/>
              </a:spcBef>
              <a:spcAft>
                <a:spcPts val="0"/>
              </a:spcAft>
            </a:pPr>
            <a:r>
              <a:rPr sz="1200" b="1">
                <a:solidFill>
                  <a:srgbClr val="0047A0"/>
                </a:solidFill>
                <a:latin typeface="微软雅黑"/>
                <a:ea typeface="微软雅黑"/>
              </a:rPr>
              <a:t>启动质量抽查</a:t>
            </a:r>
          </a:p>
        </p:txBody>
      </p:sp>
      <p:sp>
        <p:nvSpPr>
          <p:cNvPr id="72" name="Rectangle 71"/>
          <p:cNvSpPr/>
          <p:nvPr/>
        </p:nvSpPr>
        <p:spPr>
          <a:xfrm>
            <a:off x="347472" y="3776472"/>
            <a:ext cx="4681728" cy="2642616"/>
          </a:xfrm>
          <a:prstGeom prst="rect">
            <a:avLst/>
          </a:prstGeom>
          <a:solidFill>
            <a:srgbClr val="F6F9FC"/>
          </a:solidFill>
          <a:ln w="7620">
            <a:solidFill>
              <a:srgbClr val="A7BDD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Rectangle 72"/>
          <p:cNvSpPr/>
          <p:nvPr/>
        </p:nvSpPr>
        <p:spPr>
          <a:xfrm>
            <a:off x="457200" y="3867912"/>
            <a:ext cx="2167128" cy="640080"/>
          </a:xfrm>
          <a:prstGeom prst="rect">
            <a:avLst/>
          </a:prstGeom>
          <a:solidFill>
            <a:srgbClr val="FFFFFF"/>
          </a:solidFill>
          <a:ln w="7620">
            <a:solidFill>
              <a:srgbClr val="A7BDD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TextBox 73"/>
          <p:cNvSpPr txBox="1"/>
          <p:nvPr/>
        </p:nvSpPr>
        <p:spPr>
          <a:xfrm>
            <a:off x="502920" y="3890772"/>
            <a:ext cx="2075688" cy="594359"/>
          </a:xfrm>
          <a:prstGeom prst="rect">
            <a:avLst/>
          </a:prstGeom>
          <a:noFill/>
        </p:spPr>
        <p:txBody>
          <a:bodyPr wrap="square" lIns="0" tIns="0" rIns="0" bIns="0" anchor="ctr">
            <a:spAutoFit/>
          </a:bodyPr>
          <a:lstStyle/>
          <a:p>
            <a:pPr algn="l">
              <a:lnSpc>
                <a:spcPct val="100000"/>
              </a:lnSpc>
              <a:spcBef>
                <a:spcPts val="0"/>
              </a:spcBef>
              <a:spcAft>
                <a:spcPts val="0"/>
              </a:spcAft>
            </a:pPr>
            <a:r>
              <a:rPr sz="1000" b="1">
                <a:solidFill>
                  <a:srgbClr val="0047A0"/>
                </a:solidFill>
                <a:latin typeface="微软雅黑"/>
                <a:ea typeface="微软雅黑"/>
              </a:rPr>
              <a:t>发布质量抽审方案：</a:t>
            </a:r>
            <a:r>
              <a:rPr sz="1000" b="0">
                <a:solidFill>
                  <a:srgbClr val="232D37"/>
                </a:solidFill>
                <a:latin typeface="微软雅黑"/>
                <a:ea typeface="微软雅黑"/>
              </a:rPr>
              <a:t>预计每年两次；规划院每次抽两本；分子公司间交叉审核。</a:t>
            </a:r>
          </a:p>
        </p:txBody>
      </p:sp>
      <p:sp>
        <p:nvSpPr>
          <p:cNvPr id="75" name="Rectangle 74"/>
          <p:cNvSpPr/>
          <p:nvPr/>
        </p:nvSpPr>
        <p:spPr>
          <a:xfrm>
            <a:off x="2734056" y="3867912"/>
            <a:ext cx="2185416" cy="640080"/>
          </a:xfrm>
          <a:prstGeom prst="rect">
            <a:avLst/>
          </a:prstGeom>
          <a:solidFill>
            <a:srgbClr val="FFFFFF"/>
          </a:solidFill>
          <a:ln w="7620">
            <a:solidFill>
              <a:srgbClr val="A7BDD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TextBox 75"/>
          <p:cNvSpPr txBox="1"/>
          <p:nvPr/>
        </p:nvSpPr>
        <p:spPr>
          <a:xfrm>
            <a:off x="2779776" y="3890772"/>
            <a:ext cx="2093976" cy="594359"/>
          </a:xfrm>
          <a:prstGeom prst="rect">
            <a:avLst/>
          </a:prstGeom>
          <a:noFill/>
        </p:spPr>
        <p:txBody>
          <a:bodyPr wrap="square" lIns="0" tIns="0" rIns="0" bIns="0" anchor="ctr">
            <a:spAutoFit/>
          </a:bodyPr>
          <a:lstStyle/>
          <a:p>
            <a:pPr algn="l">
              <a:lnSpc>
                <a:spcPct val="100000"/>
              </a:lnSpc>
              <a:spcBef>
                <a:spcPts val="0"/>
              </a:spcBef>
              <a:spcAft>
                <a:spcPts val="0"/>
              </a:spcAft>
            </a:pPr>
            <a:r>
              <a:rPr sz="1000" b="1">
                <a:solidFill>
                  <a:srgbClr val="0047A0"/>
                </a:solidFill>
                <a:latin typeface="微软雅黑"/>
                <a:ea typeface="微软雅黑"/>
              </a:rPr>
              <a:t>扣分标准：</a:t>
            </a:r>
            <a:r>
              <a:rPr sz="1000" b="0">
                <a:solidFill>
                  <a:srgbClr val="232D37"/>
                </a:solidFill>
                <a:latin typeface="微软雅黑"/>
                <a:ea typeface="微软雅黑"/>
              </a:rPr>
              <a:t>轻微问题扣2-3分；一般问题扣5分；严重问题扣10分。</a:t>
            </a:r>
          </a:p>
        </p:txBody>
      </p:sp>
      <p:sp>
        <p:nvSpPr>
          <p:cNvPr id="77" name="Rectangle 76"/>
          <p:cNvSpPr/>
          <p:nvPr/>
        </p:nvSpPr>
        <p:spPr>
          <a:xfrm>
            <a:off x="457200" y="4608576"/>
            <a:ext cx="4462272" cy="530352"/>
          </a:xfrm>
          <a:prstGeom prst="rect">
            <a:avLst/>
          </a:prstGeom>
          <a:solidFill>
            <a:srgbClr val="FFFFFF"/>
          </a:solidFill>
          <a:ln w="7620">
            <a:solidFill>
              <a:srgbClr val="A7BDD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TextBox 77"/>
          <p:cNvSpPr txBox="1"/>
          <p:nvPr/>
        </p:nvSpPr>
        <p:spPr>
          <a:xfrm>
            <a:off x="502920" y="4631436"/>
            <a:ext cx="4370832" cy="484631"/>
          </a:xfrm>
          <a:prstGeom prst="rect">
            <a:avLst/>
          </a:prstGeom>
          <a:noFill/>
        </p:spPr>
        <p:txBody>
          <a:bodyPr wrap="square" lIns="0" tIns="0" rIns="0" bIns="0" anchor="ctr">
            <a:spAutoFit/>
          </a:bodyPr>
          <a:lstStyle/>
          <a:p>
            <a:pPr algn="l">
              <a:lnSpc>
                <a:spcPct val="100000"/>
              </a:lnSpc>
              <a:spcBef>
                <a:spcPts val="0"/>
              </a:spcBef>
              <a:spcAft>
                <a:spcPts val="0"/>
              </a:spcAft>
            </a:pPr>
            <a:r>
              <a:rPr sz="1000" b="1">
                <a:solidFill>
                  <a:srgbClr val="0047A0"/>
                </a:solidFill>
                <a:latin typeface="微软雅黑"/>
                <a:ea typeface="微软雅黑"/>
              </a:rPr>
              <a:t>结果应用：</a:t>
            </a:r>
            <a:r>
              <a:rPr sz="1000" b="0">
                <a:solidFill>
                  <a:srgbClr val="232D37"/>
                </a:solidFill>
                <a:latin typeface="微软雅黑"/>
                <a:ea typeface="微软雅黑"/>
              </a:rPr>
              <a:t>抽样平均质量分计入考核；90分及以上不扣分，小于90分按实际得分。</a:t>
            </a:r>
          </a:p>
        </p:txBody>
      </p:sp>
      <p:sp>
        <p:nvSpPr>
          <p:cNvPr id="79" name="Rectangle 78"/>
          <p:cNvSpPr/>
          <p:nvPr/>
        </p:nvSpPr>
        <p:spPr>
          <a:xfrm>
            <a:off x="457200" y="5239512"/>
            <a:ext cx="4462272" cy="1069848"/>
          </a:xfrm>
          <a:prstGeom prst="rect">
            <a:avLst/>
          </a:prstGeom>
          <a:solidFill>
            <a:srgbClr val="FFFFFF"/>
          </a:solidFill>
          <a:ln w="7620">
            <a:solidFill>
              <a:srgbClr val="A7BDD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TextBox 79"/>
          <p:cNvSpPr txBox="1"/>
          <p:nvPr/>
        </p:nvSpPr>
        <p:spPr>
          <a:xfrm>
            <a:off x="502920" y="5262372"/>
            <a:ext cx="4370832" cy="1024127"/>
          </a:xfrm>
          <a:prstGeom prst="rect">
            <a:avLst/>
          </a:prstGeom>
          <a:noFill/>
        </p:spPr>
        <p:txBody>
          <a:bodyPr wrap="square" lIns="0" tIns="0" rIns="0" bIns="0" anchor="ctr">
            <a:spAutoFit/>
          </a:bodyPr>
          <a:lstStyle/>
          <a:p>
            <a:pPr algn="l">
              <a:lnSpc>
                <a:spcPct val="100000"/>
              </a:lnSpc>
              <a:spcBef>
                <a:spcPts val="0"/>
              </a:spcBef>
              <a:spcAft>
                <a:spcPts val="0"/>
              </a:spcAft>
            </a:pPr>
            <a:r>
              <a:rPr sz="1000" b="1">
                <a:solidFill>
                  <a:srgbClr val="0047A0"/>
                </a:solidFill>
                <a:latin typeface="微软雅黑"/>
                <a:ea typeface="微软雅黑"/>
              </a:rPr>
              <a:t>重点提示：</a:t>
            </a:r>
            <a:r>
              <a:rPr sz="1000" b="0">
                <a:solidFill>
                  <a:srgbClr val="232D37"/>
                </a:solidFill>
                <a:latin typeface="微软雅黑"/>
                <a:ea typeface="微软雅黑"/>
              </a:rPr>
              <a:t>① ERP随机抽取项目，直接下载电子文件；所有出版项目均纳入且不可变更、替换。
② 各事业部年度至少抽1本；无出版分册但有设计收入，直接扣50分。</a:t>
            </a:r>
          </a:p>
        </p:txBody>
      </p:sp>
      <p:sp>
        <p:nvSpPr>
          <p:cNvPr id="81" name="Rectangle 80"/>
          <p:cNvSpPr/>
          <p:nvPr/>
        </p:nvSpPr>
        <p:spPr>
          <a:xfrm>
            <a:off x="5230368" y="2002536"/>
            <a:ext cx="6592824" cy="274320"/>
          </a:xfrm>
          <a:prstGeom prst="rect">
            <a:avLst/>
          </a:prstGeom>
          <a:solidFill>
            <a:srgbClr val="E9F1F9"/>
          </a:solidFill>
          <a:ln w="7620">
            <a:solidFill>
              <a:srgbClr val="A7BDD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TextBox 81"/>
          <p:cNvSpPr txBox="1"/>
          <p:nvPr/>
        </p:nvSpPr>
        <p:spPr>
          <a:xfrm>
            <a:off x="5230368" y="2002536"/>
            <a:ext cx="6592824" cy="274320"/>
          </a:xfrm>
          <a:prstGeom prst="rect">
            <a:avLst/>
          </a:prstGeom>
          <a:noFill/>
        </p:spPr>
        <p:txBody>
          <a:bodyPr wrap="square" lIns="45720" tIns="18288" rIns="45720" bIns="18288" anchor="ctr">
            <a:spAutoFit/>
          </a:bodyPr>
          <a:lstStyle/>
          <a:p>
            <a:pPr algn="l">
              <a:lnSpc>
                <a:spcPct val="100000"/>
              </a:lnSpc>
              <a:spcBef>
                <a:spcPts val="0"/>
              </a:spcBef>
              <a:spcAft>
                <a:spcPts val="0"/>
              </a:spcAft>
            </a:pPr>
            <a:r>
              <a:rPr sz="1200" b="1">
                <a:solidFill>
                  <a:srgbClr val="0047A0"/>
                </a:solidFill>
                <a:latin typeface="微软雅黑"/>
                <a:ea typeface="微软雅黑"/>
              </a:rPr>
              <a:t>工信部检查</a:t>
            </a:r>
          </a:p>
        </p:txBody>
      </p:sp>
      <p:sp>
        <p:nvSpPr>
          <p:cNvPr id="83" name="Rectangle 82"/>
          <p:cNvSpPr/>
          <p:nvPr/>
        </p:nvSpPr>
        <p:spPr>
          <a:xfrm>
            <a:off x="5230368" y="2313432"/>
            <a:ext cx="6592824" cy="1965960"/>
          </a:xfrm>
          <a:prstGeom prst="rect">
            <a:avLst/>
          </a:prstGeom>
          <a:solidFill>
            <a:srgbClr val="FFFFFF"/>
          </a:solidFill>
          <a:ln w="7620">
            <a:solidFill>
              <a:srgbClr val="A7BDD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4" name="Picture 83" descr="image.png"/>
          <p:cNvPicPr>
            <a:picLocks noChangeAspect="1"/>
          </p:cNvPicPr>
          <p:nvPr/>
        </p:nvPicPr>
        <p:blipFill>
          <a:blip r:embed="rId3"/>
          <a:stretch>
            <a:fillRect/>
          </a:stretch>
        </p:blipFill>
        <p:spPr>
          <a:xfrm>
            <a:off x="5342981" y="2386584"/>
            <a:ext cx="2755717" cy="950976"/>
          </a:xfrm>
          <a:prstGeom prst="rect">
            <a:avLst/>
          </a:prstGeom>
        </p:spPr>
      </p:pic>
      <p:pic>
        <p:nvPicPr>
          <p:cNvPr id="85" name="Picture 84" descr="image.png"/>
          <p:cNvPicPr>
            <a:picLocks noChangeAspect="1"/>
          </p:cNvPicPr>
          <p:nvPr/>
        </p:nvPicPr>
        <p:blipFill>
          <a:blip r:embed="rId4"/>
          <a:stretch>
            <a:fillRect/>
          </a:stretch>
        </p:blipFill>
        <p:spPr>
          <a:xfrm>
            <a:off x="8317708" y="2386584"/>
            <a:ext cx="1250247" cy="950976"/>
          </a:xfrm>
          <a:prstGeom prst="rect">
            <a:avLst/>
          </a:prstGeom>
        </p:spPr>
      </p:pic>
      <p:sp>
        <p:nvSpPr>
          <p:cNvPr id="86" name="TextBox 85"/>
          <p:cNvSpPr txBox="1"/>
          <p:nvPr/>
        </p:nvSpPr>
        <p:spPr>
          <a:xfrm>
            <a:off x="9747504" y="2689717"/>
            <a:ext cx="2029968" cy="344710"/>
          </a:xfrm>
          <a:prstGeom prst="rect">
            <a:avLst/>
          </a:prstGeom>
          <a:noFill/>
        </p:spPr>
        <p:txBody>
          <a:bodyPr wrap="square" lIns="45720" tIns="18288" rIns="45720" bIns="18288" anchor="ctr">
            <a:spAutoFit/>
          </a:bodyPr>
          <a:lstStyle/>
          <a:p>
            <a:pPr algn="l">
              <a:lnSpc>
                <a:spcPct val="100000"/>
              </a:lnSpc>
              <a:spcBef>
                <a:spcPts val="0"/>
              </a:spcBef>
              <a:spcAft>
                <a:spcPts val="0"/>
              </a:spcAft>
            </a:pPr>
            <a:r>
              <a:rPr sz="1000" b="0" dirty="0">
                <a:solidFill>
                  <a:srgbClr val="232D37"/>
                </a:solidFill>
                <a:latin typeface="微软雅黑"/>
                <a:ea typeface="微软雅黑"/>
              </a:rPr>
              <a:t>工信部通报2025年下半年通信工程建设领域质量和安全生产情况。</a:t>
            </a:r>
          </a:p>
        </p:txBody>
      </p:sp>
      <p:sp>
        <p:nvSpPr>
          <p:cNvPr id="87" name="Rectangle 86"/>
          <p:cNvSpPr/>
          <p:nvPr/>
        </p:nvSpPr>
        <p:spPr>
          <a:xfrm>
            <a:off x="5340096" y="3438144"/>
            <a:ext cx="6373368" cy="731520"/>
          </a:xfrm>
          <a:prstGeom prst="rect">
            <a:avLst/>
          </a:prstGeom>
          <a:solidFill>
            <a:srgbClr val="FFFFFF"/>
          </a:solidFill>
          <a:ln w="7620">
            <a:solidFill>
              <a:srgbClr val="A7BDD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 name="TextBox 87"/>
          <p:cNvSpPr txBox="1"/>
          <p:nvPr/>
        </p:nvSpPr>
        <p:spPr>
          <a:xfrm>
            <a:off x="5385816" y="3461003"/>
            <a:ext cx="6281928" cy="685800"/>
          </a:xfrm>
          <a:prstGeom prst="rect">
            <a:avLst/>
          </a:prstGeom>
          <a:noFill/>
        </p:spPr>
        <p:txBody>
          <a:bodyPr wrap="square" lIns="0" tIns="0" rIns="0" bIns="0" anchor="ctr">
            <a:spAutoFit/>
          </a:bodyPr>
          <a:lstStyle/>
          <a:p>
            <a:pPr algn="l">
              <a:lnSpc>
                <a:spcPct val="100000"/>
              </a:lnSpc>
              <a:spcBef>
                <a:spcPts val="0"/>
              </a:spcBef>
              <a:spcAft>
                <a:spcPts val="0"/>
              </a:spcAft>
            </a:pPr>
            <a:r>
              <a:rPr sz="1000" b="1">
                <a:solidFill>
                  <a:srgbClr val="0047A0"/>
                </a:solidFill>
                <a:latin typeface="微软雅黑"/>
                <a:ea typeface="微软雅黑"/>
              </a:rPr>
              <a:t>检查进展：</a:t>
            </a:r>
            <a:r>
              <a:rPr sz="1000" b="0">
                <a:solidFill>
                  <a:srgbClr val="232D37"/>
                </a:solidFill>
                <a:latin typeface="微软雅黑"/>
                <a:ea typeface="微软雅黑"/>
              </a:rPr>
              <a:t>已完成5月18-22日上海、海南检查及4月21-24日河北邢台、衡水检查；初步预计6月检查黑龙江。</a:t>
            </a:r>
          </a:p>
        </p:txBody>
      </p:sp>
      <p:sp>
        <p:nvSpPr>
          <p:cNvPr id="89" name="Rectangle 88"/>
          <p:cNvSpPr/>
          <p:nvPr/>
        </p:nvSpPr>
        <p:spPr>
          <a:xfrm>
            <a:off x="5230368" y="4370832"/>
            <a:ext cx="6592824" cy="274320"/>
          </a:xfrm>
          <a:prstGeom prst="rect">
            <a:avLst/>
          </a:prstGeom>
          <a:solidFill>
            <a:srgbClr val="E9F1F9"/>
          </a:solidFill>
          <a:ln w="7620">
            <a:solidFill>
              <a:srgbClr val="A7BDD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TextBox 89"/>
          <p:cNvSpPr txBox="1"/>
          <p:nvPr/>
        </p:nvSpPr>
        <p:spPr>
          <a:xfrm>
            <a:off x="5230368" y="4370832"/>
            <a:ext cx="6592824" cy="274320"/>
          </a:xfrm>
          <a:prstGeom prst="rect">
            <a:avLst/>
          </a:prstGeom>
          <a:noFill/>
        </p:spPr>
        <p:txBody>
          <a:bodyPr wrap="square" lIns="45720" tIns="18288" rIns="45720" bIns="18288" anchor="ctr">
            <a:spAutoFit/>
          </a:bodyPr>
          <a:lstStyle/>
          <a:p>
            <a:pPr algn="l">
              <a:lnSpc>
                <a:spcPct val="100000"/>
              </a:lnSpc>
              <a:spcBef>
                <a:spcPts val="0"/>
              </a:spcBef>
              <a:spcAft>
                <a:spcPts val="0"/>
              </a:spcAft>
            </a:pPr>
            <a:r>
              <a:rPr sz="1200" b="1">
                <a:solidFill>
                  <a:srgbClr val="0047A0"/>
                </a:solidFill>
                <a:latin typeface="微软雅黑"/>
                <a:ea typeface="微软雅黑"/>
              </a:rPr>
              <a:t>体系管理</a:t>
            </a:r>
          </a:p>
        </p:txBody>
      </p:sp>
      <p:sp>
        <p:nvSpPr>
          <p:cNvPr id="91" name="Rectangle 90"/>
          <p:cNvSpPr/>
          <p:nvPr/>
        </p:nvSpPr>
        <p:spPr>
          <a:xfrm>
            <a:off x="5230368" y="4681728"/>
            <a:ext cx="6592824" cy="493776"/>
          </a:xfrm>
          <a:prstGeom prst="rect">
            <a:avLst/>
          </a:prstGeom>
          <a:solidFill>
            <a:srgbClr val="FFFFFF"/>
          </a:solidFill>
          <a:ln w="7620">
            <a:solidFill>
              <a:srgbClr val="A7BDD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 name="TextBox 91"/>
          <p:cNvSpPr txBox="1"/>
          <p:nvPr/>
        </p:nvSpPr>
        <p:spPr>
          <a:xfrm>
            <a:off x="5276088" y="4704588"/>
            <a:ext cx="6501384" cy="448056"/>
          </a:xfrm>
          <a:prstGeom prst="rect">
            <a:avLst/>
          </a:prstGeom>
          <a:noFill/>
        </p:spPr>
        <p:txBody>
          <a:bodyPr wrap="square" lIns="0" tIns="0" rIns="0" bIns="0" anchor="ctr">
            <a:spAutoFit/>
          </a:bodyPr>
          <a:lstStyle/>
          <a:p>
            <a:pPr algn="l">
              <a:lnSpc>
                <a:spcPct val="100000"/>
              </a:lnSpc>
              <a:spcBef>
                <a:spcPts val="0"/>
              </a:spcBef>
              <a:spcAft>
                <a:spcPts val="0"/>
              </a:spcAft>
            </a:pPr>
            <a:r>
              <a:rPr sz="1000" b="1">
                <a:solidFill>
                  <a:srgbClr val="0047A0"/>
                </a:solidFill>
                <a:latin typeface="微软雅黑"/>
                <a:ea typeface="微软雅黑"/>
              </a:rPr>
              <a:t>推进要求：</a:t>
            </a:r>
            <a:r>
              <a:rPr sz="1000" b="0">
                <a:solidFill>
                  <a:srgbClr val="232D37"/>
                </a:solidFill>
                <a:latin typeface="微软雅黑"/>
                <a:ea typeface="微软雅黑"/>
              </a:rPr>
              <a:t>各部门明确责任人和完成时间，序时实施改进措施；总工办按进度闭环验证。</a:t>
            </a:r>
          </a:p>
        </p:txBody>
      </p:sp>
      <p:sp>
        <p:nvSpPr>
          <p:cNvPr id="93" name="Rectangle 92"/>
          <p:cNvSpPr/>
          <p:nvPr/>
        </p:nvSpPr>
        <p:spPr>
          <a:xfrm>
            <a:off x="5230368" y="5266944"/>
            <a:ext cx="6592824" cy="274320"/>
          </a:xfrm>
          <a:prstGeom prst="rect">
            <a:avLst/>
          </a:prstGeom>
          <a:solidFill>
            <a:srgbClr val="E9F1F9"/>
          </a:solidFill>
          <a:ln w="7620">
            <a:solidFill>
              <a:srgbClr val="A7BDD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 name="TextBox 93"/>
          <p:cNvSpPr txBox="1"/>
          <p:nvPr/>
        </p:nvSpPr>
        <p:spPr>
          <a:xfrm>
            <a:off x="5230368" y="5266944"/>
            <a:ext cx="6592824" cy="274320"/>
          </a:xfrm>
          <a:prstGeom prst="rect">
            <a:avLst/>
          </a:prstGeom>
          <a:noFill/>
        </p:spPr>
        <p:txBody>
          <a:bodyPr wrap="square" lIns="45720" tIns="18288" rIns="45720" bIns="18288" anchor="ctr">
            <a:spAutoFit/>
          </a:bodyPr>
          <a:lstStyle/>
          <a:p>
            <a:pPr algn="l">
              <a:lnSpc>
                <a:spcPct val="100000"/>
              </a:lnSpc>
              <a:spcBef>
                <a:spcPts val="0"/>
              </a:spcBef>
              <a:spcAft>
                <a:spcPts val="0"/>
              </a:spcAft>
            </a:pPr>
            <a:r>
              <a:rPr sz="1200" b="1">
                <a:solidFill>
                  <a:srgbClr val="0047A0"/>
                </a:solidFill>
                <a:latin typeface="微软雅黑"/>
                <a:ea typeface="微软雅黑"/>
              </a:rPr>
              <a:t>质量抽查+专职审核</a:t>
            </a:r>
          </a:p>
        </p:txBody>
      </p:sp>
      <p:sp>
        <p:nvSpPr>
          <p:cNvPr id="95" name="Rectangle 94"/>
          <p:cNvSpPr/>
          <p:nvPr/>
        </p:nvSpPr>
        <p:spPr>
          <a:xfrm>
            <a:off x="5230368" y="5577840"/>
            <a:ext cx="6592824" cy="841248"/>
          </a:xfrm>
          <a:prstGeom prst="rect">
            <a:avLst/>
          </a:prstGeom>
          <a:solidFill>
            <a:srgbClr val="FFFFFF"/>
          </a:solidFill>
          <a:ln w="7620">
            <a:solidFill>
              <a:srgbClr val="A7BDD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6" name="TextBox 95"/>
          <p:cNvSpPr txBox="1"/>
          <p:nvPr/>
        </p:nvSpPr>
        <p:spPr>
          <a:xfrm>
            <a:off x="5321808" y="5641848"/>
            <a:ext cx="6409944" cy="713232"/>
          </a:xfrm>
          <a:prstGeom prst="rect">
            <a:avLst/>
          </a:prstGeom>
          <a:noFill/>
        </p:spPr>
        <p:txBody>
          <a:bodyPr wrap="square" lIns="45720" tIns="18288" rIns="45720" bIns="18288" anchor="ctr">
            <a:spAutoFit/>
          </a:bodyPr>
          <a:lstStyle/>
          <a:p>
            <a:pPr algn="l">
              <a:lnSpc>
                <a:spcPct val="100000"/>
              </a:lnSpc>
              <a:spcBef>
                <a:spcPts val="0"/>
              </a:spcBef>
              <a:spcAft>
                <a:spcPts val="0"/>
              </a:spcAft>
            </a:pPr>
            <a:r>
              <a:rPr sz="1000" b="0">
                <a:solidFill>
                  <a:srgbClr val="232D37"/>
                </a:solidFill>
                <a:latin typeface="微软雅黑"/>
                <a:ea typeface="微软雅黑"/>
              </a:rPr>
              <a:t>① 根据本季度设计文件质量抽查情况，总工办编制并发布质量简报，重点提示工信部检查结果通报、新实施强制性国标等。
② 各部门应组织专题质量研讨，形成会议纪要，并于6月30日前反馈总工办。</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19456"/>
            <a:ext cx="9738360" cy="621792"/>
          </a:xfrm>
          <a:prstGeom prst="rect">
            <a:avLst/>
          </a:prstGeom>
          <a:noFill/>
        </p:spPr>
        <p:txBody>
          <a:bodyPr wrap="square" lIns="0" tIns="0" rIns="0" bIns="0" anchor="ctr">
            <a:normAutofit/>
          </a:bodyPr>
          <a:lstStyle/>
          <a:p>
            <a:pPr algn="l">
              <a:lnSpc>
                <a:spcPct val="100000"/>
              </a:lnSpc>
              <a:spcBef>
                <a:spcPts val="0"/>
              </a:spcBef>
              <a:spcAft>
                <a:spcPts val="0"/>
              </a:spcAft>
              <a:defRPr sz="1300" b="1">
                <a:solidFill>
                  <a:srgbClr val="111111"/>
                </a:solidFill>
                <a:latin typeface="微软雅黑"/>
              </a:defRPr>
            </a:pPr>
            <a:r>
              <a:rPr sz="3400" b="1" i="0">
                <a:solidFill>
                  <a:srgbClr val="111111"/>
                </a:solidFill>
                <a:latin typeface="微软雅黑"/>
                <a:ea typeface="微软雅黑"/>
              </a:rPr>
              <a:t>青年科研力量成为技术创新的重要支撑</a:t>
            </a:r>
          </a:p>
        </p:txBody>
      </p:sp>
      <p:sp>
        <p:nvSpPr>
          <p:cNvPr id="4" name="Rectangle 3"/>
          <p:cNvSpPr/>
          <p:nvPr/>
        </p:nvSpPr>
        <p:spPr>
          <a:xfrm>
            <a:off x="438912" y="1170432"/>
            <a:ext cx="11292840" cy="347472"/>
          </a:xfrm>
          <a:prstGeom prst="rect">
            <a:avLst/>
          </a:prstGeom>
          <a:solidFill>
            <a:srgbClr val="F3F7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spcBef>
                <a:spcPts val="0"/>
              </a:spcBef>
              <a:spcAft>
                <a:spcPts val="0"/>
              </a:spcAft>
            </a:pPr>
            <a:endParaRPr/>
          </a:p>
        </p:txBody>
      </p:sp>
      <p:sp>
        <p:nvSpPr>
          <p:cNvPr id="5" name="Rectangle 4"/>
          <p:cNvSpPr/>
          <p:nvPr/>
        </p:nvSpPr>
        <p:spPr>
          <a:xfrm>
            <a:off x="438912" y="1170432"/>
            <a:ext cx="64008" cy="347472"/>
          </a:xfrm>
          <a:prstGeom prst="rect">
            <a:avLst/>
          </a:prstGeom>
          <a:solidFill>
            <a:srgbClr val="0035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spcBef>
                <a:spcPts val="0"/>
              </a:spcBef>
              <a:spcAft>
                <a:spcPts val="0"/>
              </a:spcAft>
            </a:pPr>
            <a:endParaRPr/>
          </a:p>
        </p:txBody>
      </p:sp>
      <p:sp>
        <p:nvSpPr>
          <p:cNvPr id="6" name="TextBox 5"/>
          <p:cNvSpPr txBox="1"/>
          <p:nvPr/>
        </p:nvSpPr>
        <p:spPr>
          <a:xfrm>
            <a:off x="576072" y="1188720"/>
            <a:ext cx="11091672" cy="310896"/>
          </a:xfrm>
          <a:prstGeom prst="rect">
            <a:avLst/>
          </a:prstGeom>
          <a:noFill/>
        </p:spPr>
        <p:txBody>
          <a:bodyPr wrap="square" lIns="36576" tIns="36576" rIns="36576" bIns="36576" anchor="ctr">
            <a:normAutofit/>
          </a:bodyPr>
          <a:lstStyle/>
          <a:p>
            <a:pPr algn="l">
              <a:lnSpc>
                <a:spcPct val="130000"/>
              </a:lnSpc>
              <a:spcBef>
                <a:spcPts val="0"/>
              </a:spcBef>
              <a:spcAft>
                <a:spcPts val="0"/>
              </a:spcAft>
              <a:defRPr sz="1300">
                <a:solidFill>
                  <a:srgbClr val="111111"/>
                </a:solidFill>
                <a:latin typeface="微软雅黑"/>
              </a:defRPr>
            </a:pPr>
            <a:r>
              <a:rPr sz="1200" b="1" i="0">
                <a:solidFill>
                  <a:srgbClr val="111111"/>
                </a:solidFill>
                <a:latin typeface="微软雅黑"/>
                <a:ea typeface="微软雅黑"/>
              </a:rPr>
              <a:t>51项研发课题已完成人员分配，青年牵头28项、占比55%（目标50%）；培养进一步走向现场实战</a:t>
            </a:r>
          </a:p>
        </p:txBody>
      </p:sp>
      <p:sp>
        <p:nvSpPr>
          <p:cNvPr id="7" name="Rectangle 6"/>
          <p:cNvSpPr/>
          <p:nvPr/>
        </p:nvSpPr>
        <p:spPr>
          <a:xfrm>
            <a:off x="502920" y="1737360"/>
            <a:ext cx="6903720" cy="4526280"/>
          </a:xfrm>
          <a:prstGeom prst="rect">
            <a:avLst/>
          </a:prstGeom>
          <a:solidFill>
            <a:srgbClr val="F3F7FC"/>
          </a:solidFill>
          <a:ln w="12700">
            <a:solidFill>
              <a:srgbClr val="B7C9E8"/>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spcBef>
                <a:spcPts val="0"/>
              </a:spcBef>
              <a:spcAft>
                <a:spcPts val="0"/>
              </a:spcAft>
            </a:pPr>
            <a:endParaRPr/>
          </a:p>
        </p:txBody>
      </p:sp>
      <p:sp>
        <p:nvSpPr>
          <p:cNvPr id="8" name="TextBox 7"/>
          <p:cNvSpPr txBox="1"/>
          <p:nvPr/>
        </p:nvSpPr>
        <p:spPr>
          <a:xfrm>
            <a:off x="685800" y="1920240"/>
            <a:ext cx="6537960" cy="365760"/>
          </a:xfrm>
          <a:prstGeom prst="rect">
            <a:avLst/>
          </a:prstGeom>
          <a:noFill/>
        </p:spPr>
        <p:txBody>
          <a:bodyPr wrap="square" lIns="0" tIns="0" rIns="0" bIns="0" anchor="ctr">
            <a:normAutofit/>
          </a:bodyPr>
          <a:lstStyle/>
          <a:p>
            <a:pPr algn="ctr">
              <a:lnSpc>
                <a:spcPct val="100000"/>
              </a:lnSpc>
              <a:spcBef>
                <a:spcPts val="0"/>
              </a:spcBef>
              <a:spcAft>
                <a:spcPts val="0"/>
              </a:spcAft>
              <a:defRPr sz="2000" b="1">
                <a:solidFill>
                  <a:srgbClr val="003E9E"/>
                </a:solidFill>
                <a:latin typeface="微软雅黑"/>
              </a:defRPr>
            </a:pPr>
            <a:r>
              <a:rPr sz="2000" b="1" i="0">
                <a:solidFill>
                  <a:srgbClr val="003E9E"/>
                </a:solidFill>
                <a:latin typeface="微软雅黑"/>
                <a:ea typeface="微软雅黑"/>
              </a:rPr>
              <a:t>青年科技人才使用和托举</a:t>
            </a:r>
          </a:p>
        </p:txBody>
      </p:sp>
      <p:sp>
        <p:nvSpPr>
          <p:cNvPr id="9" name="Rectangle 8"/>
          <p:cNvSpPr/>
          <p:nvPr/>
        </p:nvSpPr>
        <p:spPr>
          <a:xfrm>
            <a:off x="777240" y="2560320"/>
            <a:ext cx="1417320" cy="1097280"/>
          </a:xfrm>
          <a:prstGeom prst="rect">
            <a:avLst/>
          </a:prstGeom>
          <a:solidFill>
            <a:srgbClr val="F3F7FC"/>
          </a:solidFill>
          <a:ln w="10160">
            <a:solidFill>
              <a:srgbClr val="B7C9E8"/>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spcBef>
                <a:spcPts val="0"/>
              </a:spcBef>
              <a:spcAft>
                <a:spcPts val="0"/>
              </a:spcAft>
            </a:pPr>
            <a:endParaRPr/>
          </a:p>
        </p:txBody>
      </p:sp>
      <p:sp>
        <p:nvSpPr>
          <p:cNvPr id="10" name="TextBox 9"/>
          <p:cNvSpPr txBox="1"/>
          <p:nvPr/>
        </p:nvSpPr>
        <p:spPr>
          <a:xfrm>
            <a:off x="822960" y="2633472"/>
            <a:ext cx="1325880" cy="570585"/>
          </a:xfrm>
          <a:prstGeom prst="rect">
            <a:avLst/>
          </a:prstGeom>
          <a:noFill/>
        </p:spPr>
        <p:txBody>
          <a:bodyPr wrap="square" lIns="0" tIns="0" rIns="0" bIns="0" anchor="ctr">
            <a:normAutofit/>
          </a:bodyPr>
          <a:lstStyle/>
          <a:p>
            <a:pPr algn="ctr">
              <a:lnSpc>
                <a:spcPct val="100000"/>
              </a:lnSpc>
              <a:spcBef>
                <a:spcPts val="0"/>
              </a:spcBef>
              <a:spcAft>
                <a:spcPts val="0"/>
              </a:spcAft>
              <a:defRPr sz="2000" b="1">
                <a:solidFill>
                  <a:srgbClr val="003E9E"/>
                </a:solidFill>
                <a:latin typeface="微软雅黑"/>
              </a:defRPr>
            </a:pPr>
            <a:r>
              <a:rPr sz="2000" b="1" i="0">
                <a:solidFill>
                  <a:srgbClr val="003E9E"/>
                </a:solidFill>
                <a:latin typeface="微软雅黑"/>
                <a:ea typeface="微软雅黑"/>
              </a:rPr>
              <a:t>51</a:t>
            </a:r>
          </a:p>
        </p:txBody>
      </p:sp>
      <p:sp>
        <p:nvSpPr>
          <p:cNvPr id="11" name="TextBox 10"/>
          <p:cNvSpPr txBox="1"/>
          <p:nvPr/>
        </p:nvSpPr>
        <p:spPr>
          <a:xfrm>
            <a:off x="850392" y="3196742"/>
            <a:ext cx="1271016" cy="329184"/>
          </a:xfrm>
          <a:prstGeom prst="rect">
            <a:avLst/>
          </a:prstGeom>
          <a:noFill/>
        </p:spPr>
        <p:txBody>
          <a:bodyPr wrap="square" lIns="0" tIns="0" rIns="0" bIns="0" anchor="ctr">
            <a:normAutofit/>
          </a:bodyPr>
          <a:lstStyle/>
          <a:p>
            <a:pPr algn="ctr">
              <a:lnSpc>
                <a:spcPct val="130000"/>
              </a:lnSpc>
              <a:spcBef>
                <a:spcPts val="0"/>
              </a:spcBef>
              <a:spcAft>
                <a:spcPts val="0"/>
              </a:spcAft>
              <a:defRPr sz="1300">
                <a:solidFill>
                  <a:srgbClr val="111111"/>
                </a:solidFill>
                <a:latin typeface="微软雅黑"/>
              </a:defRPr>
            </a:pPr>
            <a:r>
              <a:rPr sz="1200" b="1" i="0">
                <a:solidFill>
                  <a:srgbClr val="111111"/>
                </a:solidFill>
                <a:latin typeface="微软雅黑"/>
                <a:ea typeface="微软雅黑"/>
              </a:rPr>
              <a:t>研发课题已完成人员分配</a:t>
            </a:r>
          </a:p>
        </p:txBody>
      </p:sp>
      <p:sp>
        <p:nvSpPr>
          <p:cNvPr id="12" name="Rectangle 11"/>
          <p:cNvSpPr/>
          <p:nvPr/>
        </p:nvSpPr>
        <p:spPr>
          <a:xfrm>
            <a:off x="2331720" y="2560320"/>
            <a:ext cx="1417320" cy="1097280"/>
          </a:xfrm>
          <a:prstGeom prst="rect">
            <a:avLst/>
          </a:prstGeom>
          <a:solidFill>
            <a:srgbClr val="F3F7FC"/>
          </a:solidFill>
          <a:ln w="10160">
            <a:solidFill>
              <a:srgbClr val="B7C9E8"/>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spcBef>
                <a:spcPts val="0"/>
              </a:spcBef>
              <a:spcAft>
                <a:spcPts val="0"/>
              </a:spcAft>
            </a:pPr>
            <a:endParaRPr/>
          </a:p>
        </p:txBody>
      </p:sp>
      <p:sp>
        <p:nvSpPr>
          <p:cNvPr id="13" name="TextBox 12"/>
          <p:cNvSpPr txBox="1"/>
          <p:nvPr/>
        </p:nvSpPr>
        <p:spPr>
          <a:xfrm>
            <a:off x="2377439" y="2633472"/>
            <a:ext cx="1325880" cy="570585"/>
          </a:xfrm>
          <a:prstGeom prst="rect">
            <a:avLst/>
          </a:prstGeom>
          <a:noFill/>
        </p:spPr>
        <p:txBody>
          <a:bodyPr wrap="square" lIns="0" tIns="0" rIns="0" bIns="0" anchor="ctr">
            <a:normAutofit/>
          </a:bodyPr>
          <a:lstStyle/>
          <a:p>
            <a:pPr algn="ctr">
              <a:lnSpc>
                <a:spcPct val="100000"/>
              </a:lnSpc>
              <a:spcBef>
                <a:spcPts val="0"/>
              </a:spcBef>
              <a:spcAft>
                <a:spcPts val="0"/>
              </a:spcAft>
              <a:defRPr sz="2000" b="1">
                <a:solidFill>
                  <a:srgbClr val="003E9E"/>
                </a:solidFill>
                <a:latin typeface="微软雅黑"/>
              </a:defRPr>
            </a:pPr>
            <a:r>
              <a:rPr sz="2000" b="1" i="0">
                <a:solidFill>
                  <a:srgbClr val="003E9E"/>
                </a:solidFill>
                <a:latin typeface="微软雅黑"/>
                <a:ea typeface="微软雅黑"/>
              </a:rPr>
              <a:t>28</a:t>
            </a:r>
          </a:p>
        </p:txBody>
      </p:sp>
      <p:sp>
        <p:nvSpPr>
          <p:cNvPr id="14" name="TextBox 13"/>
          <p:cNvSpPr txBox="1"/>
          <p:nvPr/>
        </p:nvSpPr>
        <p:spPr>
          <a:xfrm>
            <a:off x="2404872" y="3196742"/>
            <a:ext cx="1271016" cy="329184"/>
          </a:xfrm>
          <a:prstGeom prst="rect">
            <a:avLst/>
          </a:prstGeom>
          <a:noFill/>
        </p:spPr>
        <p:txBody>
          <a:bodyPr wrap="square" lIns="0" tIns="0" rIns="0" bIns="0" anchor="ctr">
            <a:normAutofit/>
          </a:bodyPr>
          <a:lstStyle/>
          <a:p>
            <a:pPr algn="ctr">
              <a:lnSpc>
                <a:spcPct val="130000"/>
              </a:lnSpc>
              <a:spcBef>
                <a:spcPts val="0"/>
              </a:spcBef>
              <a:spcAft>
                <a:spcPts val="0"/>
              </a:spcAft>
              <a:defRPr sz="1300">
                <a:solidFill>
                  <a:srgbClr val="111111"/>
                </a:solidFill>
                <a:latin typeface="微软雅黑"/>
              </a:defRPr>
            </a:pPr>
            <a:r>
              <a:rPr sz="1200" b="1" i="0">
                <a:solidFill>
                  <a:srgbClr val="111111"/>
                </a:solidFill>
                <a:latin typeface="微软雅黑"/>
                <a:ea typeface="微软雅黑"/>
              </a:rPr>
              <a:t>青年牵头课题</a:t>
            </a:r>
          </a:p>
        </p:txBody>
      </p:sp>
      <p:sp>
        <p:nvSpPr>
          <p:cNvPr id="15" name="Rectangle 14"/>
          <p:cNvSpPr/>
          <p:nvPr/>
        </p:nvSpPr>
        <p:spPr>
          <a:xfrm>
            <a:off x="3886200" y="2560320"/>
            <a:ext cx="1417320" cy="1097280"/>
          </a:xfrm>
          <a:prstGeom prst="rect">
            <a:avLst/>
          </a:prstGeom>
          <a:solidFill>
            <a:srgbClr val="F3F7FC"/>
          </a:solidFill>
          <a:ln w="10160">
            <a:solidFill>
              <a:srgbClr val="B7C9E8"/>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spcBef>
                <a:spcPts val="0"/>
              </a:spcBef>
              <a:spcAft>
                <a:spcPts val="0"/>
              </a:spcAft>
            </a:pPr>
            <a:endParaRPr/>
          </a:p>
        </p:txBody>
      </p:sp>
      <p:sp>
        <p:nvSpPr>
          <p:cNvPr id="16" name="TextBox 15"/>
          <p:cNvSpPr txBox="1"/>
          <p:nvPr/>
        </p:nvSpPr>
        <p:spPr>
          <a:xfrm>
            <a:off x="3931920" y="2633472"/>
            <a:ext cx="1325880" cy="570585"/>
          </a:xfrm>
          <a:prstGeom prst="rect">
            <a:avLst/>
          </a:prstGeom>
          <a:noFill/>
        </p:spPr>
        <p:txBody>
          <a:bodyPr wrap="square" lIns="0" tIns="0" rIns="0" bIns="0" anchor="ctr">
            <a:normAutofit/>
          </a:bodyPr>
          <a:lstStyle/>
          <a:p>
            <a:pPr algn="ctr">
              <a:lnSpc>
                <a:spcPct val="100000"/>
              </a:lnSpc>
              <a:spcBef>
                <a:spcPts val="0"/>
              </a:spcBef>
              <a:spcAft>
                <a:spcPts val="0"/>
              </a:spcAft>
              <a:defRPr sz="2000" b="1">
                <a:solidFill>
                  <a:srgbClr val="003E9E"/>
                </a:solidFill>
                <a:latin typeface="微软雅黑"/>
              </a:defRPr>
            </a:pPr>
            <a:r>
              <a:rPr sz="2000" b="1" i="0">
                <a:solidFill>
                  <a:srgbClr val="003E9E"/>
                </a:solidFill>
                <a:latin typeface="微软雅黑"/>
                <a:ea typeface="微软雅黑"/>
              </a:rPr>
              <a:t>55%</a:t>
            </a:r>
          </a:p>
        </p:txBody>
      </p:sp>
      <p:sp>
        <p:nvSpPr>
          <p:cNvPr id="17" name="TextBox 16"/>
          <p:cNvSpPr txBox="1"/>
          <p:nvPr/>
        </p:nvSpPr>
        <p:spPr>
          <a:xfrm>
            <a:off x="3959352" y="3196742"/>
            <a:ext cx="1271016" cy="329184"/>
          </a:xfrm>
          <a:prstGeom prst="rect">
            <a:avLst/>
          </a:prstGeom>
          <a:noFill/>
        </p:spPr>
        <p:txBody>
          <a:bodyPr wrap="square" lIns="0" tIns="0" rIns="0" bIns="0" anchor="ctr">
            <a:normAutofit/>
          </a:bodyPr>
          <a:lstStyle/>
          <a:p>
            <a:pPr algn="ctr">
              <a:lnSpc>
                <a:spcPct val="130000"/>
              </a:lnSpc>
              <a:spcBef>
                <a:spcPts val="0"/>
              </a:spcBef>
              <a:spcAft>
                <a:spcPts val="0"/>
              </a:spcAft>
              <a:defRPr sz="1300">
                <a:solidFill>
                  <a:srgbClr val="111111"/>
                </a:solidFill>
                <a:latin typeface="微软雅黑"/>
              </a:defRPr>
            </a:pPr>
            <a:r>
              <a:rPr sz="1200" b="1" i="0">
                <a:solidFill>
                  <a:srgbClr val="111111"/>
                </a:solidFill>
                <a:latin typeface="微软雅黑"/>
                <a:ea typeface="微软雅黑"/>
              </a:rPr>
              <a:t>青年牵头占比</a:t>
            </a:r>
          </a:p>
        </p:txBody>
      </p:sp>
      <p:sp>
        <p:nvSpPr>
          <p:cNvPr id="18" name="Rectangle 17"/>
          <p:cNvSpPr/>
          <p:nvPr/>
        </p:nvSpPr>
        <p:spPr>
          <a:xfrm>
            <a:off x="5440680" y="2560320"/>
            <a:ext cx="1417320" cy="1097280"/>
          </a:xfrm>
          <a:prstGeom prst="rect">
            <a:avLst/>
          </a:prstGeom>
          <a:solidFill>
            <a:srgbClr val="F3F7FC"/>
          </a:solidFill>
          <a:ln w="10160">
            <a:solidFill>
              <a:srgbClr val="B7C9E8"/>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spcBef>
                <a:spcPts val="0"/>
              </a:spcBef>
              <a:spcAft>
                <a:spcPts val="0"/>
              </a:spcAft>
            </a:pPr>
            <a:endParaRPr/>
          </a:p>
        </p:txBody>
      </p:sp>
      <p:sp>
        <p:nvSpPr>
          <p:cNvPr id="19" name="TextBox 18"/>
          <p:cNvSpPr txBox="1"/>
          <p:nvPr/>
        </p:nvSpPr>
        <p:spPr>
          <a:xfrm>
            <a:off x="5486400" y="2633472"/>
            <a:ext cx="1325880" cy="570585"/>
          </a:xfrm>
          <a:prstGeom prst="rect">
            <a:avLst/>
          </a:prstGeom>
          <a:noFill/>
        </p:spPr>
        <p:txBody>
          <a:bodyPr wrap="square" lIns="0" tIns="0" rIns="0" bIns="0" anchor="ctr">
            <a:normAutofit/>
          </a:bodyPr>
          <a:lstStyle/>
          <a:p>
            <a:pPr algn="ctr">
              <a:lnSpc>
                <a:spcPct val="100000"/>
              </a:lnSpc>
              <a:spcBef>
                <a:spcPts val="0"/>
              </a:spcBef>
              <a:spcAft>
                <a:spcPts val="0"/>
              </a:spcAft>
              <a:defRPr sz="2000" b="1">
                <a:solidFill>
                  <a:srgbClr val="003E9E"/>
                </a:solidFill>
                <a:latin typeface="微软雅黑"/>
              </a:defRPr>
            </a:pPr>
            <a:r>
              <a:rPr sz="2000" b="1" i="0">
                <a:solidFill>
                  <a:srgbClr val="003E9E"/>
                </a:solidFill>
                <a:latin typeface="微软雅黑"/>
                <a:ea typeface="微软雅黑"/>
              </a:rPr>
              <a:t>50%</a:t>
            </a:r>
          </a:p>
        </p:txBody>
      </p:sp>
      <p:sp>
        <p:nvSpPr>
          <p:cNvPr id="20" name="TextBox 19"/>
          <p:cNvSpPr txBox="1"/>
          <p:nvPr/>
        </p:nvSpPr>
        <p:spPr>
          <a:xfrm>
            <a:off x="5513832" y="3196742"/>
            <a:ext cx="1271016" cy="329184"/>
          </a:xfrm>
          <a:prstGeom prst="rect">
            <a:avLst/>
          </a:prstGeom>
          <a:noFill/>
        </p:spPr>
        <p:txBody>
          <a:bodyPr wrap="square" lIns="0" tIns="0" rIns="0" bIns="0" anchor="ctr">
            <a:normAutofit/>
          </a:bodyPr>
          <a:lstStyle/>
          <a:p>
            <a:pPr algn="ctr">
              <a:lnSpc>
                <a:spcPct val="130000"/>
              </a:lnSpc>
              <a:spcBef>
                <a:spcPts val="0"/>
              </a:spcBef>
              <a:spcAft>
                <a:spcPts val="0"/>
              </a:spcAft>
              <a:defRPr sz="1300">
                <a:solidFill>
                  <a:srgbClr val="111111"/>
                </a:solidFill>
                <a:latin typeface="微软雅黑"/>
              </a:defRPr>
            </a:pPr>
            <a:r>
              <a:rPr sz="1200" b="1" i="0">
                <a:solidFill>
                  <a:srgbClr val="111111"/>
                </a:solidFill>
                <a:latin typeface="微软雅黑"/>
                <a:ea typeface="微软雅黑"/>
              </a:rPr>
              <a:t>目标占比</a:t>
            </a:r>
          </a:p>
        </p:txBody>
      </p:sp>
      <p:sp>
        <p:nvSpPr>
          <p:cNvPr id="26" name="Rectangle 25"/>
          <p:cNvSpPr/>
          <p:nvPr/>
        </p:nvSpPr>
        <p:spPr>
          <a:xfrm>
            <a:off x="7662672" y="1737360"/>
            <a:ext cx="4023360" cy="4526280"/>
          </a:xfrm>
          <a:prstGeom prst="rect">
            <a:avLst/>
          </a:prstGeom>
          <a:solidFill>
            <a:srgbClr val="FFFFFF"/>
          </a:solidFill>
          <a:ln w="15240">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spcBef>
                <a:spcPts val="0"/>
              </a:spcBef>
              <a:spcAft>
                <a:spcPts val="0"/>
              </a:spcAft>
            </a:pPr>
            <a:endParaRPr/>
          </a:p>
        </p:txBody>
      </p:sp>
      <p:sp>
        <p:nvSpPr>
          <p:cNvPr id="27" name="TextBox 26"/>
          <p:cNvSpPr txBox="1"/>
          <p:nvPr/>
        </p:nvSpPr>
        <p:spPr>
          <a:xfrm>
            <a:off x="7909560" y="1993392"/>
            <a:ext cx="3529584" cy="438912"/>
          </a:xfrm>
          <a:prstGeom prst="rect">
            <a:avLst/>
          </a:prstGeom>
          <a:noFill/>
        </p:spPr>
        <p:txBody>
          <a:bodyPr wrap="square" lIns="0" tIns="0" rIns="0" bIns="0" anchor="ctr">
            <a:normAutofit/>
          </a:bodyPr>
          <a:lstStyle/>
          <a:p>
            <a:pPr algn="ctr">
              <a:lnSpc>
                <a:spcPct val="100000"/>
              </a:lnSpc>
              <a:spcBef>
                <a:spcPts val="0"/>
              </a:spcBef>
              <a:spcAft>
                <a:spcPts val="0"/>
              </a:spcAft>
              <a:defRPr sz="2000" b="1">
                <a:solidFill>
                  <a:srgbClr val="003E9E"/>
                </a:solidFill>
                <a:latin typeface="微软雅黑"/>
              </a:defRPr>
            </a:pPr>
            <a:r>
              <a:rPr sz="2000" b="1" i="0">
                <a:solidFill>
                  <a:srgbClr val="003E9E"/>
                </a:solidFill>
                <a:latin typeface="微软雅黑"/>
                <a:ea typeface="微软雅黑"/>
              </a:rPr>
              <a:t>分层定向实操培训</a:t>
            </a:r>
          </a:p>
        </p:txBody>
      </p:sp>
      <p:sp>
        <p:nvSpPr>
          <p:cNvPr id="28" name="TextBox 27"/>
          <p:cNvSpPr txBox="1"/>
          <p:nvPr/>
        </p:nvSpPr>
        <p:spPr>
          <a:xfrm>
            <a:off x="8366760" y="2862072"/>
            <a:ext cx="2651760" cy="914400"/>
          </a:xfrm>
          <a:prstGeom prst="rect">
            <a:avLst/>
          </a:prstGeom>
          <a:noFill/>
        </p:spPr>
        <p:txBody>
          <a:bodyPr wrap="square" lIns="0" tIns="0" rIns="0" bIns="0" anchor="ctr">
            <a:normAutofit/>
          </a:bodyPr>
          <a:lstStyle/>
          <a:p>
            <a:pPr algn="ctr">
              <a:lnSpc>
                <a:spcPct val="100000"/>
              </a:lnSpc>
              <a:spcBef>
                <a:spcPts val="0"/>
              </a:spcBef>
              <a:spcAft>
                <a:spcPts val="0"/>
              </a:spcAft>
              <a:defRPr sz="3400" b="1">
                <a:solidFill>
                  <a:srgbClr val="003E9E"/>
                </a:solidFill>
                <a:latin typeface="微软雅黑"/>
              </a:defRPr>
            </a:pPr>
            <a:r>
              <a:rPr sz="3400" b="1" i="0">
                <a:solidFill>
                  <a:srgbClr val="003E9E"/>
                </a:solidFill>
                <a:latin typeface="微软雅黑"/>
                <a:ea typeface="微软雅黑"/>
              </a:rPr>
              <a:t>384</a:t>
            </a:r>
          </a:p>
        </p:txBody>
      </p:sp>
      <p:sp>
        <p:nvSpPr>
          <p:cNvPr id="29" name="TextBox 28"/>
          <p:cNvSpPr txBox="1"/>
          <p:nvPr/>
        </p:nvSpPr>
        <p:spPr>
          <a:xfrm>
            <a:off x="8366760" y="3712464"/>
            <a:ext cx="2651760" cy="347472"/>
          </a:xfrm>
          <a:prstGeom prst="rect">
            <a:avLst/>
          </a:prstGeom>
          <a:noFill/>
        </p:spPr>
        <p:txBody>
          <a:bodyPr wrap="square" lIns="36576" tIns="36576" rIns="36576" bIns="36576" anchor="t">
            <a:normAutofit/>
          </a:bodyPr>
          <a:lstStyle/>
          <a:p>
            <a:pPr algn="ctr">
              <a:lnSpc>
                <a:spcPct val="130000"/>
              </a:lnSpc>
              <a:spcBef>
                <a:spcPts val="0"/>
              </a:spcBef>
              <a:spcAft>
                <a:spcPts val="0"/>
              </a:spcAft>
              <a:defRPr sz="1300">
                <a:solidFill>
                  <a:srgbClr val="111111"/>
                </a:solidFill>
                <a:latin typeface="微软雅黑"/>
              </a:defRPr>
            </a:pPr>
            <a:r>
              <a:rPr sz="1200" b="1" i="0">
                <a:solidFill>
                  <a:srgbClr val="111111"/>
                </a:solidFill>
                <a:latin typeface="微软雅黑"/>
                <a:ea typeface="微软雅黑"/>
              </a:rPr>
              <a:t>集群数据中心</a:t>
            </a:r>
          </a:p>
        </p:txBody>
      </p:sp>
      <p:sp>
        <p:nvSpPr>
          <p:cNvPr id="30" name="TextBox 29"/>
          <p:cNvSpPr txBox="1"/>
          <p:nvPr/>
        </p:nvSpPr>
        <p:spPr>
          <a:xfrm>
            <a:off x="8046720" y="4416552"/>
            <a:ext cx="3291840" cy="1234440"/>
          </a:xfrm>
          <a:prstGeom prst="rect">
            <a:avLst/>
          </a:prstGeom>
          <a:noFill/>
        </p:spPr>
        <p:txBody>
          <a:bodyPr wrap="square" lIns="64008" tIns="36576" rIns="64008" bIns="36576">
            <a:normAutofit/>
          </a:bodyPr>
          <a:lstStyle/>
          <a:p>
            <a:pPr algn="l">
              <a:lnSpc>
                <a:spcPct val="130000"/>
              </a:lnSpc>
              <a:spcBef>
                <a:spcPts val="0"/>
              </a:spcBef>
              <a:spcAft>
                <a:spcPts val="0"/>
              </a:spcAft>
              <a:defRPr sz="1300">
                <a:solidFill>
                  <a:srgbClr val="111111"/>
                </a:solidFill>
                <a:latin typeface="微软雅黑"/>
              </a:defRPr>
            </a:pPr>
            <a:r>
              <a:rPr sz="1200" b="1">
                <a:solidFill>
                  <a:srgbClr val="111111"/>
                </a:solidFill>
                <a:latin typeface="微软雅黑"/>
                <a:ea typeface="微软雅黑"/>
              </a:rPr>
              <a:t>对象：</a:t>
            </a:r>
            <a:r>
              <a:rPr sz="1200">
                <a:solidFill>
                  <a:srgbClr val="111111"/>
                </a:solidFill>
                <a:latin typeface="微软雅黑"/>
                <a:ea typeface="微软雅黑"/>
              </a:rPr>
              <a:t>战略人才、青年人才</a:t>
            </a:r>
          </a:p>
          <a:p>
            <a:pPr algn="l">
              <a:lnSpc>
                <a:spcPct val="130000"/>
              </a:lnSpc>
              <a:spcBef>
                <a:spcPts val="0"/>
              </a:spcBef>
              <a:spcAft>
                <a:spcPts val="0"/>
              </a:spcAft>
              <a:defRPr sz="1300">
                <a:solidFill>
                  <a:srgbClr val="111111"/>
                </a:solidFill>
                <a:latin typeface="微软雅黑"/>
              </a:defRPr>
            </a:pPr>
            <a:r>
              <a:rPr sz="1200" b="1">
                <a:solidFill>
                  <a:srgbClr val="111111"/>
                </a:solidFill>
                <a:latin typeface="微软雅黑"/>
                <a:ea typeface="微软雅黑"/>
              </a:rPr>
              <a:t>方式：</a:t>
            </a:r>
            <a:r>
              <a:rPr sz="1200">
                <a:solidFill>
                  <a:srgbClr val="111111"/>
                </a:solidFill>
                <a:latin typeface="微软雅黑"/>
                <a:ea typeface="微软雅黑"/>
              </a:rPr>
              <a:t>实地观摩 + 现场实操授课</a:t>
            </a:r>
          </a:p>
          <a:p>
            <a:pPr algn="l">
              <a:lnSpc>
                <a:spcPct val="130000"/>
              </a:lnSpc>
              <a:spcBef>
                <a:spcPts val="0"/>
              </a:spcBef>
              <a:spcAft>
                <a:spcPts val="0"/>
              </a:spcAft>
              <a:defRPr sz="1300">
                <a:solidFill>
                  <a:srgbClr val="111111"/>
                </a:solidFill>
                <a:latin typeface="微软雅黑"/>
              </a:defRPr>
            </a:pPr>
            <a:r>
              <a:rPr sz="1200" b="1">
                <a:solidFill>
                  <a:srgbClr val="111111"/>
                </a:solidFill>
                <a:latin typeface="微软雅黑"/>
                <a:ea typeface="微软雅黑"/>
              </a:rPr>
              <a:t>导向：</a:t>
            </a:r>
            <a:r>
              <a:rPr sz="1200">
                <a:solidFill>
                  <a:srgbClr val="111111"/>
                </a:solidFill>
                <a:latin typeface="微软雅黑"/>
                <a:ea typeface="微软雅黑"/>
              </a:rPr>
              <a:t>以真实场景提升技术理解和实践能力</a:t>
            </a:r>
          </a:p>
        </p:txBody>
      </p:sp>
      <p:sp>
        <p:nvSpPr>
          <p:cNvPr id="31" name="Rectangle 30"/>
          <p:cNvSpPr/>
          <p:nvPr/>
        </p:nvSpPr>
        <p:spPr>
          <a:xfrm>
            <a:off x="868680" y="4069080"/>
            <a:ext cx="6355080" cy="658368"/>
          </a:xfrm>
          <a:prstGeom prst="rect">
            <a:avLst/>
          </a:prstGeom>
          <a:solidFill>
            <a:srgbClr val="EAF1F9"/>
          </a:solidFill>
          <a:ln w="10160">
            <a:solidFill>
              <a:srgbClr val="B7C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spcBef>
                <a:spcPts val="0"/>
              </a:spcBef>
              <a:spcAft>
                <a:spcPts val="0"/>
              </a:spcAft>
            </a:pPr>
            <a:endParaRPr/>
          </a:p>
        </p:txBody>
      </p:sp>
      <p:sp>
        <p:nvSpPr>
          <p:cNvPr id="32" name="TextBox 31"/>
          <p:cNvSpPr txBox="1"/>
          <p:nvPr/>
        </p:nvSpPr>
        <p:spPr>
          <a:xfrm>
            <a:off x="868680" y="4069080"/>
            <a:ext cx="6355080" cy="658368"/>
          </a:xfrm>
          <a:prstGeom prst="rect">
            <a:avLst/>
          </a:prstGeom>
          <a:noFill/>
        </p:spPr>
        <p:txBody>
          <a:bodyPr wrap="square" lIns="73152" tIns="73152" rIns="73152" bIns="73152" anchor="ctr">
            <a:spAutoFit/>
          </a:bodyPr>
          <a:lstStyle/>
          <a:p>
            <a:pPr algn="ctr">
              <a:lnSpc>
                <a:spcPct val="130000"/>
              </a:lnSpc>
              <a:spcBef>
                <a:spcPts val="0"/>
              </a:spcBef>
              <a:spcAft>
                <a:spcPts val="0"/>
              </a:spcAft>
              <a:defRPr sz="1300" b="1">
                <a:solidFill>
                  <a:srgbClr val="111111"/>
                </a:solidFill>
                <a:latin typeface="微软雅黑"/>
              </a:defRPr>
            </a:pPr>
            <a:r>
              <a:rPr sz="1200" b="1">
                <a:solidFill>
                  <a:srgbClr val="111111"/>
                </a:solidFill>
                <a:latin typeface="微软雅黑"/>
                <a:ea typeface="微软雅黑"/>
              </a:rPr>
              <a:t>14项核心攻关项目全部配齐青年科研助理，青年跟踪台账搭建完毕。</a:t>
            </a:r>
          </a:p>
        </p:txBody>
      </p:sp>
      <p:sp>
        <p:nvSpPr>
          <p:cNvPr id="33" name="TextBox 32"/>
          <p:cNvSpPr txBox="1"/>
          <p:nvPr/>
        </p:nvSpPr>
        <p:spPr>
          <a:xfrm>
            <a:off x="11338560" y="6565392"/>
            <a:ext cx="502920" cy="219456"/>
          </a:xfrm>
          <a:prstGeom prst="rect">
            <a:avLst/>
          </a:prstGeom>
          <a:noFill/>
        </p:spPr>
        <p:txBody>
          <a:bodyPr wrap="square" lIns="0" tIns="0" rIns="0" bIns="0" anchor="ctr">
            <a:spAutoFit/>
          </a:bodyPr>
          <a:lstStyle/>
          <a:p>
            <a:pPr algn="ctr">
              <a:lnSpc>
                <a:spcPct val="130000"/>
              </a:lnSpc>
              <a:spcBef>
                <a:spcPts val="0"/>
              </a:spcBef>
              <a:spcAft>
                <a:spcPts val="0"/>
              </a:spcAft>
              <a:defRPr sz="1300" b="0">
                <a:solidFill>
                  <a:srgbClr val="111111"/>
                </a:solidFill>
                <a:latin typeface="微软雅黑"/>
              </a:defRPr>
            </a:pPr>
            <a:r>
              <a:rPr sz="1000" b="0">
                <a:solidFill>
                  <a:srgbClr val="111111"/>
                </a:solidFill>
                <a:latin typeface="微软雅黑"/>
                <a:ea typeface="微软雅黑"/>
              </a:rPr>
              <a:t>14</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1480" y="274320"/>
            <a:ext cx="1280160" cy="658368"/>
          </a:xfrm>
          <a:prstGeom prst="rect">
            <a:avLst/>
          </a:prstGeom>
          <a:noFill/>
        </p:spPr>
        <p:txBody>
          <a:bodyPr wrap="square" lIns="36576" tIns="36576" rIns="36576" bIns="36576" anchor="t">
            <a:spAutoFit/>
          </a:bodyPr>
          <a:lstStyle/>
          <a:p>
            <a:pPr algn="l">
              <a:lnSpc>
                <a:spcPct val="100000"/>
              </a:lnSpc>
              <a:spcBef>
                <a:spcPts val="0"/>
              </a:spcBef>
              <a:spcAft>
                <a:spcPts val="0"/>
              </a:spcAft>
              <a:defRPr sz="3400" b="1">
                <a:solidFill>
                  <a:srgbClr val="003E9E"/>
                </a:solidFill>
                <a:latin typeface="微软雅黑"/>
              </a:defRPr>
            </a:pPr>
            <a:r>
              <a:rPr sz="3400" b="1" i="0">
                <a:solidFill>
                  <a:srgbClr val="003E9E"/>
                </a:solidFill>
                <a:latin typeface="微软雅黑"/>
                <a:ea typeface="微软雅黑"/>
              </a:rPr>
              <a:t>目录</a:t>
            </a:r>
          </a:p>
        </p:txBody>
      </p:sp>
      <p:sp>
        <p:nvSpPr>
          <p:cNvPr id="3" name="TextBox 2"/>
          <p:cNvSpPr txBox="1"/>
          <p:nvPr/>
        </p:nvSpPr>
        <p:spPr>
          <a:xfrm>
            <a:off x="2971800" y="1965960"/>
            <a:ext cx="502920" cy="384048"/>
          </a:xfrm>
          <a:prstGeom prst="rect">
            <a:avLst/>
          </a:prstGeom>
          <a:noFill/>
        </p:spPr>
        <p:txBody>
          <a:bodyPr wrap="square" lIns="36576" tIns="36576" rIns="36576" bIns="36576" anchor="ctr">
            <a:normAutofit/>
          </a:bodyPr>
          <a:lstStyle/>
          <a:p>
            <a:pPr algn="ctr">
              <a:lnSpc>
                <a:spcPct val="100000"/>
              </a:lnSpc>
              <a:spcBef>
                <a:spcPts val="0"/>
              </a:spcBef>
              <a:spcAft>
                <a:spcPts val="0"/>
              </a:spcAft>
              <a:defRPr sz="2000" b="0">
                <a:solidFill>
                  <a:srgbClr val="666666"/>
                </a:solidFill>
                <a:latin typeface="微软雅黑"/>
              </a:defRPr>
            </a:pPr>
            <a:r>
              <a:rPr sz="2000" b="0" i="0">
                <a:solidFill>
                  <a:srgbClr val="666666"/>
                </a:solidFill>
                <a:latin typeface="微软雅黑"/>
                <a:ea typeface="微软雅黑"/>
              </a:rPr>
              <a:t>1</a:t>
            </a:r>
          </a:p>
        </p:txBody>
      </p:sp>
      <p:sp>
        <p:nvSpPr>
          <p:cNvPr id="4" name="TextBox 3"/>
          <p:cNvSpPr txBox="1"/>
          <p:nvPr/>
        </p:nvSpPr>
        <p:spPr>
          <a:xfrm>
            <a:off x="3703320" y="1965960"/>
            <a:ext cx="6126480" cy="384048"/>
          </a:xfrm>
          <a:prstGeom prst="rect">
            <a:avLst/>
          </a:prstGeom>
          <a:noFill/>
        </p:spPr>
        <p:txBody>
          <a:bodyPr wrap="square" lIns="36576" tIns="36576" rIns="36576" bIns="36576" anchor="ctr">
            <a:normAutofit/>
          </a:bodyPr>
          <a:lstStyle/>
          <a:p>
            <a:pPr algn="l">
              <a:lnSpc>
                <a:spcPct val="100000"/>
              </a:lnSpc>
              <a:spcBef>
                <a:spcPts val="0"/>
              </a:spcBef>
              <a:spcAft>
                <a:spcPts val="0"/>
              </a:spcAft>
              <a:defRPr sz="2000" b="0">
                <a:solidFill>
                  <a:srgbClr val="666666"/>
                </a:solidFill>
                <a:latin typeface="微软雅黑"/>
              </a:defRPr>
            </a:pPr>
            <a:r>
              <a:rPr sz="2000" b="0" i="0">
                <a:solidFill>
                  <a:srgbClr val="666666"/>
                </a:solidFill>
                <a:latin typeface="微软雅黑"/>
                <a:ea typeface="微软雅黑"/>
              </a:rPr>
              <a:t>技术指标情况</a:t>
            </a:r>
          </a:p>
        </p:txBody>
      </p:sp>
      <p:sp>
        <p:nvSpPr>
          <p:cNvPr id="5" name="TextBox 4"/>
          <p:cNvSpPr txBox="1"/>
          <p:nvPr/>
        </p:nvSpPr>
        <p:spPr>
          <a:xfrm>
            <a:off x="2971800" y="2624328"/>
            <a:ext cx="502920" cy="384048"/>
          </a:xfrm>
          <a:prstGeom prst="rect">
            <a:avLst/>
          </a:prstGeom>
          <a:noFill/>
        </p:spPr>
        <p:txBody>
          <a:bodyPr wrap="square" lIns="36576" tIns="36576" rIns="36576" bIns="36576" anchor="ctr">
            <a:normAutofit/>
          </a:bodyPr>
          <a:lstStyle/>
          <a:p>
            <a:pPr algn="ctr">
              <a:lnSpc>
                <a:spcPct val="100000"/>
              </a:lnSpc>
              <a:spcBef>
                <a:spcPts val="0"/>
              </a:spcBef>
              <a:spcAft>
                <a:spcPts val="0"/>
              </a:spcAft>
              <a:defRPr sz="2000" b="0">
                <a:solidFill>
                  <a:srgbClr val="666666"/>
                </a:solidFill>
                <a:latin typeface="微软雅黑"/>
              </a:defRPr>
            </a:pPr>
            <a:r>
              <a:rPr sz="2000" b="0" i="0">
                <a:solidFill>
                  <a:srgbClr val="666666"/>
                </a:solidFill>
                <a:latin typeface="微软雅黑"/>
                <a:ea typeface="微软雅黑"/>
              </a:rPr>
              <a:t>2</a:t>
            </a:r>
          </a:p>
        </p:txBody>
      </p:sp>
      <p:sp>
        <p:nvSpPr>
          <p:cNvPr id="6" name="TextBox 5"/>
          <p:cNvSpPr txBox="1"/>
          <p:nvPr/>
        </p:nvSpPr>
        <p:spPr>
          <a:xfrm>
            <a:off x="3703320" y="2624328"/>
            <a:ext cx="6126480" cy="384048"/>
          </a:xfrm>
          <a:prstGeom prst="rect">
            <a:avLst/>
          </a:prstGeom>
          <a:noFill/>
        </p:spPr>
        <p:txBody>
          <a:bodyPr wrap="square" lIns="36576" tIns="36576" rIns="36576" bIns="36576" anchor="ctr">
            <a:normAutofit/>
          </a:bodyPr>
          <a:lstStyle/>
          <a:p>
            <a:pPr algn="l">
              <a:lnSpc>
                <a:spcPct val="100000"/>
              </a:lnSpc>
              <a:spcBef>
                <a:spcPts val="0"/>
              </a:spcBef>
              <a:spcAft>
                <a:spcPts val="0"/>
              </a:spcAft>
              <a:defRPr sz="2000" b="0">
                <a:solidFill>
                  <a:srgbClr val="666666"/>
                </a:solidFill>
                <a:latin typeface="微软雅黑"/>
              </a:defRPr>
            </a:pPr>
            <a:r>
              <a:rPr sz="2000" b="0" i="0">
                <a:solidFill>
                  <a:srgbClr val="666666"/>
                </a:solidFill>
                <a:latin typeface="微软雅黑"/>
                <a:ea typeface="微软雅黑"/>
              </a:rPr>
              <a:t>总师支撑效果</a:t>
            </a:r>
          </a:p>
        </p:txBody>
      </p:sp>
      <p:sp>
        <p:nvSpPr>
          <p:cNvPr id="7" name="TextBox 6"/>
          <p:cNvSpPr txBox="1"/>
          <p:nvPr/>
        </p:nvSpPr>
        <p:spPr>
          <a:xfrm>
            <a:off x="2971800" y="3282696"/>
            <a:ext cx="502920" cy="384048"/>
          </a:xfrm>
          <a:prstGeom prst="rect">
            <a:avLst/>
          </a:prstGeom>
          <a:noFill/>
        </p:spPr>
        <p:txBody>
          <a:bodyPr wrap="square" lIns="36576" tIns="36576" rIns="36576" bIns="36576" anchor="ctr">
            <a:normAutofit/>
          </a:bodyPr>
          <a:lstStyle/>
          <a:p>
            <a:pPr algn="ctr">
              <a:lnSpc>
                <a:spcPct val="100000"/>
              </a:lnSpc>
              <a:spcBef>
                <a:spcPts val="0"/>
              </a:spcBef>
              <a:spcAft>
                <a:spcPts val="0"/>
              </a:spcAft>
              <a:defRPr sz="2000" b="0">
                <a:solidFill>
                  <a:srgbClr val="666666"/>
                </a:solidFill>
                <a:latin typeface="微软雅黑"/>
              </a:defRPr>
            </a:pPr>
            <a:r>
              <a:rPr sz="2000" b="0" i="0">
                <a:solidFill>
                  <a:srgbClr val="666666"/>
                </a:solidFill>
                <a:latin typeface="微软雅黑"/>
                <a:ea typeface="微软雅黑"/>
              </a:rPr>
              <a:t>3</a:t>
            </a:r>
          </a:p>
        </p:txBody>
      </p:sp>
      <p:sp>
        <p:nvSpPr>
          <p:cNvPr id="8" name="TextBox 7"/>
          <p:cNvSpPr txBox="1"/>
          <p:nvPr/>
        </p:nvSpPr>
        <p:spPr>
          <a:xfrm>
            <a:off x="3703320" y="3282696"/>
            <a:ext cx="6126480" cy="384048"/>
          </a:xfrm>
          <a:prstGeom prst="rect">
            <a:avLst/>
          </a:prstGeom>
          <a:noFill/>
        </p:spPr>
        <p:txBody>
          <a:bodyPr wrap="square" lIns="36576" tIns="36576" rIns="36576" bIns="36576" anchor="ctr">
            <a:normAutofit/>
          </a:bodyPr>
          <a:lstStyle/>
          <a:p>
            <a:pPr algn="l">
              <a:lnSpc>
                <a:spcPct val="100000"/>
              </a:lnSpc>
              <a:spcBef>
                <a:spcPts val="0"/>
              </a:spcBef>
              <a:spcAft>
                <a:spcPts val="0"/>
              </a:spcAft>
              <a:defRPr sz="2000" b="0">
                <a:solidFill>
                  <a:srgbClr val="666666"/>
                </a:solidFill>
                <a:latin typeface="微软雅黑"/>
              </a:defRPr>
            </a:pPr>
            <a:r>
              <a:rPr sz="2000" b="0" i="0">
                <a:solidFill>
                  <a:srgbClr val="666666"/>
                </a:solidFill>
                <a:latin typeface="微软雅黑"/>
                <a:ea typeface="微软雅黑"/>
              </a:rPr>
              <a:t>科创能力打造</a:t>
            </a:r>
          </a:p>
        </p:txBody>
      </p:sp>
      <p:sp>
        <p:nvSpPr>
          <p:cNvPr id="9" name="TextBox 8"/>
          <p:cNvSpPr txBox="1"/>
          <p:nvPr/>
        </p:nvSpPr>
        <p:spPr>
          <a:xfrm>
            <a:off x="2971800" y="3941064"/>
            <a:ext cx="502920" cy="384048"/>
          </a:xfrm>
          <a:prstGeom prst="rect">
            <a:avLst/>
          </a:prstGeom>
          <a:noFill/>
        </p:spPr>
        <p:txBody>
          <a:bodyPr wrap="square" lIns="36576" tIns="36576" rIns="36576" bIns="36576" anchor="ctr">
            <a:normAutofit/>
          </a:bodyPr>
          <a:lstStyle/>
          <a:p>
            <a:pPr algn="ctr">
              <a:lnSpc>
                <a:spcPct val="100000"/>
              </a:lnSpc>
              <a:spcBef>
                <a:spcPts val="0"/>
              </a:spcBef>
              <a:spcAft>
                <a:spcPts val="0"/>
              </a:spcAft>
              <a:defRPr sz="2000" b="0">
                <a:solidFill>
                  <a:srgbClr val="666666"/>
                </a:solidFill>
                <a:latin typeface="微软雅黑"/>
              </a:defRPr>
            </a:pPr>
            <a:r>
              <a:rPr sz="2000" b="0" i="0">
                <a:solidFill>
                  <a:srgbClr val="666666"/>
                </a:solidFill>
                <a:latin typeface="微软雅黑"/>
                <a:ea typeface="微软雅黑"/>
              </a:rPr>
              <a:t>4</a:t>
            </a:r>
          </a:p>
        </p:txBody>
      </p:sp>
      <p:sp>
        <p:nvSpPr>
          <p:cNvPr id="10" name="TextBox 9"/>
          <p:cNvSpPr txBox="1"/>
          <p:nvPr/>
        </p:nvSpPr>
        <p:spPr>
          <a:xfrm>
            <a:off x="3703320" y="3941064"/>
            <a:ext cx="6126480" cy="384048"/>
          </a:xfrm>
          <a:prstGeom prst="rect">
            <a:avLst/>
          </a:prstGeom>
          <a:noFill/>
        </p:spPr>
        <p:txBody>
          <a:bodyPr wrap="square" lIns="36576" tIns="36576" rIns="36576" bIns="36576" anchor="ctr">
            <a:normAutofit/>
          </a:bodyPr>
          <a:lstStyle/>
          <a:p>
            <a:pPr algn="l">
              <a:lnSpc>
                <a:spcPct val="100000"/>
              </a:lnSpc>
              <a:spcBef>
                <a:spcPts val="0"/>
              </a:spcBef>
              <a:spcAft>
                <a:spcPts val="0"/>
              </a:spcAft>
              <a:defRPr sz="2000" b="0">
                <a:solidFill>
                  <a:srgbClr val="666666"/>
                </a:solidFill>
                <a:latin typeface="微软雅黑"/>
              </a:defRPr>
            </a:pPr>
            <a:r>
              <a:rPr sz="2000" b="0" i="0">
                <a:solidFill>
                  <a:srgbClr val="666666"/>
                </a:solidFill>
                <a:latin typeface="微软雅黑"/>
                <a:ea typeface="微软雅黑"/>
              </a:rPr>
              <a:t>设计质量与人才梯队</a:t>
            </a:r>
          </a:p>
        </p:txBody>
      </p:sp>
      <p:sp>
        <p:nvSpPr>
          <p:cNvPr id="11" name="TextBox 10"/>
          <p:cNvSpPr txBox="1"/>
          <p:nvPr/>
        </p:nvSpPr>
        <p:spPr>
          <a:xfrm>
            <a:off x="2971800" y="4599431"/>
            <a:ext cx="502920" cy="384048"/>
          </a:xfrm>
          <a:prstGeom prst="rect">
            <a:avLst/>
          </a:prstGeom>
          <a:noFill/>
        </p:spPr>
        <p:txBody>
          <a:bodyPr wrap="square" lIns="36576" tIns="36576" rIns="36576" bIns="36576" anchor="ctr">
            <a:normAutofit/>
          </a:bodyPr>
          <a:lstStyle/>
          <a:p>
            <a:pPr algn="ctr">
              <a:lnSpc>
                <a:spcPct val="100000"/>
              </a:lnSpc>
              <a:spcBef>
                <a:spcPts val="0"/>
              </a:spcBef>
              <a:spcAft>
                <a:spcPts val="0"/>
              </a:spcAft>
              <a:defRPr sz="2000" b="1">
                <a:solidFill>
                  <a:srgbClr val="111111"/>
                </a:solidFill>
                <a:latin typeface="微软雅黑"/>
              </a:defRPr>
            </a:pPr>
            <a:r>
              <a:rPr sz="2000" b="1" i="0">
                <a:solidFill>
                  <a:srgbClr val="111111"/>
                </a:solidFill>
                <a:latin typeface="微软雅黑"/>
                <a:ea typeface="微软雅黑"/>
              </a:rPr>
              <a:t>5</a:t>
            </a:r>
          </a:p>
        </p:txBody>
      </p:sp>
      <p:sp>
        <p:nvSpPr>
          <p:cNvPr id="12" name="TextBox 11"/>
          <p:cNvSpPr txBox="1"/>
          <p:nvPr/>
        </p:nvSpPr>
        <p:spPr>
          <a:xfrm>
            <a:off x="3703320" y="4599431"/>
            <a:ext cx="6126480" cy="384048"/>
          </a:xfrm>
          <a:prstGeom prst="rect">
            <a:avLst/>
          </a:prstGeom>
          <a:noFill/>
        </p:spPr>
        <p:txBody>
          <a:bodyPr wrap="square" lIns="36576" tIns="36576" rIns="36576" bIns="36576" anchor="ctr">
            <a:normAutofit/>
          </a:bodyPr>
          <a:lstStyle/>
          <a:p>
            <a:pPr algn="l">
              <a:lnSpc>
                <a:spcPct val="100000"/>
              </a:lnSpc>
              <a:spcBef>
                <a:spcPts val="0"/>
              </a:spcBef>
              <a:spcAft>
                <a:spcPts val="0"/>
              </a:spcAft>
              <a:defRPr sz="2000" b="1">
                <a:solidFill>
                  <a:srgbClr val="111111"/>
                </a:solidFill>
                <a:latin typeface="微软雅黑"/>
              </a:defRPr>
            </a:pPr>
            <a:r>
              <a:rPr sz="2000" b="1" i="0">
                <a:solidFill>
                  <a:srgbClr val="111111"/>
                </a:solidFill>
                <a:latin typeface="微软雅黑"/>
                <a:ea typeface="微软雅黑"/>
              </a:rPr>
              <a:t>下一步工作计划</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19456"/>
            <a:ext cx="9738360" cy="621792"/>
          </a:xfrm>
          <a:prstGeom prst="rect">
            <a:avLst/>
          </a:prstGeom>
          <a:noFill/>
        </p:spPr>
        <p:txBody>
          <a:bodyPr wrap="square" lIns="0" tIns="0" rIns="0" bIns="0" anchor="ctr">
            <a:normAutofit/>
          </a:bodyPr>
          <a:lstStyle/>
          <a:p>
            <a:pPr algn="l">
              <a:lnSpc>
                <a:spcPct val="100000"/>
              </a:lnSpc>
              <a:spcBef>
                <a:spcPts val="0"/>
              </a:spcBef>
              <a:spcAft>
                <a:spcPts val="0"/>
              </a:spcAft>
              <a:defRPr sz="1300" b="1">
                <a:solidFill>
                  <a:srgbClr val="111111"/>
                </a:solidFill>
                <a:latin typeface="微软雅黑"/>
              </a:defRPr>
            </a:pPr>
            <a:r>
              <a:rPr sz="3400" b="1" i="0">
                <a:solidFill>
                  <a:srgbClr val="111111"/>
                </a:solidFill>
                <a:latin typeface="微软雅黑"/>
                <a:ea typeface="微软雅黑"/>
              </a:rPr>
              <a:t>下一步重点工作计划</a:t>
            </a:r>
          </a:p>
        </p:txBody>
      </p:sp>
      <p:sp>
        <p:nvSpPr>
          <p:cNvPr id="54" name="TextBox 53"/>
          <p:cNvSpPr txBox="1"/>
          <p:nvPr/>
        </p:nvSpPr>
        <p:spPr>
          <a:xfrm>
            <a:off x="11338560" y="6565392"/>
            <a:ext cx="502920" cy="219456"/>
          </a:xfrm>
          <a:prstGeom prst="rect">
            <a:avLst/>
          </a:prstGeom>
          <a:noFill/>
        </p:spPr>
        <p:txBody>
          <a:bodyPr wrap="square" lIns="0" tIns="0" rIns="0" bIns="0" anchor="ctr">
            <a:spAutoFit/>
          </a:bodyPr>
          <a:lstStyle/>
          <a:p>
            <a:pPr algn="ctr">
              <a:lnSpc>
                <a:spcPct val="130000"/>
              </a:lnSpc>
              <a:spcBef>
                <a:spcPts val="0"/>
              </a:spcBef>
              <a:spcAft>
                <a:spcPts val="0"/>
              </a:spcAft>
              <a:defRPr sz="1300" b="0">
                <a:solidFill>
                  <a:srgbClr val="111111"/>
                </a:solidFill>
                <a:latin typeface="微软雅黑"/>
              </a:defRPr>
            </a:pPr>
            <a:r>
              <a:rPr sz="1000" b="0">
                <a:solidFill>
                  <a:srgbClr val="111111"/>
                </a:solidFill>
                <a:latin typeface="微软雅黑"/>
                <a:ea typeface="微软雅黑"/>
              </a:rPr>
              <a:t>16</a:t>
            </a:r>
          </a:p>
        </p:txBody>
      </p:sp>
      <p:sp>
        <p:nvSpPr>
          <p:cNvPr id="55" name="Rectangle 54"/>
          <p:cNvSpPr/>
          <p:nvPr/>
        </p:nvSpPr>
        <p:spPr>
          <a:xfrm>
            <a:off x="347472" y="1051560"/>
            <a:ext cx="11475720" cy="310896"/>
          </a:xfrm>
          <a:prstGeom prst="rect">
            <a:avLst/>
          </a:prstGeom>
          <a:solidFill>
            <a:srgbClr val="0047A0"/>
          </a:solidFill>
          <a:ln w="7620">
            <a:solidFill>
              <a:srgbClr val="A7BDD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347472" y="1051560"/>
            <a:ext cx="11475720" cy="310896"/>
          </a:xfrm>
          <a:prstGeom prst="rect">
            <a:avLst/>
          </a:prstGeom>
          <a:noFill/>
        </p:spPr>
        <p:txBody>
          <a:bodyPr wrap="square" lIns="50292" tIns="22860" rIns="50292" bIns="22860" anchor="ctr">
            <a:spAutoFit/>
          </a:bodyPr>
          <a:lstStyle/>
          <a:p>
            <a:pPr algn="ctr">
              <a:lnSpc>
                <a:spcPct val="100000"/>
              </a:lnSpc>
              <a:spcBef>
                <a:spcPts val="0"/>
              </a:spcBef>
              <a:spcAft>
                <a:spcPts val="0"/>
              </a:spcAft>
            </a:pPr>
            <a:r>
              <a:rPr sz="2000" b="1">
                <a:solidFill>
                  <a:srgbClr val="FFFFFF"/>
                </a:solidFill>
                <a:latin typeface="微软雅黑"/>
                <a:ea typeface="微软雅黑"/>
              </a:rPr>
              <a:t>科创情况</a:t>
            </a:r>
          </a:p>
        </p:txBody>
      </p:sp>
      <p:sp>
        <p:nvSpPr>
          <p:cNvPr id="57" name="Rectangle 56"/>
          <p:cNvSpPr/>
          <p:nvPr/>
        </p:nvSpPr>
        <p:spPr>
          <a:xfrm>
            <a:off x="347472" y="1362456"/>
            <a:ext cx="11475720" cy="2295144"/>
          </a:xfrm>
          <a:prstGeom prst="rect">
            <a:avLst/>
          </a:prstGeom>
          <a:solidFill>
            <a:srgbClr val="E9F1F9"/>
          </a:solidFill>
          <a:ln w="7620">
            <a:solidFill>
              <a:srgbClr val="A7BDD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347472" y="1362456"/>
            <a:ext cx="11475720" cy="329184"/>
          </a:xfrm>
          <a:prstGeom prst="rect">
            <a:avLst/>
          </a:prstGeom>
          <a:noFill/>
        </p:spPr>
        <p:txBody>
          <a:bodyPr wrap="square" lIns="50292" tIns="22860" rIns="50292" bIns="22860" anchor="ctr">
            <a:spAutoFit/>
          </a:bodyPr>
          <a:lstStyle/>
          <a:p>
            <a:pPr algn="l">
              <a:lnSpc>
                <a:spcPct val="100000"/>
              </a:lnSpc>
              <a:spcBef>
                <a:spcPts val="0"/>
              </a:spcBef>
              <a:spcAft>
                <a:spcPts val="0"/>
              </a:spcAft>
            </a:pPr>
            <a:r>
              <a:rPr sz="1200" b="1">
                <a:solidFill>
                  <a:srgbClr val="232D37"/>
                </a:solidFill>
                <a:latin typeface="微软雅黑"/>
                <a:ea typeface="微软雅黑"/>
              </a:rPr>
              <a:t>进入验收、检查、整改和成果转化集中推进期</a:t>
            </a:r>
          </a:p>
        </p:txBody>
      </p:sp>
      <p:sp>
        <p:nvSpPr>
          <p:cNvPr id="59" name="Rectangle 58"/>
          <p:cNvSpPr/>
          <p:nvPr/>
        </p:nvSpPr>
        <p:spPr>
          <a:xfrm>
            <a:off x="457200" y="1792224"/>
            <a:ext cx="3511296" cy="877824"/>
          </a:xfrm>
          <a:prstGeom prst="rect">
            <a:avLst/>
          </a:prstGeom>
          <a:solidFill>
            <a:srgbClr val="F6F9FC"/>
          </a:solidFill>
          <a:ln w="7620">
            <a:solidFill>
              <a:srgbClr val="A7BDD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Rectangle 59"/>
          <p:cNvSpPr/>
          <p:nvPr/>
        </p:nvSpPr>
        <p:spPr>
          <a:xfrm>
            <a:off x="502920" y="1837943"/>
            <a:ext cx="3419856" cy="246888"/>
          </a:xfrm>
          <a:prstGeom prst="rect">
            <a:avLst/>
          </a:prstGeom>
          <a:solidFill>
            <a:srgbClr val="E9F1F9"/>
          </a:solidFill>
          <a:ln w="7620">
            <a:solidFill>
              <a:srgbClr val="A7BDD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502920" y="1837943"/>
            <a:ext cx="3419856" cy="246888"/>
          </a:xfrm>
          <a:prstGeom prst="rect">
            <a:avLst/>
          </a:prstGeom>
          <a:noFill/>
        </p:spPr>
        <p:txBody>
          <a:bodyPr wrap="square" lIns="50292" tIns="22860" rIns="50292" bIns="22860" anchor="ctr">
            <a:spAutoFit/>
          </a:bodyPr>
          <a:lstStyle/>
          <a:p>
            <a:pPr algn="l">
              <a:lnSpc>
                <a:spcPct val="100000"/>
              </a:lnSpc>
              <a:spcBef>
                <a:spcPts val="0"/>
              </a:spcBef>
              <a:spcAft>
                <a:spcPts val="0"/>
              </a:spcAft>
            </a:pPr>
            <a:r>
              <a:rPr sz="1200" b="1">
                <a:solidFill>
                  <a:srgbClr val="0047A0"/>
                </a:solidFill>
                <a:latin typeface="微软雅黑"/>
                <a:ea typeface="微软雅黑"/>
              </a:rPr>
              <a:t>核心攻关</a:t>
            </a:r>
          </a:p>
        </p:txBody>
      </p:sp>
      <p:sp>
        <p:nvSpPr>
          <p:cNvPr id="62" name="TextBox 61"/>
          <p:cNvSpPr txBox="1"/>
          <p:nvPr/>
        </p:nvSpPr>
        <p:spPr>
          <a:xfrm>
            <a:off x="521208" y="2121408"/>
            <a:ext cx="3383279" cy="502920"/>
          </a:xfrm>
          <a:prstGeom prst="rect">
            <a:avLst/>
          </a:prstGeom>
          <a:noFill/>
        </p:spPr>
        <p:txBody>
          <a:bodyPr wrap="square" lIns="50292" tIns="22860" rIns="50292" bIns="22860" anchor="ctr">
            <a:spAutoFit/>
          </a:bodyPr>
          <a:lstStyle/>
          <a:p>
            <a:pPr algn="l">
              <a:lnSpc>
                <a:spcPct val="100000"/>
              </a:lnSpc>
              <a:spcBef>
                <a:spcPts val="0"/>
              </a:spcBef>
              <a:spcAft>
                <a:spcPts val="0"/>
              </a:spcAft>
            </a:pPr>
            <a:r>
              <a:rPr sz="1000" b="0">
                <a:solidFill>
                  <a:srgbClr val="232D37"/>
                </a:solidFill>
                <a:latin typeface="微软雅黑"/>
                <a:ea typeface="微软雅黑"/>
              </a:rPr>
              <a:t>跟踪各省分申报途径，多线条酝酿参与机会，力争在6G、量子、下一代互联网等领域突破；2024、2025年立项项目分别配合牵头单位做好结项、年度评估和中期检查。</a:t>
            </a:r>
          </a:p>
        </p:txBody>
      </p:sp>
      <p:sp>
        <p:nvSpPr>
          <p:cNvPr id="63" name="Rectangle 62"/>
          <p:cNvSpPr/>
          <p:nvPr/>
        </p:nvSpPr>
        <p:spPr>
          <a:xfrm>
            <a:off x="4187952" y="1792224"/>
            <a:ext cx="3511296" cy="877824"/>
          </a:xfrm>
          <a:prstGeom prst="rect">
            <a:avLst/>
          </a:prstGeom>
          <a:solidFill>
            <a:srgbClr val="F6F9FC"/>
          </a:solidFill>
          <a:ln w="7620">
            <a:solidFill>
              <a:srgbClr val="A7BDD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Rectangle 63"/>
          <p:cNvSpPr/>
          <p:nvPr/>
        </p:nvSpPr>
        <p:spPr>
          <a:xfrm>
            <a:off x="4233672" y="1837943"/>
            <a:ext cx="3419856" cy="246888"/>
          </a:xfrm>
          <a:prstGeom prst="rect">
            <a:avLst/>
          </a:prstGeom>
          <a:solidFill>
            <a:srgbClr val="E9F1F9"/>
          </a:solidFill>
          <a:ln w="7620">
            <a:solidFill>
              <a:srgbClr val="A7BDD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4233672" y="1837943"/>
            <a:ext cx="3419856" cy="246888"/>
          </a:xfrm>
          <a:prstGeom prst="rect">
            <a:avLst/>
          </a:prstGeom>
          <a:noFill/>
        </p:spPr>
        <p:txBody>
          <a:bodyPr wrap="square" lIns="50292" tIns="22860" rIns="50292" bIns="22860" anchor="ctr">
            <a:spAutoFit/>
          </a:bodyPr>
          <a:lstStyle/>
          <a:p>
            <a:pPr algn="l">
              <a:lnSpc>
                <a:spcPct val="100000"/>
              </a:lnSpc>
              <a:spcBef>
                <a:spcPts val="0"/>
              </a:spcBef>
              <a:spcAft>
                <a:spcPts val="0"/>
              </a:spcAft>
            </a:pPr>
            <a:r>
              <a:rPr sz="1200" b="1">
                <a:solidFill>
                  <a:srgbClr val="0047A0"/>
                </a:solidFill>
                <a:latin typeface="微软雅黑"/>
                <a:ea typeface="微软雅黑"/>
              </a:rPr>
              <a:t>公司级课题</a:t>
            </a:r>
          </a:p>
        </p:txBody>
      </p:sp>
      <p:sp>
        <p:nvSpPr>
          <p:cNvPr id="66" name="TextBox 65"/>
          <p:cNvSpPr txBox="1"/>
          <p:nvPr/>
        </p:nvSpPr>
        <p:spPr>
          <a:xfrm>
            <a:off x="4251960" y="2121408"/>
            <a:ext cx="3383279" cy="502920"/>
          </a:xfrm>
          <a:prstGeom prst="rect">
            <a:avLst/>
          </a:prstGeom>
          <a:noFill/>
        </p:spPr>
        <p:txBody>
          <a:bodyPr wrap="square" lIns="50292" tIns="22860" rIns="50292" bIns="22860" anchor="ctr">
            <a:spAutoFit/>
          </a:bodyPr>
          <a:lstStyle/>
          <a:p>
            <a:pPr algn="l">
              <a:lnSpc>
                <a:spcPct val="100000"/>
              </a:lnSpc>
              <a:spcBef>
                <a:spcPts val="0"/>
              </a:spcBef>
              <a:spcAft>
                <a:spcPts val="0"/>
              </a:spcAft>
            </a:pPr>
            <a:r>
              <a:rPr sz="1000" b="0">
                <a:solidFill>
                  <a:srgbClr val="232D37"/>
                </a:solidFill>
                <a:latin typeface="微软雅黑"/>
                <a:ea typeface="微软雅黑"/>
              </a:rPr>
              <a:t>两个独立承担的产品类研发项目确保研发过程管理流程合规，并关注公司中期检查通知。</a:t>
            </a:r>
          </a:p>
        </p:txBody>
      </p:sp>
      <p:sp>
        <p:nvSpPr>
          <p:cNvPr id="67" name="Rectangle 66"/>
          <p:cNvSpPr/>
          <p:nvPr/>
        </p:nvSpPr>
        <p:spPr>
          <a:xfrm>
            <a:off x="7918704" y="1792224"/>
            <a:ext cx="3511296" cy="877824"/>
          </a:xfrm>
          <a:prstGeom prst="rect">
            <a:avLst/>
          </a:prstGeom>
          <a:solidFill>
            <a:srgbClr val="F6F9FC"/>
          </a:solidFill>
          <a:ln w="7620">
            <a:solidFill>
              <a:srgbClr val="A7BDD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Rectangle 67"/>
          <p:cNvSpPr/>
          <p:nvPr/>
        </p:nvSpPr>
        <p:spPr>
          <a:xfrm>
            <a:off x="7964424" y="1837943"/>
            <a:ext cx="3419856" cy="246888"/>
          </a:xfrm>
          <a:prstGeom prst="rect">
            <a:avLst/>
          </a:prstGeom>
          <a:solidFill>
            <a:srgbClr val="E9F1F9"/>
          </a:solidFill>
          <a:ln w="7620">
            <a:solidFill>
              <a:srgbClr val="A7BDD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7964424" y="1837943"/>
            <a:ext cx="3419856" cy="246888"/>
          </a:xfrm>
          <a:prstGeom prst="rect">
            <a:avLst/>
          </a:prstGeom>
          <a:noFill/>
        </p:spPr>
        <p:txBody>
          <a:bodyPr wrap="square" lIns="50292" tIns="22860" rIns="50292" bIns="22860" anchor="ctr">
            <a:spAutoFit/>
          </a:bodyPr>
          <a:lstStyle/>
          <a:p>
            <a:pPr algn="l">
              <a:lnSpc>
                <a:spcPct val="100000"/>
              </a:lnSpc>
              <a:spcBef>
                <a:spcPts val="0"/>
              </a:spcBef>
              <a:spcAft>
                <a:spcPts val="0"/>
              </a:spcAft>
            </a:pPr>
            <a:r>
              <a:rPr sz="1200" b="1">
                <a:solidFill>
                  <a:srgbClr val="0047A0"/>
                </a:solidFill>
                <a:latin typeface="微软雅黑"/>
                <a:ea typeface="微软雅黑"/>
              </a:rPr>
              <a:t>自列项目</a:t>
            </a:r>
          </a:p>
        </p:txBody>
      </p:sp>
      <p:sp>
        <p:nvSpPr>
          <p:cNvPr id="70" name="TextBox 69"/>
          <p:cNvSpPr txBox="1"/>
          <p:nvPr/>
        </p:nvSpPr>
        <p:spPr>
          <a:xfrm>
            <a:off x="7982712" y="2121408"/>
            <a:ext cx="3383279" cy="502920"/>
          </a:xfrm>
          <a:prstGeom prst="rect">
            <a:avLst/>
          </a:prstGeom>
          <a:noFill/>
        </p:spPr>
        <p:txBody>
          <a:bodyPr wrap="square" lIns="50292" tIns="22860" rIns="50292" bIns="22860" anchor="ctr">
            <a:spAutoFit/>
          </a:bodyPr>
          <a:lstStyle/>
          <a:p>
            <a:pPr algn="l">
              <a:lnSpc>
                <a:spcPct val="100000"/>
              </a:lnSpc>
              <a:spcBef>
                <a:spcPts val="0"/>
              </a:spcBef>
              <a:spcAft>
                <a:spcPts val="0"/>
              </a:spcAft>
            </a:pPr>
            <a:r>
              <a:rPr sz="1000" b="0">
                <a:solidFill>
                  <a:srgbClr val="232D37"/>
                </a:solidFill>
                <a:latin typeface="微软雅黑"/>
                <a:ea typeface="微软雅黑"/>
              </a:rPr>
              <a:t>6月1日已部署中期检查，7月31日前反馈中期成果汇报材料；预计8月上旬按专委会评审。</a:t>
            </a:r>
          </a:p>
        </p:txBody>
      </p:sp>
      <p:sp>
        <p:nvSpPr>
          <p:cNvPr id="71" name="Rectangle 70"/>
          <p:cNvSpPr/>
          <p:nvPr/>
        </p:nvSpPr>
        <p:spPr>
          <a:xfrm>
            <a:off x="457200" y="2779776"/>
            <a:ext cx="3511296" cy="832104"/>
          </a:xfrm>
          <a:prstGeom prst="rect">
            <a:avLst/>
          </a:prstGeom>
          <a:solidFill>
            <a:srgbClr val="F6F9FC"/>
          </a:solidFill>
          <a:ln w="7620">
            <a:solidFill>
              <a:srgbClr val="A7BDD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Rectangle 71"/>
          <p:cNvSpPr/>
          <p:nvPr/>
        </p:nvSpPr>
        <p:spPr>
          <a:xfrm>
            <a:off x="502920" y="2825496"/>
            <a:ext cx="3419856" cy="246888"/>
          </a:xfrm>
          <a:prstGeom prst="rect">
            <a:avLst/>
          </a:prstGeom>
          <a:solidFill>
            <a:srgbClr val="E9F1F9"/>
          </a:solidFill>
          <a:ln w="7620">
            <a:solidFill>
              <a:srgbClr val="A7BDD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502920" y="2825496"/>
            <a:ext cx="3419856" cy="246888"/>
          </a:xfrm>
          <a:prstGeom prst="rect">
            <a:avLst/>
          </a:prstGeom>
          <a:noFill/>
        </p:spPr>
        <p:txBody>
          <a:bodyPr wrap="square" lIns="50292" tIns="22860" rIns="50292" bIns="22860" anchor="ctr">
            <a:spAutoFit/>
          </a:bodyPr>
          <a:lstStyle/>
          <a:p>
            <a:pPr algn="l">
              <a:lnSpc>
                <a:spcPct val="100000"/>
              </a:lnSpc>
              <a:spcBef>
                <a:spcPts val="0"/>
              </a:spcBef>
              <a:spcAft>
                <a:spcPts val="0"/>
              </a:spcAft>
            </a:pPr>
            <a:r>
              <a:rPr sz="1200" b="1">
                <a:solidFill>
                  <a:srgbClr val="0047A0"/>
                </a:solidFill>
                <a:latin typeface="微软雅黑"/>
                <a:ea typeface="微软雅黑"/>
              </a:rPr>
              <a:t>自查整改</a:t>
            </a:r>
          </a:p>
        </p:txBody>
      </p:sp>
      <p:sp>
        <p:nvSpPr>
          <p:cNvPr id="74" name="TextBox 73"/>
          <p:cNvSpPr txBox="1"/>
          <p:nvPr/>
        </p:nvSpPr>
        <p:spPr>
          <a:xfrm>
            <a:off x="521208" y="3108960"/>
            <a:ext cx="3383279" cy="502920"/>
          </a:xfrm>
          <a:prstGeom prst="rect">
            <a:avLst/>
          </a:prstGeom>
          <a:noFill/>
        </p:spPr>
        <p:txBody>
          <a:bodyPr wrap="square" lIns="50292" tIns="22860" rIns="50292" bIns="22860" anchor="ctr">
            <a:spAutoFit/>
          </a:bodyPr>
          <a:lstStyle/>
          <a:p>
            <a:pPr algn="l">
              <a:lnSpc>
                <a:spcPct val="100000"/>
              </a:lnSpc>
              <a:spcBef>
                <a:spcPts val="0"/>
              </a:spcBef>
              <a:spcAft>
                <a:spcPts val="0"/>
              </a:spcAft>
            </a:pPr>
            <a:r>
              <a:rPr sz="1000" b="0">
                <a:solidFill>
                  <a:srgbClr val="232D37"/>
                </a:solidFill>
                <a:latin typeface="微软雅黑"/>
                <a:ea typeface="微软雅黑"/>
              </a:rPr>
              <a:t>优化青年人才使用托举，落实青年人才担任科研项目负责人。</a:t>
            </a:r>
          </a:p>
        </p:txBody>
      </p:sp>
      <p:sp>
        <p:nvSpPr>
          <p:cNvPr id="75" name="Rectangle 74"/>
          <p:cNvSpPr/>
          <p:nvPr/>
        </p:nvSpPr>
        <p:spPr>
          <a:xfrm>
            <a:off x="4187952" y="2779776"/>
            <a:ext cx="3511296" cy="832104"/>
          </a:xfrm>
          <a:prstGeom prst="rect">
            <a:avLst/>
          </a:prstGeom>
          <a:solidFill>
            <a:srgbClr val="F6F9FC"/>
          </a:solidFill>
          <a:ln w="7620">
            <a:solidFill>
              <a:srgbClr val="A7BDD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Rectangle 75"/>
          <p:cNvSpPr/>
          <p:nvPr/>
        </p:nvSpPr>
        <p:spPr>
          <a:xfrm>
            <a:off x="4233672" y="2825496"/>
            <a:ext cx="3419856" cy="246888"/>
          </a:xfrm>
          <a:prstGeom prst="rect">
            <a:avLst/>
          </a:prstGeom>
          <a:solidFill>
            <a:srgbClr val="E9F1F9"/>
          </a:solidFill>
          <a:ln w="7620">
            <a:solidFill>
              <a:srgbClr val="A7BDD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TextBox 76"/>
          <p:cNvSpPr txBox="1"/>
          <p:nvPr/>
        </p:nvSpPr>
        <p:spPr>
          <a:xfrm>
            <a:off x="4233672" y="2825496"/>
            <a:ext cx="3419856" cy="246888"/>
          </a:xfrm>
          <a:prstGeom prst="rect">
            <a:avLst/>
          </a:prstGeom>
          <a:noFill/>
        </p:spPr>
        <p:txBody>
          <a:bodyPr wrap="square" lIns="50292" tIns="22860" rIns="50292" bIns="22860" anchor="ctr">
            <a:spAutoFit/>
          </a:bodyPr>
          <a:lstStyle/>
          <a:p>
            <a:pPr algn="l">
              <a:lnSpc>
                <a:spcPct val="100000"/>
              </a:lnSpc>
              <a:spcBef>
                <a:spcPts val="0"/>
              </a:spcBef>
              <a:spcAft>
                <a:spcPts val="0"/>
              </a:spcAft>
            </a:pPr>
            <a:r>
              <a:rPr sz="1200" b="1">
                <a:solidFill>
                  <a:srgbClr val="0047A0"/>
                </a:solidFill>
                <a:latin typeface="微软雅黑"/>
                <a:ea typeface="微软雅黑"/>
              </a:rPr>
              <a:t>揭榜检查</a:t>
            </a:r>
          </a:p>
        </p:txBody>
      </p:sp>
      <p:sp>
        <p:nvSpPr>
          <p:cNvPr id="78" name="TextBox 77"/>
          <p:cNvSpPr txBox="1"/>
          <p:nvPr/>
        </p:nvSpPr>
        <p:spPr>
          <a:xfrm>
            <a:off x="4251960" y="3108960"/>
            <a:ext cx="3383279" cy="502920"/>
          </a:xfrm>
          <a:prstGeom prst="rect">
            <a:avLst/>
          </a:prstGeom>
          <a:noFill/>
        </p:spPr>
        <p:txBody>
          <a:bodyPr wrap="square" lIns="50292" tIns="22860" rIns="50292" bIns="22860" anchor="ctr">
            <a:spAutoFit/>
          </a:bodyPr>
          <a:lstStyle/>
          <a:p>
            <a:pPr algn="l">
              <a:lnSpc>
                <a:spcPct val="100000"/>
              </a:lnSpc>
              <a:spcBef>
                <a:spcPts val="0"/>
              </a:spcBef>
              <a:spcAft>
                <a:spcPts val="0"/>
              </a:spcAft>
            </a:pPr>
            <a:r>
              <a:rPr sz="1000" b="0">
                <a:solidFill>
                  <a:srgbClr val="232D37"/>
                </a:solidFill>
                <a:latin typeface="微软雅黑"/>
                <a:ea typeface="微软雅黑"/>
              </a:rPr>
              <a:t>6月底开展算力强基项目中期评估，做好迎检。</a:t>
            </a:r>
          </a:p>
        </p:txBody>
      </p:sp>
      <p:sp>
        <p:nvSpPr>
          <p:cNvPr id="79" name="Rectangle 78"/>
          <p:cNvSpPr/>
          <p:nvPr/>
        </p:nvSpPr>
        <p:spPr>
          <a:xfrm>
            <a:off x="7918704" y="2779776"/>
            <a:ext cx="3511296" cy="832104"/>
          </a:xfrm>
          <a:prstGeom prst="rect">
            <a:avLst/>
          </a:prstGeom>
          <a:solidFill>
            <a:srgbClr val="F6F9FC"/>
          </a:solidFill>
          <a:ln w="7620">
            <a:solidFill>
              <a:srgbClr val="A7BDD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Rectangle 79"/>
          <p:cNvSpPr/>
          <p:nvPr/>
        </p:nvSpPr>
        <p:spPr>
          <a:xfrm>
            <a:off x="7964424" y="2825496"/>
            <a:ext cx="3419856" cy="246888"/>
          </a:xfrm>
          <a:prstGeom prst="rect">
            <a:avLst/>
          </a:prstGeom>
          <a:solidFill>
            <a:srgbClr val="E9F1F9"/>
          </a:solidFill>
          <a:ln w="7620">
            <a:solidFill>
              <a:srgbClr val="A7BDD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TextBox 80"/>
          <p:cNvSpPr txBox="1"/>
          <p:nvPr/>
        </p:nvSpPr>
        <p:spPr>
          <a:xfrm>
            <a:off x="7964424" y="2825496"/>
            <a:ext cx="3419856" cy="246888"/>
          </a:xfrm>
          <a:prstGeom prst="rect">
            <a:avLst/>
          </a:prstGeom>
          <a:noFill/>
        </p:spPr>
        <p:txBody>
          <a:bodyPr wrap="square" lIns="50292" tIns="22860" rIns="50292" bIns="22860" anchor="ctr">
            <a:spAutoFit/>
          </a:bodyPr>
          <a:lstStyle/>
          <a:p>
            <a:pPr algn="l">
              <a:lnSpc>
                <a:spcPct val="100000"/>
              </a:lnSpc>
              <a:spcBef>
                <a:spcPts val="0"/>
              </a:spcBef>
              <a:spcAft>
                <a:spcPts val="0"/>
              </a:spcAft>
            </a:pPr>
            <a:r>
              <a:rPr sz="1200" b="1">
                <a:solidFill>
                  <a:srgbClr val="0047A0"/>
                </a:solidFill>
                <a:latin typeface="微软雅黑"/>
                <a:ea typeface="微软雅黑"/>
              </a:rPr>
              <a:t>技术成果</a:t>
            </a:r>
          </a:p>
        </p:txBody>
      </p:sp>
      <p:sp>
        <p:nvSpPr>
          <p:cNvPr id="82" name="TextBox 81"/>
          <p:cNvSpPr txBox="1"/>
          <p:nvPr/>
        </p:nvSpPr>
        <p:spPr>
          <a:xfrm>
            <a:off x="7982712" y="3108960"/>
            <a:ext cx="3383279" cy="502920"/>
          </a:xfrm>
          <a:prstGeom prst="rect">
            <a:avLst/>
          </a:prstGeom>
          <a:noFill/>
        </p:spPr>
        <p:txBody>
          <a:bodyPr wrap="square" lIns="50292" tIns="22860" rIns="50292" bIns="22860" anchor="ctr">
            <a:spAutoFit/>
          </a:bodyPr>
          <a:lstStyle/>
          <a:p>
            <a:pPr algn="l">
              <a:lnSpc>
                <a:spcPct val="100000"/>
              </a:lnSpc>
              <a:spcBef>
                <a:spcPts val="0"/>
              </a:spcBef>
              <a:spcAft>
                <a:spcPts val="0"/>
              </a:spcAft>
            </a:pPr>
            <a:r>
              <a:rPr sz="1000" b="0">
                <a:solidFill>
                  <a:srgbClr val="232D37"/>
                </a:solidFill>
                <a:latin typeface="微软雅黑"/>
                <a:ea typeface="微软雅黑"/>
              </a:rPr>
              <a:t>关注可转化专利的外部收入合同，及时联系总工办。</a:t>
            </a:r>
          </a:p>
        </p:txBody>
      </p:sp>
      <p:sp>
        <p:nvSpPr>
          <p:cNvPr id="83" name="Rectangle 82"/>
          <p:cNvSpPr/>
          <p:nvPr/>
        </p:nvSpPr>
        <p:spPr>
          <a:xfrm>
            <a:off x="347472" y="3867912"/>
            <a:ext cx="7388352" cy="310896"/>
          </a:xfrm>
          <a:prstGeom prst="rect">
            <a:avLst/>
          </a:prstGeom>
          <a:solidFill>
            <a:srgbClr val="0047A0"/>
          </a:solidFill>
          <a:ln w="7620">
            <a:solidFill>
              <a:srgbClr val="A7BDD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TextBox 83"/>
          <p:cNvSpPr txBox="1"/>
          <p:nvPr/>
        </p:nvSpPr>
        <p:spPr>
          <a:xfrm>
            <a:off x="347472" y="3867912"/>
            <a:ext cx="7388352" cy="310896"/>
          </a:xfrm>
          <a:prstGeom prst="rect">
            <a:avLst/>
          </a:prstGeom>
          <a:noFill/>
        </p:spPr>
        <p:txBody>
          <a:bodyPr wrap="square" lIns="50292" tIns="22860" rIns="50292" bIns="22860" anchor="ctr">
            <a:spAutoFit/>
          </a:bodyPr>
          <a:lstStyle/>
          <a:p>
            <a:pPr algn="ctr">
              <a:lnSpc>
                <a:spcPct val="100000"/>
              </a:lnSpc>
              <a:spcBef>
                <a:spcPts val="0"/>
              </a:spcBef>
              <a:spcAft>
                <a:spcPts val="0"/>
              </a:spcAft>
            </a:pPr>
            <a:r>
              <a:rPr sz="2000" b="1">
                <a:solidFill>
                  <a:srgbClr val="FFFFFF"/>
                </a:solidFill>
                <a:latin typeface="微软雅黑"/>
                <a:ea typeface="微软雅黑"/>
              </a:rPr>
              <a:t>总师支撑</a:t>
            </a:r>
          </a:p>
        </p:txBody>
      </p:sp>
      <p:sp>
        <p:nvSpPr>
          <p:cNvPr id="85" name="Rectangle 84"/>
          <p:cNvSpPr/>
          <p:nvPr/>
        </p:nvSpPr>
        <p:spPr>
          <a:xfrm>
            <a:off x="347472" y="4178808"/>
            <a:ext cx="7388352" cy="2112264"/>
          </a:xfrm>
          <a:prstGeom prst="rect">
            <a:avLst/>
          </a:prstGeom>
          <a:solidFill>
            <a:srgbClr val="E9F1F9"/>
          </a:solidFill>
          <a:ln w="7620">
            <a:solidFill>
              <a:srgbClr val="A7BDD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TextBox 85"/>
          <p:cNvSpPr txBox="1"/>
          <p:nvPr/>
        </p:nvSpPr>
        <p:spPr>
          <a:xfrm>
            <a:off x="347472" y="4178808"/>
            <a:ext cx="7388352" cy="329184"/>
          </a:xfrm>
          <a:prstGeom prst="rect">
            <a:avLst/>
          </a:prstGeom>
          <a:noFill/>
        </p:spPr>
        <p:txBody>
          <a:bodyPr wrap="square" lIns="50292" tIns="22860" rIns="50292" bIns="22860" anchor="ctr">
            <a:spAutoFit/>
          </a:bodyPr>
          <a:lstStyle/>
          <a:p>
            <a:pPr algn="l">
              <a:lnSpc>
                <a:spcPct val="100000"/>
              </a:lnSpc>
              <a:spcBef>
                <a:spcPts val="0"/>
              </a:spcBef>
              <a:spcAft>
                <a:spcPts val="0"/>
              </a:spcAft>
            </a:pPr>
            <a:r>
              <a:rPr sz="1200" b="1">
                <a:solidFill>
                  <a:srgbClr val="232D37"/>
                </a:solidFill>
                <a:latin typeface="微软雅黑"/>
                <a:ea typeface="微软雅黑"/>
              </a:rPr>
              <a:t>聚焦前沿成果、区域协同、示范基地和成果上传四项任务</a:t>
            </a:r>
          </a:p>
        </p:txBody>
      </p:sp>
      <p:sp>
        <p:nvSpPr>
          <p:cNvPr id="87" name="Rectangle 86"/>
          <p:cNvSpPr/>
          <p:nvPr/>
        </p:nvSpPr>
        <p:spPr>
          <a:xfrm>
            <a:off x="457200" y="4617720"/>
            <a:ext cx="1664208" cy="1627632"/>
          </a:xfrm>
          <a:prstGeom prst="rect">
            <a:avLst/>
          </a:prstGeom>
          <a:solidFill>
            <a:srgbClr val="F6F9FC"/>
          </a:solidFill>
          <a:ln w="7620">
            <a:solidFill>
              <a:srgbClr val="A7BDD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 name="Rectangle 87"/>
          <p:cNvSpPr/>
          <p:nvPr/>
        </p:nvSpPr>
        <p:spPr>
          <a:xfrm>
            <a:off x="502920" y="4663440"/>
            <a:ext cx="1572768" cy="246888"/>
          </a:xfrm>
          <a:prstGeom prst="rect">
            <a:avLst/>
          </a:prstGeom>
          <a:solidFill>
            <a:srgbClr val="E9F1F9"/>
          </a:solidFill>
          <a:ln w="7620">
            <a:solidFill>
              <a:srgbClr val="A7BDD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TextBox 88"/>
          <p:cNvSpPr txBox="1"/>
          <p:nvPr/>
        </p:nvSpPr>
        <p:spPr>
          <a:xfrm>
            <a:off x="502920" y="4663440"/>
            <a:ext cx="1572768" cy="246888"/>
          </a:xfrm>
          <a:prstGeom prst="rect">
            <a:avLst/>
          </a:prstGeom>
          <a:noFill/>
        </p:spPr>
        <p:txBody>
          <a:bodyPr wrap="square" lIns="50292" tIns="22860" rIns="50292" bIns="22860" anchor="ctr">
            <a:spAutoFit/>
          </a:bodyPr>
          <a:lstStyle/>
          <a:p>
            <a:pPr algn="l">
              <a:lnSpc>
                <a:spcPct val="100000"/>
              </a:lnSpc>
              <a:spcBef>
                <a:spcPts val="0"/>
              </a:spcBef>
              <a:spcAft>
                <a:spcPts val="0"/>
              </a:spcAft>
            </a:pPr>
            <a:r>
              <a:rPr sz="1200" b="1">
                <a:solidFill>
                  <a:srgbClr val="0047A0"/>
                </a:solidFill>
                <a:latin typeface="微软雅黑"/>
                <a:ea typeface="微软雅黑"/>
              </a:rPr>
              <a:t>前沿清单</a:t>
            </a:r>
          </a:p>
        </p:txBody>
      </p:sp>
      <p:sp>
        <p:nvSpPr>
          <p:cNvPr id="90" name="TextBox 89"/>
          <p:cNvSpPr txBox="1"/>
          <p:nvPr/>
        </p:nvSpPr>
        <p:spPr>
          <a:xfrm>
            <a:off x="521208" y="4946904"/>
            <a:ext cx="1536192" cy="1298448"/>
          </a:xfrm>
          <a:prstGeom prst="rect">
            <a:avLst/>
          </a:prstGeom>
          <a:noFill/>
        </p:spPr>
        <p:txBody>
          <a:bodyPr wrap="square" lIns="50292" tIns="22860" rIns="50292" bIns="22860" anchor="ctr">
            <a:spAutoFit/>
          </a:bodyPr>
          <a:lstStyle/>
          <a:p>
            <a:pPr algn="l">
              <a:lnSpc>
                <a:spcPct val="100000"/>
              </a:lnSpc>
              <a:spcBef>
                <a:spcPts val="0"/>
              </a:spcBef>
              <a:spcAft>
                <a:spcPts val="0"/>
              </a:spcAft>
            </a:pPr>
            <a:r>
              <a:rPr sz="1000" b="0">
                <a:solidFill>
                  <a:srgbClr val="232D37"/>
                </a:solidFill>
                <a:latin typeface="微软雅黑"/>
                <a:ea typeface="微软雅黑"/>
              </a:rPr>
              <a:t>6月完成Combo PON口闲置GPON资源盘活研究、政企接入项目投资管理强化建议。</a:t>
            </a:r>
          </a:p>
        </p:txBody>
      </p:sp>
      <p:sp>
        <p:nvSpPr>
          <p:cNvPr id="91" name="Rectangle 90"/>
          <p:cNvSpPr/>
          <p:nvPr/>
        </p:nvSpPr>
        <p:spPr>
          <a:xfrm>
            <a:off x="2249424" y="4617720"/>
            <a:ext cx="1664208" cy="1627632"/>
          </a:xfrm>
          <a:prstGeom prst="rect">
            <a:avLst/>
          </a:prstGeom>
          <a:solidFill>
            <a:srgbClr val="F6F9FC"/>
          </a:solidFill>
          <a:ln w="7620">
            <a:solidFill>
              <a:srgbClr val="A7BDD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 name="Rectangle 91"/>
          <p:cNvSpPr/>
          <p:nvPr/>
        </p:nvSpPr>
        <p:spPr>
          <a:xfrm>
            <a:off x="2295144" y="4663440"/>
            <a:ext cx="1572768" cy="246888"/>
          </a:xfrm>
          <a:prstGeom prst="rect">
            <a:avLst/>
          </a:prstGeom>
          <a:solidFill>
            <a:srgbClr val="E9F1F9"/>
          </a:solidFill>
          <a:ln w="7620">
            <a:solidFill>
              <a:srgbClr val="A7BDD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 name="TextBox 92"/>
          <p:cNvSpPr txBox="1"/>
          <p:nvPr/>
        </p:nvSpPr>
        <p:spPr>
          <a:xfrm>
            <a:off x="2295144" y="4663440"/>
            <a:ext cx="1572768" cy="246888"/>
          </a:xfrm>
          <a:prstGeom prst="rect">
            <a:avLst/>
          </a:prstGeom>
          <a:noFill/>
        </p:spPr>
        <p:txBody>
          <a:bodyPr wrap="square" lIns="50292" tIns="22860" rIns="50292" bIns="22860" anchor="ctr">
            <a:spAutoFit/>
          </a:bodyPr>
          <a:lstStyle/>
          <a:p>
            <a:pPr algn="l">
              <a:lnSpc>
                <a:spcPct val="100000"/>
              </a:lnSpc>
              <a:spcBef>
                <a:spcPts val="0"/>
              </a:spcBef>
              <a:spcAft>
                <a:spcPts val="0"/>
              </a:spcAft>
            </a:pPr>
            <a:r>
              <a:rPr sz="1200" b="1">
                <a:solidFill>
                  <a:srgbClr val="0047A0"/>
                </a:solidFill>
                <a:latin typeface="微软雅黑"/>
                <a:ea typeface="微软雅黑"/>
              </a:rPr>
              <a:t>区域协同</a:t>
            </a:r>
          </a:p>
        </p:txBody>
      </p:sp>
      <p:sp>
        <p:nvSpPr>
          <p:cNvPr id="94" name="TextBox 93"/>
          <p:cNvSpPr txBox="1"/>
          <p:nvPr/>
        </p:nvSpPr>
        <p:spPr>
          <a:xfrm>
            <a:off x="2313432" y="4946904"/>
            <a:ext cx="1536192" cy="1298448"/>
          </a:xfrm>
          <a:prstGeom prst="rect">
            <a:avLst/>
          </a:prstGeom>
          <a:noFill/>
        </p:spPr>
        <p:txBody>
          <a:bodyPr wrap="square" lIns="50292" tIns="22860" rIns="50292" bIns="22860" anchor="ctr">
            <a:spAutoFit/>
          </a:bodyPr>
          <a:lstStyle/>
          <a:p>
            <a:pPr algn="l">
              <a:lnSpc>
                <a:spcPct val="100000"/>
              </a:lnSpc>
              <a:spcBef>
                <a:spcPts val="0"/>
              </a:spcBef>
              <a:spcAft>
                <a:spcPts val="0"/>
              </a:spcAft>
            </a:pPr>
            <a:r>
              <a:rPr sz="1000" b="0">
                <a:solidFill>
                  <a:srgbClr val="232D37"/>
                </a:solidFill>
                <a:latin typeface="微软雅黑"/>
                <a:ea typeface="微软雅黑"/>
              </a:rPr>
              <a:t>华北、东北基础设施、云核心网、云资源池、骨干传送网区域总师统筹区域内省分团队，协同支撑区域重大项目；按月交流研讨并做好6月协同计划。</a:t>
            </a:r>
          </a:p>
        </p:txBody>
      </p:sp>
      <p:sp>
        <p:nvSpPr>
          <p:cNvPr id="95" name="Rectangle 94"/>
          <p:cNvSpPr/>
          <p:nvPr/>
        </p:nvSpPr>
        <p:spPr>
          <a:xfrm>
            <a:off x="4041648" y="4617720"/>
            <a:ext cx="1664208" cy="1627632"/>
          </a:xfrm>
          <a:prstGeom prst="rect">
            <a:avLst/>
          </a:prstGeom>
          <a:solidFill>
            <a:srgbClr val="F6F9FC"/>
          </a:solidFill>
          <a:ln w="7620">
            <a:solidFill>
              <a:srgbClr val="A7BDD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6" name="Rectangle 95"/>
          <p:cNvSpPr/>
          <p:nvPr/>
        </p:nvSpPr>
        <p:spPr>
          <a:xfrm>
            <a:off x="4087368" y="4663440"/>
            <a:ext cx="1572768" cy="246888"/>
          </a:xfrm>
          <a:prstGeom prst="rect">
            <a:avLst/>
          </a:prstGeom>
          <a:solidFill>
            <a:srgbClr val="E9F1F9"/>
          </a:solidFill>
          <a:ln w="7620">
            <a:solidFill>
              <a:srgbClr val="A7BDD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 name="TextBox 96"/>
          <p:cNvSpPr txBox="1"/>
          <p:nvPr/>
        </p:nvSpPr>
        <p:spPr>
          <a:xfrm>
            <a:off x="4087368" y="4663440"/>
            <a:ext cx="1572768" cy="246888"/>
          </a:xfrm>
          <a:prstGeom prst="rect">
            <a:avLst/>
          </a:prstGeom>
          <a:noFill/>
        </p:spPr>
        <p:txBody>
          <a:bodyPr wrap="square" lIns="50292" tIns="22860" rIns="50292" bIns="22860" anchor="ctr">
            <a:spAutoFit/>
          </a:bodyPr>
          <a:lstStyle/>
          <a:p>
            <a:pPr algn="l">
              <a:lnSpc>
                <a:spcPct val="100000"/>
              </a:lnSpc>
              <a:spcBef>
                <a:spcPts val="0"/>
              </a:spcBef>
              <a:spcAft>
                <a:spcPts val="0"/>
              </a:spcAft>
            </a:pPr>
            <a:r>
              <a:rPr sz="1200" b="1">
                <a:solidFill>
                  <a:srgbClr val="0047A0"/>
                </a:solidFill>
                <a:latin typeface="微软雅黑"/>
                <a:ea typeface="微软雅黑"/>
              </a:rPr>
              <a:t>北京示范基地</a:t>
            </a:r>
          </a:p>
        </p:txBody>
      </p:sp>
      <p:sp>
        <p:nvSpPr>
          <p:cNvPr id="98" name="TextBox 97"/>
          <p:cNvSpPr txBox="1"/>
          <p:nvPr/>
        </p:nvSpPr>
        <p:spPr>
          <a:xfrm>
            <a:off x="4105656" y="4946904"/>
            <a:ext cx="1536192" cy="1298448"/>
          </a:xfrm>
          <a:prstGeom prst="rect">
            <a:avLst/>
          </a:prstGeom>
          <a:noFill/>
        </p:spPr>
        <p:txBody>
          <a:bodyPr wrap="square" lIns="50292" tIns="22860" rIns="50292" bIns="22860" anchor="ctr">
            <a:spAutoFit/>
          </a:bodyPr>
          <a:lstStyle/>
          <a:p>
            <a:pPr algn="l">
              <a:lnSpc>
                <a:spcPct val="100000"/>
              </a:lnSpc>
              <a:spcBef>
                <a:spcPts val="0"/>
              </a:spcBef>
              <a:spcAft>
                <a:spcPts val="0"/>
              </a:spcAft>
            </a:pPr>
            <a:r>
              <a:rPr sz="1000" b="0">
                <a:solidFill>
                  <a:srgbClr val="232D37"/>
                </a:solidFill>
                <a:latin typeface="微软雅黑"/>
                <a:ea typeface="微软雅黑"/>
              </a:rPr>
              <a:t>负责人做好统筹，根据院评审意见修改专题成果并开展示范分享。</a:t>
            </a:r>
          </a:p>
        </p:txBody>
      </p:sp>
      <p:sp>
        <p:nvSpPr>
          <p:cNvPr id="99" name="Rectangle 98"/>
          <p:cNvSpPr/>
          <p:nvPr/>
        </p:nvSpPr>
        <p:spPr>
          <a:xfrm>
            <a:off x="5833872" y="4617720"/>
            <a:ext cx="1664208" cy="1627632"/>
          </a:xfrm>
          <a:prstGeom prst="rect">
            <a:avLst/>
          </a:prstGeom>
          <a:solidFill>
            <a:srgbClr val="F6F9FC"/>
          </a:solidFill>
          <a:ln w="7620">
            <a:solidFill>
              <a:srgbClr val="A7BDD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 name="Rectangle 99"/>
          <p:cNvSpPr/>
          <p:nvPr/>
        </p:nvSpPr>
        <p:spPr>
          <a:xfrm>
            <a:off x="5879592" y="4663440"/>
            <a:ext cx="1572768" cy="246888"/>
          </a:xfrm>
          <a:prstGeom prst="rect">
            <a:avLst/>
          </a:prstGeom>
          <a:solidFill>
            <a:srgbClr val="E9F1F9"/>
          </a:solidFill>
          <a:ln w="7620">
            <a:solidFill>
              <a:srgbClr val="A7BDD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 name="TextBox 100"/>
          <p:cNvSpPr txBox="1"/>
          <p:nvPr/>
        </p:nvSpPr>
        <p:spPr>
          <a:xfrm>
            <a:off x="5879592" y="4663440"/>
            <a:ext cx="1572768" cy="246888"/>
          </a:xfrm>
          <a:prstGeom prst="rect">
            <a:avLst/>
          </a:prstGeom>
          <a:noFill/>
        </p:spPr>
        <p:txBody>
          <a:bodyPr wrap="square" lIns="50292" tIns="22860" rIns="50292" bIns="22860" anchor="ctr">
            <a:spAutoFit/>
          </a:bodyPr>
          <a:lstStyle/>
          <a:p>
            <a:pPr algn="l">
              <a:lnSpc>
                <a:spcPct val="100000"/>
              </a:lnSpc>
              <a:spcBef>
                <a:spcPts val="0"/>
              </a:spcBef>
              <a:spcAft>
                <a:spcPts val="0"/>
              </a:spcAft>
            </a:pPr>
            <a:r>
              <a:rPr sz="1200" b="1">
                <a:solidFill>
                  <a:srgbClr val="0047A0"/>
                </a:solidFill>
                <a:latin typeface="微软雅黑"/>
                <a:ea typeface="微软雅黑"/>
              </a:rPr>
              <a:t>订单成果上传</a:t>
            </a:r>
          </a:p>
        </p:txBody>
      </p:sp>
      <p:sp>
        <p:nvSpPr>
          <p:cNvPr id="102" name="TextBox 101"/>
          <p:cNvSpPr txBox="1"/>
          <p:nvPr/>
        </p:nvSpPr>
        <p:spPr>
          <a:xfrm>
            <a:off x="5897880" y="4946904"/>
            <a:ext cx="1536192" cy="1298448"/>
          </a:xfrm>
          <a:prstGeom prst="rect">
            <a:avLst/>
          </a:prstGeom>
          <a:noFill/>
        </p:spPr>
        <p:txBody>
          <a:bodyPr wrap="square" lIns="50292" tIns="22860" rIns="50292" bIns="22860" anchor="ctr">
            <a:spAutoFit/>
          </a:bodyPr>
          <a:lstStyle/>
          <a:p>
            <a:pPr algn="l">
              <a:lnSpc>
                <a:spcPct val="100000"/>
              </a:lnSpc>
              <a:spcBef>
                <a:spcPts val="0"/>
              </a:spcBef>
              <a:spcAft>
                <a:spcPts val="0"/>
              </a:spcAft>
            </a:pPr>
            <a:r>
              <a:rPr sz="1000" b="0">
                <a:solidFill>
                  <a:srgbClr val="232D37"/>
                </a:solidFill>
                <a:latin typeface="微软雅黑"/>
                <a:ea typeface="微软雅黑"/>
              </a:rPr>
              <a:t>北京团队督促各专业做好6月上传准备，提升成果上传率。</a:t>
            </a:r>
          </a:p>
        </p:txBody>
      </p:sp>
      <p:sp>
        <p:nvSpPr>
          <p:cNvPr id="103" name="Rectangle 102"/>
          <p:cNvSpPr/>
          <p:nvPr/>
        </p:nvSpPr>
        <p:spPr>
          <a:xfrm>
            <a:off x="7863840" y="3867912"/>
            <a:ext cx="3959352" cy="310896"/>
          </a:xfrm>
          <a:prstGeom prst="rect">
            <a:avLst/>
          </a:prstGeom>
          <a:solidFill>
            <a:srgbClr val="00A3CC"/>
          </a:solidFill>
          <a:ln w="7620">
            <a:solidFill>
              <a:srgbClr val="A7BDD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 name="TextBox 103"/>
          <p:cNvSpPr txBox="1"/>
          <p:nvPr/>
        </p:nvSpPr>
        <p:spPr>
          <a:xfrm>
            <a:off x="7863840" y="3867912"/>
            <a:ext cx="3959352" cy="310896"/>
          </a:xfrm>
          <a:prstGeom prst="rect">
            <a:avLst/>
          </a:prstGeom>
          <a:noFill/>
        </p:spPr>
        <p:txBody>
          <a:bodyPr wrap="square" lIns="50292" tIns="22860" rIns="50292" bIns="22860" anchor="ctr">
            <a:spAutoFit/>
          </a:bodyPr>
          <a:lstStyle/>
          <a:p>
            <a:pPr algn="ctr">
              <a:lnSpc>
                <a:spcPct val="100000"/>
              </a:lnSpc>
              <a:spcBef>
                <a:spcPts val="0"/>
              </a:spcBef>
              <a:spcAft>
                <a:spcPts val="0"/>
              </a:spcAft>
            </a:pPr>
            <a:r>
              <a:rPr sz="2000" b="1">
                <a:solidFill>
                  <a:srgbClr val="FFFFFF"/>
                </a:solidFill>
                <a:latin typeface="微软雅黑"/>
                <a:ea typeface="微软雅黑"/>
              </a:rPr>
              <a:t>质量管理</a:t>
            </a:r>
          </a:p>
        </p:txBody>
      </p:sp>
      <p:sp>
        <p:nvSpPr>
          <p:cNvPr id="105" name="Rectangle 104"/>
          <p:cNvSpPr/>
          <p:nvPr/>
        </p:nvSpPr>
        <p:spPr>
          <a:xfrm>
            <a:off x="7863840" y="4178808"/>
            <a:ext cx="3959352" cy="2112264"/>
          </a:xfrm>
          <a:prstGeom prst="rect">
            <a:avLst/>
          </a:prstGeom>
          <a:solidFill>
            <a:srgbClr val="E9F1F9"/>
          </a:solidFill>
          <a:ln w="7620">
            <a:solidFill>
              <a:srgbClr val="A7BDD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 name="TextBox 105"/>
          <p:cNvSpPr txBox="1"/>
          <p:nvPr/>
        </p:nvSpPr>
        <p:spPr>
          <a:xfrm>
            <a:off x="7863840" y="4178808"/>
            <a:ext cx="3959352" cy="329184"/>
          </a:xfrm>
          <a:prstGeom prst="rect">
            <a:avLst/>
          </a:prstGeom>
          <a:noFill/>
        </p:spPr>
        <p:txBody>
          <a:bodyPr wrap="square" lIns="50292" tIns="22860" rIns="50292" bIns="22860" anchor="ctr">
            <a:spAutoFit/>
          </a:bodyPr>
          <a:lstStyle/>
          <a:p>
            <a:pPr algn="l">
              <a:lnSpc>
                <a:spcPct val="100000"/>
              </a:lnSpc>
              <a:spcBef>
                <a:spcPts val="0"/>
              </a:spcBef>
              <a:spcAft>
                <a:spcPts val="0"/>
              </a:spcAft>
            </a:pPr>
            <a:r>
              <a:rPr sz="1200" b="1">
                <a:solidFill>
                  <a:srgbClr val="232D37"/>
                </a:solidFill>
                <a:latin typeface="微软雅黑"/>
                <a:ea typeface="微软雅黑"/>
              </a:rPr>
              <a:t>内部抽查与外部检查同步推进</a:t>
            </a:r>
          </a:p>
        </p:txBody>
      </p:sp>
      <p:sp>
        <p:nvSpPr>
          <p:cNvPr id="107" name="Rectangle 106"/>
          <p:cNvSpPr/>
          <p:nvPr/>
        </p:nvSpPr>
        <p:spPr>
          <a:xfrm>
            <a:off x="7973568" y="4617720"/>
            <a:ext cx="1810512" cy="1627632"/>
          </a:xfrm>
          <a:prstGeom prst="rect">
            <a:avLst/>
          </a:prstGeom>
          <a:solidFill>
            <a:srgbClr val="F6F9FC"/>
          </a:solidFill>
          <a:ln w="7620">
            <a:solidFill>
              <a:srgbClr val="A7BDD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8" name="Rectangle 107"/>
          <p:cNvSpPr/>
          <p:nvPr/>
        </p:nvSpPr>
        <p:spPr>
          <a:xfrm>
            <a:off x="8019288" y="4663440"/>
            <a:ext cx="1719072" cy="246888"/>
          </a:xfrm>
          <a:prstGeom prst="rect">
            <a:avLst/>
          </a:prstGeom>
          <a:solidFill>
            <a:srgbClr val="E9F1F9"/>
          </a:solidFill>
          <a:ln w="7620">
            <a:solidFill>
              <a:srgbClr val="A7BDD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 name="TextBox 108"/>
          <p:cNvSpPr txBox="1"/>
          <p:nvPr/>
        </p:nvSpPr>
        <p:spPr>
          <a:xfrm>
            <a:off x="8019288" y="4663440"/>
            <a:ext cx="1719072" cy="246888"/>
          </a:xfrm>
          <a:prstGeom prst="rect">
            <a:avLst/>
          </a:prstGeom>
          <a:noFill/>
        </p:spPr>
        <p:txBody>
          <a:bodyPr wrap="square" lIns="50292" tIns="22860" rIns="50292" bIns="22860" anchor="ctr">
            <a:spAutoFit/>
          </a:bodyPr>
          <a:lstStyle/>
          <a:p>
            <a:pPr algn="l">
              <a:lnSpc>
                <a:spcPct val="100000"/>
              </a:lnSpc>
              <a:spcBef>
                <a:spcPts val="0"/>
              </a:spcBef>
              <a:spcAft>
                <a:spcPts val="0"/>
              </a:spcAft>
            </a:pPr>
            <a:r>
              <a:rPr sz="1200" b="1">
                <a:solidFill>
                  <a:srgbClr val="0047A0"/>
                </a:solidFill>
                <a:latin typeface="微软雅黑"/>
                <a:ea typeface="微软雅黑"/>
              </a:rPr>
              <a:t>质量抽查</a:t>
            </a:r>
          </a:p>
        </p:txBody>
      </p:sp>
      <p:sp>
        <p:nvSpPr>
          <p:cNvPr id="110" name="TextBox 109"/>
          <p:cNvSpPr txBox="1"/>
          <p:nvPr/>
        </p:nvSpPr>
        <p:spPr>
          <a:xfrm>
            <a:off x="8037576" y="4946904"/>
            <a:ext cx="1682495" cy="1298448"/>
          </a:xfrm>
          <a:prstGeom prst="rect">
            <a:avLst/>
          </a:prstGeom>
          <a:noFill/>
        </p:spPr>
        <p:txBody>
          <a:bodyPr wrap="square" lIns="50292" tIns="22860" rIns="50292" bIns="22860" anchor="ctr">
            <a:spAutoFit/>
          </a:bodyPr>
          <a:lstStyle/>
          <a:p>
            <a:pPr algn="l">
              <a:lnSpc>
                <a:spcPct val="100000"/>
              </a:lnSpc>
              <a:spcBef>
                <a:spcPts val="0"/>
              </a:spcBef>
              <a:spcAft>
                <a:spcPts val="0"/>
              </a:spcAft>
            </a:pPr>
            <a:r>
              <a:rPr sz="1000" b="0">
                <a:solidFill>
                  <a:srgbClr val="232D37"/>
                </a:solidFill>
                <a:latin typeface="微软雅黑"/>
                <a:ea typeface="微软雅黑"/>
              </a:rPr>
              <a:t>启动第三次抽查。</a:t>
            </a:r>
          </a:p>
        </p:txBody>
      </p:sp>
      <p:sp>
        <p:nvSpPr>
          <p:cNvPr id="111" name="Rectangle 110"/>
          <p:cNvSpPr/>
          <p:nvPr/>
        </p:nvSpPr>
        <p:spPr>
          <a:xfrm>
            <a:off x="9893808" y="4617720"/>
            <a:ext cx="1810512" cy="1627632"/>
          </a:xfrm>
          <a:prstGeom prst="rect">
            <a:avLst/>
          </a:prstGeom>
          <a:solidFill>
            <a:srgbClr val="F6F9FC"/>
          </a:solidFill>
          <a:ln w="7620">
            <a:solidFill>
              <a:srgbClr val="A7BDD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2" name="Rectangle 111"/>
          <p:cNvSpPr/>
          <p:nvPr/>
        </p:nvSpPr>
        <p:spPr>
          <a:xfrm>
            <a:off x="9939528" y="4663440"/>
            <a:ext cx="1719072" cy="246888"/>
          </a:xfrm>
          <a:prstGeom prst="rect">
            <a:avLst/>
          </a:prstGeom>
          <a:solidFill>
            <a:srgbClr val="E9F1F9"/>
          </a:solidFill>
          <a:ln w="7620">
            <a:solidFill>
              <a:srgbClr val="A7BDD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3" name="TextBox 112"/>
          <p:cNvSpPr txBox="1"/>
          <p:nvPr/>
        </p:nvSpPr>
        <p:spPr>
          <a:xfrm>
            <a:off x="9939528" y="4663440"/>
            <a:ext cx="1719072" cy="246888"/>
          </a:xfrm>
          <a:prstGeom prst="rect">
            <a:avLst/>
          </a:prstGeom>
          <a:noFill/>
        </p:spPr>
        <p:txBody>
          <a:bodyPr wrap="square" lIns="50292" tIns="22860" rIns="50292" bIns="22860" anchor="ctr">
            <a:spAutoFit/>
          </a:bodyPr>
          <a:lstStyle/>
          <a:p>
            <a:pPr algn="l">
              <a:lnSpc>
                <a:spcPct val="100000"/>
              </a:lnSpc>
              <a:spcBef>
                <a:spcPts val="0"/>
              </a:spcBef>
              <a:spcAft>
                <a:spcPts val="0"/>
              </a:spcAft>
            </a:pPr>
            <a:r>
              <a:rPr sz="1200" b="1">
                <a:solidFill>
                  <a:srgbClr val="0047A0"/>
                </a:solidFill>
                <a:latin typeface="微软雅黑"/>
                <a:ea typeface="微软雅黑"/>
              </a:rPr>
              <a:t>外部检查</a:t>
            </a:r>
          </a:p>
        </p:txBody>
      </p:sp>
      <p:sp>
        <p:nvSpPr>
          <p:cNvPr id="114" name="TextBox 113"/>
          <p:cNvSpPr txBox="1"/>
          <p:nvPr/>
        </p:nvSpPr>
        <p:spPr>
          <a:xfrm>
            <a:off x="9957816" y="4946904"/>
            <a:ext cx="1682495" cy="1298448"/>
          </a:xfrm>
          <a:prstGeom prst="rect">
            <a:avLst/>
          </a:prstGeom>
          <a:noFill/>
        </p:spPr>
        <p:txBody>
          <a:bodyPr wrap="square" lIns="50292" tIns="22860" rIns="50292" bIns="22860" anchor="ctr">
            <a:spAutoFit/>
          </a:bodyPr>
          <a:lstStyle/>
          <a:p>
            <a:pPr algn="l">
              <a:lnSpc>
                <a:spcPct val="100000"/>
              </a:lnSpc>
              <a:spcBef>
                <a:spcPts val="0"/>
              </a:spcBef>
              <a:spcAft>
                <a:spcPts val="0"/>
              </a:spcAft>
            </a:pPr>
            <a:r>
              <a:rPr sz="1000" b="0">
                <a:solidFill>
                  <a:srgbClr val="232D37"/>
                </a:solidFill>
                <a:latin typeface="微软雅黑"/>
                <a:ea typeface="微软雅黑"/>
              </a:rPr>
              <a:t>配合黑龙江事业部工信部检查。</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920240" y="2395728"/>
            <a:ext cx="8321040" cy="658368"/>
          </a:xfrm>
          <a:prstGeom prst="rect">
            <a:avLst/>
          </a:prstGeom>
          <a:noFill/>
        </p:spPr>
        <p:txBody>
          <a:bodyPr wrap="square" lIns="36576" tIns="36576" rIns="36576" bIns="36576" anchor="ctr">
            <a:normAutofit/>
          </a:bodyPr>
          <a:lstStyle/>
          <a:p>
            <a:pPr algn="ctr">
              <a:lnSpc>
                <a:spcPct val="100000"/>
              </a:lnSpc>
              <a:spcBef>
                <a:spcPts val="0"/>
              </a:spcBef>
              <a:spcAft>
                <a:spcPts val="0"/>
              </a:spcAft>
              <a:defRPr sz="3400" b="1">
                <a:solidFill>
                  <a:srgbClr val="003E9E"/>
                </a:solidFill>
                <a:latin typeface="微软雅黑"/>
              </a:defRPr>
            </a:pPr>
            <a:r>
              <a:rPr sz="3400" b="1" i="0">
                <a:solidFill>
                  <a:srgbClr val="003E9E"/>
                </a:solidFill>
                <a:latin typeface="微软雅黑"/>
                <a:ea typeface="微软雅黑"/>
              </a:rPr>
              <a:t>以高质量技术支撑</a:t>
            </a:r>
          </a:p>
        </p:txBody>
      </p:sp>
      <p:sp>
        <p:nvSpPr>
          <p:cNvPr id="3" name="TextBox 2"/>
          <p:cNvSpPr txBox="1"/>
          <p:nvPr/>
        </p:nvSpPr>
        <p:spPr>
          <a:xfrm>
            <a:off x="1920240" y="3127248"/>
            <a:ext cx="8321040" cy="658368"/>
          </a:xfrm>
          <a:prstGeom prst="rect">
            <a:avLst/>
          </a:prstGeom>
          <a:noFill/>
        </p:spPr>
        <p:txBody>
          <a:bodyPr wrap="square" lIns="36576" tIns="36576" rIns="36576" bIns="36576" anchor="ctr">
            <a:normAutofit/>
          </a:bodyPr>
          <a:lstStyle/>
          <a:p>
            <a:pPr algn="ctr">
              <a:lnSpc>
                <a:spcPct val="100000"/>
              </a:lnSpc>
              <a:spcBef>
                <a:spcPts val="0"/>
              </a:spcBef>
              <a:spcAft>
                <a:spcPts val="0"/>
              </a:spcAft>
              <a:defRPr sz="3400" b="1">
                <a:solidFill>
                  <a:srgbClr val="003E9E"/>
                </a:solidFill>
                <a:latin typeface="微软雅黑"/>
              </a:defRPr>
            </a:pPr>
            <a:r>
              <a:rPr sz="3400" b="1" i="0" dirty="0" err="1">
                <a:solidFill>
                  <a:srgbClr val="003E9E"/>
                </a:solidFill>
                <a:latin typeface="微软雅黑"/>
                <a:ea typeface="微软雅黑"/>
              </a:rPr>
              <a:t>夯实公司发展根基</a:t>
            </a:r>
            <a:endParaRPr sz="3400" b="1" i="0" dirty="0">
              <a:solidFill>
                <a:srgbClr val="003E9E"/>
              </a:solidFill>
              <a:latin typeface="微软雅黑"/>
              <a:ea typeface="微软雅黑"/>
            </a:endParaRP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DIAGRAM_VIRTUALLY_FRAME" val="{&quot;height&quot;:405.3,&quot;left&quot;:0,&quot;top&quot;:118.65,&quot;width&quot;:960}"/>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wrap="square" rtlCol="0">
        <a:noAutofit/>
      </a:bodyPr>
      <a:lstStyle>
        <a:defPPr marL="285750" lvl="1" indent="-285750" algn="l" defTabSz="179705" fontAlgn="auto">
          <a:lnSpc>
            <a:spcPct val="200000"/>
          </a:lnSpc>
          <a:spcBef>
            <a:spcPts val="0"/>
          </a:spcBef>
          <a:spcAft>
            <a:spcPts val="300"/>
          </a:spcAft>
          <a:buClr>
            <a:srgbClr val="C00000"/>
          </a:buClr>
          <a:buSzTx/>
          <a:buFont typeface="Wingdings" panose="05000000000000000000" charset="0"/>
          <a:buChar char="p"/>
          <a:defRPr lang="zh-CN" altLang="en-US" sz="1400" dirty="0">
            <a:latin typeface="微软雅黑" panose="020B0503020204020204" pitchFamily="34" charset="-122"/>
            <a:ea typeface="微软雅黑" panose="020B0503020204020204" pitchFamily="34" charset="-122"/>
            <a:sym typeface="+mn-ea"/>
          </a:defRPr>
        </a:defPPr>
      </a:lst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TotalTime>
  <Words>2575</Words>
  <Application>Microsoft Office PowerPoint</Application>
  <PresentationFormat>宽屏</PresentationFormat>
  <Paragraphs>1029</Paragraphs>
  <Slides>18</Slides>
  <Notes>0</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18</vt:i4>
      </vt:variant>
    </vt:vector>
  </HeadingPairs>
  <TitlesOfParts>
    <vt:vector size="25" baseType="lpstr">
      <vt:lpstr>思源黑体 CN Bold</vt:lpstr>
      <vt:lpstr>思源黑体 CN Regular</vt:lpstr>
      <vt:lpstr>微软雅黑</vt:lpstr>
      <vt:lpstr>Arial</vt:lpstr>
      <vt:lpstr>Calibri</vt:lpstr>
      <vt:lpstr>Calibri Light</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技术线条2026年1—5月情况通报</dc:title>
  <dc:subject>总工（总师）办情况通报</dc:subject>
  <dc:creator>总工（总师）办</dc:creator>
  <cp:lastModifiedBy>Andy</cp:lastModifiedBy>
  <cp:revision>15124</cp:revision>
  <cp:lastPrinted>2026-03-09T16:17:00Z</cp:lastPrinted>
  <dcterms:created xsi:type="dcterms:W3CDTF">2026-03-09T22:22:00Z</dcterms:created>
  <dcterms:modified xsi:type="dcterms:W3CDTF">2026-08-12T14:22:25Z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2A388EF83FDF49EDA669B924578A81C8_13</vt:lpwstr>
  </property>
  <property fmtid="{D5CDD505-2E9C-101B-9397-08002B2CF9AE}" pid="3" name="KSOProductBuildVer">
    <vt:lpwstr>2052-12.1.0.24657</vt:lpwstr>
  </property>
</Properties>
</file>